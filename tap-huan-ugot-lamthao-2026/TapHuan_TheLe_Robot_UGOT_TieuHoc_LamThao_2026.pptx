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348f5fb3-d8ea-bcd5-4658-a57036cb3f25}">
          <p14:sldIdLst>
            <p14:sldId id="256"/>
            <p14:sldId id="257"/>
          </p14:sldIdLst>
        </p14:section>
        <p14:section name="Tổng quan cuộc thi" id="{11da21b9-39bc-d6b1-9ff3-9931f1e8ba63}">
          <p14:sldIdLst>
            <p14:sldId id="258"/>
            <p14:sldId id="259"/>
            <p14:sldId id="260"/>
            <p14:sldId id="261"/>
            <p14:sldId id="262"/>
            <p14:sldId id="263"/>
            <p14:sldId id="264"/>
          </p14:sldIdLst>
        </p14:section>
        <p14:section name="Đội thi &amp; thiết bị" id="{8d6b7047-a145-a80f-9286-1aea65ebde56}">
          <p14:sldIdLst>
            <p14:sldId id="265"/>
            <p14:sldId id="266"/>
            <p14:sldId id="267"/>
            <p14:sldId id="268"/>
            <p14:sldId id="269"/>
            <p14:sldId id="270"/>
          </p14:sldIdLst>
        </p14:section>
        <p14:section name="Sa bàn &amp; đạo cụ" id="{90a8acc4-c97d-34d8-04fe-f02dded33e43}">
          <p14:sldIdLst>
            <p14:sldId id="271"/>
            <p14:sldId id="272"/>
            <p14:sldId id="273"/>
            <p14:sldId id="274"/>
            <p14:sldId id="275"/>
            <p14:sldId id="276"/>
            <p14:sldId id="277"/>
          </p14:sldIdLst>
        </p14:section>
        <p14:section name="Thể thức thi đấu" id="{e3112938-b7b8-cda6-d6ac-eb49bcad6de6}">
          <p14:sldIdLst>
            <p14:sldId id="278"/>
            <p14:sldId id="279"/>
            <p14:sldId id="280"/>
            <p14:sldId id="281"/>
            <p14:sldId id="282"/>
          </p14:sldIdLst>
        </p14:section>
        <p14:section name="Nhiệm vụ &amp; cách tính điểm" id="{ab9da583-f2f8-bf50-aa6d-b844854df376}">
          <p14:sldIdLst>
            <p14:sldId id="283"/>
            <p14:sldId id="284"/>
            <p14:sldId id="285"/>
            <p14:sldId id="286"/>
            <p14:sldId id="287"/>
            <p14:sldId id="288"/>
            <p14:sldId id="289"/>
            <p14:sldId id="290"/>
            <p14:sldId id="291"/>
            <p14:sldId id="292"/>
            <p14:sldId id="293"/>
            <p14:sldId id="294"/>
          </p14:sldIdLst>
        </p14:section>
        <p14:section name="Kết quả, sự cố &amp; kỷ luật" id="{a023272e-ccb8-8028-a46f-30c84211871e}">
          <p14:sldIdLst>
            <p14:sldId id="295"/>
            <p14:sldId id="296"/>
            <p14:sldId id="297"/>
            <p14:sldId id="298"/>
            <p14:sldId id="299"/>
            <p14:sldId id="300"/>
            <p14:sldId id="301"/>
            <p14:sldId id="302"/>
            <p14:sldId id="303"/>
          </p14:sldIdLst>
        </p14:section>
        <p14:section name="Giải thưởng &amp; chuẩn bị" id="{2647e8e3-3f28-e4a9-038a-815cd06b5449}">
          <p14:sldIdLst>
            <p14:sldId id="304"/>
            <p14:sldId id="305"/>
            <p14:sldId id="306"/>
            <p14:sldId id="307"/>
            <p14:sldId id="308"/>
            <p14:sldId id="309"/>
            <p14:sldId id="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1065"/>
                </a:solidFill>
                <a:latin typeface="+mn-lt"/>
              </a:defRPr>
            </a:pPr>
            <a:r>
              <a:rPr sz="1400" b="0" i="0" u="none" strike="noStrike">
                <a:solidFill>
                  <a:srgbClr val="2E1065"/>
                </a:solidFill>
                <a:latin typeface="+mn-lt"/>
              </a:rPr>
              <a:t>Cơ cấu 100 điểm khối</a:t>
            </a:r>
          </a:p>
        </c:rich>
      </c:tx>
      <c:layout/>
      <c:overlay val="0"/>
    </c:title>
    <c:autoTitleDeleted val="0"/>
    <c:plotArea>
      <c:layout/>
      <c:doughnutChart>
        <c:varyColors val="1"/>
        <c:ser>
          <c:idx val="0"/>
          <c:order val="0"/>
          <c:tx>
            <c:strRef>
              <c:f>Sheet1!$B$1</c:f>
              <c:strCache>
                <c:ptCount val="1"/>
                <c:pt idx="0">
                  <c:v>Điểm khối</c:v>
                </c:pt>
              </c:strCache>
            </c:strRef>
          </c:tx>
          <c:spPr>
            <a:solidFill>
              <a:schemeClr val="accent1"/>
            </a:solidFill>
            <a:ln w="9525" cap="flat">
              <a:solidFill>
                <a:srgbClr val="F9F9F9"/>
              </a:solidFill>
              <a:prstDash val="solid"/>
              <a:round/>
            </a:ln>
            <a:effectLst/>
          </c:spPr>
          <c:dPt>
            <c:idx val="0"/>
            <c:bubble3D val="0"/>
            <c:spPr>
              <a:solidFill>
                <a:srgbClr val="EA580C"/>
              </a:solidFill>
              <a:ln w="19050" cap="flat">
                <a:solidFill>
                  <a:srgbClr val="FFFFFF"/>
                </a:solidFill>
                <a:prstDash val="solid"/>
                <a:round/>
              </a:ln>
              <a:effectLst/>
            </c:spPr>
          </c:dPt>
          <c:dPt>
            <c:idx val="1"/>
            <c:bubble3D val="0"/>
            <c:spPr>
              <a:solidFill>
                <a:srgbClr val="2563EB"/>
              </a:solidFill>
              <a:ln w="19050" cap="flat">
                <a:solidFill>
                  <a:srgbClr val="FFFFFF"/>
                </a:solidFill>
                <a:prstDash val="solid"/>
                <a:round/>
              </a:ln>
              <a:effectLst/>
            </c:spPr>
          </c:dPt>
          <c:dPt>
            <c:idx val="2"/>
            <c:bubble3D val="0"/>
            <c:spPr>
              <a:solidFill>
                <a:srgbClr val="A16207"/>
              </a:solidFill>
              <a:ln w="19050" cap="flat">
                <a:solidFill>
                  <a:srgbClr val="FFFFFF"/>
                </a:solidFill>
                <a:prstDash val="solid"/>
                <a:round/>
              </a:ln>
              <a:effectLst/>
            </c:spPr>
          </c:dPt>
          <c:dPt>
            <c:idx val="3"/>
            <c:bubble3D val="0"/>
            <c:spPr>
              <a:solidFill>
                <a:srgbClr val="15803D"/>
              </a:solidFill>
              <a:ln w="19050" cap="flat">
                <a:solidFill>
                  <a:srgbClr val="FFFFFF"/>
                </a:solidFill>
                <a:prstDash val="solid"/>
                <a:round/>
              </a:ln>
              <a:effectLst/>
            </c:spPr>
          </c:dPt>
          <c:dLbls>
            <c:dLbl>
              <c:idx val="0"/>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3"/>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Dầu</c:v>
                </c:pt>
                <c:pt idx="1">
                  <c:v>Nước</c:v>
                </c:pt>
                <c:pt idx="2">
                  <c:v>Đất</c:v>
                </c:pt>
                <c:pt idx="3">
                  <c:v>Lá</c:v>
                </c:pt>
              </c:strCache>
            </c:strRef>
          </c:cat>
          <c:val>
            <c:numRef>
              <c:f>Sheet1!$B$2:$B$5</c:f>
              <c:numCache>
                <c:ptCount val="4"/>
                <c:pt idx="0">
                  <c:v>40</c:v>
                </c:pt>
                <c:pt idx="1">
                  <c:v>20</c:v>
                </c:pt>
                <c:pt idx="2">
                  <c:v>20</c:v>
                </c:pt>
                <c:pt idx="3">
                  <c:v>20</c:v>
                </c:pt>
              </c:numCache>
            </c:numRef>
          </c:val>
        </c:ser>
        <c:firstSliceAng val="0"/>
        <c:holeSize val="52"/>
      </c:doughnutChart>
      <c:spPr>
        <a:noFill/>
        <a:ln>
          <a:noFill/>
        </a:ln>
        <a:effectLst/>
      </c:spPr>
    </c:plotArea>
    <c:legend>
      <c:legendPos val="b"/>
      <c:overlay val="0"/>
      <c:txPr>
        <a:bodyPr/>
        <a:lstStyle/>
        <a:p>
          <a:pPr>
            <a:defRPr sz="1200">
              <a:solidFill>
                <a:srgbClr val="2E106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mừng các đội thi và thầy cô phụ trách. Buổi tập huấn giúp các đội nắm vững thể lệ thi đấu đối kháng Robot UGOT – Bảng Tiểu học trước ngày thi chính thức (Chủ nhật 25/10/2026). Thể lệ ban hành kèm Kế hoạch của UBND xã Lâm Thao, căn cứ Nghị quyết 57-NQ/TW, Nghị quyết 71-NQ/TW, Nghị quyết 281/NQ-CP, Quyết định 505/QĐ-TTg, Thông tư 32/2018, Thông tư 02/2025, Công văn 909/BGDĐT-GDTH và Quyết định 3439/QĐ-BGDĐT.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nhanh 7 phần của buổi tập huấn. Phần quan trọng nhất là Nhiệm vụ &amp; cách tính điểm. Cuối buổi có câu hỏi tình huống để các đội tự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1: Tổng quan cuộc thi.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ngắn gọn bằng hình ảnh: 2 đội, 2 robot, 1 sa bàn. Robot do Ban Tổ chức cung cấp, học sinh chỉ điều khiển. Nhấn mạnh yêu cầu an toàn tuyệt đối.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tập huấn này dành cho Bảng A – Tiểu học. Hai bảng dùng chung một sa bàn nhưng hoàn toàn độc lập về bốc thăm, sơ đồ, xếp hạng và giải thưởng.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hai mốc: buổi tổng duyệt và bốc thăm lúc 16:00 thứ Bảy (các đội nên cử đại diện chứng kiến; đội vắng mặt sẽ được BTC bốc thăm thay), và giờ thi chính thức 08:15 Chủ nhật. Lịch chi tiết từng lượt được công bố tại khu thi đấu.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các khu vực để học sinh không bỡ ngỡ. Chuông báo sự cố đặt tại Khu Điều khiển – chỉ dùng khi robot gặp sự cố thật. Sơ đồ bố trí thực tế do Ban Tổ chức sắp xếp tại hội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thuật ngữ này sẽ lặp lại suốt buổi. Phân biệt rõ Điểm nhiệm vụ (điểm làm nhiệm vụ trong 1 lượt) và Điểm trận (3-1-0 quy đổi từ kết quả lượt).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trên hình sa bàn ở phần sau. Nhấn mạnh: Khu vực tham chiếu TÍNH CẢ VẠCH BIÊN – khối chạm vạch vẫn được tính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2: Đội thi &amp; thiết bị.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đội gồm 5 học sinh đang học tại các trường tiểu học trên địa bàn xã. Các đội tự phân vai và ghi rõ trong danh sách đăng ký (Phụ lục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lượt đấu chỉ tối đa 3 thí sinh ở Khu Điều khiển. Gợi ý phân bổ là tham khảo, các đội tự quyết định. Giáo viên tuyệt đối không chỉ đạo khi lượt đấu đang diễn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được Ban Tổ chức phê duyệt là căn cứ duy nhất xác định tư cách thi đấu. Hạn nộp cụ thể theo thông báo của Ban Tổ chức (Thể lệ ghi: trước 17h00 ngày …/10/2026).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Tất cả các đội dùng robot cùng cấu hình, do Ban Tổ chức (qua ADC Việt Nam) chuẩn bị. Đội không mang thiết bị riêng. Mọi thao tác kỹ thuật do nhân sự Ban Tổ chức thực 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giây làm quen là cơ hội duy nhất để thử robot và nêu ý kiến về sân. Sau thời điểm này, đội được coi là đã chấp nhận hiện trạng sân và thiết bị.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3: Sa bàn &amp; đạo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sa bàn chính thức tại Phụ lục 01 của Thể lệ. Cho học sinh quan sát kỹ vị trí Căn cứ, Trạm Trung tâm, các khối Dầu và núi lửa.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lần lượt từng số trên hình. Hai Khu Căn cứ ở hai đầu, Trạm Trung tâm ở giữa, 8 vòng tròn cam là vị trí khối Dầu, hai điểm R trên Đường trung tâm để đặt lại khối rơi.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từng loại khối, vị trí, số lượng và điểm. Khối Dầu là khối duy nhất không cần mở khóa. Bảng Tiểu học không dùng khối Nham thạch.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dành cho giáo viên và đội thi tham khảo khi luyện tập. Tọa độ đo từ góc trên bên Căn cứ 1. Trước mỗi lượt, trọng tài đặt lại toàn bộ đạo cụ về đúng vị trí in trên thảm.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các đội hay thắc mắc. Mọi yếu tố mặt sân, ánh sáng, nhiễu sóng… là như nhau cho cả hai đội và KHÔNG là căn cứ khiếu nại. Robot bị chậm, lệch, vướng do các yếu tố này là diễn biến bình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4 trường hợp bất khả kháng, ảnh hưởng trực tiếp và rõ ràng. Quyết định thuộc Tổng trọng tài. Điểm của lượt bị hủy không được giữ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4: Thể thức thi đấu.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con số cần nhớ. Một cặp đấu gồm 2 lượt, mỗi lượt 3 phút, đổi bên sau lượt 1 để công bằng về sân. Điều khiển hoàn toàn thủ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chuẩn cho 4 đội: hai cặp Bán kết, hai đội thắng gặp nhau ở Chung kết. Nếu số đội khác, áp dụng bảng bên phải. Bốc thăm một lần duy nhất ở buổi tổng duyệt chiều 24/10.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lần lượt 8 bước. Nhấn mạnh bước 4 (robot phải nằm trọn trong Khu Căn cứ mới được bắt đầu) và bước 7 (hết giờ phải buông tay, giơ tay lên).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Tư thế xuất phát: toàn bộ hình chiếu robot nằm trong vạch biên Khu Căn cứ. Ba trường hợp kết thúc lượt đấu. Khi kết thúc mọi thay đổi trên sân không được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5: Nhiệm vụ &amp; cách tính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Chủ đề: Chinh phục Vũ trụ cùng Robot AI – Khai thác tài nguyên hành tinh. Hai đội cùng thu gom khối đưa về Căn cứ của mình. Đội nhiều điểm hơn thắng; bằng điểm thì đội Hồi căn cứ sớm hơn thắng.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Khối Nước, Đất, Lá ở Trạm Trung tâm chỉ được lấy sau khi đội đã đưa ít nhất 1 khối Dầu hợp lệ về Căn cứ. Hai đội mở khóa độc lập. Đi ngang hoặc chạm nhẹ mà khối không rời Trạm thì không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Thể lệ không giới hạn cách thức đưa khối: gắp, đẩy, ủi, dồn nhiều khối cùng lúc đều hợp lệ, miễn khối nằm trong Khu vực tham chiếu của Căn cứ đội mình. Ngoại lệ là các trường hợp chưa mở khóa và hành vi bị xử phạt.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hình minh họa: khối nằm trong hoặc chạm, đè lên vạch biên đều được tính. Khối nằm hoàn toàn ngoài vạch hoặc đang bị kẹp trong cơ cấu gắp thì không được tính. Thời điểm xét là khi lượt đấu kết thúc hoặc khi chốt khối lúc Hồi căn cứ.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Hồi căn cứ giúp đội có thêm điểm và được ghi Thời gian hoàn thành – tiêu chí phân định khi hai đội bằng điểm. Khi đã Hồi căn cứ, robot phải đứng yên tuyệt đối.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Tuyệt đối không dùng tay nhặt khối. Trọng tài hoặc trợ lý là người duy nhất đặt lại khối tại điểm R1 hoặc R2. Đồng hồ vẫn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điểm các khối trên sa bàn là 100 điểm, do hai đội tranh chấp. Điểm thực tế của mỗi đội phụ thuộc số khối đưa về được và điểm Hồi căn cứ.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lỗi do trọng tài trực tiếp ghi nhận tại chỗ. Lưu ý lỗi tác động từ bên ngoài của người lớn (HLV, phụ huynh, cổ động viên) bị trừ nặng hơn lỗi của thí sinh.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 chạm khi hai robot cùng tranh khối là bình thường, không bị trừ điểm. Chỉ hành vi lao thẳng, húc mạnh vào robot đối phương mà không nhằm thu gom khối mới bị xem xét. Quyết định của trọng tài tại trận là cuối cùng.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Xử thua trực tiếp: đội vi phạm nhận 0 điểm nhiệm vụ, 0 điểm trận; đội còn lại thắng, nhận 3 điểm trận và giữ điểm nhiệm vụ. Vi phạm nghiêm trọng hoặc tái diễn có thể bị loại khỏi giải.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thức: Tổng điểm nhiệm vụ = Tổng điểm cộng − Tổng điểm trừ, không nhỏ hơn 0. Đi qua ví dụ minh họa từng dòng như trên phiếu chấm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6: Kết quả, sự cố &amp; kỷ luật.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bước so sánh: điểm nhiệm vụ, nếu bằng thì so Thời gian hoàn thành (Hồi căn cứ sớm hơn thắng), nếu vẫn bằng thì Hòa. Đội không Hồi căn cứ được ghi 03:00 nên luôn thua đội có Hồi căn cứ khi bằng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Cộng điểm trận của 2 lượt: đội nhiều điểm trận hơn đi tiếp. Nếu bằng điểm trận (3-3 hoặc 2-2) thì áp dụng các tiêu chí phân định ở slide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Áp dụng lần lượt 5 tiêu chí, dừng ngay khi phân định được. Lượt đấu phụ tổ chức ngay sau lượt 2 hoặc theo lịch BTC, hai đội có ít nhất 5 phút chuẩn bị và vẫn được 90 giây làm quen.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Hướng dẫn học sinh cách báo sự cố: hô to SỰ CỐ hoặc bấm chuông. Khi tạm dừng, cả hai đội đều phải buông tay. Mỗi đội tối đa 2 lần mỗi lượt, mỗi lần không quá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Tùy mức độ, BTC áp dụng: nhắc nhở, trừ điểm, xử thua lượt, xử thua cặp đấu hoặc loại khỏi giải và hủy toàn bộ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Nhà trường và giáo viên chịu trách nhiệm quản lý học sinh. Không mang đồ ăn, nước uống vào khu sa bàn. Có y tế thường trực. Tinh thần: Tình bạn là trên hết, Thi đấu là thứ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vai trò từng thành viên Ban Trọng tài để học sinh biết nghe hiệu lệnh của ai. Quy trình chấm điểm như phiếu chấm điểm Phụ lục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Khiếu nại phải nêu ngay sau lượt đấu, trước khi ký phiếu. Hình ảnh, video tự quay không được dùng làm căn cứ. Không thụ lý khiếu nại về mặt sân và về quyết định tranh chấp, đâm trực tiếp của trọng tài.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7: Giải thưởng &amp; chuẩn bị.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cấu giải áp dụng riêng cho Bảng A; Bảng Trung học cơ sở có cơ cấu riêng, tương đương và độc lập. Mỗi giải gồm Giấy chứng nhận của BTC và phần thưởng theo cơ cấu được phê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gợi ý để các đội luyện tập, không phải quy định. Các đội tự xây dựng chiến thuật phù hợp với thế mạnh của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đội rà soát checklist này trước ngày thi. Nhắc lại hai mốc giờ: 16:00 thứ Bảy (tổng duyệt, bốc thăm) và 08:15 Chủ nhật (thi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các đội giơ tay trả lời. Có thể chia nhóm thi đua trả lời nhanh để tạo không khí.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bố đáp án, giải thích ngắn gọn dựa trên điều khoản tương ứng của Thể lệ.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các thầy cô và các em. Nhắc lại lịch tổng duyệt, bốc thăm và giờ thi chính thức. Mời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880360"/>
            <a:ext cx="6766560" cy="137160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822960" y="4343400"/>
            <a:ext cx="6035040" cy="1188720"/>
          </a:xfrm>
          <a:prstGeom prst="rect">
            <a:avLst/>
          </a:prstGeom>
          <a:noFill/>
          <a:ln/>
        </p:spPr>
        <p:txBody>
          <a:bodyPr wrap="square" rtlCol="0"/>
          <a:lstStyle>
            <a:lvl1pPr algn="l" indent="0" marL="0">
              <a:buNone/>
              <a:defRPr lang="en-US" sz="1800" dirty="0">
                <a:solidFill>
                  <a:srgbClr val="DDD6FE"/>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rtlCol="0"/>
          <a:lstStyle>
            <a:lvl1pPr algn="l" indent="0" marL="0">
              <a:buNone/>
              <a:defRPr lang="en-US" sz="1200" b="1" spc="200" kern="0" dirty="0">
                <a:solidFill>
                  <a:srgbClr val="7C3AED"/>
                </a:solidFill>
              </a:defRPr>
            </a:lvl1pPr>
          </a:lstStyle>
          <a:p>
            <a:pPr algn="l" indent="0" marL="0">
              <a:buNone/>
            </a:pP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rtlCol="0"/>
          <a:lstStyle>
            <a:lvl1pPr algn="l" indent="0" marL="0">
              <a:buNone/>
              <a:defRPr lang="en-US" sz="3000" b="1" dirty="0">
                <a:solidFill>
                  <a:srgbClr val="2E1065"/>
                </a:solidFill>
              </a:defRPr>
            </a:lvl1pPr>
          </a:lstStyle>
          <a:p>
            <a:pPr algn="l" indent="0" marL="0">
              <a:buNone/>
            </a:pPr>
            <a:endParaRPr lang="en-US" sz="3000" dirty="0"/>
          </a:p>
        </p:txBody>
      </p:sp>
      <p:sp>
        <p:nvSpPr>
          <p:cNvPr id="4" name="Text 0"/>
          <p:cNvSpPr/>
          <p:nvPr/>
        </p:nvSpPr>
        <p:spPr>
          <a:xfrm>
            <a:off x="548640" y="6437376"/>
            <a:ext cx="9144000" cy="256032"/>
          </a:xfrm>
          <a:prstGeom prst="rect">
            <a:avLst/>
          </a:prstGeom>
          <a:noFill/>
          <a:ln/>
        </p:spPr>
        <p:txBody>
          <a:bodyPr wrap="square" lIns="0" tIns="0" rIns="0" bIns="0" rtlCol="0" anchor="ctr"/>
          <a:lstStyle/>
          <a:p>
            <a:pPr indent="0" marL="0">
              <a:buNone/>
            </a:pPr>
            <a:r>
              <a:rPr lang="en-US" sz="1000" dirty="0">
                <a:solidFill>
                  <a:srgbClr val="5B4B8A"/>
                </a:solidFill>
              </a:rPr>
              <a:t>Tập huấn thể lệ Robot UGOT – Bảng Tiểu học (Bảng A)  ·  Ngày hội Chuyển đổi số xã Lâm Thao 2026</a:t>
            </a:r>
            <a:endParaRPr lang="en-US" sz="10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0-2.png"/><Relationship Id="rId3" Type="http://schemas.openxmlformats.org/officeDocument/2006/relationships/image" Target="../media/image-16-1.png"/><Relationship Id="rId4" Type="http://schemas.openxmlformats.org/officeDocument/2006/relationships/image" Target="../media/image-15-2.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4.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1-5.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4-2.png"/><Relationship Id="rId3" Type="http://schemas.openxmlformats.org/officeDocument/2006/relationships/image" Target="../media/image-11-4.png"/><Relationship Id="rId4" Type="http://schemas.openxmlformats.org/officeDocument/2006/relationships/image" Target="../media/image-4-4.png"/><Relationship Id="rId5" Type="http://schemas.openxmlformats.org/officeDocument/2006/relationships/image" Target="../media/image-1-4.jpg"/><Relationship Id="rId6" Type="http://schemas.openxmlformats.org/officeDocument/2006/relationships/image" Target="../media/image-13-3.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18-1.jpg"/><Relationship Id="rId4" Type="http://schemas.openxmlformats.org/officeDocument/2006/relationships/image" Target="../media/image-25-2.png"/><Relationship Id="rId5" Type="http://schemas.openxmlformats.org/officeDocument/2006/relationships/image" Target="../media/image-5-5.png"/><Relationship Id="rId6" Type="http://schemas.openxmlformats.org/officeDocument/2006/relationships/image" Target="../media/image-17-3.png"/><Relationship Id="rId7" Type="http://schemas.openxmlformats.org/officeDocument/2006/relationships/image" Target="../media/image-2-7.png"/><Relationship Id="rId8" Type="http://schemas.openxmlformats.org/officeDocument/2006/relationships/slideLayout" Target="../slideLayouts/slideLayout4.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25-2.png"/><Relationship Id="rId3" Type="http://schemas.openxmlformats.org/officeDocument/2006/relationships/image" Target="../media/image-43-3.png"/><Relationship Id="rId4" Type="http://schemas.openxmlformats.org/officeDocument/2006/relationships/image" Target="../media/image-2-7.png"/><Relationship Id="rId5" Type="http://schemas.openxmlformats.org/officeDocument/2006/relationships/image" Target="../media/image-1-2.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5-1.png"/><Relationship Id="rId3" Type="http://schemas.openxmlformats.org/officeDocument/2006/relationships/image" Target="../media/image-2-6.png"/><Relationship Id="rId4" Type="http://schemas.openxmlformats.org/officeDocument/2006/relationships/image" Target="../media/image-17-3.png"/><Relationship Id="rId5" Type="http://schemas.openxmlformats.org/officeDocument/2006/relationships/image" Target="../media/image-10-2.png"/><Relationship Id="rId6" Type="http://schemas.openxmlformats.org/officeDocument/2006/relationships/image" Target="../media/image-7-6.png"/><Relationship Id="rId7" Type="http://schemas.openxmlformats.org/officeDocument/2006/relationships/image" Target="../media/image-18-1.jpg"/><Relationship Id="rId8" Type="http://schemas.openxmlformats.org/officeDocument/2006/relationships/image" Target="../media/image-44-1.png"/><Relationship Id="rId9" Type="http://schemas.openxmlformats.org/officeDocument/2006/relationships/image" Target="../media/image-22-1.png"/><Relationship Id="rId10" Type="http://schemas.openxmlformats.org/officeDocument/2006/relationships/image" Target="../media/image-7-10.png"/><Relationship Id="rId11" Type="http://schemas.openxmlformats.org/officeDocument/2006/relationships/slideLayout" Target="../slideLayouts/slideLayout4.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5-2.png"/><Relationship Id="rId2" Type="http://schemas.openxmlformats.org/officeDocument/2006/relationships/image" Target="../media/image-43-3.png"/><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30-3.png"/><Relationship Id="rId6" Type="http://schemas.openxmlformats.org/officeDocument/2006/relationships/image" Target="../media/image-15-3.png"/><Relationship Id="rId7" Type="http://schemas.openxmlformats.org/officeDocument/2006/relationships/image" Target="../media/image-15-6.png"/><Relationship Id="rId8" Type="http://schemas.openxmlformats.org/officeDocument/2006/relationships/image" Target="../media/image-11-5.png"/><Relationship Id="rId9" Type="http://schemas.openxmlformats.org/officeDocument/2006/relationships/slideLayout" Target="../slideLayouts/slideLayout4.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7-10.png"/><Relationship Id="rId2" Type="http://schemas.openxmlformats.org/officeDocument/2006/relationships/image" Target="../media/image-9-2.png"/><Relationship Id="rId3" Type="http://schemas.openxmlformats.org/officeDocument/2006/relationships/image" Target="../media/image-51-2.png"/><Relationship Id="rId4" Type="http://schemas.openxmlformats.org/officeDocument/2006/relationships/image" Target="../media/image-17-4.png"/><Relationship Id="rId5" Type="http://schemas.openxmlformats.org/officeDocument/2006/relationships/image" Target="../media/image-1-2.png"/><Relationship Id="rId6" Type="http://schemas.openxmlformats.org/officeDocument/2006/relationships/image" Target="../media/image-9-6.png"/><Relationship Id="rId7" Type="http://schemas.openxmlformats.org/officeDocument/2006/relationships/image" Target="../media/image-16-1.png"/><Relationship Id="rId8" Type="http://schemas.openxmlformats.org/officeDocument/2006/relationships/image" Target="../media/image-17-5.png"/><Relationship Id="rId9" Type="http://schemas.openxmlformats.org/officeDocument/2006/relationships/slideLayout" Target="../slideLayouts/slideLayout4.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4.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4.png"/><Relationship Id="rId4" Type="http://schemas.openxmlformats.org/officeDocument/2006/relationships/image" Target="../media/image-11-3.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4.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1.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4.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2.png"/><Relationship Id="rId3" Type="http://schemas.openxmlformats.org/officeDocument/2006/relationships/image" Target="../media/image-11-1.png"/><Relationship Id="rId4" Type="http://schemas.openxmlformats.org/officeDocument/2006/relationships/image" Target="../media/image-14-4.png"/><Relationship Id="rId5" Type="http://schemas.openxmlformats.org/officeDocument/2006/relationships/image" Target="../media/image-13-4.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6-1.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2-7.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4.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1.png"/><Relationship Id="rId5" Type="http://schemas.openxmlformats.org/officeDocument/2006/relationships/image" Target="../media/image-15-4.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11-2.png"/><Relationship Id="rId9" Type="http://schemas.openxmlformats.org/officeDocument/2006/relationships/image" Target="../media/image-15-2.png"/><Relationship Id="rId10" Type="http://schemas.openxmlformats.org/officeDocument/2006/relationships/slideLayout" Target="../slideLayouts/slideLayout4.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6.png"/><Relationship Id="rId4" Type="http://schemas.openxmlformats.org/officeDocument/2006/relationships/image" Target="../media/image-13-7.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24-2.png"/><Relationship Id="rId3" Type="http://schemas.openxmlformats.org/officeDocument/2006/relationships/image" Target="../media/image-24-3.jp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26-5.png"/><Relationship Id="rId6" Type="http://schemas.openxmlformats.org/officeDocument/2006/relationships/image" Target="../media/image-11-2.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4.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5-3.png"/><Relationship Id="rId2" Type="http://schemas.openxmlformats.org/officeDocument/2006/relationships/image" Target="../media/image-13-4.png"/><Relationship Id="rId3" Type="http://schemas.openxmlformats.org/officeDocument/2006/relationships/image" Target="../media/image-15-3.png"/><Relationship Id="rId4" Type="http://schemas.openxmlformats.org/officeDocument/2006/relationships/image" Target="../media/image-14-6.png"/><Relationship Id="rId5" Type="http://schemas.openxmlformats.org/officeDocument/2006/relationships/image" Target="../media/image-15-6.png"/><Relationship Id="rId6" Type="http://schemas.openxmlformats.org/officeDocument/2006/relationships/image" Target="../media/image-15-3.png"/><Relationship Id="rId7" Type="http://schemas.openxmlformats.org/officeDocument/2006/relationships/image" Target="../media/image-27-7.png"/><Relationship Id="rId8" Type="http://schemas.openxmlformats.org/officeDocument/2006/relationships/image" Target="../media/image-26-7.png"/><Relationship Id="rId9" Type="http://schemas.openxmlformats.org/officeDocument/2006/relationships/slideLayout" Target="../slideLayouts/slideLayout4.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15-3.png"/><Relationship Id="rId7" Type="http://schemas.openxmlformats.org/officeDocument/2006/relationships/image" Target="../media/image-29-7.png"/><Relationship Id="rId8" Type="http://schemas.openxmlformats.org/officeDocument/2006/relationships/slideLayout" Target="../slideLayouts/slideLayout4.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26-1.png"/><Relationship Id="rId3" Type="http://schemas.openxmlformats.org/officeDocument/2006/relationships/image" Target="../media/image-30-3.png"/><Relationship Id="rId4" Type="http://schemas.openxmlformats.org/officeDocument/2006/relationships/image" Target="../media/image-20-1.jpg"/><Relationship Id="rId5" Type="http://schemas.openxmlformats.org/officeDocument/2006/relationships/image" Target="../media/image-21-2.png"/><Relationship Id="rId6" Type="http://schemas.openxmlformats.org/officeDocument/2006/relationships/image" Target="../media/image-30-6.png"/><Relationship Id="rId7" Type="http://schemas.openxmlformats.org/officeDocument/2006/relationships/slideLayout" Target="../slideLayouts/slideLayout4.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4-3.jpg"/><Relationship Id="rId2" Type="http://schemas.openxmlformats.org/officeDocument/2006/relationships/image" Target="../media/image-13-4.png"/><Relationship Id="rId3" Type="http://schemas.openxmlformats.org/officeDocument/2006/relationships/image" Target="../media/image-15-5.png"/><Relationship Id="rId4" Type="http://schemas.openxmlformats.org/officeDocument/2006/relationships/image" Target="../media/image-17-5.png"/><Relationship Id="rId5" Type="http://schemas.openxmlformats.org/officeDocument/2006/relationships/slideLayout" Target="../slideLayouts/slideLayout4.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5-3.png"/><Relationship Id="rId2" Type="http://schemas.openxmlformats.org/officeDocument/2006/relationships/image" Target="../media/image-13-4.png"/><Relationship Id="rId3" Type="http://schemas.openxmlformats.org/officeDocument/2006/relationships/image" Target="../media/image-13-4.png"/><Relationship Id="rId4" Type="http://schemas.openxmlformats.org/officeDocument/2006/relationships/image" Target="../media/image-14-6.png"/><Relationship Id="rId5" Type="http://schemas.openxmlformats.org/officeDocument/2006/relationships/image" Target="../media/image-14-6.png"/><Relationship Id="rId6" Type="http://schemas.openxmlformats.org/officeDocument/2006/relationships/image" Target="../media/image-13-4.png"/><Relationship Id="rId7" Type="http://schemas.openxmlformats.org/officeDocument/2006/relationships/image" Target="../media/image-13-4.png"/><Relationship Id="rId8" Type="http://schemas.openxmlformats.org/officeDocument/2006/relationships/image" Target="../media/image-14-6.png"/><Relationship Id="rId9" Type="http://schemas.openxmlformats.org/officeDocument/2006/relationships/image" Target="../media/image-14-6.png"/><Relationship Id="rId10" Type="http://schemas.openxmlformats.org/officeDocument/2006/relationships/slideLayout" Target="../slideLayouts/slideLayout4.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13-4.png"/><Relationship Id="rId3" Type="http://schemas.openxmlformats.org/officeDocument/2006/relationships/image" Target="../media/image-13-4.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34-2.png"/><Relationship Id="rId3" Type="http://schemas.openxmlformats.org/officeDocument/2006/relationships/image" Target="../media/image-2-6.png"/><Relationship Id="rId4" Type="http://schemas.openxmlformats.org/officeDocument/2006/relationships/image" Target="../media/image-1-2.png"/><Relationship Id="rId5" Type="http://schemas.openxmlformats.org/officeDocument/2006/relationships/image" Target="../media/image-15-2.png"/><Relationship Id="rId6" Type="http://schemas.openxmlformats.org/officeDocument/2006/relationships/image" Target="../media/image-17-5.png"/><Relationship Id="rId7" Type="http://schemas.openxmlformats.org/officeDocument/2006/relationships/image" Target="../media/image-30-6.png"/><Relationship Id="rId8" Type="http://schemas.openxmlformats.org/officeDocument/2006/relationships/slideLayout" Target="../slideLayouts/slideLayout4.xml"/><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17-5.png"/><Relationship Id="rId3" Type="http://schemas.openxmlformats.org/officeDocument/2006/relationships/image" Target="../media/image-11-5.png"/><Relationship Id="rId4" Type="http://schemas.openxmlformats.org/officeDocument/2006/relationships/image" Target="../media/image-10-2.png"/><Relationship Id="rId5" Type="http://schemas.openxmlformats.org/officeDocument/2006/relationships/image" Target="../media/image-15-2.png"/><Relationship Id="rId6" Type="http://schemas.openxmlformats.org/officeDocument/2006/relationships/image" Target="../media/image-30-6.png"/><Relationship Id="rId7" Type="http://schemas.openxmlformats.org/officeDocument/2006/relationships/slideLayout" Target="../slideLayouts/slideLayout4.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17-5.png"/><Relationship Id="rId3" Type="http://schemas.openxmlformats.org/officeDocument/2006/relationships/image" Target="../media/image-15-5.png"/><Relationship Id="rId4" Type="http://schemas.openxmlformats.org/officeDocument/2006/relationships/slideLayout" Target="../slideLayouts/slideLayout4.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4-6.png"/><Relationship Id="rId2" Type="http://schemas.openxmlformats.org/officeDocument/2006/relationships/image" Target="../media/image-2-7.png"/><Relationship Id="rId3" Type="http://schemas.openxmlformats.org/officeDocument/2006/relationships/slideLayout" Target="../slideLayouts/slideLayout4.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2-7.png"/><Relationship Id="rId2" Type="http://schemas.openxmlformats.org/officeDocument/2006/relationships/image" Target="../media/image-17-3.png"/><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15-6.png"/><Relationship Id="rId3" Type="http://schemas.openxmlformats.org/officeDocument/2006/relationships/image" Target="../media/image-43-3.png"/><Relationship Id="rId4" Type="http://schemas.openxmlformats.org/officeDocument/2006/relationships/image" Target="../media/image-26-8.png"/><Relationship Id="rId5" Type="http://schemas.openxmlformats.org/officeDocument/2006/relationships/image" Target="../media/image-25-2.png"/><Relationship Id="rId6" Type="http://schemas.openxmlformats.org/officeDocument/2006/relationships/slideLayout" Target="../slideLayouts/slideLayout4.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22-2.png"/><Relationship Id="rId4" Type="http://schemas.openxmlformats.org/officeDocument/2006/relationships/image" Target="../media/image-26-5.png"/><Relationship Id="rId5" Type="http://schemas.openxmlformats.org/officeDocument/2006/relationships/image" Target="../media/image-15-2.png"/><Relationship Id="rId6" Type="http://schemas.openxmlformats.org/officeDocument/2006/relationships/image" Target="../media/image-15-5.png"/><Relationship Id="rId7" Type="http://schemas.openxmlformats.org/officeDocument/2006/relationships/image" Target="../media/image-13-7.png"/><Relationship Id="rId8" Type="http://schemas.openxmlformats.org/officeDocument/2006/relationships/slideLayout" Target="../slideLayouts/slideLayout4.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34-2.png"/><Relationship Id="rId2" Type="http://schemas.openxmlformats.org/officeDocument/2006/relationships/image" Target="../media/image-34-2.png"/><Relationship Id="rId3" Type="http://schemas.openxmlformats.org/officeDocument/2006/relationships/image" Target="../media/image-34-2.png"/><Relationship Id="rId4" Type="http://schemas.openxmlformats.org/officeDocument/2006/relationships/image" Target="../media/image-34-2.png"/><Relationship Id="rId5" Type="http://schemas.openxmlformats.org/officeDocument/2006/relationships/image" Target="../media/image-34-2.png"/><Relationship Id="rId6" Type="http://schemas.openxmlformats.org/officeDocument/2006/relationships/image" Target="../media/image-34-2.png"/><Relationship Id="rId7" Type="http://schemas.openxmlformats.org/officeDocument/2006/relationships/image" Target="../media/image-34-2.png"/><Relationship Id="rId8" Type="http://schemas.openxmlformats.org/officeDocument/2006/relationships/image" Target="../media/image-34-2.png"/><Relationship Id="rId9" Type="http://schemas.openxmlformats.org/officeDocument/2006/relationships/image" Target="../media/image-34-2.png"/><Relationship Id="rId10" Type="http://schemas.openxmlformats.org/officeDocument/2006/relationships/image" Target="../media/image-34-2.png"/><Relationship Id="rId11" Type="http://schemas.openxmlformats.org/officeDocument/2006/relationships/slideLayout" Target="../slideLayouts/slideLayout4.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1-6.png"/><Relationship Id="rId2" Type="http://schemas.openxmlformats.org/officeDocument/2006/relationships/image" Target="../media/image-22-1.png"/><Relationship Id="rId3" Type="http://schemas.openxmlformats.org/officeDocument/2006/relationships/image" Target="../media/image-46-3.png"/><Relationship Id="rId4" Type="http://schemas.openxmlformats.org/officeDocument/2006/relationships/image" Target="../media/image-13-6.png"/><Relationship Id="rId5" Type="http://schemas.openxmlformats.org/officeDocument/2006/relationships/image" Target="../media/image-37-1.png"/><Relationship Id="rId6" Type="http://schemas.openxmlformats.org/officeDocument/2006/relationships/image" Target="../media/image-46-6.jpg"/><Relationship Id="rId7" Type="http://schemas.openxmlformats.org/officeDocument/2006/relationships/image" Target="../media/image-46-7.jpg"/><Relationship Id="rId8" Type="http://schemas.openxmlformats.org/officeDocument/2006/relationships/image" Target="../media/image-46-8.png"/><Relationship Id="rId9" Type="http://schemas.openxmlformats.org/officeDocument/2006/relationships/slideLayout" Target="../slideLayouts/slideLayout4.xml"/><Relationship Id="rId10"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6-1.png"/><Relationship Id="rId3" Type="http://schemas.openxmlformats.org/officeDocument/2006/relationships/image" Target="../media/image-47-3.png"/><Relationship Id="rId4" Type="http://schemas.openxmlformats.org/officeDocument/2006/relationships/image" Target="../media/image-15-2.png"/><Relationship Id="rId5" Type="http://schemas.openxmlformats.org/officeDocument/2006/relationships/image" Target="../media/image-26-8.png"/><Relationship Id="rId6" Type="http://schemas.openxmlformats.org/officeDocument/2006/relationships/slideLayout" Target="../slideLayouts/slideLayout4.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15-6.png"/><Relationship Id="rId3" Type="http://schemas.openxmlformats.org/officeDocument/2006/relationships/image" Target="../media/image-47-3.png"/><Relationship Id="rId4" Type="http://schemas.openxmlformats.org/officeDocument/2006/relationships/image" Target="../media/image-13-7.png"/><Relationship Id="rId5" Type="http://schemas.openxmlformats.org/officeDocument/2006/relationships/image" Target="../media/image-13-3.png"/><Relationship Id="rId6" Type="http://schemas.openxmlformats.org/officeDocument/2006/relationships/image" Target="../media/image-23-1.jpg"/><Relationship Id="rId7" Type="http://schemas.openxmlformats.org/officeDocument/2006/relationships/slideLayout" Target="../slideLayouts/slideLayout4.xml"/><Relationship Id="rId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jpg"/><Relationship Id="rId5" Type="http://schemas.openxmlformats.org/officeDocument/2006/relationships/slideLayout" Target="../slideLayouts/slideLayout4.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30-3.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11-4.png"/><Relationship Id="rId5" Type="http://schemas.openxmlformats.org/officeDocument/2006/relationships/image" Target="../media/image-15-3.png"/><Relationship Id="rId6" Type="http://schemas.openxmlformats.org/officeDocument/2006/relationships/image" Target="../media/image-51-6.png"/><Relationship Id="rId7" Type="http://schemas.openxmlformats.org/officeDocument/2006/relationships/image" Target="../media/image-15-2.png"/><Relationship Id="rId8" Type="http://schemas.openxmlformats.org/officeDocument/2006/relationships/image" Target="../media/image-37-1.png"/><Relationship Id="rId9" Type="http://schemas.openxmlformats.org/officeDocument/2006/relationships/slideLayout" Target="../slideLayouts/slideLayout4.xml"/><Relationship Id="rId10"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26-8.png"/><Relationship Id="rId2" Type="http://schemas.openxmlformats.org/officeDocument/2006/relationships/image" Target="../media/image-1-1.png"/><Relationship Id="rId3" Type="http://schemas.openxmlformats.org/officeDocument/2006/relationships/slideLayout" Target="../slideLayouts/slideLayout4.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1.png"/><Relationship Id="rId3" Type="http://schemas.openxmlformats.org/officeDocument/2006/relationships/image" Target="../media/image-53-1.png"/><Relationship Id="rId4" Type="http://schemas.openxmlformats.org/officeDocument/2006/relationships/image" Target="../media/image-53-1.png"/><Relationship Id="rId5" Type="http://schemas.openxmlformats.org/officeDocument/2006/relationships/image" Target="../media/image-53-1.png"/><Relationship Id="rId6" Type="http://schemas.openxmlformats.org/officeDocument/2006/relationships/image" Target="../media/image-53-1.png"/><Relationship Id="rId7" Type="http://schemas.openxmlformats.org/officeDocument/2006/relationships/slideLayout" Target="../slideLayouts/slideLayout4.xml"/><Relationship Id="rId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3-4.png"/><Relationship Id="rId2" Type="http://schemas.openxmlformats.org/officeDocument/2006/relationships/image" Target="../media/image-13-4.png"/><Relationship Id="rId3" Type="http://schemas.openxmlformats.org/officeDocument/2006/relationships/image" Target="../media/image-13-4.png"/><Relationship Id="rId4" Type="http://schemas.openxmlformats.org/officeDocument/2006/relationships/image" Target="../media/image-13-4.png"/><Relationship Id="rId5" Type="http://schemas.openxmlformats.org/officeDocument/2006/relationships/image" Target="../media/image-13-4.png"/><Relationship Id="rId6" Type="http://schemas.openxmlformats.org/officeDocument/2006/relationships/image" Target="../media/image-13-4.png"/><Relationship Id="rId7" Type="http://schemas.openxmlformats.org/officeDocument/2006/relationships/slideLayout" Target="../slideLayouts/slideLayout4.xml"/><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13-3.png"/><Relationship Id="rId2" Type="http://schemas.openxmlformats.org/officeDocument/2006/relationships/image" Target="../media/image-14-2.png"/><Relationship Id="rId3" Type="http://schemas.openxmlformats.org/officeDocument/2006/relationships/image" Target="../media/image-50-4.jpg"/><Relationship Id="rId4" Type="http://schemas.openxmlformats.org/officeDocument/2006/relationships/image" Target="../media/image-24-3.jpg"/><Relationship Id="rId5" Type="http://schemas.openxmlformats.org/officeDocument/2006/relationships/image" Target="../media/image-55-5.jpg"/><Relationship Id="rId6" Type="http://schemas.openxmlformats.org/officeDocument/2006/relationships/slideLayout" Target="../slideLayouts/slideLayout2.xml"/><Relationship Id="rId7"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640080"/>
            <a:ext cx="5394960" cy="402336"/>
          </a:xfrm>
          <a:prstGeom prst="roundRect">
            <a:avLst>
              <a:gd name="adj" fmla="val 50000"/>
            </a:avLst>
          </a:prstGeom>
          <a:solidFill>
            <a:srgbClr val="FFFFFF">
              <a:alpha val="18000"/>
            </a:srgbClr>
          </a:solidFill>
          <a:ln/>
        </p:spPr>
      </p:sp>
      <p:sp>
        <p:nvSpPr>
          <p:cNvPr id="3" name="Text 1"/>
          <p:cNvSpPr txBox="1"/>
          <p:nvPr/>
        </p:nvSpPr>
        <p:spPr>
          <a:xfrm>
            <a:off x="640080" y="640080"/>
            <a:ext cx="5394960" cy="402336"/>
          </a:xfrm>
          <a:prstGeom prst="rect">
            <a:avLst/>
          </a:prstGeom>
          <a:noFill/>
          <a:ln/>
        </p:spPr>
        <p:txBody>
          <a:bodyPr wrap="square" lIns="0" tIns="0" rIns="0" bIns="0" rtlCol="0" anchor="ctr"/>
          <a:lstStyle/>
          <a:p>
            <a:pPr algn="ctr" indent="0" marL="0">
              <a:buNone/>
            </a:pPr>
            <a:r>
              <a:rPr lang="en-US" sz="1300" b="1" spc="150" kern="0" dirty="0">
                <a:solidFill>
                  <a:srgbClr val="FFFFFF"/>
                </a:solidFill>
              </a:rPr>
              <a:t>NGÀY HỘI CHUYỂN ĐỔI SỐ XÃ LÂM THAO NĂM 2026</a:t>
            </a:r>
            <a:endParaRPr lang="en-US" sz="1300" dirty="0"/>
          </a:p>
        </p:txBody>
      </p:sp>
      <p:sp>
        <p:nvSpPr>
          <p:cNvPr id="4" name="Text 2"/>
          <p:cNvSpPr txBox="1"/>
          <p:nvPr/>
        </p:nvSpPr>
        <p:spPr>
          <a:xfrm>
            <a:off x="640080" y="1261872"/>
            <a:ext cx="6035040" cy="411480"/>
          </a:xfrm>
          <a:prstGeom prst="rect">
            <a:avLst/>
          </a:prstGeom>
          <a:noFill/>
          <a:ln/>
        </p:spPr>
        <p:txBody>
          <a:bodyPr wrap="square" lIns="0" tIns="0" rIns="0" bIns="0" rtlCol="0" anchor="t"/>
          <a:lstStyle/>
          <a:p>
            <a:pPr indent="0" marL="0">
              <a:buNone/>
            </a:pPr>
            <a:r>
              <a:rPr lang="en-US" sz="2200" b="1" spc="400" kern="0" dirty="0">
                <a:solidFill>
                  <a:srgbClr val="DDD6FE"/>
                </a:solidFill>
              </a:rPr>
              <a:t>TẬP HUẤN THỂ LỆ</a:t>
            </a:r>
            <a:endParaRPr lang="en-US" sz="2200" dirty="0"/>
          </a:p>
        </p:txBody>
      </p:sp>
      <p:sp>
        <p:nvSpPr>
          <p:cNvPr id="5" name="Text 3"/>
          <p:cNvSpPr txBox="1"/>
          <p:nvPr/>
        </p:nvSpPr>
        <p:spPr>
          <a:xfrm>
            <a:off x="640080" y="1691640"/>
            <a:ext cx="6035040" cy="548640"/>
          </a:xfrm>
          <a:prstGeom prst="rect">
            <a:avLst/>
          </a:prstGeom>
          <a:noFill/>
          <a:ln/>
        </p:spPr>
        <p:txBody>
          <a:bodyPr wrap="square" lIns="0" tIns="0" rIns="0" bIns="0" rtlCol="0" anchor="t"/>
          <a:lstStyle/>
          <a:p>
            <a:pPr indent="0" marL="0">
              <a:buNone/>
            </a:pPr>
            <a:r>
              <a:rPr lang="en-US" sz="3600" b="1" dirty="0">
                <a:solidFill>
                  <a:srgbClr val="FFFFFF"/>
                </a:solidFill>
              </a:rPr>
              <a:t>THI ĐẤU ĐỐI KHÁNG</a:t>
            </a:r>
            <a:endParaRPr lang="en-US" sz="3600" dirty="0"/>
          </a:p>
        </p:txBody>
      </p:sp>
      <p:sp>
        <p:nvSpPr>
          <p:cNvPr id="6" name="Text 4"/>
          <p:cNvSpPr txBox="1"/>
          <p:nvPr/>
        </p:nvSpPr>
        <p:spPr>
          <a:xfrm>
            <a:off x="640080" y="2212848"/>
            <a:ext cx="6035040" cy="960120"/>
          </a:xfrm>
          <a:prstGeom prst="rect">
            <a:avLst/>
          </a:prstGeom>
          <a:noFill/>
          <a:ln/>
        </p:spPr>
        <p:txBody>
          <a:bodyPr wrap="square" lIns="0" tIns="0" rIns="0" bIns="0" rtlCol="0" anchor="t"/>
          <a:lstStyle/>
          <a:p>
            <a:pPr indent="0" marL="0">
              <a:buNone/>
            </a:pPr>
            <a:r>
              <a:rPr lang="en-US" sz="6800" b="1" dirty="0">
                <a:solidFill>
                  <a:srgbClr val="FCD34D"/>
                </a:solidFill>
              </a:rPr>
              <a:t>ROBOT UGOT</a:t>
            </a:r>
            <a:endParaRPr lang="en-US" sz="6800" dirty="0"/>
          </a:p>
        </p:txBody>
      </p:sp>
      <p:sp>
        <p:nvSpPr>
          <p:cNvPr id="7" name="Shape 5"/>
          <p:cNvSpPr/>
          <p:nvPr/>
        </p:nvSpPr>
        <p:spPr>
          <a:xfrm>
            <a:off x="640080" y="3310128"/>
            <a:ext cx="4023360" cy="548640"/>
          </a:xfrm>
          <a:prstGeom prst="roundRect">
            <a:avLst>
              <a:gd name="adj" fmla="val 50000"/>
            </a:avLst>
          </a:prstGeom>
          <a:solidFill>
            <a:srgbClr val="FFFFFF"/>
          </a:solidFill>
          <a:ln/>
        </p:spPr>
      </p:sp>
      <p:sp>
        <p:nvSpPr>
          <p:cNvPr id="8" name="Text 6"/>
          <p:cNvSpPr txBox="1"/>
          <p:nvPr/>
        </p:nvSpPr>
        <p:spPr>
          <a:xfrm>
            <a:off x="640080" y="3310128"/>
            <a:ext cx="4023360" cy="548640"/>
          </a:xfrm>
          <a:prstGeom prst="rect">
            <a:avLst/>
          </a:prstGeom>
          <a:noFill/>
          <a:ln/>
        </p:spPr>
        <p:txBody>
          <a:bodyPr wrap="square" lIns="0" tIns="0" rIns="0" bIns="0" rtlCol="0" anchor="ctr"/>
          <a:lstStyle/>
          <a:p>
            <a:pPr algn="ctr" indent="0" marL="0">
              <a:buNone/>
            </a:pPr>
            <a:r>
              <a:rPr lang="en-US" sz="2000" b="1" dirty="0">
                <a:solidFill>
                  <a:srgbClr val="4C1D95"/>
                </a:solidFill>
              </a:rPr>
              <a:t>BẢNG TIỂU HỌC · BẢNG A</a:t>
            </a:r>
            <a:endParaRPr lang="en-US" sz="2000" dirty="0"/>
          </a:p>
        </p:txBody>
      </p:sp>
      <p:sp>
        <p:nvSpPr>
          <p:cNvPr id="9" name="Text 7"/>
          <p:cNvSpPr txBox="1"/>
          <p:nvPr/>
        </p:nvSpPr>
        <p:spPr>
          <a:xfrm>
            <a:off x="640080" y="4041648"/>
            <a:ext cx="5852160" cy="731520"/>
          </a:xfrm>
          <a:prstGeom prst="rect">
            <a:avLst/>
          </a:prstGeom>
          <a:noFill/>
          <a:ln/>
        </p:spPr>
        <p:txBody>
          <a:bodyPr wrap="square" lIns="0" tIns="0" rIns="0" bIns="0" rtlCol="0" anchor="t"/>
          <a:lstStyle/>
          <a:p>
            <a:pPr indent="0" marL="0">
              <a:buNone/>
            </a:pPr>
            <a:r>
              <a:rPr lang="en-US" sz="1800" i="1" dirty="0">
                <a:solidFill>
                  <a:srgbClr val="E9D5FF"/>
                </a:solidFill>
              </a:rPr>
              <a:t>“Chinh phục Vũ trụ cùng Robot AI – Khai thác tài nguyên hành tinh”</a:t>
            </a:r>
            <a:endParaRPr lang="en-US" sz="1800" dirty="0"/>
          </a:p>
        </p:txBody>
      </p:sp>
      <p:pic>
        <p:nvPicPr>
          <p:cNvPr id="10" name="Image 0" descr="Biểu tượng minh họa">    </p:cNvPr>
          <p:cNvPicPr>
            <a:picLocks noChangeAspect="1"/>
          </p:cNvPicPr>
          <p:nvPr/>
        </p:nvPicPr>
        <p:blipFill>
          <a:blip r:embed="rId1"/>
          <a:stretch>
            <a:fillRect/>
          </a:stretch>
        </p:blipFill>
        <p:spPr>
          <a:xfrm>
            <a:off x="640080" y="4956048"/>
            <a:ext cx="384048" cy="384048"/>
          </a:xfrm>
          <a:prstGeom prst="rect">
            <a:avLst/>
          </a:prstGeom>
        </p:spPr>
      </p:pic>
      <p:sp>
        <p:nvSpPr>
          <p:cNvPr id="11" name="Text 8"/>
          <p:cNvSpPr txBox="1"/>
          <p:nvPr/>
        </p:nvSpPr>
        <p:spPr>
          <a:xfrm>
            <a:off x="1143000" y="4956048"/>
            <a:ext cx="5486400" cy="384048"/>
          </a:xfrm>
          <a:prstGeom prst="rect">
            <a:avLst/>
          </a:prstGeom>
          <a:noFill/>
          <a:ln/>
        </p:spPr>
        <p:txBody>
          <a:bodyPr wrap="square" lIns="0" tIns="0" rIns="0" bIns="0" rtlCol="0" anchor="ctr"/>
          <a:lstStyle/>
          <a:p>
            <a:pPr indent="0" marL="0">
              <a:buNone/>
            </a:pPr>
            <a:r>
              <a:rPr lang="en-US" sz="1600" dirty="0">
                <a:solidFill>
                  <a:srgbClr val="FFFFFF"/>
                </a:solidFill>
              </a:rPr>
              <a:t>Tập huấn: 09:30 – 10:30, Thứ Bảy, ngày 24/10/2026</a:t>
            </a:r>
            <a:endParaRPr lang="en-US" sz="1600" dirty="0"/>
          </a:p>
        </p:txBody>
      </p:sp>
      <p:pic>
        <p:nvPicPr>
          <p:cNvPr id="12" name="Image 1" descr="Biểu tượng minh họa">    </p:cNvPr>
          <p:cNvPicPr>
            <a:picLocks noChangeAspect="1"/>
          </p:cNvPicPr>
          <p:nvPr/>
        </p:nvPicPr>
        <p:blipFill>
          <a:blip r:embed="rId2"/>
          <a:stretch>
            <a:fillRect/>
          </a:stretch>
        </p:blipFill>
        <p:spPr>
          <a:xfrm>
            <a:off x="640080" y="5440680"/>
            <a:ext cx="384048" cy="384048"/>
          </a:xfrm>
          <a:prstGeom prst="rect">
            <a:avLst/>
          </a:prstGeom>
        </p:spPr>
      </p:pic>
      <p:sp>
        <p:nvSpPr>
          <p:cNvPr id="13" name="Text 9"/>
          <p:cNvSpPr txBox="1"/>
          <p:nvPr/>
        </p:nvSpPr>
        <p:spPr>
          <a:xfrm>
            <a:off x="1143000" y="5440680"/>
            <a:ext cx="5486400" cy="384048"/>
          </a:xfrm>
          <a:prstGeom prst="rect">
            <a:avLst/>
          </a:prstGeom>
          <a:noFill/>
          <a:ln/>
        </p:spPr>
        <p:txBody>
          <a:bodyPr wrap="square" lIns="0" tIns="0" rIns="0" bIns="0" rtlCol="0" anchor="ctr"/>
          <a:lstStyle/>
          <a:p>
            <a:pPr indent="0" marL="0">
              <a:buNone/>
            </a:pPr>
            <a:r>
              <a:rPr lang="en-US" sz="1600" dirty="0">
                <a:solidFill>
                  <a:srgbClr val="FFFFFF"/>
                </a:solidFill>
              </a:rPr>
              <a:t>Hội trường Đảng ủy xã Lâm Thao, tỉnh Bắc Ninh</a:t>
            </a:r>
            <a:endParaRPr lang="en-US" sz="1600" dirty="0"/>
          </a:p>
        </p:txBody>
      </p:sp>
      <p:sp>
        <p:nvSpPr>
          <p:cNvPr id="14" name="Text 10"/>
          <p:cNvSpPr txBox="1"/>
          <p:nvPr/>
        </p:nvSpPr>
        <p:spPr>
          <a:xfrm>
            <a:off x="640080" y="6199632"/>
            <a:ext cx="8229600" cy="274320"/>
          </a:xfrm>
          <a:prstGeom prst="rect">
            <a:avLst/>
          </a:prstGeom>
          <a:noFill/>
          <a:ln/>
        </p:spPr>
        <p:txBody>
          <a:bodyPr wrap="square" lIns="0" tIns="0" rIns="0" bIns="0" rtlCol="0" anchor="t"/>
          <a:lstStyle/>
          <a:p>
            <a:pPr indent="0" marL="0">
              <a:buNone/>
            </a:pPr>
            <a:r>
              <a:rPr lang="en-US" sz="1200" dirty="0">
                <a:solidFill>
                  <a:srgbClr val="C4B5FD"/>
                </a:solidFill>
              </a:rPr>
              <a:t>Ban Tổ chức Ngày hội  ·  Đơn vị phụ trách chuyên môn: Công ty CP Phát triển Trí tuệ ADC Việt Nam</a:t>
            </a:r>
            <a:endParaRPr lang="en-US" sz="1200" dirty="0"/>
          </a:p>
        </p:txBody>
      </p:sp>
      <p:sp>
        <p:nvSpPr>
          <p:cNvPr id="15" name="Shape 11"/>
          <p:cNvSpPr/>
          <p:nvPr/>
        </p:nvSpPr>
        <p:spPr>
          <a:xfrm>
            <a:off x="7315200" y="320040"/>
            <a:ext cx="4206240" cy="4206240"/>
          </a:xfrm>
          <a:prstGeom prst="ellipse">
            <a:avLst/>
          </a:prstGeom>
          <a:solidFill>
            <a:srgbClr val="FFFFFF">
              <a:alpha val="10000"/>
            </a:srgbClr>
          </a:solidFill>
          <a:ln/>
        </p:spPr>
      </p:sp>
      <p:sp>
        <p:nvSpPr>
          <p:cNvPr id="16" name="Shape 12"/>
          <p:cNvSpPr/>
          <p:nvPr/>
        </p:nvSpPr>
        <p:spPr>
          <a:xfrm>
            <a:off x="7818120" y="822960"/>
            <a:ext cx="3200400" cy="3200400"/>
          </a:xfrm>
          <a:prstGeom prst="ellipse">
            <a:avLst/>
          </a:prstGeom>
          <a:solidFill>
            <a:srgbClr val="FFFFFF">
              <a:alpha val="14000"/>
            </a:srgbClr>
          </a:solidFill>
          <a:ln/>
        </p:spPr>
      </p:sp>
      <p:pic>
        <p:nvPicPr>
          <p:cNvPr id="17" name="Image 2" descr="Robot UGOT có cơ cấu gắp">    </p:cNvPr>
          <p:cNvPicPr>
            <a:picLocks noChangeAspect="1"/>
          </p:cNvPicPr>
          <p:nvPr/>
        </p:nvPicPr>
        <p:blipFill>
          <a:blip r:embed="rId3"/>
          <a:stretch>
            <a:fillRect/>
          </a:stretch>
        </p:blipFill>
        <p:spPr>
          <a:xfrm>
            <a:off x="6583680" y="1051560"/>
            <a:ext cx="5394960" cy="2076335"/>
          </a:xfrm>
          <a:prstGeom prst="rect">
            <a:avLst/>
          </a:prstGeom>
        </p:spPr>
      </p:pic>
      <p:pic>
        <p:nvPicPr>
          <p:cNvPr id="18" name="RR_ph_thidau1_jpg" descr="Học sinh điều khiển robot UGOT trên sa bàn thi đấu">    </p:cNvPr>
          <p:cNvPicPr>
            <a:picLocks noChangeAspect="1"/>
          </p:cNvPicPr>
          <p:nvPr/>
        </p:nvPicPr>
        <p:blipFill>
          <a:blip r:embed="rId4"/>
          <a:stretch>
            <a:fillRect/>
          </a:stretch>
        </p:blipFill>
        <p:spPr>
          <a:xfrm>
            <a:off x="8092440" y="3429000"/>
            <a:ext cx="3566160" cy="23774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19" name="Shape 13"/>
          <p:cNvSpPr/>
          <p:nvPr/>
        </p:nvSpPr>
        <p:spPr>
          <a:xfrm>
            <a:off x="6812280" y="4434840"/>
            <a:ext cx="1280160" cy="1280160"/>
          </a:xfrm>
          <a:prstGeom prst="ellipse">
            <a:avLst/>
          </a:prstGeom>
          <a:solidFill>
            <a:srgbClr val="FFFFFF">
              <a:alpha val="90000"/>
            </a:srgbClr>
          </a:solidFill>
          <a:ln/>
          <a:effectLst>
            <a:outerShdw sx="100000" sy="100000" kx="0" ky="0" algn="bl" rotWithShape="0" blurRad="127000" dist="38100" dir="5400000">
              <a:srgbClr val="4C1D95">
                <a:alpha val="16000"/>
              </a:srgbClr>
            </a:outerShdw>
          </a:effectLst>
        </p:spPr>
      </p:sp>
      <p:pic>
        <p:nvPicPr>
          <p:cNvPr id="20" name="Image 4" descr="Biểu tượng minh họa">    </p:cNvPr>
          <p:cNvPicPr>
            <a:picLocks noChangeAspect="1"/>
          </p:cNvPicPr>
          <p:nvPr/>
        </p:nvPicPr>
        <p:blipFill>
          <a:blip r:embed="rId5"/>
          <a:stretch>
            <a:fillRect/>
          </a:stretch>
        </p:blipFill>
        <p:spPr>
          <a:xfrm>
            <a:off x="7022592" y="4645152"/>
            <a:ext cx="868680" cy="868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CHƯƠNG TRÌNH</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Nội dung buổi tập huấn</a:t>
            </a:r>
            <a:endParaRPr lang="en-US" sz="3000" dirty="0"/>
          </a:p>
        </p:txBody>
      </p:sp>
      <p:sp>
        <p:nvSpPr>
          <p:cNvPr id="5" name="Shape 2"/>
          <p:cNvSpPr/>
          <p:nvPr/>
        </p:nvSpPr>
        <p:spPr>
          <a:xfrm>
            <a:off x="548640" y="1371600"/>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77240" y="1600200"/>
            <a:ext cx="502920" cy="502920"/>
          </a:xfrm>
          <a:prstGeom prst="ellipse">
            <a:avLst/>
          </a:prstGeom>
          <a:solidFill>
            <a:srgbClr val="7C3AED"/>
          </a:solidFill>
          <a:ln/>
        </p:spPr>
      </p:sp>
      <p:sp>
        <p:nvSpPr>
          <p:cNvPr id="7" name="Text 4"/>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Shape 5"/>
          <p:cNvSpPr/>
          <p:nvPr/>
        </p:nvSpPr>
        <p:spPr>
          <a:xfrm>
            <a:off x="2980944" y="1554480"/>
            <a:ext cx="868680" cy="868680"/>
          </a:xfrm>
          <a:prstGeom prst="ellipse">
            <a:avLst/>
          </a:prstGeom>
          <a:solidFill>
            <a:srgbClr val="EDE4FF"/>
          </a:solidFill>
          <a:ln/>
        </p:spPr>
      </p:sp>
      <p:pic>
        <p:nvPicPr>
          <p:cNvPr id="9" name="Image 0" descr="Biểu tượng minh họa">    </p:cNvPr>
          <p:cNvPicPr>
            <a:picLocks noChangeAspect="1"/>
          </p:cNvPicPr>
          <p:nvPr/>
        </p:nvPicPr>
        <p:blipFill>
          <a:blip r:embed="rId1"/>
          <a:stretch>
            <a:fillRect/>
          </a:stretch>
        </p:blipFill>
        <p:spPr>
          <a:xfrm>
            <a:off x="3137306" y="1710842"/>
            <a:ext cx="555955" cy="555955"/>
          </a:xfrm>
          <a:prstGeom prst="rect">
            <a:avLst/>
          </a:prstGeom>
        </p:spPr>
      </p:pic>
      <p:sp>
        <p:nvSpPr>
          <p:cNvPr id="10" name="Text 6"/>
          <p:cNvSpPr txBox="1"/>
          <p:nvPr/>
        </p:nvSpPr>
        <p:spPr>
          <a:xfrm>
            <a:off x="777240" y="2240280"/>
            <a:ext cx="3026664" cy="411480"/>
          </a:xfrm>
          <a:prstGeom prst="rect">
            <a:avLst/>
          </a:prstGeom>
          <a:noFill/>
          <a:ln/>
        </p:spPr>
        <p:txBody>
          <a:bodyPr wrap="square" lIns="0" tIns="0" rIns="0" bIns="0" rtlCol="0" anchor="t"/>
          <a:lstStyle/>
          <a:p>
            <a:pPr indent="0" marL="0">
              <a:buNone/>
            </a:pPr>
            <a:r>
              <a:rPr lang="en-US" sz="2000" b="1" dirty="0">
                <a:solidFill>
                  <a:srgbClr val="2E1065"/>
                </a:solidFill>
              </a:rPr>
              <a:t>Tổng quan cuộc thi</a:t>
            </a:r>
            <a:endParaRPr lang="en-US" sz="2000" dirty="0"/>
          </a:p>
        </p:txBody>
      </p:sp>
      <p:sp>
        <p:nvSpPr>
          <p:cNvPr id="11" name="Text 7"/>
          <p:cNvSpPr txBox="1"/>
          <p:nvPr/>
        </p:nvSpPr>
        <p:spPr>
          <a:xfrm>
            <a:off x="777240" y="2651760"/>
            <a:ext cx="3026664" cy="548640"/>
          </a:xfrm>
          <a:prstGeom prst="rect">
            <a:avLst/>
          </a:prstGeom>
          <a:noFill/>
          <a:ln/>
        </p:spPr>
        <p:txBody>
          <a:bodyPr wrap="square" lIns="0" tIns="0" rIns="0" bIns="0" rtlCol="0" anchor="t"/>
          <a:lstStyle/>
          <a:p>
            <a:pPr indent="0" marL="0">
              <a:buNone/>
            </a:pPr>
            <a:r>
              <a:rPr lang="en-US" sz="1400" dirty="0">
                <a:solidFill>
                  <a:srgbClr val="5B4B8A"/>
                </a:solidFill>
              </a:rPr>
              <a:t>Mục đích, lịch trình, khu thi đấu, từ khóa</a:t>
            </a:r>
            <a:endParaRPr lang="en-US" sz="1400" dirty="0"/>
          </a:p>
        </p:txBody>
      </p:sp>
      <p:sp>
        <p:nvSpPr>
          <p:cNvPr id="12" name="Shape 8"/>
          <p:cNvSpPr/>
          <p:nvPr/>
        </p:nvSpPr>
        <p:spPr>
          <a:xfrm>
            <a:off x="4352544" y="1371600"/>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13" name="Shape 9"/>
          <p:cNvSpPr/>
          <p:nvPr/>
        </p:nvSpPr>
        <p:spPr>
          <a:xfrm>
            <a:off x="4581144" y="1600200"/>
            <a:ext cx="502920" cy="502920"/>
          </a:xfrm>
          <a:prstGeom prst="ellipse">
            <a:avLst/>
          </a:prstGeom>
          <a:solidFill>
            <a:srgbClr val="7C3AED"/>
          </a:solidFill>
          <a:ln/>
        </p:spPr>
      </p:sp>
      <p:sp>
        <p:nvSpPr>
          <p:cNvPr id="14" name="Text 10"/>
          <p:cNvSpPr txBox="1"/>
          <p:nvPr/>
        </p:nvSpPr>
        <p:spPr>
          <a:xfrm>
            <a:off x="4581144"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5" name="Shape 11"/>
          <p:cNvSpPr/>
          <p:nvPr/>
        </p:nvSpPr>
        <p:spPr>
          <a:xfrm>
            <a:off x="6784848" y="1554480"/>
            <a:ext cx="868680" cy="868680"/>
          </a:xfrm>
          <a:prstGeom prst="ellipse">
            <a:avLst/>
          </a:prstGeom>
          <a:solidFill>
            <a:srgbClr val="EDE4FF"/>
          </a:solidFill>
          <a:ln/>
        </p:spPr>
      </p:sp>
      <p:pic>
        <p:nvPicPr>
          <p:cNvPr id="16" name="Image 1" descr="Biểu tượng minh họa">    </p:cNvPr>
          <p:cNvPicPr>
            <a:picLocks noChangeAspect="1"/>
          </p:cNvPicPr>
          <p:nvPr/>
        </p:nvPicPr>
        <p:blipFill>
          <a:blip r:embed="rId2"/>
          <a:stretch>
            <a:fillRect/>
          </a:stretch>
        </p:blipFill>
        <p:spPr>
          <a:xfrm>
            <a:off x="6941210" y="1710842"/>
            <a:ext cx="555955" cy="555955"/>
          </a:xfrm>
          <a:prstGeom prst="rect">
            <a:avLst/>
          </a:prstGeom>
        </p:spPr>
      </p:pic>
      <p:sp>
        <p:nvSpPr>
          <p:cNvPr id="17" name="Text 12"/>
          <p:cNvSpPr txBox="1"/>
          <p:nvPr/>
        </p:nvSpPr>
        <p:spPr>
          <a:xfrm>
            <a:off x="4581144" y="2240280"/>
            <a:ext cx="3026664" cy="411480"/>
          </a:xfrm>
          <a:prstGeom prst="rect">
            <a:avLst/>
          </a:prstGeom>
          <a:noFill/>
          <a:ln/>
        </p:spPr>
        <p:txBody>
          <a:bodyPr wrap="square" lIns="0" tIns="0" rIns="0" bIns="0" rtlCol="0" anchor="t"/>
          <a:lstStyle/>
          <a:p>
            <a:pPr indent="0" marL="0">
              <a:buNone/>
            </a:pPr>
            <a:r>
              <a:rPr lang="en-US" sz="2000" b="1" dirty="0">
                <a:solidFill>
                  <a:srgbClr val="2E1065"/>
                </a:solidFill>
              </a:rPr>
              <a:t>Đội thi &amp; thiết bị</a:t>
            </a:r>
            <a:endParaRPr lang="en-US" sz="2000" dirty="0"/>
          </a:p>
        </p:txBody>
      </p:sp>
      <p:sp>
        <p:nvSpPr>
          <p:cNvPr id="18" name="Text 13"/>
          <p:cNvSpPr txBox="1"/>
          <p:nvPr/>
        </p:nvSpPr>
        <p:spPr>
          <a:xfrm>
            <a:off x="4581144" y="2651760"/>
            <a:ext cx="3026664" cy="548640"/>
          </a:xfrm>
          <a:prstGeom prst="rect">
            <a:avLst/>
          </a:prstGeom>
          <a:noFill/>
          <a:ln/>
        </p:spPr>
        <p:txBody>
          <a:bodyPr wrap="square" lIns="0" tIns="0" rIns="0" bIns="0" rtlCol="0" anchor="t"/>
          <a:lstStyle/>
          <a:p>
            <a:pPr indent="0" marL="0">
              <a:buNone/>
            </a:pPr>
            <a:r>
              <a:rPr lang="en-US" sz="1400" dirty="0">
                <a:solidFill>
                  <a:srgbClr val="5B4B8A"/>
                </a:solidFill>
              </a:rPr>
              <a:t>Thành phần đội, đăng ký, robot UGOT</a:t>
            </a:r>
            <a:endParaRPr lang="en-US" sz="1400" dirty="0"/>
          </a:p>
        </p:txBody>
      </p:sp>
      <p:sp>
        <p:nvSpPr>
          <p:cNvPr id="19" name="Shape 14"/>
          <p:cNvSpPr/>
          <p:nvPr/>
        </p:nvSpPr>
        <p:spPr>
          <a:xfrm>
            <a:off x="8156448" y="1371600"/>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20" name="Shape 15"/>
          <p:cNvSpPr/>
          <p:nvPr/>
        </p:nvSpPr>
        <p:spPr>
          <a:xfrm>
            <a:off x="8385048" y="1600200"/>
            <a:ext cx="502920" cy="502920"/>
          </a:xfrm>
          <a:prstGeom prst="ellipse">
            <a:avLst/>
          </a:prstGeom>
          <a:solidFill>
            <a:srgbClr val="7C3AED"/>
          </a:solidFill>
          <a:ln/>
        </p:spPr>
      </p:sp>
      <p:sp>
        <p:nvSpPr>
          <p:cNvPr id="21" name="Text 16"/>
          <p:cNvSpPr txBox="1"/>
          <p:nvPr/>
        </p:nvSpPr>
        <p:spPr>
          <a:xfrm>
            <a:off x="8385048"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2" name="Shape 17"/>
          <p:cNvSpPr/>
          <p:nvPr/>
        </p:nvSpPr>
        <p:spPr>
          <a:xfrm>
            <a:off x="10588752" y="1554480"/>
            <a:ext cx="868680" cy="868680"/>
          </a:xfrm>
          <a:prstGeom prst="ellipse">
            <a:avLst/>
          </a:prstGeom>
          <a:solidFill>
            <a:srgbClr val="EDE4FF"/>
          </a:solidFill>
          <a:ln/>
        </p:spPr>
      </p:sp>
      <p:pic>
        <p:nvPicPr>
          <p:cNvPr id="23" name="Image 2" descr="Biểu tượng minh họa">    </p:cNvPr>
          <p:cNvPicPr>
            <a:picLocks noChangeAspect="1"/>
          </p:cNvPicPr>
          <p:nvPr/>
        </p:nvPicPr>
        <p:blipFill>
          <a:blip r:embed="rId3"/>
          <a:stretch>
            <a:fillRect/>
          </a:stretch>
        </p:blipFill>
        <p:spPr>
          <a:xfrm>
            <a:off x="10745114" y="1710842"/>
            <a:ext cx="555955" cy="555955"/>
          </a:xfrm>
          <a:prstGeom prst="rect">
            <a:avLst/>
          </a:prstGeom>
        </p:spPr>
      </p:pic>
      <p:sp>
        <p:nvSpPr>
          <p:cNvPr id="24" name="Text 18"/>
          <p:cNvSpPr txBox="1"/>
          <p:nvPr/>
        </p:nvSpPr>
        <p:spPr>
          <a:xfrm>
            <a:off x="8385048" y="2240280"/>
            <a:ext cx="3026664" cy="411480"/>
          </a:xfrm>
          <a:prstGeom prst="rect">
            <a:avLst/>
          </a:prstGeom>
          <a:noFill/>
          <a:ln/>
        </p:spPr>
        <p:txBody>
          <a:bodyPr wrap="square" lIns="0" tIns="0" rIns="0" bIns="0" rtlCol="0" anchor="t"/>
          <a:lstStyle/>
          <a:p>
            <a:pPr indent="0" marL="0">
              <a:buNone/>
            </a:pPr>
            <a:r>
              <a:rPr lang="en-US" sz="2000" b="1" dirty="0">
                <a:solidFill>
                  <a:srgbClr val="2E1065"/>
                </a:solidFill>
              </a:rPr>
              <a:t>Sa bàn &amp; đạo cụ</a:t>
            </a:r>
            <a:endParaRPr lang="en-US" sz="2000" dirty="0"/>
          </a:p>
        </p:txBody>
      </p:sp>
      <p:sp>
        <p:nvSpPr>
          <p:cNvPr id="25" name="Text 19"/>
          <p:cNvSpPr txBox="1"/>
          <p:nvPr/>
        </p:nvSpPr>
        <p:spPr>
          <a:xfrm>
            <a:off x="8385048" y="2651760"/>
            <a:ext cx="3026664" cy="548640"/>
          </a:xfrm>
          <a:prstGeom prst="rect">
            <a:avLst/>
          </a:prstGeom>
          <a:noFill/>
          <a:ln/>
        </p:spPr>
        <p:txBody>
          <a:bodyPr wrap="square" lIns="0" tIns="0" rIns="0" bIns="0" rtlCol="0" anchor="t"/>
          <a:lstStyle/>
          <a:p>
            <a:pPr indent="0" marL="0">
              <a:buNone/>
            </a:pPr>
            <a:r>
              <a:rPr lang="en-US" sz="1400" dirty="0">
                <a:solidFill>
                  <a:srgbClr val="5B4B8A"/>
                </a:solidFill>
              </a:rPr>
              <a:t>Bố cục sân, các loại khối, mặt sân</a:t>
            </a:r>
            <a:endParaRPr lang="en-US" sz="1400" dirty="0"/>
          </a:p>
        </p:txBody>
      </p:sp>
      <p:sp>
        <p:nvSpPr>
          <p:cNvPr id="26" name="Shape 20"/>
          <p:cNvSpPr/>
          <p:nvPr/>
        </p:nvSpPr>
        <p:spPr>
          <a:xfrm>
            <a:off x="548640" y="3547872"/>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27" name="Shape 21"/>
          <p:cNvSpPr/>
          <p:nvPr/>
        </p:nvSpPr>
        <p:spPr>
          <a:xfrm>
            <a:off x="777240" y="3776472"/>
            <a:ext cx="502920" cy="502920"/>
          </a:xfrm>
          <a:prstGeom prst="ellipse">
            <a:avLst/>
          </a:prstGeom>
          <a:solidFill>
            <a:srgbClr val="7C3AED"/>
          </a:solidFill>
          <a:ln/>
        </p:spPr>
      </p:sp>
      <p:sp>
        <p:nvSpPr>
          <p:cNvPr id="28" name="Text 22"/>
          <p:cNvSpPr txBox="1"/>
          <p:nvPr/>
        </p:nvSpPr>
        <p:spPr>
          <a:xfrm>
            <a:off x="777240"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9" name="Shape 23"/>
          <p:cNvSpPr/>
          <p:nvPr/>
        </p:nvSpPr>
        <p:spPr>
          <a:xfrm>
            <a:off x="2980944" y="3730752"/>
            <a:ext cx="868680" cy="868680"/>
          </a:xfrm>
          <a:prstGeom prst="ellipse">
            <a:avLst/>
          </a:prstGeom>
          <a:solidFill>
            <a:srgbClr val="EDE4FF"/>
          </a:solidFill>
          <a:ln/>
        </p:spPr>
      </p:sp>
      <p:pic>
        <p:nvPicPr>
          <p:cNvPr id="30" name="Image 3" descr="Biểu tượng minh họa">    </p:cNvPr>
          <p:cNvPicPr>
            <a:picLocks noChangeAspect="1"/>
          </p:cNvPicPr>
          <p:nvPr/>
        </p:nvPicPr>
        <p:blipFill>
          <a:blip r:embed="rId4"/>
          <a:stretch>
            <a:fillRect/>
          </a:stretch>
        </p:blipFill>
        <p:spPr>
          <a:xfrm>
            <a:off x="3137306" y="3887114"/>
            <a:ext cx="555955" cy="555955"/>
          </a:xfrm>
          <a:prstGeom prst="rect">
            <a:avLst/>
          </a:prstGeom>
        </p:spPr>
      </p:pic>
      <p:sp>
        <p:nvSpPr>
          <p:cNvPr id="31" name="Text 24"/>
          <p:cNvSpPr txBox="1"/>
          <p:nvPr/>
        </p:nvSpPr>
        <p:spPr>
          <a:xfrm>
            <a:off x="777240" y="4416552"/>
            <a:ext cx="3026664" cy="411480"/>
          </a:xfrm>
          <a:prstGeom prst="rect">
            <a:avLst/>
          </a:prstGeom>
          <a:noFill/>
          <a:ln/>
        </p:spPr>
        <p:txBody>
          <a:bodyPr wrap="square" lIns="0" tIns="0" rIns="0" bIns="0" rtlCol="0" anchor="t"/>
          <a:lstStyle/>
          <a:p>
            <a:pPr indent="0" marL="0">
              <a:buNone/>
            </a:pPr>
            <a:r>
              <a:rPr lang="en-US" sz="2000" b="1" dirty="0">
                <a:solidFill>
                  <a:srgbClr val="2E1065"/>
                </a:solidFill>
              </a:rPr>
              <a:t>Thể thức thi đấu</a:t>
            </a:r>
            <a:endParaRPr lang="en-US" sz="2000" dirty="0"/>
          </a:p>
        </p:txBody>
      </p:sp>
      <p:sp>
        <p:nvSpPr>
          <p:cNvPr id="32" name="Text 25"/>
          <p:cNvSpPr txBox="1"/>
          <p:nvPr/>
        </p:nvSpPr>
        <p:spPr>
          <a:xfrm>
            <a:off x="777240" y="4828032"/>
            <a:ext cx="3026664" cy="548640"/>
          </a:xfrm>
          <a:prstGeom prst="rect">
            <a:avLst/>
          </a:prstGeom>
          <a:noFill/>
          <a:ln/>
        </p:spPr>
        <p:txBody>
          <a:bodyPr wrap="square" lIns="0" tIns="0" rIns="0" bIns="0" rtlCol="0" anchor="t"/>
          <a:lstStyle/>
          <a:p>
            <a:pPr indent="0" marL="0">
              <a:buNone/>
            </a:pPr>
            <a:r>
              <a:rPr lang="en-US" sz="1400" dirty="0">
                <a:solidFill>
                  <a:srgbClr val="5B4B8A"/>
                </a:solidFill>
              </a:rPr>
              <a:t>Lượt, cặp đấu, sơ đồ, trình tự</a:t>
            </a:r>
            <a:endParaRPr lang="en-US" sz="1400" dirty="0"/>
          </a:p>
        </p:txBody>
      </p:sp>
      <p:sp>
        <p:nvSpPr>
          <p:cNvPr id="33" name="Shape 26"/>
          <p:cNvSpPr/>
          <p:nvPr/>
        </p:nvSpPr>
        <p:spPr>
          <a:xfrm>
            <a:off x="4352544" y="3547872"/>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34" name="Shape 27"/>
          <p:cNvSpPr/>
          <p:nvPr/>
        </p:nvSpPr>
        <p:spPr>
          <a:xfrm>
            <a:off x="4581144" y="3776472"/>
            <a:ext cx="502920" cy="502920"/>
          </a:xfrm>
          <a:prstGeom prst="ellipse">
            <a:avLst/>
          </a:prstGeom>
          <a:solidFill>
            <a:srgbClr val="7C3AED"/>
          </a:solidFill>
          <a:ln/>
        </p:spPr>
      </p:sp>
      <p:sp>
        <p:nvSpPr>
          <p:cNvPr id="35" name="Text 28"/>
          <p:cNvSpPr txBox="1"/>
          <p:nvPr/>
        </p:nvSpPr>
        <p:spPr>
          <a:xfrm>
            <a:off x="4581144"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36" name="Shape 29"/>
          <p:cNvSpPr/>
          <p:nvPr/>
        </p:nvSpPr>
        <p:spPr>
          <a:xfrm>
            <a:off x="6784848" y="3730752"/>
            <a:ext cx="868680" cy="868680"/>
          </a:xfrm>
          <a:prstGeom prst="ellipse">
            <a:avLst/>
          </a:prstGeom>
          <a:solidFill>
            <a:srgbClr val="EDE4FF"/>
          </a:solidFill>
          <a:ln/>
        </p:spPr>
      </p:sp>
      <p:pic>
        <p:nvPicPr>
          <p:cNvPr id="37" name="Image 4" descr="Biểu tượng minh họa">    </p:cNvPr>
          <p:cNvPicPr>
            <a:picLocks noChangeAspect="1"/>
          </p:cNvPicPr>
          <p:nvPr/>
        </p:nvPicPr>
        <p:blipFill>
          <a:blip r:embed="rId5"/>
          <a:stretch>
            <a:fillRect/>
          </a:stretch>
        </p:blipFill>
        <p:spPr>
          <a:xfrm>
            <a:off x="6941210" y="3887114"/>
            <a:ext cx="555955" cy="555955"/>
          </a:xfrm>
          <a:prstGeom prst="rect">
            <a:avLst/>
          </a:prstGeom>
        </p:spPr>
      </p:pic>
      <p:sp>
        <p:nvSpPr>
          <p:cNvPr id="38" name="Text 30"/>
          <p:cNvSpPr txBox="1"/>
          <p:nvPr/>
        </p:nvSpPr>
        <p:spPr>
          <a:xfrm>
            <a:off x="4581144" y="4416552"/>
            <a:ext cx="3026664" cy="411480"/>
          </a:xfrm>
          <a:prstGeom prst="rect">
            <a:avLst/>
          </a:prstGeom>
          <a:noFill/>
          <a:ln/>
        </p:spPr>
        <p:txBody>
          <a:bodyPr wrap="square" lIns="0" tIns="0" rIns="0" bIns="0" rtlCol="0" anchor="t"/>
          <a:lstStyle/>
          <a:p>
            <a:pPr indent="0" marL="0">
              <a:buNone/>
            </a:pPr>
            <a:r>
              <a:rPr lang="en-US" sz="2000" b="1" dirty="0">
                <a:solidFill>
                  <a:srgbClr val="2E1065"/>
                </a:solidFill>
              </a:rPr>
              <a:t>Nhiệm vụ &amp; tính điểm</a:t>
            </a:r>
            <a:endParaRPr lang="en-US" sz="2000" dirty="0"/>
          </a:p>
        </p:txBody>
      </p:sp>
      <p:sp>
        <p:nvSpPr>
          <p:cNvPr id="39" name="Text 31"/>
          <p:cNvSpPr txBox="1"/>
          <p:nvPr/>
        </p:nvSpPr>
        <p:spPr>
          <a:xfrm>
            <a:off x="4581144" y="4828032"/>
            <a:ext cx="3026664" cy="548640"/>
          </a:xfrm>
          <a:prstGeom prst="rect">
            <a:avLst/>
          </a:prstGeom>
          <a:noFill/>
          <a:ln/>
        </p:spPr>
        <p:txBody>
          <a:bodyPr wrap="square" lIns="0" tIns="0" rIns="0" bIns="0" rtlCol="0" anchor="t"/>
          <a:lstStyle/>
          <a:p>
            <a:pPr indent="0" marL="0">
              <a:buNone/>
            </a:pPr>
            <a:r>
              <a:rPr lang="en-US" sz="1400" dirty="0">
                <a:solidFill>
                  <a:srgbClr val="5B4B8A"/>
                </a:solidFill>
              </a:rPr>
              <a:t>Mở khóa, khối hợp lệ, Hồi căn cứ, điểm cộng/trừ</a:t>
            </a:r>
            <a:endParaRPr lang="en-US" sz="1400" dirty="0"/>
          </a:p>
        </p:txBody>
      </p:sp>
      <p:sp>
        <p:nvSpPr>
          <p:cNvPr id="40" name="Shape 32"/>
          <p:cNvSpPr/>
          <p:nvPr/>
        </p:nvSpPr>
        <p:spPr>
          <a:xfrm>
            <a:off x="8156448" y="3547872"/>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41" name="Shape 33"/>
          <p:cNvSpPr/>
          <p:nvPr/>
        </p:nvSpPr>
        <p:spPr>
          <a:xfrm>
            <a:off x="8385048" y="3776472"/>
            <a:ext cx="502920" cy="502920"/>
          </a:xfrm>
          <a:prstGeom prst="ellipse">
            <a:avLst/>
          </a:prstGeom>
          <a:solidFill>
            <a:srgbClr val="7C3AED"/>
          </a:solidFill>
          <a:ln/>
        </p:spPr>
      </p:sp>
      <p:sp>
        <p:nvSpPr>
          <p:cNvPr id="42" name="Text 34"/>
          <p:cNvSpPr txBox="1"/>
          <p:nvPr/>
        </p:nvSpPr>
        <p:spPr>
          <a:xfrm>
            <a:off x="8385048"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43" name="Shape 35"/>
          <p:cNvSpPr/>
          <p:nvPr/>
        </p:nvSpPr>
        <p:spPr>
          <a:xfrm>
            <a:off x="10588752" y="3730752"/>
            <a:ext cx="868680" cy="868680"/>
          </a:xfrm>
          <a:prstGeom prst="ellipse">
            <a:avLst/>
          </a:prstGeom>
          <a:solidFill>
            <a:srgbClr val="EDE4FF"/>
          </a:solidFill>
          <a:ln/>
        </p:spPr>
      </p:sp>
      <p:pic>
        <p:nvPicPr>
          <p:cNvPr id="44" name="Image 5" descr="Biểu tượng minh họa">    </p:cNvPr>
          <p:cNvPicPr>
            <a:picLocks noChangeAspect="1"/>
          </p:cNvPicPr>
          <p:nvPr/>
        </p:nvPicPr>
        <p:blipFill>
          <a:blip r:embed="rId6"/>
          <a:stretch>
            <a:fillRect/>
          </a:stretch>
        </p:blipFill>
        <p:spPr>
          <a:xfrm>
            <a:off x="10745114" y="3887114"/>
            <a:ext cx="555955" cy="555955"/>
          </a:xfrm>
          <a:prstGeom prst="rect">
            <a:avLst/>
          </a:prstGeom>
        </p:spPr>
      </p:pic>
      <p:sp>
        <p:nvSpPr>
          <p:cNvPr id="45" name="Text 36"/>
          <p:cNvSpPr txBox="1"/>
          <p:nvPr/>
        </p:nvSpPr>
        <p:spPr>
          <a:xfrm>
            <a:off x="8385048" y="4416552"/>
            <a:ext cx="3026664" cy="411480"/>
          </a:xfrm>
          <a:prstGeom prst="rect">
            <a:avLst/>
          </a:prstGeom>
          <a:noFill/>
          <a:ln/>
        </p:spPr>
        <p:txBody>
          <a:bodyPr wrap="square" lIns="0" tIns="0" rIns="0" bIns="0" rtlCol="0" anchor="t"/>
          <a:lstStyle/>
          <a:p>
            <a:pPr indent="0" marL="0">
              <a:buNone/>
            </a:pPr>
            <a:r>
              <a:rPr lang="en-US" sz="2000" b="1" dirty="0">
                <a:solidFill>
                  <a:srgbClr val="2E1065"/>
                </a:solidFill>
              </a:rPr>
              <a:t>Kết quả, sự cố &amp; kỷ luật</a:t>
            </a:r>
            <a:endParaRPr lang="en-US" sz="2000" dirty="0"/>
          </a:p>
        </p:txBody>
      </p:sp>
      <p:sp>
        <p:nvSpPr>
          <p:cNvPr id="46" name="Text 37"/>
          <p:cNvSpPr txBox="1"/>
          <p:nvPr/>
        </p:nvSpPr>
        <p:spPr>
          <a:xfrm>
            <a:off x="8385048" y="4828032"/>
            <a:ext cx="3026664" cy="548640"/>
          </a:xfrm>
          <a:prstGeom prst="rect">
            <a:avLst/>
          </a:prstGeom>
          <a:noFill/>
          <a:ln/>
        </p:spPr>
        <p:txBody>
          <a:bodyPr wrap="square" lIns="0" tIns="0" rIns="0" bIns="0" rtlCol="0" anchor="t"/>
          <a:lstStyle/>
          <a:p>
            <a:pPr indent="0" marL="0">
              <a:buNone/>
            </a:pPr>
            <a:r>
              <a:rPr lang="en-US" sz="1400" dirty="0">
                <a:solidFill>
                  <a:srgbClr val="5B4B8A"/>
                </a:solidFill>
              </a:rPr>
              <a:t>Phân định thắng thua, xử lý sự cố, khiếu nại</a:t>
            </a:r>
            <a:endParaRPr lang="en-US" sz="1400" dirty="0"/>
          </a:p>
        </p:txBody>
      </p:sp>
      <p:sp>
        <p:nvSpPr>
          <p:cNvPr id="47" name="Shape 38"/>
          <p:cNvSpPr/>
          <p:nvPr/>
        </p:nvSpPr>
        <p:spPr>
          <a:xfrm>
            <a:off x="548640" y="5715000"/>
            <a:ext cx="11091672" cy="548640"/>
          </a:xfrm>
          <a:prstGeom prst="roundRect">
            <a:avLst>
              <a:gd name="adj" fmla="val 50000"/>
            </a:avLst>
          </a:prstGeom>
          <a:solidFill>
            <a:srgbClr val="7C3AED"/>
          </a:solidFill>
          <a:ln/>
        </p:spPr>
      </p:sp>
      <p:pic>
        <p:nvPicPr>
          <p:cNvPr id="48" name="Image 6" descr="Biểu tượng minh họa">    </p:cNvPr>
          <p:cNvPicPr>
            <a:picLocks noChangeAspect="1"/>
          </p:cNvPicPr>
          <p:nvPr/>
        </p:nvPicPr>
        <p:blipFill>
          <a:blip r:embed="rId7"/>
          <a:stretch>
            <a:fillRect/>
          </a:stretch>
        </p:blipFill>
        <p:spPr>
          <a:xfrm>
            <a:off x="777240" y="5760720"/>
            <a:ext cx="457200" cy="457200"/>
          </a:xfrm>
          <a:prstGeom prst="rect">
            <a:avLst/>
          </a:prstGeom>
        </p:spPr>
      </p:pic>
      <p:sp>
        <p:nvSpPr>
          <p:cNvPr id="49" name="Text 39"/>
          <p:cNvSpPr txBox="1"/>
          <p:nvPr/>
        </p:nvSpPr>
        <p:spPr>
          <a:xfrm>
            <a:off x="1371600" y="5715000"/>
            <a:ext cx="10058400" cy="548640"/>
          </a:xfrm>
          <a:prstGeom prst="rect">
            <a:avLst/>
          </a:prstGeom>
          <a:noFill/>
          <a:ln/>
        </p:spPr>
        <p:txBody>
          <a:bodyPr wrap="square" lIns="0" tIns="0" rIns="0" bIns="0" rtlCol="0" anchor="ctr"/>
          <a:lstStyle/>
          <a:p>
            <a:pPr indent="0" marL="0">
              <a:buNone/>
            </a:pPr>
            <a:r>
              <a:rPr lang="en-US" sz="1600" b="1" dirty="0">
                <a:solidFill>
                  <a:srgbClr val="FFFFFF"/>
                </a:solidFill>
              </a:rPr>
              <a:t>Phần 7: Giải thưởng, gợi ý chiến thuật, checklist chuẩn bị  ·  Cuối buổi: Câu hỏi tình huống &amp; giải đáp</a:t>
            </a:r>
            <a:endParaRPr lang="en-US" sz="16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01</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1</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Tổng quan cuộc thi</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Mục đích, lịch trình, khu thi đấu và những từ khóa cần nhớ</a:t>
            </a:r>
            <a:endParaRPr lang="en-US" sz="1800" dirty="0"/>
          </a:p>
        </p:txBody>
      </p:sp>
      <p:pic>
        <p:nvPicPr>
          <p:cNvPr id="6" name="RR_ph_thidau2_sq_jpg" descr="Học sinh điều khiển robot UGOT trên sa bàn thi đấu">    </p:cNvPr>
          <p:cNvPicPr>
            <a:picLocks noChangeAspect="1"/>
          </p:cNvPicPr>
          <p:nvPr/>
        </p:nvPicPr>
        <p:blipFill>
          <a:blip r:embed="rId1"/>
          <a:stretch>
            <a:fillRect/>
          </a:stretch>
        </p:blipFill>
        <p:spPr>
          <a:xfrm>
            <a:off x="7452360" y="1234440"/>
            <a:ext cx="4206240" cy="42062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7" name="Shape 4"/>
          <p:cNvSpPr/>
          <p:nvPr/>
        </p:nvSpPr>
        <p:spPr>
          <a:xfrm>
            <a:off x="6903720" y="4526280"/>
            <a:ext cx="1371600" cy="1371600"/>
          </a:xfrm>
          <a:prstGeom prst="ellipse">
            <a:avLst/>
          </a:prstGeom>
          <a:solidFill>
            <a:srgbClr val="FFFFFF">
              <a:alpha val="90000"/>
            </a:srgbClr>
          </a:solidFill>
          <a:ln/>
          <a:effectLst>
            <a:outerShdw sx="100000" sy="100000" kx="0" ky="0" algn="bl" rotWithShape="0" blurRad="127000" dist="38100" dir="5400000">
              <a:srgbClr val="4C1D95">
                <a:alpha val="16000"/>
              </a:srgbClr>
            </a:outerShdw>
          </a:effectLst>
        </p:spPr>
      </p:sp>
      <p:pic>
        <p:nvPicPr>
          <p:cNvPr id="8" name="Image 1" descr="Biểu tượng minh họa">    </p:cNvPr>
          <p:cNvPicPr>
            <a:picLocks noChangeAspect="1"/>
          </p:cNvPicPr>
          <p:nvPr/>
        </p:nvPicPr>
        <p:blipFill>
          <a:blip r:embed="rId2"/>
          <a:stretch>
            <a:fillRect/>
          </a:stretch>
        </p:blipFill>
        <p:spPr>
          <a:xfrm>
            <a:off x="7132320" y="4754880"/>
            <a:ext cx="914400" cy="9144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TỔNG QUAN</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Cuộc thi đối kháng Robot UGOT là gì?</a:t>
            </a:r>
            <a:endParaRPr lang="en-US" sz="3000" dirty="0"/>
          </a:p>
        </p:txBody>
      </p:sp>
      <p:sp>
        <p:nvSpPr>
          <p:cNvPr id="5" name="Shape 2"/>
          <p:cNvSpPr/>
          <p:nvPr/>
        </p:nvSpPr>
        <p:spPr>
          <a:xfrm>
            <a:off x="548640" y="1371600"/>
            <a:ext cx="5852160" cy="1417320"/>
          </a:xfrm>
          <a:prstGeom prst="roundRect">
            <a:avLst>
              <a:gd name="adj" fmla="val 7742"/>
            </a:avLst>
          </a:prstGeom>
          <a:solidFill>
            <a:srgbClr val="7C3AED"/>
          </a:solidFill>
          <a:ln/>
        </p:spPr>
      </p:sp>
      <p:sp>
        <p:nvSpPr>
          <p:cNvPr id="6" name="Text 3"/>
          <p:cNvSpPr txBox="1"/>
          <p:nvPr/>
        </p:nvSpPr>
        <p:spPr>
          <a:xfrm>
            <a:off x="777240" y="1463040"/>
            <a:ext cx="5440680" cy="1234440"/>
          </a:xfrm>
          <a:prstGeom prst="rect">
            <a:avLst/>
          </a:prstGeom>
          <a:noFill/>
          <a:ln/>
        </p:spPr>
        <p:txBody>
          <a:bodyPr wrap="square" lIns="0" tIns="0" rIns="0" bIns="0" rtlCol="0" anchor="ctr"/>
          <a:lstStyle/>
          <a:p>
            <a:pPr indent="0" marL="0">
              <a:buNone/>
            </a:pPr>
            <a:r>
              <a:rPr lang="en-US" sz="1700" dirty="0">
                <a:solidFill>
                  <a:srgbClr val="FFFFFF"/>
                </a:solidFill>
              </a:rPr>
              <a:t>Hai đội điều khiển robot UGOT bằng tay cầm Bluetooth, </a:t>
            </a:r>
            <a:pPr indent="0" marL="0">
              <a:buNone/>
            </a:pPr>
            <a:r>
              <a:rPr lang="en-US" sz="1700" b="1" dirty="0">
                <a:solidFill>
                  <a:srgbClr val="FDE68A"/>
                </a:solidFill>
              </a:rPr>
              <a:t>đấu trực tiếp 1 đấu 1</a:t>
            </a:r>
            <a:pPr indent="0" marL="0">
              <a:buNone/>
            </a:pPr>
            <a:r>
              <a:rPr lang="en-US" sz="1700" dirty="0">
                <a:solidFill>
                  <a:srgbClr val="FFFFFF"/>
                </a:solidFill>
              </a:rPr>
              <a:t> trên sa bàn “Chinh phục Vũ trụ”: thu gom khối tài nguyên đưa về Căn cứ của đội mình. Đội có </a:t>
            </a:r>
            <a:pPr indent="0" marL="0">
              <a:buNone/>
            </a:pPr>
            <a:r>
              <a:rPr lang="en-US" sz="1700" b="1" dirty="0">
                <a:solidFill>
                  <a:srgbClr val="FDE68A"/>
                </a:solidFill>
              </a:rPr>
              <a:t>tổng điểm nhiệm vụ cao hơn</a:t>
            </a:r>
            <a:pPr indent="0" marL="0">
              <a:buNone/>
            </a:pPr>
            <a:r>
              <a:rPr lang="en-US" sz="1700" dirty="0">
                <a:solidFill>
                  <a:srgbClr val="FFFFFF"/>
                </a:solidFill>
              </a:rPr>
              <a:t> giành chiến thắng.</a:t>
            </a:r>
            <a:endParaRPr lang="en-US" sz="1700" dirty="0"/>
          </a:p>
        </p:txBody>
      </p:sp>
      <p:sp>
        <p:nvSpPr>
          <p:cNvPr id="7" name="Text 4"/>
          <p:cNvSpPr txBox="1"/>
          <p:nvPr/>
        </p:nvSpPr>
        <p:spPr>
          <a:xfrm>
            <a:off x="548640" y="2926080"/>
            <a:ext cx="5486400" cy="365760"/>
          </a:xfrm>
          <a:prstGeom prst="rect">
            <a:avLst/>
          </a:prstGeom>
          <a:noFill/>
          <a:ln/>
        </p:spPr>
        <p:txBody>
          <a:bodyPr wrap="square" lIns="0" tIns="0" rIns="0" bIns="0" rtlCol="0" anchor="t"/>
          <a:lstStyle/>
          <a:p>
            <a:pPr indent="0" marL="0">
              <a:buNone/>
            </a:pPr>
            <a:r>
              <a:rPr lang="en-US" sz="2000" b="1" dirty="0">
                <a:solidFill>
                  <a:srgbClr val="7C3AED"/>
                </a:solidFill>
              </a:rPr>
              <a:t>Mục đích</a:t>
            </a:r>
            <a:endParaRPr lang="en-US" sz="2000" dirty="0"/>
          </a:p>
        </p:txBody>
      </p:sp>
      <p:sp>
        <p:nvSpPr>
          <p:cNvPr id="8" name="Shape 5"/>
          <p:cNvSpPr/>
          <p:nvPr/>
        </p:nvSpPr>
        <p:spPr>
          <a:xfrm>
            <a:off x="548640" y="3364992"/>
            <a:ext cx="502920" cy="502920"/>
          </a:xfrm>
          <a:prstGeom prst="ellipse">
            <a:avLst/>
          </a:prstGeom>
          <a:solidFill>
            <a:srgbClr val="FFFFFF"/>
          </a:solidFill>
          <a:ln/>
        </p:spPr>
      </p:sp>
      <p:pic>
        <p:nvPicPr>
          <p:cNvPr id="9" name="Image 0" descr="Biểu tượng minh họa">    </p:cNvPr>
          <p:cNvPicPr>
            <a:picLocks noChangeAspect="1"/>
          </p:cNvPicPr>
          <p:nvPr/>
        </p:nvPicPr>
        <p:blipFill>
          <a:blip r:embed="rId1"/>
          <a:stretch>
            <a:fillRect/>
          </a:stretch>
        </p:blipFill>
        <p:spPr>
          <a:xfrm>
            <a:off x="639166" y="3455518"/>
            <a:ext cx="321869" cy="321869"/>
          </a:xfrm>
          <a:prstGeom prst="rect">
            <a:avLst/>
          </a:prstGeom>
        </p:spPr>
      </p:pic>
      <p:sp>
        <p:nvSpPr>
          <p:cNvPr id="10" name="Text 6"/>
          <p:cNvSpPr txBox="1"/>
          <p:nvPr/>
        </p:nvSpPr>
        <p:spPr>
          <a:xfrm>
            <a:off x="1188720" y="3364992"/>
            <a:ext cx="5212080" cy="502920"/>
          </a:xfrm>
          <a:prstGeom prst="rect">
            <a:avLst/>
          </a:prstGeom>
          <a:noFill/>
          <a:ln/>
        </p:spPr>
        <p:txBody>
          <a:bodyPr wrap="square" lIns="0" tIns="0" rIns="0" bIns="0" rtlCol="0" anchor="ctr"/>
          <a:lstStyle/>
          <a:p>
            <a:pPr indent="0" marL="0">
              <a:buNone/>
            </a:pPr>
            <a:r>
              <a:rPr lang="en-US" sz="1600" dirty="0">
                <a:solidFill>
                  <a:srgbClr val="2E1065"/>
                </a:solidFill>
              </a:rPr>
              <a:t>Hưởng ứng phong trào chuyển đổi số trên địa bàn xã</a:t>
            </a:r>
            <a:endParaRPr lang="en-US" sz="1600" dirty="0"/>
          </a:p>
        </p:txBody>
      </p:sp>
      <p:sp>
        <p:nvSpPr>
          <p:cNvPr id="11" name="Shape 7"/>
          <p:cNvSpPr/>
          <p:nvPr/>
        </p:nvSpPr>
        <p:spPr>
          <a:xfrm>
            <a:off x="548640" y="3968496"/>
            <a:ext cx="502920" cy="502920"/>
          </a:xfrm>
          <a:prstGeom prst="ellipse">
            <a:avLst/>
          </a:prstGeom>
          <a:solidFill>
            <a:srgbClr val="FFFFFF"/>
          </a:solidFill>
          <a:ln/>
        </p:spPr>
      </p:sp>
      <p:pic>
        <p:nvPicPr>
          <p:cNvPr id="12" name="Image 1" descr="Biểu tượng minh họa">    </p:cNvPr>
          <p:cNvPicPr>
            <a:picLocks noChangeAspect="1"/>
          </p:cNvPicPr>
          <p:nvPr/>
        </p:nvPicPr>
        <p:blipFill>
          <a:blip r:embed="rId2"/>
          <a:stretch>
            <a:fillRect/>
          </a:stretch>
        </p:blipFill>
        <p:spPr>
          <a:xfrm>
            <a:off x="639166" y="4059022"/>
            <a:ext cx="321869" cy="321869"/>
          </a:xfrm>
          <a:prstGeom prst="rect">
            <a:avLst/>
          </a:prstGeom>
        </p:spPr>
      </p:pic>
      <p:sp>
        <p:nvSpPr>
          <p:cNvPr id="13" name="Text 8"/>
          <p:cNvSpPr txBox="1"/>
          <p:nvPr/>
        </p:nvSpPr>
        <p:spPr>
          <a:xfrm>
            <a:off x="1188720" y="3968496"/>
            <a:ext cx="5212080" cy="502920"/>
          </a:xfrm>
          <a:prstGeom prst="rect">
            <a:avLst/>
          </a:prstGeom>
          <a:noFill/>
          <a:ln/>
        </p:spPr>
        <p:txBody>
          <a:bodyPr wrap="square" lIns="0" tIns="0" rIns="0" bIns="0" rtlCol="0" anchor="ctr"/>
          <a:lstStyle/>
          <a:p>
            <a:pPr indent="0" marL="0">
              <a:buNone/>
            </a:pPr>
            <a:r>
              <a:rPr lang="en-US" sz="1600" dirty="0">
                <a:solidFill>
                  <a:srgbClr val="2E1065"/>
                </a:solidFill>
              </a:rPr>
              <a:t>Tạo sân chơi khoa học – công nghệ lành mạnh, bổ ích</a:t>
            </a:r>
            <a:endParaRPr lang="en-US" sz="1600" dirty="0"/>
          </a:p>
        </p:txBody>
      </p:sp>
      <p:sp>
        <p:nvSpPr>
          <p:cNvPr id="14" name="Shape 9"/>
          <p:cNvSpPr/>
          <p:nvPr/>
        </p:nvSpPr>
        <p:spPr>
          <a:xfrm>
            <a:off x="548640" y="4572000"/>
            <a:ext cx="502920" cy="502920"/>
          </a:xfrm>
          <a:prstGeom prst="ellipse">
            <a:avLst/>
          </a:prstGeom>
          <a:solidFill>
            <a:srgbClr val="FFFFFF"/>
          </a:solidFill>
          <a:ln/>
        </p:spPr>
      </p:sp>
      <p:pic>
        <p:nvPicPr>
          <p:cNvPr id="15" name="Image 2" descr="Biểu tượng minh họa">    </p:cNvPr>
          <p:cNvPicPr>
            <a:picLocks noChangeAspect="1"/>
          </p:cNvPicPr>
          <p:nvPr/>
        </p:nvPicPr>
        <p:blipFill>
          <a:blip r:embed="rId3"/>
          <a:stretch>
            <a:fillRect/>
          </a:stretch>
        </p:blipFill>
        <p:spPr>
          <a:xfrm>
            <a:off x="639166" y="4662526"/>
            <a:ext cx="321869" cy="321869"/>
          </a:xfrm>
          <a:prstGeom prst="rect">
            <a:avLst/>
          </a:prstGeom>
        </p:spPr>
      </p:pic>
      <p:sp>
        <p:nvSpPr>
          <p:cNvPr id="16" name="Text 10"/>
          <p:cNvSpPr txBox="1"/>
          <p:nvPr/>
        </p:nvSpPr>
        <p:spPr>
          <a:xfrm>
            <a:off x="1188720" y="4572000"/>
            <a:ext cx="5212080" cy="502920"/>
          </a:xfrm>
          <a:prstGeom prst="rect">
            <a:avLst/>
          </a:prstGeom>
          <a:noFill/>
          <a:ln/>
        </p:spPr>
        <p:txBody>
          <a:bodyPr wrap="square" lIns="0" tIns="0" rIns="0" bIns="0" rtlCol="0" anchor="ctr"/>
          <a:lstStyle/>
          <a:p>
            <a:pPr indent="0" marL="0">
              <a:buNone/>
            </a:pPr>
            <a:r>
              <a:rPr lang="en-US" sz="1600" dirty="0">
                <a:solidFill>
                  <a:srgbClr val="2E1065"/>
                </a:solidFill>
              </a:rPr>
              <a:t>Phát triển tư duy logic, kỹ năng điều khiển robot, phối hợp nhóm, xử lý tình huống</a:t>
            </a:r>
            <a:endParaRPr lang="en-US" sz="1600" dirty="0"/>
          </a:p>
        </p:txBody>
      </p:sp>
      <p:sp>
        <p:nvSpPr>
          <p:cNvPr id="17" name="Shape 11"/>
          <p:cNvSpPr/>
          <p:nvPr/>
        </p:nvSpPr>
        <p:spPr>
          <a:xfrm>
            <a:off x="548640" y="5175504"/>
            <a:ext cx="502920" cy="502920"/>
          </a:xfrm>
          <a:prstGeom prst="ellipse">
            <a:avLst/>
          </a:prstGeom>
          <a:solidFill>
            <a:srgbClr val="FFFFFF"/>
          </a:solidFill>
          <a:ln/>
        </p:spPr>
      </p:sp>
      <p:pic>
        <p:nvPicPr>
          <p:cNvPr id="18" name="Image 3" descr="Biểu tượng minh họa">    </p:cNvPr>
          <p:cNvPicPr>
            <a:picLocks noChangeAspect="1"/>
          </p:cNvPicPr>
          <p:nvPr/>
        </p:nvPicPr>
        <p:blipFill>
          <a:blip r:embed="rId4"/>
          <a:stretch>
            <a:fillRect/>
          </a:stretch>
        </p:blipFill>
        <p:spPr>
          <a:xfrm>
            <a:off x="639166" y="5266030"/>
            <a:ext cx="321869" cy="321869"/>
          </a:xfrm>
          <a:prstGeom prst="rect">
            <a:avLst/>
          </a:prstGeom>
        </p:spPr>
      </p:pic>
      <p:sp>
        <p:nvSpPr>
          <p:cNvPr id="19" name="Text 12"/>
          <p:cNvSpPr txBox="1"/>
          <p:nvPr/>
        </p:nvSpPr>
        <p:spPr>
          <a:xfrm>
            <a:off x="1188720" y="5175504"/>
            <a:ext cx="5212080" cy="502920"/>
          </a:xfrm>
          <a:prstGeom prst="rect">
            <a:avLst/>
          </a:prstGeom>
          <a:noFill/>
          <a:ln/>
        </p:spPr>
        <p:txBody>
          <a:bodyPr wrap="square" lIns="0" tIns="0" rIns="0" bIns="0" rtlCol="0" anchor="ctr"/>
          <a:lstStyle/>
          <a:p>
            <a:pPr indent="0" marL="0">
              <a:buNone/>
            </a:pPr>
            <a:r>
              <a:rPr lang="en-US" sz="1600" dirty="0">
                <a:solidFill>
                  <a:srgbClr val="2E1065"/>
                </a:solidFill>
              </a:rPr>
              <a:t>Phát hiện, động viên các đội thi và cá nhân tiêu biểu</a:t>
            </a:r>
            <a:endParaRPr lang="en-US" sz="1600" dirty="0"/>
          </a:p>
        </p:txBody>
      </p:sp>
      <p:sp>
        <p:nvSpPr>
          <p:cNvPr id="20" name="Shape 13"/>
          <p:cNvSpPr/>
          <p:nvPr/>
        </p:nvSpPr>
        <p:spPr>
          <a:xfrm>
            <a:off x="548640" y="5806440"/>
            <a:ext cx="5852160" cy="457200"/>
          </a:xfrm>
          <a:prstGeom prst="roundRect">
            <a:avLst>
              <a:gd name="adj" fmla="val 50000"/>
            </a:avLst>
          </a:prstGeom>
          <a:solidFill>
            <a:srgbClr val="FFFFFF"/>
          </a:solidFill>
          <a:ln w="12700">
            <a:solidFill>
              <a:srgbClr val="DDD0FF"/>
            </a:solidFill>
            <a:prstDash val="solid"/>
          </a:ln>
        </p:spPr>
      </p:sp>
      <p:sp>
        <p:nvSpPr>
          <p:cNvPr id="21" name="Text 14"/>
          <p:cNvSpPr txBox="1"/>
          <p:nvPr/>
        </p:nvSpPr>
        <p:spPr>
          <a:xfrm>
            <a:off x="548640" y="5806440"/>
            <a:ext cx="5852160" cy="457200"/>
          </a:xfrm>
          <a:prstGeom prst="rect">
            <a:avLst/>
          </a:prstGeom>
          <a:noFill/>
          <a:ln/>
        </p:spPr>
        <p:txBody>
          <a:bodyPr wrap="square" lIns="0" tIns="0" rIns="0" bIns="0" rtlCol="0" anchor="ctr"/>
          <a:lstStyle/>
          <a:p>
            <a:pPr algn="ctr" indent="0" marL="0">
              <a:buNone/>
            </a:pPr>
            <a:r>
              <a:rPr lang="en-US" sz="1500" b="1" dirty="0">
                <a:solidFill>
                  <a:srgbClr val="4C1D95"/>
                </a:solidFill>
              </a:rPr>
              <a:t>Yêu cầu:  Công khai · Khách quan · Công bằng · An toàn tuyệt đối</a:t>
            </a:r>
            <a:endParaRPr lang="en-US" sz="1500" dirty="0"/>
          </a:p>
        </p:txBody>
      </p:sp>
      <p:pic>
        <p:nvPicPr>
          <p:cNvPr id="22" name="RR_ph_thidau1_jpg" descr="Học sinh điều khiển robot UGOT trên sa bàn thi đấu">    </p:cNvPr>
          <p:cNvPicPr>
            <a:picLocks noChangeAspect="1"/>
          </p:cNvPicPr>
          <p:nvPr/>
        </p:nvPicPr>
        <p:blipFill>
          <a:blip r:embed="rId5"/>
          <a:stretch>
            <a:fillRect/>
          </a:stretch>
        </p:blipFill>
        <p:spPr>
          <a:xfrm>
            <a:off x="6720840" y="1371600"/>
            <a:ext cx="4919472" cy="3282696"/>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3" name="Text 15"/>
          <p:cNvSpPr txBox="1"/>
          <p:nvPr/>
        </p:nvSpPr>
        <p:spPr>
          <a:xfrm>
            <a:off x="6720840" y="4709160"/>
            <a:ext cx="4919472" cy="274320"/>
          </a:xfrm>
          <a:prstGeom prst="rect">
            <a:avLst/>
          </a:prstGeom>
          <a:noFill/>
          <a:ln/>
        </p:spPr>
        <p:txBody>
          <a:bodyPr wrap="square" lIns="0" tIns="0" rIns="0" bIns="0" rtlCol="0" anchor="t"/>
          <a:lstStyle/>
          <a:p>
            <a:pPr indent="0" marL="0">
              <a:buNone/>
            </a:pPr>
            <a:r>
              <a:rPr lang="en-US" sz="1100" i="1" dirty="0">
                <a:solidFill>
                  <a:srgbClr val="5B4B8A"/>
                </a:solidFill>
              </a:rPr>
              <a:t>Học sinh thi đấu robot UGOT trên sa bàn tại một ngày hội STEM</a:t>
            </a:r>
            <a:endParaRPr lang="en-US" sz="1100" dirty="0"/>
          </a:p>
        </p:txBody>
      </p:sp>
      <p:sp>
        <p:nvSpPr>
          <p:cNvPr id="24" name="Shape 16"/>
          <p:cNvSpPr/>
          <p:nvPr/>
        </p:nvSpPr>
        <p:spPr>
          <a:xfrm>
            <a:off x="6720840" y="5120640"/>
            <a:ext cx="4919472" cy="1143000"/>
          </a:xfrm>
          <a:prstGeom prst="roundRect">
            <a:avLst>
              <a:gd name="adj" fmla="val 9600"/>
            </a:avLst>
          </a:prstGeom>
          <a:solidFill>
            <a:srgbClr val="FFFFFF"/>
          </a:solidFill>
          <a:ln/>
          <a:effectLst>
            <a:outerShdw sx="100000" sy="100000" kx="0" ky="0" algn="bl" rotWithShape="0" blurRad="127000" dist="38100" dir="5400000">
              <a:srgbClr val="4C1D95">
                <a:alpha val="16000"/>
              </a:srgbClr>
            </a:outerShdw>
          </a:effectLst>
        </p:spPr>
      </p:sp>
      <p:sp>
        <p:nvSpPr>
          <p:cNvPr id="25" name="Shape 17"/>
          <p:cNvSpPr/>
          <p:nvPr/>
        </p:nvSpPr>
        <p:spPr>
          <a:xfrm>
            <a:off x="6903720" y="5285232"/>
            <a:ext cx="777240" cy="777240"/>
          </a:xfrm>
          <a:prstGeom prst="ellipse">
            <a:avLst/>
          </a:prstGeom>
          <a:solidFill>
            <a:srgbClr val="EDE4FF"/>
          </a:solidFill>
          <a:ln/>
        </p:spPr>
      </p:sp>
      <p:pic>
        <p:nvPicPr>
          <p:cNvPr id="26" name="Image 5" descr="Biểu tượng minh họa">    </p:cNvPr>
          <p:cNvPicPr>
            <a:picLocks noChangeAspect="1"/>
          </p:cNvPicPr>
          <p:nvPr/>
        </p:nvPicPr>
        <p:blipFill>
          <a:blip r:embed="rId6"/>
          <a:stretch>
            <a:fillRect/>
          </a:stretch>
        </p:blipFill>
        <p:spPr>
          <a:xfrm>
            <a:off x="7043623" y="5425135"/>
            <a:ext cx="497434" cy="497434"/>
          </a:xfrm>
          <a:prstGeom prst="rect">
            <a:avLst/>
          </a:prstGeom>
        </p:spPr>
      </p:pic>
      <p:sp>
        <p:nvSpPr>
          <p:cNvPr id="27" name="Text 18"/>
          <p:cNvSpPr txBox="1"/>
          <p:nvPr/>
        </p:nvSpPr>
        <p:spPr>
          <a:xfrm>
            <a:off x="7818120" y="5212080"/>
            <a:ext cx="3703320" cy="960120"/>
          </a:xfrm>
          <a:prstGeom prst="rect">
            <a:avLst/>
          </a:prstGeom>
          <a:noFill/>
          <a:ln/>
        </p:spPr>
        <p:txBody>
          <a:bodyPr wrap="square" lIns="0" tIns="0" rIns="0" bIns="0" rtlCol="0" anchor="ctr"/>
          <a:lstStyle/>
          <a:p>
            <a:pPr indent="0" marL="0">
              <a:buNone/>
            </a:pPr>
            <a:r>
              <a:rPr lang="en-US" sz="1400" b="1" dirty="0">
                <a:solidFill>
                  <a:srgbClr val="2E1065"/>
                </a:solidFill>
              </a:rPr>
              <a:t>Tổ chức: </a:t>
            </a:r>
            <a:pPr indent="0" marL="0">
              <a:buNone/>
            </a:pPr>
            <a:r>
              <a:rPr lang="en-US" sz="1400" dirty="0">
                <a:solidFill>
                  <a:srgbClr val="2E1065"/>
                </a:solidFill>
              </a:rPr>
              <a:t>UBND xã Lâm Thao</a:t>
            </a:r>
            <a:endParaRPr lang="en-US" sz="1400" dirty="0"/>
          </a:p>
          <a:p>
            <a:pPr indent="0" marL="0">
              <a:buNone/>
            </a:pPr>
            <a:r>
              <a:rPr lang="en-US" sz="1400" b="1" dirty="0">
                <a:solidFill>
                  <a:srgbClr val="2E1065"/>
                </a:solidFill>
              </a:rPr>
              <a:t>Chuyên môn: </a:t>
            </a:r>
            <a:pPr indent="0" marL="0">
              <a:buNone/>
            </a:pPr>
            <a:r>
              <a:rPr lang="en-US" sz="1400" dirty="0">
                <a:solidFill>
                  <a:srgbClr val="2E1065"/>
                </a:solidFill>
              </a:rPr>
              <a:t>Công ty CP Phát triển Trí tuệ ADC Việt Nam</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TỔNG QUAN</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Hai bảng thi đấu độc lập</a:t>
            </a:r>
            <a:endParaRPr lang="en-US" sz="3000" dirty="0"/>
          </a:p>
        </p:txBody>
      </p:sp>
      <p:sp>
        <p:nvSpPr>
          <p:cNvPr id="5" name="Shape 2"/>
          <p:cNvSpPr/>
          <p:nvPr/>
        </p:nvSpPr>
        <p:spPr>
          <a:xfrm>
            <a:off x="548640" y="1417320"/>
            <a:ext cx="4023360" cy="3291840"/>
          </a:xfrm>
          <a:prstGeom prst="roundRect">
            <a:avLst>
              <a:gd name="adj" fmla="val 3333"/>
            </a:avLst>
          </a:prstGeom>
          <a:solidFill>
            <a:srgbClr val="7C3AED"/>
          </a:solidFill>
          <a:ln/>
          <a:effectLst>
            <a:outerShdw sx="100000" sy="100000" kx="0" ky="0" algn="bl" rotWithShape="0" blurRad="127000" dist="38100" dir="5400000">
              <a:srgbClr val="4C1D95">
                <a:alpha val="16000"/>
              </a:srgbClr>
            </a:outerShdw>
          </a:effectLst>
        </p:spPr>
      </p:sp>
      <p:sp>
        <p:nvSpPr>
          <p:cNvPr id="6" name="Shape 3"/>
          <p:cNvSpPr/>
          <p:nvPr/>
        </p:nvSpPr>
        <p:spPr>
          <a:xfrm>
            <a:off x="822960" y="1691640"/>
            <a:ext cx="1005840" cy="1005840"/>
          </a:xfrm>
          <a:prstGeom prst="ellipse">
            <a:avLst/>
          </a:prstGeom>
          <a:solidFill>
            <a:srgbClr val="FFFFFF"/>
          </a:solidFill>
          <a:ln/>
        </p:spPr>
      </p:sp>
      <p:pic>
        <p:nvPicPr>
          <p:cNvPr id="7" name="Image 0" descr="Biểu tượng minh họa">    </p:cNvPr>
          <p:cNvPicPr>
            <a:picLocks noChangeAspect="1"/>
          </p:cNvPicPr>
          <p:nvPr/>
        </p:nvPicPr>
        <p:blipFill>
          <a:blip r:embed="rId1"/>
          <a:stretch>
            <a:fillRect/>
          </a:stretch>
        </p:blipFill>
        <p:spPr>
          <a:xfrm>
            <a:off x="1004011" y="1872691"/>
            <a:ext cx="643738" cy="643738"/>
          </a:xfrm>
          <a:prstGeom prst="rect">
            <a:avLst/>
          </a:prstGeom>
        </p:spPr>
      </p:pic>
      <p:sp>
        <p:nvSpPr>
          <p:cNvPr id="8" name="Text 4"/>
          <p:cNvSpPr txBox="1"/>
          <p:nvPr/>
        </p:nvSpPr>
        <p:spPr>
          <a:xfrm>
            <a:off x="2011680" y="1737360"/>
            <a:ext cx="2377440" cy="411480"/>
          </a:xfrm>
          <a:prstGeom prst="rect">
            <a:avLst/>
          </a:prstGeom>
          <a:noFill/>
          <a:ln/>
        </p:spPr>
        <p:txBody>
          <a:bodyPr wrap="square" lIns="0" tIns="0" rIns="0" bIns="0" rtlCol="0" anchor="t"/>
          <a:lstStyle/>
          <a:p>
            <a:pPr indent="0" marL="0">
              <a:buNone/>
            </a:pPr>
            <a:r>
              <a:rPr lang="en-US" sz="1600" b="1" spc="200" kern="0" dirty="0">
                <a:solidFill>
                  <a:srgbClr val="FDE68A"/>
                </a:solidFill>
              </a:rPr>
              <a:t>BẢNG A</a:t>
            </a:r>
            <a:endParaRPr lang="en-US" sz="1600" dirty="0"/>
          </a:p>
        </p:txBody>
      </p:sp>
      <p:sp>
        <p:nvSpPr>
          <p:cNvPr id="9" name="Text 5"/>
          <p:cNvSpPr txBox="1"/>
          <p:nvPr/>
        </p:nvSpPr>
        <p:spPr>
          <a:xfrm>
            <a:off x="2011680" y="2103120"/>
            <a:ext cx="2468880" cy="685800"/>
          </a:xfrm>
          <a:prstGeom prst="rect">
            <a:avLst/>
          </a:prstGeom>
          <a:noFill/>
          <a:ln/>
        </p:spPr>
        <p:txBody>
          <a:bodyPr wrap="square" lIns="0" tIns="0" rIns="0" bIns="0" rtlCol="0" anchor="t"/>
          <a:lstStyle/>
          <a:p>
            <a:pPr indent="0" marL="0">
              <a:buNone/>
            </a:pPr>
            <a:r>
              <a:rPr lang="en-US" sz="2000" b="1" dirty="0">
                <a:solidFill>
                  <a:srgbClr val="FFFFFF"/>
                </a:solidFill>
              </a:rPr>
              <a:t>BẢNG TIỂU HỌC</a:t>
            </a:r>
            <a:endParaRPr lang="en-US" sz="2000" dirty="0"/>
          </a:p>
        </p:txBody>
      </p:sp>
      <p:sp>
        <p:nvSpPr>
          <p:cNvPr id="10" name="Text 6"/>
          <p:cNvSpPr txBox="1"/>
          <p:nvPr/>
        </p:nvSpPr>
        <p:spPr>
          <a:xfrm>
            <a:off x="822960" y="2971800"/>
            <a:ext cx="3474720" cy="9144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FFFFFF"/>
                </a:solidFill>
              </a:rPr>
              <a:t>05 học sinh tiểu học / đội</a:t>
            </a:r>
            <a:endParaRPr lang="en-US" sz="1600" dirty="0"/>
          </a:p>
          <a:p>
            <a:pPr marL="203200" indent="-203200">
              <a:spcAft>
                <a:spcPts val="600"/>
              </a:spcAft>
              <a:buSzPct val="100000"/>
              <a:buChar char="•"/>
            </a:pPr>
            <a:r>
              <a:rPr lang="en-US" sz="1600" dirty="0">
                <a:solidFill>
                  <a:srgbClr val="FFFFFF"/>
                </a:solidFill>
              </a:rPr>
              <a:t>Mã đội: A1, A2, A3…</a:t>
            </a:r>
            <a:endParaRPr lang="en-US" sz="1600" dirty="0"/>
          </a:p>
        </p:txBody>
      </p:sp>
      <p:sp>
        <p:nvSpPr>
          <p:cNvPr id="11" name="Shape 7"/>
          <p:cNvSpPr/>
          <p:nvPr/>
        </p:nvSpPr>
        <p:spPr>
          <a:xfrm>
            <a:off x="822960" y="4023360"/>
            <a:ext cx="3474720" cy="457200"/>
          </a:xfrm>
          <a:prstGeom prst="roundRect">
            <a:avLst>
              <a:gd name="adj" fmla="val 50000"/>
            </a:avLst>
          </a:prstGeom>
          <a:solidFill>
            <a:srgbClr val="FDE68A"/>
          </a:solidFill>
          <a:ln/>
        </p:spPr>
      </p:sp>
      <p:sp>
        <p:nvSpPr>
          <p:cNvPr id="12" name="Text 8"/>
          <p:cNvSpPr txBox="1"/>
          <p:nvPr/>
        </p:nvSpPr>
        <p:spPr>
          <a:xfrm>
            <a:off x="822960" y="4023360"/>
            <a:ext cx="3474720" cy="457200"/>
          </a:xfrm>
          <a:prstGeom prst="rect">
            <a:avLst/>
          </a:prstGeom>
          <a:noFill/>
          <a:ln/>
        </p:spPr>
        <p:txBody>
          <a:bodyPr wrap="square" lIns="0" tIns="0" rIns="0" bIns="0" rtlCol="0" anchor="ctr"/>
          <a:lstStyle/>
          <a:p>
            <a:pPr algn="ctr" indent="0" marL="0">
              <a:buNone/>
            </a:pPr>
            <a:r>
              <a:rPr lang="en-US" sz="1400" b="1" dirty="0">
                <a:solidFill>
                  <a:srgbClr val="2E1065"/>
                </a:solidFill>
              </a:rPr>
              <a:t>NỘI DUNG BUỔI TẬP HUẤN NÀY</a:t>
            </a:r>
            <a:endParaRPr lang="en-US" sz="1400" dirty="0"/>
          </a:p>
        </p:txBody>
      </p:sp>
      <p:sp>
        <p:nvSpPr>
          <p:cNvPr id="13" name="Shape 9"/>
          <p:cNvSpPr/>
          <p:nvPr/>
        </p:nvSpPr>
        <p:spPr>
          <a:xfrm>
            <a:off x="7616952" y="1417320"/>
            <a:ext cx="4023360" cy="3291840"/>
          </a:xfrm>
          <a:prstGeom prst="roundRect">
            <a:avLst>
              <a:gd name="adj" fmla="val 3333"/>
            </a:avLst>
          </a:prstGeom>
          <a:solidFill>
            <a:srgbClr val="FFFFFF"/>
          </a:solidFill>
          <a:ln/>
          <a:effectLst>
            <a:outerShdw sx="100000" sy="100000" kx="0" ky="0" algn="bl" rotWithShape="0" blurRad="127000" dist="38100" dir="5400000">
              <a:srgbClr val="4C1D95">
                <a:alpha val="16000"/>
              </a:srgbClr>
            </a:outerShdw>
          </a:effectLst>
        </p:spPr>
      </p:sp>
      <p:sp>
        <p:nvSpPr>
          <p:cNvPr id="14" name="Shape 10"/>
          <p:cNvSpPr/>
          <p:nvPr/>
        </p:nvSpPr>
        <p:spPr>
          <a:xfrm>
            <a:off x="7891272" y="1691640"/>
            <a:ext cx="1005840" cy="1005840"/>
          </a:xfrm>
          <a:prstGeom prst="ellipse">
            <a:avLst/>
          </a:prstGeom>
          <a:solidFill>
            <a:srgbClr val="EDE4FF"/>
          </a:solidFill>
          <a:ln/>
        </p:spPr>
      </p:sp>
      <p:pic>
        <p:nvPicPr>
          <p:cNvPr id="15" name="Image 1" descr="Biểu tượng minh họa">    </p:cNvPr>
          <p:cNvPicPr>
            <a:picLocks noChangeAspect="1"/>
          </p:cNvPicPr>
          <p:nvPr/>
        </p:nvPicPr>
        <p:blipFill>
          <a:blip r:embed="rId2"/>
          <a:stretch>
            <a:fillRect/>
          </a:stretch>
        </p:blipFill>
        <p:spPr>
          <a:xfrm>
            <a:off x="8072323" y="1872691"/>
            <a:ext cx="643738" cy="643738"/>
          </a:xfrm>
          <a:prstGeom prst="rect">
            <a:avLst/>
          </a:prstGeom>
        </p:spPr>
      </p:pic>
      <p:sp>
        <p:nvSpPr>
          <p:cNvPr id="16" name="Text 11"/>
          <p:cNvSpPr txBox="1"/>
          <p:nvPr/>
        </p:nvSpPr>
        <p:spPr>
          <a:xfrm>
            <a:off x="9079992" y="1737360"/>
            <a:ext cx="2377440" cy="411480"/>
          </a:xfrm>
          <a:prstGeom prst="rect">
            <a:avLst/>
          </a:prstGeom>
          <a:noFill/>
          <a:ln/>
        </p:spPr>
        <p:txBody>
          <a:bodyPr wrap="square" lIns="0" tIns="0" rIns="0" bIns="0" rtlCol="0" anchor="t"/>
          <a:lstStyle/>
          <a:p>
            <a:pPr indent="0" marL="0">
              <a:buNone/>
            </a:pPr>
            <a:r>
              <a:rPr lang="en-US" sz="1600" b="1" spc="200" kern="0" dirty="0">
                <a:solidFill>
                  <a:srgbClr val="7C3AED"/>
                </a:solidFill>
              </a:rPr>
              <a:t>BẢNG B</a:t>
            </a:r>
            <a:endParaRPr lang="en-US" sz="1600" dirty="0"/>
          </a:p>
        </p:txBody>
      </p:sp>
      <p:sp>
        <p:nvSpPr>
          <p:cNvPr id="17" name="Text 12"/>
          <p:cNvSpPr txBox="1"/>
          <p:nvPr/>
        </p:nvSpPr>
        <p:spPr>
          <a:xfrm>
            <a:off x="9079992" y="2103120"/>
            <a:ext cx="2468880" cy="685800"/>
          </a:xfrm>
          <a:prstGeom prst="rect">
            <a:avLst/>
          </a:prstGeom>
          <a:noFill/>
          <a:ln/>
        </p:spPr>
        <p:txBody>
          <a:bodyPr wrap="square" lIns="0" tIns="0" rIns="0" bIns="0" rtlCol="0" anchor="t"/>
          <a:lstStyle/>
          <a:p>
            <a:pPr indent="0" marL="0">
              <a:buNone/>
            </a:pPr>
            <a:r>
              <a:rPr lang="en-US" sz="2000" b="1" dirty="0">
                <a:solidFill>
                  <a:srgbClr val="2E1065"/>
                </a:solidFill>
              </a:rPr>
              <a:t>BẢNG TRUNG HỌC CƠ SỞ</a:t>
            </a:r>
            <a:endParaRPr lang="en-US" sz="2000" dirty="0"/>
          </a:p>
        </p:txBody>
      </p:sp>
      <p:sp>
        <p:nvSpPr>
          <p:cNvPr id="18" name="Text 13"/>
          <p:cNvSpPr txBox="1"/>
          <p:nvPr/>
        </p:nvSpPr>
        <p:spPr>
          <a:xfrm>
            <a:off x="7891272" y="2971800"/>
            <a:ext cx="3474720" cy="9144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E1065"/>
                </a:solidFill>
              </a:rPr>
              <a:t>05 học sinh THCS / đội</a:t>
            </a:r>
            <a:endParaRPr lang="en-US" sz="1600" dirty="0"/>
          </a:p>
          <a:p>
            <a:pPr marL="203200" indent="-203200">
              <a:spcAft>
                <a:spcPts val="600"/>
              </a:spcAft>
              <a:buSzPct val="100000"/>
              <a:buChar char="•"/>
            </a:pPr>
            <a:r>
              <a:rPr lang="en-US" sz="1600" dirty="0">
                <a:solidFill>
                  <a:srgbClr val="2E1065"/>
                </a:solidFill>
              </a:rPr>
              <a:t>Mã đội: B1, B2, B3…</a:t>
            </a:r>
            <a:endParaRPr lang="en-US" sz="1600" dirty="0"/>
          </a:p>
        </p:txBody>
      </p:sp>
      <p:pic>
        <p:nvPicPr>
          <p:cNvPr id="19" name="RR_field_th_jpg" descr="Sa bàn thi đấu Chinh phục Vũ trụ">    </p:cNvPr>
          <p:cNvPicPr>
            <a:picLocks noChangeAspect="1"/>
          </p:cNvPicPr>
          <p:nvPr/>
        </p:nvPicPr>
        <p:blipFill>
          <a:blip r:embed="rId3"/>
          <a:stretch>
            <a:fillRect/>
          </a:stretch>
        </p:blipFill>
        <p:spPr>
          <a:xfrm>
            <a:off x="4818888" y="1828800"/>
            <a:ext cx="2560320" cy="128016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0" name="Text 14"/>
          <p:cNvSpPr txBox="1"/>
          <p:nvPr/>
        </p:nvSpPr>
        <p:spPr>
          <a:xfrm>
            <a:off x="4709160" y="3246120"/>
            <a:ext cx="2788920" cy="365760"/>
          </a:xfrm>
          <a:prstGeom prst="rect">
            <a:avLst/>
          </a:prstGeom>
          <a:noFill/>
          <a:ln/>
        </p:spPr>
        <p:txBody>
          <a:bodyPr wrap="square" lIns="0" tIns="0" rIns="0" bIns="0" rtlCol="0" anchor="t"/>
          <a:lstStyle/>
          <a:p>
            <a:pPr algn="ctr" indent="0" marL="0">
              <a:buNone/>
            </a:pPr>
            <a:r>
              <a:rPr lang="en-US" sz="1700" b="1" dirty="0">
                <a:solidFill>
                  <a:srgbClr val="2E1065"/>
                </a:solidFill>
              </a:rPr>
              <a:t>Dùng chung 01 sa bàn</a:t>
            </a:r>
            <a:endParaRPr lang="en-US" sz="1700" dirty="0"/>
          </a:p>
        </p:txBody>
      </p:sp>
      <p:sp>
        <p:nvSpPr>
          <p:cNvPr id="21" name="Text 15"/>
          <p:cNvSpPr txBox="1"/>
          <p:nvPr/>
        </p:nvSpPr>
        <p:spPr>
          <a:xfrm>
            <a:off x="4709160" y="3611880"/>
            <a:ext cx="2788920" cy="822960"/>
          </a:xfrm>
          <a:prstGeom prst="rect">
            <a:avLst/>
          </a:prstGeom>
          <a:noFill/>
          <a:ln/>
        </p:spPr>
        <p:txBody>
          <a:bodyPr wrap="square" lIns="0" tIns="0" rIns="0" bIns="0" rtlCol="0" anchor="t"/>
          <a:lstStyle/>
          <a:p>
            <a:pPr algn="ctr" indent="0" marL="0">
              <a:buNone/>
            </a:pPr>
            <a:r>
              <a:rPr lang="en-US" sz="1400" dirty="0">
                <a:solidFill>
                  <a:srgbClr val="5B4B8A"/>
                </a:solidFill>
              </a:rPr>
              <a:t>Lịch thi đấu xen kẽ hai bảng, mỗi đội có thời gian nghỉ giữa các cặp đấu</a:t>
            </a:r>
            <a:endParaRPr lang="en-US" sz="1400" dirty="0"/>
          </a:p>
        </p:txBody>
      </p:sp>
      <p:sp>
        <p:nvSpPr>
          <p:cNvPr id="22" name="Shape 16"/>
          <p:cNvSpPr/>
          <p:nvPr/>
        </p:nvSpPr>
        <p:spPr>
          <a:xfrm>
            <a:off x="548640" y="5029200"/>
            <a:ext cx="2633472" cy="685800"/>
          </a:xfrm>
          <a:prstGeom prst="roundRect">
            <a:avLst>
              <a:gd name="adj" fmla="val 49333"/>
            </a:avLst>
          </a:prstGeom>
          <a:solidFill>
            <a:srgbClr val="FFFFFF"/>
          </a:solidFill>
          <a:ln/>
          <a:effectLst>
            <a:outerShdw sx="100000" sy="100000" kx="0" ky="0" algn="bl" rotWithShape="0" blurRad="127000" dist="38100" dir="5400000">
              <a:srgbClr val="4C1D95">
                <a:alpha val="16000"/>
              </a:srgbClr>
            </a:outerShdw>
          </a:effectLst>
        </p:spPr>
      </p:sp>
      <p:pic>
        <p:nvPicPr>
          <p:cNvPr id="23" name="Image 3" descr="Biểu tượng minh họa">    </p:cNvPr>
          <p:cNvPicPr>
            <a:picLocks noChangeAspect="1"/>
          </p:cNvPicPr>
          <p:nvPr/>
        </p:nvPicPr>
        <p:blipFill>
          <a:blip r:embed="rId4"/>
          <a:stretch>
            <a:fillRect/>
          </a:stretch>
        </p:blipFill>
        <p:spPr>
          <a:xfrm>
            <a:off x="713232" y="5120640"/>
            <a:ext cx="502920" cy="502920"/>
          </a:xfrm>
          <a:prstGeom prst="rect">
            <a:avLst/>
          </a:prstGeom>
        </p:spPr>
      </p:pic>
      <p:sp>
        <p:nvSpPr>
          <p:cNvPr id="24" name="Text 17"/>
          <p:cNvSpPr txBox="1"/>
          <p:nvPr/>
        </p:nvSpPr>
        <p:spPr>
          <a:xfrm>
            <a:off x="1325880" y="5029200"/>
            <a:ext cx="1783080" cy="685800"/>
          </a:xfrm>
          <a:prstGeom prst="rect">
            <a:avLst/>
          </a:prstGeom>
          <a:noFill/>
          <a:ln/>
        </p:spPr>
        <p:txBody>
          <a:bodyPr wrap="square" lIns="0" tIns="0" rIns="0" bIns="0" rtlCol="0" anchor="ctr"/>
          <a:lstStyle/>
          <a:p>
            <a:pPr indent="0" marL="0">
              <a:buNone/>
            </a:pPr>
            <a:r>
              <a:rPr lang="en-US" sz="1600" b="1" dirty="0">
                <a:solidFill>
                  <a:srgbClr val="2E1065"/>
                </a:solidFill>
              </a:rPr>
              <a:t>Bốc thăm riêng</a:t>
            </a:r>
            <a:endParaRPr lang="en-US" sz="1600" dirty="0"/>
          </a:p>
        </p:txBody>
      </p:sp>
      <p:sp>
        <p:nvSpPr>
          <p:cNvPr id="25" name="Shape 18"/>
          <p:cNvSpPr/>
          <p:nvPr/>
        </p:nvSpPr>
        <p:spPr>
          <a:xfrm>
            <a:off x="3364992" y="5029200"/>
            <a:ext cx="2633472" cy="685800"/>
          </a:xfrm>
          <a:prstGeom prst="roundRect">
            <a:avLst>
              <a:gd name="adj" fmla="val 49333"/>
            </a:avLst>
          </a:prstGeom>
          <a:solidFill>
            <a:srgbClr val="FFFFFF"/>
          </a:solidFill>
          <a:ln/>
          <a:effectLst>
            <a:outerShdw sx="100000" sy="100000" kx="0" ky="0" algn="bl" rotWithShape="0" blurRad="127000" dist="38100" dir="5400000">
              <a:srgbClr val="4C1D95">
                <a:alpha val="16000"/>
              </a:srgbClr>
            </a:outerShdw>
          </a:effectLst>
        </p:spPr>
      </p:sp>
      <p:pic>
        <p:nvPicPr>
          <p:cNvPr id="26" name="Image 4" descr="Biểu tượng minh họa">    </p:cNvPr>
          <p:cNvPicPr>
            <a:picLocks noChangeAspect="1"/>
          </p:cNvPicPr>
          <p:nvPr/>
        </p:nvPicPr>
        <p:blipFill>
          <a:blip r:embed="rId5"/>
          <a:stretch>
            <a:fillRect/>
          </a:stretch>
        </p:blipFill>
        <p:spPr>
          <a:xfrm>
            <a:off x="3529584" y="5120640"/>
            <a:ext cx="502920" cy="502920"/>
          </a:xfrm>
          <a:prstGeom prst="rect">
            <a:avLst/>
          </a:prstGeom>
        </p:spPr>
      </p:pic>
      <p:sp>
        <p:nvSpPr>
          <p:cNvPr id="27" name="Text 19"/>
          <p:cNvSpPr txBox="1"/>
          <p:nvPr/>
        </p:nvSpPr>
        <p:spPr>
          <a:xfrm>
            <a:off x="4142232" y="5029200"/>
            <a:ext cx="1783080" cy="685800"/>
          </a:xfrm>
          <a:prstGeom prst="rect">
            <a:avLst/>
          </a:prstGeom>
          <a:noFill/>
          <a:ln/>
        </p:spPr>
        <p:txBody>
          <a:bodyPr wrap="square" lIns="0" tIns="0" rIns="0" bIns="0" rtlCol="0" anchor="ctr"/>
          <a:lstStyle/>
          <a:p>
            <a:pPr indent="0" marL="0">
              <a:buNone/>
            </a:pPr>
            <a:r>
              <a:rPr lang="en-US" sz="1600" b="1" dirty="0">
                <a:solidFill>
                  <a:srgbClr val="2E1065"/>
                </a:solidFill>
              </a:rPr>
              <a:t>Sơ đồ thi đấu riêng</a:t>
            </a:r>
            <a:endParaRPr lang="en-US" sz="1600" dirty="0"/>
          </a:p>
        </p:txBody>
      </p:sp>
      <p:sp>
        <p:nvSpPr>
          <p:cNvPr id="28" name="Shape 20"/>
          <p:cNvSpPr/>
          <p:nvPr/>
        </p:nvSpPr>
        <p:spPr>
          <a:xfrm>
            <a:off x="6181344" y="5029200"/>
            <a:ext cx="2633472" cy="685800"/>
          </a:xfrm>
          <a:prstGeom prst="roundRect">
            <a:avLst>
              <a:gd name="adj" fmla="val 49333"/>
            </a:avLst>
          </a:prstGeom>
          <a:solidFill>
            <a:srgbClr val="FFFFFF"/>
          </a:solidFill>
          <a:ln/>
          <a:effectLst>
            <a:outerShdw sx="100000" sy="100000" kx="0" ky="0" algn="bl" rotWithShape="0" blurRad="127000" dist="38100" dir="5400000">
              <a:srgbClr val="4C1D95">
                <a:alpha val="16000"/>
              </a:srgbClr>
            </a:outerShdw>
          </a:effectLst>
        </p:spPr>
      </p:sp>
      <p:pic>
        <p:nvPicPr>
          <p:cNvPr id="29" name="Image 5" descr="Biểu tượng minh họa">    </p:cNvPr>
          <p:cNvPicPr>
            <a:picLocks noChangeAspect="1"/>
          </p:cNvPicPr>
          <p:nvPr/>
        </p:nvPicPr>
        <p:blipFill>
          <a:blip r:embed="rId6"/>
          <a:stretch>
            <a:fillRect/>
          </a:stretch>
        </p:blipFill>
        <p:spPr>
          <a:xfrm>
            <a:off x="6345936" y="5120640"/>
            <a:ext cx="502920" cy="502920"/>
          </a:xfrm>
          <a:prstGeom prst="rect">
            <a:avLst/>
          </a:prstGeom>
        </p:spPr>
      </p:pic>
      <p:sp>
        <p:nvSpPr>
          <p:cNvPr id="30" name="Text 21"/>
          <p:cNvSpPr txBox="1"/>
          <p:nvPr/>
        </p:nvSpPr>
        <p:spPr>
          <a:xfrm>
            <a:off x="6958584" y="5029200"/>
            <a:ext cx="1783080" cy="685800"/>
          </a:xfrm>
          <a:prstGeom prst="rect">
            <a:avLst/>
          </a:prstGeom>
          <a:noFill/>
          <a:ln/>
        </p:spPr>
        <p:txBody>
          <a:bodyPr wrap="square" lIns="0" tIns="0" rIns="0" bIns="0" rtlCol="0" anchor="ctr"/>
          <a:lstStyle/>
          <a:p>
            <a:pPr indent="0" marL="0">
              <a:buNone/>
            </a:pPr>
            <a:r>
              <a:rPr lang="en-US" sz="1600" b="1" dirty="0">
                <a:solidFill>
                  <a:srgbClr val="2E1065"/>
                </a:solidFill>
              </a:rPr>
              <a:t>Xếp hạng riêng</a:t>
            </a:r>
            <a:endParaRPr lang="en-US" sz="1600" dirty="0"/>
          </a:p>
        </p:txBody>
      </p:sp>
      <p:sp>
        <p:nvSpPr>
          <p:cNvPr id="31" name="Shape 22"/>
          <p:cNvSpPr/>
          <p:nvPr/>
        </p:nvSpPr>
        <p:spPr>
          <a:xfrm>
            <a:off x="8997696" y="5029200"/>
            <a:ext cx="2633472" cy="685800"/>
          </a:xfrm>
          <a:prstGeom prst="roundRect">
            <a:avLst>
              <a:gd name="adj" fmla="val 49333"/>
            </a:avLst>
          </a:prstGeom>
          <a:solidFill>
            <a:srgbClr val="FFFFFF"/>
          </a:solidFill>
          <a:ln/>
          <a:effectLst>
            <a:outerShdw sx="100000" sy="100000" kx="0" ky="0" algn="bl" rotWithShape="0" blurRad="127000" dist="38100" dir="5400000">
              <a:srgbClr val="4C1D95">
                <a:alpha val="16000"/>
              </a:srgbClr>
            </a:outerShdw>
          </a:effectLst>
        </p:spPr>
      </p:sp>
      <p:pic>
        <p:nvPicPr>
          <p:cNvPr id="32" name="Image 6" descr="Biểu tượng minh họa">    </p:cNvPr>
          <p:cNvPicPr>
            <a:picLocks noChangeAspect="1"/>
          </p:cNvPicPr>
          <p:nvPr/>
        </p:nvPicPr>
        <p:blipFill>
          <a:blip r:embed="rId7"/>
          <a:stretch>
            <a:fillRect/>
          </a:stretch>
        </p:blipFill>
        <p:spPr>
          <a:xfrm>
            <a:off x="9162288" y="5120640"/>
            <a:ext cx="502920" cy="502920"/>
          </a:xfrm>
          <a:prstGeom prst="rect">
            <a:avLst/>
          </a:prstGeom>
        </p:spPr>
      </p:pic>
      <p:sp>
        <p:nvSpPr>
          <p:cNvPr id="33" name="Text 23"/>
          <p:cNvSpPr txBox="1"/>
          <p:nvPr/>
        </p:nvSpPr>
        <p:spPr>
          <a:xfrm>
            <a:off x="9774936" y="5029200"/>
            <a:ext cx="1783080" cy="685800"/>
          </a:xfrm>
          <a:prstGeom prst="rect">
            <a:avLst/>
          </a:prstGeom>
          <a:noFill/>
          <a:ln/>
        </p:spPr>
        <p:txBody>
          <a:bodyPr wrap="square" lIns="0" tIns="0" rIns="0" bIns="0" rtlCol="0" anchor="ctr"/>
          <a:lstStyle/>
          <a:p>
            <a:pPr indent="0" marL="0">
              <a:buNone/>
            </a:pPr>
            <a:r>
              <a:rPr lang="en-US" sz="1600" b="1" dirty="0">
                <a:solidFill>
                  <a:srgbClr val="2E1065"/>
                </a:solidFill>
              </a:rPr>
              <a:t>Trao giải riêng</a:t>
            </a:r>
            <a:endParaRPr lang="en-US" sz="1600" dirty="0"/>
          </a:p>
        </p:txBody>
      </p:sp>
      <p:sp>
        <p:nvSpPr>
          <p:cNvPr id="34" name="Text 24"/>
          <p:cNvSpPr txBox="1"/>
          <p:nvPr/>
        </p:nvSpPr>
        <p:spPr>
          <a:xfrm>
            <a:off x="548640" y="5852160"/>
            <a:ext cx="11064240" cy="365760"/>
          </a:xfrm>
          <a:prstGeom prst="rect">
            <a:avLst/>
          </a:prstGeom>
          <a:noFill/>
          <a:ln/>
        </p:spPr>
        <p:txBody>
          <a:bodyPr wrap="square" lIns="0" tIns="0" rIns="0" bIns="0" rtlCol="0" anchor="t"/>
          <a:lstStyle/>
          <a:p>
            <a:pPr algn="ctr" indent="0" marL="0">
              <a:buNone/>
            </a:pPr>
            <a:r>
              <a:rPr lang="en-US" sz="1500" i="1" dirty="0">
                <a:solidFill>
                  <a:srgbClr val="5B4B8A"/>
                </a:solidFill>
              </a:rPr>
              <a:t>Kết quả của bảng này không ảnh hưởng đến kết quả của bảng kia.</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THỜI GIAN – ĐỊA ĐIỂM</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Lịch trình hai ngày 24 – 25/10/2026</a:t>
            </a:r>
            <a:endParaRPr lang="en-US" sz="3000" dirty="0"/>
          </a:p>
        </p:txBody>
      </p:sp>
      <p:sp>
        <p:nvSpPr>
          <p:cNvPr id="5" name="Shape 2"/>
          <p:cNvSpPr/>
          <p:nvPr/>
        </p:nvSpPr>
        <p:spPr>
          <a:xfrm>
            <a:off x="822960" y="2697480"/>
            <a:ext cx="10561320" cy="0"/>
          </a:xfrm>
          <a:prstGeom prst="line">
            <a:avLst/>
          </a:prstGeom>
          <a:noFill/>
          <a:ln w="50800">
            <a:solidFill>
              <a:srgbClr val="C4B5FD"/>
            </a:solidFill>
            <a:prstDash val="solid"/>
          </a:ln>
        </p:spPr>
      </p:sp>
      <p:sp>
        <p:nvSpPr>
          <p:cNvPr id="6" name="Shape 3"/>
          <p:cNvSpPr/>
          <p:nvPr/>
        </p:nvSpPr>
        <p:spPr>
          <a:xfrm>
            <a:off x="685800" y="1417320"/>
            <a:ext cx="2286000" cy="438912"/>
          </a:xfrm>
          <a:prstGeom prst="roundRect">
            <a:avLst>
              <a:gd name="adj" fmla="val 50000"/>
            </a:avLst>
          </a:prstGeom>
          <a:solidFill>
            <a:srgbClr val="FFFFFF"/>
          </a:solidFill>
          <a:ln w="12700">
            <a:solidFill>
              <a:srgbClr val="DDD0FF"/>
            </a:solidFill>
            <a:prstDash val="solid"/>
          </a:ln>
        </p:spPr>
      </p:sp>
      <p:sp>
        <p:nvSpPr>
          <p:cNvPr id="7" name="Text 4"/>
          <p:cNvSpPr txBox="1"/>
          <p:nvPr/>
        </p:nvSpPr>
        <p:spPr>
          <a:xfrm>
            <a:off x="685800" y="1417320"/>
            <a:ext cx="2286000" cy="438912"/>
          </a:xfrm>
          <a:prstGeom prst="rect">
            <a:avLst/>
          </a:prstGeom>
          <a:noFill/>
          <a:ln/>
        </p:spPr>
        <p:txBody>
          <a:bodyPr wrap="square" lIns="0" tIns="0" rIns="0" bIns="0" rtlCol="0" anchor="ctr"/>
          <a:lstStyle/>
          <a:p>
            <a:pPr algn="ctr" indent="0" marL="0">
              <a:buNone/>
            </a:pPr>
            <a:r>
              <a:rPr lang="en-US" sz="1500" b="1" dirty="0">
                <a:solidFill>
                  <a:srgbClr val="4C1D95"/>
                </a:solidFill>
              </a:rPr>
              <a:t>Thứ Bảy 24/10</a:t>
            </a:r>
            <a:endParaRPr lang="en-US" sz="1500" dirty="0"/>
          </a:p>
        </p:txBody>
      </p:sp>
      <p:sp>
        <p:nvSpPr>
          <p:cNvPr id="8" name="Shape 5"/>
          <p:cNvSpPr/>
          <p:nvPr/>
        </p:nvSpPr>
        <p:spPr>
          <a:xfrm>
            <a:off x="1325880" y="2194560"/>
            <a:ext cx="1005840" cy="1005840"/>
          </a:xfrm>
          <a:prstGeom prst="ellipse">
            <a:avLst/>
          </a:prstGeom>
          <a:solidFill>
            <a:srgbClr val="FFFFFF"/>
          </a:solidFill>
          <a:ln w="38100">
            <a:solidFill>
              <a:srgbClr val="8B5CF6"/>
            </a:solidFill>
            <a:prstDash val="solid"/>
          </a:ln>
          <a:effectLst>
            <a:outerShdw sx="100000" sy="100000" kx="0" ky="0" algn="bl" rotWithShape="0" blurRad="127000" dist="38100" dir="5400000">
              <a:srgbClr val="4C1D95">
                <a:alpha val="16000"/>
              </a:srgbClr>
            </a:outerShdw>
          </a:effectLst>
        </p:spPr>
      </p:sp>
      <p:pic>
        <p:nvPicPr>
          <p:cNvPr id="9" name="Image 0" descr="Biểu tượng minh họa">    </p:cNvPr>
          <p:cNvPicPr>
            <a:picLocks noChangeAspect="1"/>
          </p:cNvPicPr>
          <p:nvPr/>
        </p:nvPicPr>
        <p:blipFill>
          <a:blip r:embed="rId1"/>
          <a:stretch>
            <a:fillRect/>
          </a:stretch>
        </p:blipFill>
        <p:spPr>
          <a:xfrm>
            <a:off x="1527048" y="2395728"/>
            <a:ext cx="603504" cy="603504"/>
          </a:xfrm>
          <a:prstGeom prst="rect">
            <a:avLst/>
          </a:prstGeom>
        </p:spPr>
      </p:pic>
      <p:sp>
        <p:nvSpPr>
          <p:cNvPr id="10" name="Shape 6"/>
          <p:cNvSpPr/>
          <p:nvPr/>
        </p:nvSpPr>
        <p:spPr>
          <a:xfrm>
            <a:off x="530352" y="3474720"/>
            <a:ext cx="2596896"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11" name="Text 7"/>
          <p:cNvSpPr txBox="1"/>
          <p:nvPr/>
        </p:nvSpPr>
        <p:spPr>
          <a:xfrm>
            <a:off x="640080" y="3611880"/>
            <a:ext cx="2377440" cy="457200"/>
          </a:xfrm>
          <a:prstGeom prst="rect">
            <a:avLst/>
          </a:prstGeom>
          <a:noFill/>
          <a:ln/>
        </p:spPr>
        <p:txBody>
          <a:bodyPr wrap="square" lIns="0" tIns="0" rIns="0" bIns="0" rtlCol="0" anchor="t"/>
          <a:lstStyle/>
          <a:p>
            <a:pPr algn="ctr" indent="0" marL="0">
              <a:buNone/>
            </a:pPr>
            <a:r>
              <a:rPr lang="en-US" sz="2200" b="1" dirty="0">
                <a:solidFill>
                  <a:srgbClr val="7C3AED"/>
                </a:solidFill>
              </a:rPr>
              <a:t>09:30 – 10:30</a:t>
            </a:r>
            <a:endParaRPr lang="en-US" sz="2200" dirty="0"/>
          </a:p>
        </p:txBody>
      </p:sp>
      <p:sp>
        <p:nvSpPr>
          <p:cNvPr id="12" name="Text 8"/>
          <p:cNvSpPr txBox="1"/>
          <p:nvPr/>
        </p:nvSpPr>
        <p:spPr>
          <a:xfrm>
            <a:off x="640080" y="4114800"/>
            <a:ext cx="2377440" cy="1371600"/>
          </a:xfrm>
          <a:prstGeom prst="rect">
            <a:avLst/>
          </a:prstGeom>
          <a:noFill/>
          <a:ln/>
        </p:spPr>
        <p:txBody>
          <a:bodyPr wrap="square" lIns="0" tIns="0" rIns="0" bIns="0" rtlCol="0" anchor="t"/>
          <a:lstStyle/>
          <a:p>
            <a:pPr algn="ctr" indent="0" marL="0">
              <a:buNone/>
            </a:pPr>
            <a:r>
              <a:rPr lang="en-US" sz="1500" dirty="0">
                <a:solidFill>
                  <a:srgbClr val="2E1065"/>
                </a:solidFill>
              </a:rPr>
              <a:t>Tập huấn thể lệ, làm quen sa bàn, luyện tập điều khiển robot</a:t>
            </a:r>
            <a:endParaRPr lang="en-US" sz="1500" dirty="0"/>
          </a:p>
        </p:txBody>
      </p:sp>
      <p:sp>
        <p:nvSpPr>
          <p:cNvPr id="13" name="Shape 9"/>
          <p:cNvSpPr/>
          <p:nvPr/>
        </p:nvSpPr>
        <p:spPr>
          <a:xfrm>
            <a:off x="3520440" y="1417320"/>
            <a:ext cx="2286000" cy="438912"/>
          </a:xfrm>
          <a:prstGeom prst="roundRect">
            <a:avLst>
              <a:gd name="adj" fmla="val 50000"/>
            </a:avLst>
          </a:prstGeom>
          <a:solidFill>
            <a:srgbClr val="FFFFFF"/>
          </a:solidFill>
          <a:ln w="12700">
            <a:solidFill>
              <a:srgbClr val="DDD0FF"/>
            </a:solidFill>
            <a:prstDash val="solid"/>
          </a:ln>
        </p:spPr>
      </p:sp>
      <p:sp>
        <p:nvSpPr>
          <p:cNvPr id="14" name="Text 10"/>
          <p:cNvSpPr txBox="1"/>
          <p:nvPr/>
        </p:nvSpPr>
        <p:spPr>
          <a:xfrm>
            <a:off x="3520440" y="1417320"/>
            <a:ext cx="2286000" cy="438912"/>
          </a:xfrm>
          <a:prstGeom prst="rect">
            <a:avLst/>
          </a:prstGeom>
          <a:noFill/>
          <a:ln/>
        </p:spPr>
        <p:txBody>
          <a:bodyPr wrap="square" lIns="0" tIns="0" rIns="0" bIns="0" rtlCol="0" anchor="ctr"/>
          <a:lstStyle/>
          <a:p>
            <a:pPr algn="ctr" indent="0" marL="0">
              <a:buNone/>
            </a:pPr>
            <a:r>
              <a:rPr lang="en-US" sz="1500" b="1" dirty="0">
                <a:solidFill>
                  <a:srgbClr val="4C1D95"/>
                </a:solidFill>
              </a:rPr>
              <a:t>Thứ Bảy 24/10</a:t>
            </a:r>
            <a:endParaRPr lang="en-US" sz="1500" dirty="0"/>
          </a:p>
        </p:txBody>
      </p:sp>
      <p:sp>
        <p:nvSpPr>
          <p:cNvPr id="15" name="Shape 11"/>
          <p:cNvSpPr/>
          <p:nvPr/>
        </p:nvSpPr>
        <p:spPr>
          <a:xfrm>
            <a:off x="4160520" y="2194560"/>
            <a:ext cx="1005840" cy="1005840"/>
          </a:xfrm>
          <a:prstGeom prst="ellipse">
            <a:avLst/>
          </a:prstGeom>
          <a:solidFill>
            <a:srgbClr val="FFFFFF"/>
          </a:solidFill>
          <a:ln w="38100">
            <a:solidFill>
              <a:srgbClr val="8B5CF6"/>
            </a:solidFill>
            <a:prstDash val="solid"/>
          </a:ln>
          <a:effectLst>
            <a:outerShdw sx="100000" sy="100000" kx="0" ky="0" algn="bl" rotWithShape="0" blurRad="127000" dist="38100" dir="5400000">
              <a:srgbClr val="4C1D95">
                <a:alpha val="16000"/>
              </a:srgbClr>
            </a:outerShdw>
          </a:effectLst>
        </p:spPr>
      </p:sp>
      <p:pic>
        <p:nvPicPr>
          <p:cNvPr id="16" name="Image 1" descr="Biểu tượng minh họa">    </p:cNvPr>
          <p:cNvPicPr>
            <a:picLocks noChangeAspect="1"/>
          </p:cNvPicPr>
          <p:nvPr/>
        </p:nvPicPr>
        <p:blipFill>
          <a:blip r:embed="rId2"/>
          <a:stretch>
            <a:fillRect/>
          </a:stretch>
        </p:blipFill>
        <p:spPr>
          <a:xfrm>
            <a:off x="4361688" y="2395728"/>
            <a:ext cx="603504" cy="603504"/>
          </a:xfrm>
          <a:prstGeom prst="rect">
            <a:avLst/>
          </a:prstGeom>
        </p:spPr>
      </p:pic>
      <p:sp>
        <p:nvSpPr>
          <p:cNvPr id="17" name="Shape 12"/>
          <p:cNvSpPr/>
          <p:nvPr/>
        </p:nvSpPr>
        <p:spPr>
          <a:xfrm>
            <a:off x="3364992" y="3474720"/>
            <a:ext cx="2596896"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18" name="Text 13"/>
          <p:cNvSpPr txBox="1"/>
          <p:nvPr/>
        </p:nvSpPr>
        <p:spPr>
          <a:xfrm>
            <a:off x="3474720" y="3611880"/>
            <a:ext cx="2377440" cy="457200"/>
          </a:xfrm>
          <a:prstGeom prst="rect">
            <a:avLst/>
          </a:prstGeom>
          <a:noFill/>
          <a:ln/>
        </p:spPr>
        <p:txBody>
          <a:bodyPr wrap="square" lIns="0" tIns="0" rIns="0" bIns="0" rtlCol="0" anchor="t"/>
          <a:lstStyle/>
          <a:p>
            <a:pPr algn="ctr" indent="0" marL="0">
              <a:buNone/>
            </a:pPr>
            <a:r>
              <a:rPr lang="en-US" sz="2200" b="1" dirty="0">
                <a:solidFill>
                  <a:srgbClr val="7C3AED"/>
                </a:solidFill>
              </a:rPr>
              <a:t>16:00 – 17:00</a:t>
            </a:r>
            <a:endParaRPr lang="en-US" sz="2200" dirty="0"/>
          </a:p>
        </p:txBody>
      </p:sp>
      <p:sp>
        <p:nvSpPr>
          <p:cNvPr id="19" name="Text 14"/>
          <p:cNvSpPr txBox="1"/>
          <p:nvPr/>
        </p:nvSpPr>
        <p:spPr>
          <a:xfrm>
            <a:off x="3474720" y="4114800"/>
            <a:ext cx="2377440" cy="1371600"/>
          </a:xfrm>
          <a:prstGeom prst="rect">
            <a:avLst/>
          </a:prstGeom>
          <a:noFill/>
          <a:ln/>
        </p:spPr>
        <p:txBody>
          <a:bodyPr wrap="square" lIns="0" tIns="0" rIns="0" bIns="0" rtlCol="0" anchor="t"/>
          <a:lstStyle/>
          <a:p>
            <a:pPr algn="ctr" indent="0" marL="0">
              <a:buNone/>
            </a:pPr>
            <a:r>
              <a:rPr lang="en-US" sz="1500" dirty="0">
                <a:solidFill>
                  <a:srgbClr val="2E1065"/>
                </a:solidFill>
              </a:rPr>
              <a:t>Tổng duyệt, thi đấu thử, kiểm tra robot và BỐC THĂM xếp cặp đấu</a:t>
            </a:r>
            <a:endParaRPr lang="en-US" sz="1500" dirty="0"/>
          </a:p>
        </p:txBody>
      </p:sp>
      <p:sp>
        <p:nvSpPr>
          <p:cNvPr id="20" name="Shape 15"/>
          <p:cNvSpPr/>
          <p:nvPr/>
        </p:nvSpPr>
        <p:spPr>
          <a:xfrm>
            <a:off x="6355080" y="1417320"/>
            <a:ext cx="2286000" cy="438912"/>
          </a:xfrm>
          <a:prstGeom prst="roundRect">
            <a:avLst>
              <a:gd name="adj" fmla="val 50000"/>
            </a:avLst>
          </a:prstGeom>
          <a:solidFill>
            <a:srgbClr val="EA580C"/>
          </a:solidFill>
          <a:ln/>
        </p:spPr>
      </p:sp>
      <p:sp>
        <p:nvSpPr>
          <p:cNvPr id="21" name="Text 16"/>
          <p:cNvSpPr txBox="1"/>
          <p:nvPr/>
        </p:nvSpPr>
        <p:spPr>
          <a:xfrm>
            <a:off x="6355080" y="1417320"/>
            <a:ext cx="2286000" cy="438912"/>
          </a:xfrm>
          <a:prstGeom prst="rect">
            <a:avLst/>
          </a:prstGeom>
          <a:noFill/>
          <a:ln/>
        </p:spPr>
        <p:txBody>
          <a:bodyPr wrap="square" lIns="0" tIns="0" rIns="0" bIns="0" rtlCol="0" anchor="ctr"/>
          <a:lstStyle/>
          <a:p>
            <a:pPr algn="ctr" indent="0" marL="0">
              <a:buNone/>
            </a:pPr>
            <a:r>
              <a:rPr lang="en-US" sz="1500" b="1" dirty="0">
                <a:solidFill>
                  <a:srgbClr val="FFFFFF"/>
                </a:solidFill>
              </a:rPr>
              <a:t>Chủ nhật 25/10</a:t>
            </a:r>
            <a:endParaRPr lang="en-US" sz="1500" dirty="0"/>
          </a:p>
        </p:txBody>
      </p:sp>
      <p:sp>
        <p:nvSpPr>
          <p:cNvPr id="22" name="Shape 17"/>
          <p:cNvSpPr/>
          <p:nvPr/>
        </p:nvSpPr>
        <p:spPr>
          <a:xfrm>
            <a:off x="6995160" y="2194560"/>
            <a:ext cx="1005840" cy="1005840"/>
          </a:xfrm>
          <a:prstGeom prst="ellipse">
            <a:avLst/>
          </a:prstGeom>
          <a:solidFill>
            <a:srgbClr val="FFEDD5"/>
          </a:solidFill>
          <a:ln w="38100">
            <a:solidFill>
              <a:srgbClr val="EA580C"/>
            </a:solidFill>
            <a:prstDash val="solid"/>
          </a:ln>
          <a:effectLst>
            <a:outerShdw sx="100000" sy="100000" kx="0" ky="0" algn="bl" rotWithShape="0" blurRad="127000" dist="38100" dir="5400000">
              <a:srgbClr val="4C1D95">
                <a:alpha val="16000"/>
              </a:srgbClr>
            </a:outerShdw>
          </a:effectLst>
        </p:spPr>
      </p:sp>
      <p:pic>
        <p:nvPicPr>
          <p:cNvPr id="23" name="Image 2" descr="Biểu tượng minh họa">    </p:cNvPr>
          <p:cNvPicPr>
            <a:picLocks noChangeAspect="1"/>
          </p:cNvPicPr>
          <p:nvPr/>
        </p:nvPicPr>
        <p:blipFill>
          <a:blip r:embed="rId3"/>
          <a:stretch>
            <a:fillRect/>
          </a:stretch>
        </p:blipFill>
        <p:spPr>
          <a:xfrm>
            <a:off x="7196328" y="2395728"/>
            <a:ext cx="603504" cy="603504"/>
          </a:xfrm>
          <a:prstGeom prst="rect">
            <a:avLst/>
          </a:prstGeom>
        </p:spPr>
      </p:pic>
      <p:sp>
        <p:nvSpPr>
          <p:cNvPr id="24" name="Shape 18"/>
          <p:cNvSpPr/>
          <p:nvPr/>
        </p:nvSpPr>
        <p:spPr>
          <a:xfrm>
            <a:off x="6199632" y="3474720"/>
            <a:ext cx="2596896" cy="2148840"/>
          </a:xfrm>
          <a:prstGeom prst="roundRect">
            <a:avLst>
              <a:gd name="adj" fmla="val 5106"/>
            </a:avLst>
          </a:prstGeom>
          <a:solidFill>
            <a:srgbClr val="EA580C"/>
          </a:solidFill>
          <a:ln/>
          <a:effectLst>
            <a:outerShdw sx="100000" sy="100000" kx="0" ky="0" algn="bl" rotWithShape="0" blurRad="127000" dist="38100" dir="5400000">
              <a:srgbClr val="4C1D95">
                <a:alpha val="16000"/>
              </a:srgbClr>
            </a:outerShdw>
          </a:effectLst>
        </p:spPr>
      </p:sp>
      <p:sp>
        <p:nvSpPr>
          <p:cNvPr id="25" name="Text 19"/>
          <p:cNvSpPr txBox="1"/>
          <p:nvPr/>
        </p:nvSpPr>
        <p:spPr>
          <a:xfrm>
            <a:off x="6309360" y="3611880"/>
            <a:ext cx="2377440" cy="457200"/>
          </a:xfrm>
          <a:prstGeom prst="rect">
            <a:avLst/>
          </a:prstGeom>
          <a:noFill/>
          <a:ln/>
        </p:spPr>
        <p:txBody>
          <a:bodyPr wrap="square" lIns="0" tIns="0" rIns="0" bIns="0" rtlCol="0" anchor="t"/>
          <a:lstStyle/>
          <a:p>
            <a:pPr algn="ctr" indent="0" marL="0">
              <a:buNone/>
            </a:pPr>
            <a:r>
              <a:rPr lang="en-US" sz="2200" b="1" dirty="0">
                <a:solidFill>
                  <a:srgbClr val="FFFFFF"/>
                </a:solidFill>
              </a:rPr>
              <a:t>08:15 – 10:15</a:t>
            </a:r>
            <a:endParaRPr lang="en-US" sz="2200" dirty="0"/>
          </a:p>
        </p:txBody>
      </p:sp>
      <p:sp>
        <p:nvSpPr>
          <p:cNvPr id="26" name="Text 20"/>
          <p:cNvSpPr txBox="1"/>
          <p:nvPr/>
        </p:nvSpPr>
        <p:spPr>
          <a:xfrm>
            <a:off x="6309360" y="4114800"/>
            <a:ext cx="2377440" cy="1371600"/>
          </a:xfrm>
          <a:prstGeom prst="rect">
            <a:avLst/>
          </a:prstGeom>
          <a:noFill/>
          <a:ln/>
        </p:spPr>
        <p:txBody>
          <a:bodyPr wrap="square" lIns="0" tIns="0" rIns="0" bIns="0" rtlCol="0" anchor="t"/>
          <a:lstStyle/>
          <a:p>
            <a:pPr algn="ctr" indent="0" marL="0">
              <a:buNone/>
            </a:pPr>
            <a:r>
              <a:rPr lang="en-US" sz="1500" dirty="0">
                <a:solidFill>
                  <a:srgbClr val="FFFFFF"/>
                </a:solidFill>
              </a:rPr>
              <a:t>THI ĐẤU CHÍNH THỨC – lịch từng lượt công bố trước giờ khai mạc</a:t>
            </a:r>
            <a:endParaRPr lang="en-US" sz="1500" dirty="0"/>
          </a:p>
        </p:txBody>
      </p:sp>
      <p:sp>
        <p:nvSpPr>
          <p:cNvPr id="27" name="Shape 21"/>
          <p:cNvSpPr/>
          <p:nvPr/>
        </p:nvSpPr>
        <p:spPr>
          <a:xfrm>
            <a:off x="9189720" y="1417320"/>
            <a:ext cx="2286000" cy="438912"/>
          </a:xfrm>
          <a:prstGeom prst="roundRect">
            <a:avLst>
              <a:gd name="adj" fmla="val 50000"/>
            </a:avLst>
          </a:prstGeom>
          <a:solidFill>
            <a:srgbClr val="FFFFFF"/>
          </a:solidFill>
          <a:ln w="12700">
            <a:solidFill>
              <a:srgbClr val="DDD0FF"/>
            </a:solidFill>
            <a:prstDash val="solid"/>
          </a:ln>
        </p:spPr>
      </p:sp>
      <p:sp>
        <p:nvSpPr>
          <p:cNvPr id="28" name="Text 22"/>
          <p:cNvSpPr txBox="1"/>
          <p:nvPr/>
        </p:nvSpPr>
        <p:spPr>
          <a:xfrm>
            <a:off x="9189720" y="1417320"/>
            <a:ext cx="2286000" cy="438912"/>
          </a:xfrm>
          <a:prstGeom prst="rect">
            <a:avLst/>
          </a:prstGeom>
          <a:noFill/>
          <a:ln/>
        </p:spPr>
        <p:txBody>
          <a:bodyPr wrap="square" lIns="0" tIns="0" rIns="0" bIns="0" rtlCol="0" anchor="ctr"/>
          <a:lstStyle/>
          <a:p>
            <a:pPr algn="ctr" indent="0" marL="0">
              <a:buNone/>
            </a:pPr>
            <a:r>
              <a:rPr lang="en-US" sz="1500" b="1" dirty="0">
                <a:solidFill>
                  <a:srgbClr val="4C1D95"/>
                </a:solidFill>
              </a:rPr>
              <a:t>Chủ nhật 25/10</a:t>
            </a:r>
            <a:endParaRPr lang="en-US" sz="1500" dirty="0"/>
          </a:p>
        </p:txBody>
      </p:sp>
      <p:sp>
        <p:nvSpPr>
          <p:cNvPr id="29" name="Shape 23"/>
          <p:cNvSpPr/>
          <p:nvPr/>
        </p:nvSpPr>
        <p:spPr>
          <a:xfrm>
            <a:off x="9829800" y="2194560"/>
            <a:ext cx="1005840" cy="1005840"/>
          </a:xfrm>
          <a:prstGeom prst="ellipse">
            <a:avLst/>
          </a:prstGeom>
          <a:solidFill>
            <a:srgbClr val="FFFFFF"/>
          </a:solidFill>
          <a:ln w="38100">
            <a:solidFill>
              <a:srgbClr val="8B5CF6"/>
            </a:solidFill>
            <a:prstDash val="solid"/>
          </a:ln>
          <a:effectLst>
            <a:outerShdw sx="100000" sy="100000" kx="0" ky="0" algn="bl" rotWithShape="0" blurRad="127000" dist="38100" dir="5400000">
              <a:srgbClr val="4C1D95">
                <a:alpha val="16000"/>
              </a:srgbClr>
            </a:outerShdw>
          </a:effectLst>
        </p:spPr>
      </p:sp>
      <p:pic>
        <p:nvPicPr>
          <p:cNvPr id="30" name="Image 3" descr="Biểu tượng minh họa">    </p:cNvPr>
          <p:cNvPicPr>
            <a:picLocks noChangeAspect="1"/>
          </p:cNvPicPr>
          <p:nvPr/>
        </p:nvPicPr>
        <p:blipFill>
          <a:blip r:embed="rId4"/>
          <a:stretch>
            <a:fillRect/>
          </a:stretch>
        </p:blipFill>
        <p:spPr>
          <a:xfrm>
            <a:off x="10030968" y="2395728"/>
            <a:ext cx="603504" cy="603504"/>
          </a:xfrm>
          <a:prstGeom prst="rect">
            <a:avLst/>
          </a:prstGeom>
        </p:spPr>
      </p:pic>
      <p:sp>
        <p:nvSpPr>
          <p:cNvPr id="31" name="Shape 24"/>
          <p:cNvSpPr/>
          <p:nvPr/>
        </p:nvSpPr>
        <p:spPr>
          <a:xfrm>
            <a:off x="9034272" y="3474720"/>
            <a:ext cx="2596896"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32" name="Text 25"/>
          <p:cNvSpPr txBox="1"/>
          <p:nvPr/>
        </p:nvSpPr>
        <p:spPr>
          <a:xfrm>
            <a:off x="9144000" y="3611880"/>
            <a:ext cx="2377440" cy="457200"/>
          </a:xfrm>
          <a:prstGeom prst="rect">
            <a:avLst/>
          </a:prstGeom>
          <a:noFill/>
          <a:ln/>
        </p:spPr>
        <p:txBody>
          <a:bodyPr wrap="square" lIns="0" tIns="0" rIns="0" bIns="0" rtlCol="0" anchor="t"/>
          <a:lstStyle/>
          <a:p>
            <a:pPr algn="ctr" indent="0" marL="0">
              <a:buNone/>
            </a:pPr>
            <a:r>
              <a:rPr lang="en-US" sz="2200" b="1" dirty="0">
                <a:solidFill>
                  <a:srgbClr val="7C3AED"/>
                </a:solidFill>
              </a:rPr>
              <a:t>Từ 10:15</a:t>
            </a:r>
            <a:endParaRPr lang="en-US" sz="2200" dirty="0"/>
          </a:p>
        </p:txBody>
      </p:sp>
      <p:sp>
        <p:nvSpPr>
          <p:cNvPr id="33" name="Text 26"/>
          <p:cNvSpPr txBox="1"/>
          <p:nvPr/>
        </p:nvSpPr>
        <p:spPr>
          <a:xfrm>
            <a:off x="9144000" y="4114800"/>
            <a:ext cx="2377440" cy="1371600"/>
          </a:xfrm>
          <a:prstGeom prst="rect">
            <a:avLst/>
          </a:prstGeom>
          <a:noFill/>
          <a:ln/>
        </p:spPr>
        <p:txBody>
          <a:bodyPr wrap="square" lIns="0" tIns="0" rIns="0" bIns="0" rtlCol="0" anchor="t"/>
          <a:lstStyle/>
          <a:p>
            <a:pPr algn="ctr" indent="0" marL="0">
              <a:buNone/>
            </a:pPr>
            <a:r>
              <a:rPr lang="en-US" sz="1500" dirty="0">
                <a:solidFill>
                  <a:srgbClr val="2E1065"/>
                </a:solidFill>
              </a:rPr>
              <a:t>Tổng kết, trao giải tại Sân khấu chính của Ngày hội</a:t>
            </a:r>
            <a:endParaRPr lang="en-US" sz="1500" dirty="0"/>
          </a:p>
        </p:txBody>
      </p:sp>
      <p:sp>
        <p:nvSpPr>
          <p:cNvPr id="34" name="Shape 27"/>
          <p:cNvSpPr/>
          <p:nvPr/>
        </p:nvSpPr>
        <p:spPr>
          <a:xfrm>
            <a:off x="548640" y="5788152"/>
            <a:ext cx="11091672" cy="502920"/>
          </a:xfrm>
          <a:prstGeom prst="roundRect">
            <a:avLst>
              <a:gd name="adj" fmla="val 49091"/>
            </a:avLst>
          </a:prstGeom>
          <a:solidFill>
            <a:srgbClr val="FFFFFF"/>
          </a:solidFill>
          <a:ln/>
          <a:effectLst>
            <a:outerShdw sx="100000" sy="100000" kx="0" ky="0" algn="bl" rotWithShape="0" blurRad="127000" dist="38100" dir="5400000">
              <a:srgbClr val="4C1D95">
                <a:alpha val="16000"/>
              </a:srgbClr>
            </a:outerShdw>
          </a:effectLst>
        </p:spPr>
      </p:sp>
      <p:pic>
        <p:nvPicPr>
          <p:cNvPr id="35" name="Image 4" descr="Biểu tượng minh họa">    </p:cNvPr>
          <p:cNvPicPr>
            <a:picLocks noChangeAspect="1"/>
          </p:cNvPicPr>
          <p:nvPr/>
        </p:nvPicPr>
        <p:blipFill>
          <a:blip r:embed="rId5"/>
          <a:stretch>
            <a:fillRect/>
          </a:stretch>
        </p:blipFill>
        <p:spPr>
          <a:xfrm>
            <a:off x="731520" y="5824728"/>
            <a:ext cx="411480" cy="411480"/>
          </a:xfrm>
          <a:prstGeom prst="rect">
            <a:avLst/>
          </a:prstGeom>
        </p:spPr>
      </p:pic>
      <p:sp>
        <p:nvSpPr>
          <p:cNvPr id="36" name="Text 28"/>
          <p:cNvSpPr txBox="1"/>
          <p:nvPr/>
        </p:nvSpPr>
        <p:spPr>
          <a:xfrm>
            <a:off x="1234440" y="5788152"/>
            <a:ext cx="10241280" cy="502920"/>
          </a:xfrm>
          <a:prstGeom prst="rect">
            <a:avLst/>
          </a:prstGeom>
          <a:noFill/>
          <a:ln/>
        </p:spPr>
        <p:txBody>
          <a:bodyPr wrap="square" lIns="0" tIns="0" rIns="0" bIns="0" rtlCol="0" anchor="ctr"/>
          <a:lstStyle/>
          <a:p>
            <a:pPr indent="0" marL="0">
              <a:buNone/>
            </a:pPr>
            <a:r>
              <a:rPr lang="en-US" sz="1600" b="1" dirty="0">
                <a:solidFill>
                  <a:srgbClr val="2E1065"/>
                </a:solidFill>
              </a:rPr>
              <a:t>Địa điểm: </a:t>
            </a:r>
            <a:pPr indent="0" marL="0">
              <a:buNone/>
            </a:pPr>
            <a:r>
              <a:rPr lang="en-US" sz="1600" dirty="0">
                <a:solidFill>
                  <a:srgbClr val="2E1065"/>
                </a:solidFill>
              </a:rPr>
              <a:t>Hội trường Đảng ủy xã Lâm Thao, tỉnh Bắc Ninh – Khu thi đấu UGOT</a:t>
            </a:r>
            <a:endParaRPr lang="en-US" sz="16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KHU THI ĐẤU</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Khu thi đấu UGOT gồm những gì?</a:t>
            </a:r>
            <a:endParaRPr lang="en-US" sz="3000" dirty="0"/>
          </a:p>
        </p:txBody>
      </p:sp>
      <p:sp>
        <p:nvSpPr>
          <p:cNvPr id="5" name="Shape 2"/>
          <p:cNvSpPr/>
          <p:nvPr/>
        </p:nvSpPr>
        <p:spPr>
          <a:xfrm>
            <a:off x="548640" y="137160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600200"/>
            <a:ext cx="777240" cy="777240"/>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871423" y="1740103"/>
            <a:ext cx="497434" cy="497434"/>
          </a:xfrm>
          <a:prstGeom prst="rect">
            <a:avLst/>
          </a:prstGeom>
        </p:spPr>
      </p:pic>
      <p:sp>
        <p:nvSpPr>
          <p:cNvPr id="8" name="Text 4"/>
          <p:cNvSpPr txBox="1"/>
          <p:nvPr/>
        </p:nvSpPr>
        <p:spPr>
          <a:xfrm>
            <a:off x="1645920" y="150876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Khu Điều khiển</a:t>
            </a:r>
            <a:endParaRPr lang="en-US" sz="1600" dirty="0"/>
          </a:p>
        </p:txBody>
      </p:sp>
      <p:sp>
        <p:nvSpPr>
          <p:cNvPr id="9" name="Text 5"/>
          <p:cNvSpPr txBox="1"/>
          <p:nvPr/>
        </p:nvSpPr>
        <p:spPr>
          <a:xfrm>
            <a:off x="1645920" y="2011680"/>
            <a:ext cx="2057400" cy="777240"/>
          </a:xfrm>
          <a:prstGeom prst="rect">
            <a:avLst/>
          </a:prstGeom>
          <a:noFill/>
          <a:ln/>
        </p:spPr>
        <p:txBody>
          <a:bodyPr wrap="square" lIns="0" tIns="0" rIns="0" bIns="0" rtlCol="0" anchor="t"/>
          <a:lstStyle/>
          <a:p>
            <a:pPr indent="0" marL="0">
              <a:buNone/>
            </a:pPr>
            <a:r>
              <a:rPr lang="en-US" sz="1300" dirty="0">
                <a:solidFill>
                  <a:srgbClr val="5B4B8A"/>
                </a:solidFill>
              </a:rPr>
              <a:t>Tối đa 03 thí sinh (02 Vận hành điều khiển); chuông báo sự cố, hộp bốc thăm</a:t>
            </a:r>
            <a:endParaRPr lang="en-US" sz="1300" dirty="0"/>
          </a:p>
        </p:txBody>
      </p:sp>
      <p:sp>
        <p:nvSpPr>
          <p:cNvPr id="10" name="Shape 6"/>
          <p:cNvSpPr/>
          <p:nvPr/>
        </p:nvSpPr>
        <p:spPr>
          <a:xfrm>
            <a:off x="548640" y="301752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731520" y="3246120"/>
            <a:ext cx="777240" cy="777240"/>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871423" y="3386023"/>
            <a:ext cx="497434" cy="497434"/>
          </a:xfrm>
          <a:prstGeom prst="rect">
            <a:avLst/>
          </a:prstGeom>
        </p:spPr>
      </p:pic>
      <p:sp>
        <p:nvSpPr>
          <p:cNvPr id="13" name="Text 8"/>
          <p:cNvSpPr txBox="1"/>
          <p:nvPr/>
        </p:nvSpPr>
        <p:spPr>
          <a:xfrm>
            <a:off x="1645920" y="315468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Khu Kỹ thuật</a:t>
            </a:r>
            <a:endParaRPr lang="en-US" sz="1600" dirty="0"/>
          </a:p>
        </p:txBody>
      </p:sp>
      <p:sp>
        <p:nvSpPr>
          <p:cNvPr id="14" name="Text 9"/>
          <p:cNvSpPr txBox="1"/>
          <p:nvPr/>
        </p:nvSpPr>
        <p:spPr>
          <a:xfrm>
            <a:off x="1645920" y="3657600"/>
            <a:ext cx="2057400" cy="777240"/>
          </a:xfrm>
          <a:prstGeom prst="rect">
            <a:avLst/>
          </a:prstGeom>
          <a:noFill/>
          <a:ln/>
        </p:spPr>
        <p:txBody>
          <a:bodyPr wrap="square" lIns="0" tIns="0" rIns="0" bIns="0" rtlCol="0" anchor="t"/>
          <a:lstStyle/>
          <a:p>
            <a:pPr indent="0" marL="0">
              <a:buNone/>
            </a:pPr>
            <a:r>
              <a:rPr lang="en-US" sz="1300" dirty="0">
                <a:solidFill>
                  <a:srgbClr val="5B4B8A"/>
                </a:solidFill>
              </a:rPr>
              <a:t>Bàn Kỹ thuật: nhận, kiểm tra, hoàn trả robot; 02 thí sinh còn lại chờ tại đây</a:t>
            </a:r>
            <a:endParaRPr lang="en-US" sz="1300" dirty="0"/>
          </a:p>
        </p:txBody>
      </p:sp>
      <p:sp>
        <p:nvSpPr>
          <p:cNvPr id="15" name="Shape 10"/>
          <p:cNvSpPr/>
          <p:nvPr/>
        </p:nvSpPr>
        <p:spPr>
          <a:xfrm>
            <a:off x="548640" y="466344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731520" y="4892040"/>
            <a:ext cx="777240" cy="777240"/>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871423" y="5031943"/>
            <a:ext cx="497434" cy="497434"/>
          </a:xfrm>
          <a:prstGeom prst="rect">
            <a:avLst/>
          </a:prstGeom>
        </p:spPr>
      </p:pic>
      <p:sp>
        <p:nvSpPr>
          <p:cNvPr id="18" name="Text 12"/>
          <p:cNvSpPr txBox="1"/>
          <p:nvPr/>
        </p:nvSpPr>
        <p:spPr>
          <a:xfrm>
            <a:off x="1645920" y="480060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Bàn trọng tài</a:t>
            </a:r>
            <a:endParaRPr lang="en-US" sz="1600" dirty="0"/>
          </a:p>
        </p:txBody>
      </p:sp>
      <p:sp>
        <p:nvSpPr>
          <p:cNvPr id="19" name="Text 13"/>
          <p:cNvSpPr txBox="1"/>
          <p:nvPr/>
        </p:nvSpPr>
        <p:spPr>
          <a:xfrm>
            <a:off x="1645920" y="5303520"/>
            <a:ext cx="2057400" cy="777240"/>
          </a:xfrm>
          <a:prstGeom prst="rect">
            <a:avLst/>
          </a:prstGeom>
          <a:noFill/>
          <a:ln/>
        </p:spPr>
        <p:txBody>
          <a:bodyPr wrap="square" lIns="0" tIns="0" rIns="0" bIns="0" rtlCol="0" anchor="t"/>
          <a:lstStyle/>
          <a:p>
            <a:pPr indent="0" marL="0">
              <a:buNone/>
            </a:pPr>
            <a:r>
              <a:rPr lang="en-US" sz="1300" dirty="0">
                <a:solidFill>
                  <a:srgbClr val="5B4B8A"/>
                </a:solidFill>
              </a:rPr>
              <a:t>Trọng tài, thư ký, người bấm giờ</a:t>
            </a:r>
            <a:endParaRPr lang="en-US" sz="1300" dirty="0"/>
          </a:p>
        </p:txBody>
      </p:sp>
      <p:sp>
        <p:nvSpPr>
          <p:cNvPr id="20" name="Shape 14"/>
          <p:cNvSpPr/>
          <p:nvPr/>
        </p:nvSpPr>
        <p:spPr>
          <a:xfrm>
            <a:off x="8394192" y="137160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8577072" y="1600200"/>
            <a:ext cx="777240" cy="777240"/>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8716975" y="1740103"/>
            <a:ext cx="497434" cy="497434"/>
          </a:xfrm>
          <a:prstGeom prst="rect">
            <a:avLst/>
          </a:prstGeom>
        </p:spPr>
      </p:pic>
      <p:sp>
        <p:nvSpPr>
          <p:cNvPr id="23" name="Text 16"/>
          <p:cNvSpPr txBox="1"/>
          <p:nvPr/>
        </p:nvSpPr>
        <p:spPr>
          <a:xfrm>
            <a:off x="9491472" y="150876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Bảng điểm</a:t>
            </a:r>
            <a:endParaRPr lang="en-US" sz="1600" dirty="0"/>
          </a:p>
        </p:txBody>
      </p:sp>
      <p:sp>
        <p:nvSpPr>
          <p:cNvPr id="24" name="Text 17"/>
          <p:cNvSpPr txBox="1"/>
          <p:nvPr/>
        </p:nvSpPr>
        <p:spPr>
          <a:xfrm>
            <a:off x="9491472" y="2011680"/>
            <a:ext cx="2057400" cy="777240"/>
          </a:xfrm>
          <a:prstGeom prst="rect">
            <a:avLst/>
          </a:prstGeom>
          <a:noFill/>
          <a:ln/>
        </p:spPr>
        <p:txBody>
          <a:bodyPr wrap="square" lIns="0" tIns="0" rIns="0" bIns="0" rtlCol="0" anchor="t"/>
          <a:lstStyle/>
          <a:p>
            <a:pPr indent="0" marL="0">
              <a:buNone/>
            </a:pPr>
            <a:r>
              <a:rPr lang="en-US" sz="1300" dirty="0">
                <a:solidFill>
                  <a:srgbClr val="5B4B8A"/>
                </a:solidFill>
              </a:rPr>
              <a:t>Công bố điểm, kết quả từng lượt đấu</a:t>
            </a:r>
            <a:endParaRPr lang="en-US" sz="1300" dirty="0"/>
          </a:p>
        </p:txBody>
      </p:sp>
      <p:sp>
        <p:nvSpPr>
          <p:cNvPr id="25" name="Shape 18"/>
          <p:cNvSpPr/>
          <p:nvPr/>
        </p:nvSpPr>
        <p:spPr>
          <a:xfrm>
            <a:off x="8394192" y="301752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8577072" y="3246120"/>
            <a:ext cx="777240" cy="777240"/>
          </a:xfrm>
          <a:prstGeom prst="ellipse">
            <a:avLst/>
          </a:prstGeom>
          <a:solidFill>
            <a:srgbClr val="EDE4FF"/>
          </a:solidFill>
          <a:ln/>
        </p:spPr>
      </p:sp>
      <p:pic>
        <p:nvPicPr>
          <p:cNvPr id="27" name="Image 4" descr="Biểu tượng minh họa">    </p:cNvPr>
          <p:cNvPicPr>
            <a:picLocks noChangeAspect="1"/>
          </p:cNvPicPr>
          <p:nvPr/>
        </p:nvPicPr>
        <p:blipFill>
          <a:blip r:embed="rId5"/>
          <a:stretch>
            <a:fillRect/>
          </a:stretch>
        </p:blipFill>
        <p:spPr>
          <a:xfrm>
            <a:off x="8716975" y="3386023"/>
            <a:ext cx="497434" cy="497434"/>
          </a:xfrm>
          <a:prstGeom prst="rect">
            <a:avLst/>
          </a:prstGeom>
        </p:spPr>
      </p:pic>
      <p:sp>
        <p:nvSpPr>
          <p:cNvPr id="28" name="Text 20"/>
          <p:cNvSpPr txBox="1"/>
          <p:nvPr/>
        </p:nvSpPr>
        <p:spPr>
          <a:xfrm>
            <a:off x="9491472" y="315468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Khu chờ của đội</a:t>
            </a:r>
            <a:endParaRPr lang="en-US" sz="1600" dirty="0"/>
          </a:p>
        </p:txBody>
      </p:sp>
      <p:sp>
        <p:nvSpPr>
          <p:cNvPr id="29" name="Text 21"/>
          <p:cNvSpPr txBox="1"/>
          <p:nvPr/>
        </p:nvSpPr>
        <p:spPr>
          <a:xfrm>
            <a:off x="9491472" y="3657600"/>
            <a:ext cx="2057400" cy="777240"/>
          </a:xfrm>
          <a:prstGeom prst="rect">
            <a:avLst/>
          </a:prstGeom>
          <a:noFill/>
          <a:ln/>
        </p:spPr>
        <p:txBody>
          <a:bodyPr wrap="square" lIns="0" tIns="0" rIns="0" bIns="0" rtlCol="0" anchor="t"/>
          <a:lstStyle/>
          <a:p>
            <a:pPr indent="0" marL="0">
              <a:buNone/>
            </a:pPr>
            <a:r>
              <a:rPr lang="en-US" sz="1300" dirty="0">
                <a:solidFill>
                  <a:srgbClr val="5B4B8A"/>
                </a:solidFill>
              </a:rPr>
              <a:t>Đội chờ đến lượt được gọi trận</a:t>
            </a:r>
            <a:endParaRPr lang="en-US" sz="1300" dirty="0"/>
          </a:p>
        </p:txBody>
      </p:sp>
      <p:sp>
        <p:nvSpPr>
          <p:cNvPr id="30" name="Shape 22"/>
          <p:cNvSpPr/>
          <p:nvPr/>
        </p:nvSpPr>
        <p:spPr>
          <a:xfrm>
            <a:off x="8394192" y="466344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8577072" y="4892040"/>
            <a:ext cx="777240" cy="777240"/>
          </a:xfrm>
          <a:prstGeom prst="ellipse">
            <a:avLst/>
          </a:prstGeom>
          <a:solidFill>
            <a:srgbClr val="EDE4FF"/>
          </a:solidFill>
          <a:ln/>
        </p:spPr>
      </p:sp>
      <p:pic>
        <p:nvPicPr>
          <p:cNvPr id="32" name="Image 5" descr="Biểu tượng minh họa">    </p:cNvPr>
          <p:cNvPicPr>
            <a:picLocks noChangeAspect="1"/>
          </p:cNvPicPr>
          <p:nvPr/>
        </p:nvPicPr>
        <p:blipFill>
          <a:blip r:embed="rId6"/>
          <a:stretch>
            <a:fillRect/>
          </a:stretch>
        </p:blipFill>
        <p:spPr>
          <a:xfrm>
            <a:off x="8716975" y="5031943"/>
            <a:ext cx="497434" cy="497434"/>
          </a:xfrm>
          <a:prstGeom prst="rect">
            <a:avLst/>
          </a:prstGeom>
        </p:spPr>
      </p:pic>
      <p:sp>
        <p:nvSpPr>
          <p:cNvPr id="33" name="Text 24"/>
          <p:cNvSpPr txBox="1"/>
          <p:nvPr/>
        </p:nvSpPr>
        <p:spPr>
          <a:xfrm>
            <a:off x="9491472" y="480060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Khu cổ động viên</a:t>
            </a:r>
            <a:endParaRPr lang="en-US" sz="1600" dirty="0"/>
          </a:p>
        </p:txBody>
      </p:sp>
      <p:sp>
        <p:nvSpPr>
          <p:cNvPr id="34" name="Text 25"/>
          <p:cNvSpPr txBox="1"/>
          <p:nvPr/>
        </p:nvSpPr>
        <p:spPr>
          <a:xfrm>
            <a:off x="9491472" y="5303520"/>
            <a:ext cx="2057400" cy="777240"/>
          </a:xfrm>
          <a:prstGeom prst="rect">
            <a:avLst/>
          </a:prstGeom>
          <a:noFill/>
          <a:ln/>
        </p:spPr>
        <p:txBody>
          <a:bodyPr wrap="square" lIns="0" tIns="0" rIns="0" bIns="0" rtlCol="0" anchor="t"/>
          <a:lstStyle/>
          <a:p>
            <a:pPr indent="0" marL="0">
              <a:buNone/>
            </a:pPr>
            <a:r>
              <a:rPr lang="en-US" sz="1300" dirty="0">
                <a:solidFill>
                  <a:srgbClr val="5B4B8A"/>
                </a:solidFill>
              </a:rPr>
              <a:t>Cổ vũ văn minh, không tác động vào sân</a:t>
            </a:r>
            <a:endParaRPr lang="en-US" sz="1300" dirty="0"/>
          </a:p>
        </p:txBody>
      </p:sp>
      <p:pic>
        <p:nvPicPr>
          <p:cNvPr id="35" name="RR_field_th_jpg" descr="Sa bàn thi đấu Chinh phục Vũ trụ">    </p:cNvPr>
          <p:cNvPicPr>
            <a:picLocks noChangeAspect="1"/>
          </p:cNvPicPr>
          <p:nvPr/>
        </p:nvPicPr>
        <p:blipFill>
          <a:blip r:embed="rId7"/>
          <a:stretch>
            <a:fillRect/>
          </a:stretch>
        </p:blipFill>
        <p:spPr>
          <a:xfrm>
            <a:off x="4023360" y="1691640"/>
            <a:ext cx="4142232" cy="2075688"/>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36" name="Text 26"/>
          <p:cNvSpPr txBox="1"/>
          <p:nvPr/>
        </p:nvSpPr>
        <p:spPr>
          <a:xfrm>
            <a:off x="4023360" y="3886200"/>
            <a:ext cx="4142232" cy="365760"/>
          </a:xfrm>
          <a:prstGeom prst="rect">
            <a:avLst/>
          </a:prstGeom>
          <a:noFill/>
          <a:ln/>
        </p:spPr>
        <p:txBody>
          <a:bodyPr wrap="square" lIns="0" tIns="0" rIns="0" bIns="0" rtlCol="0" anchor="t"/>
          <a:lstStyle/>
          <a:p>
            <a:pPr algn="ctr" indent="0" marL="0">
              <a:buNone/>
            </a:pPr>
            <a:r>
              <a:rPr lang="en-US" sz="1800" b="1" dirty="0">
                <a:solidFill>
                  <a:srgbClr val="7C3AED"/>
                </a:solidFill>
              </a:rPr>
              <a:t>SA BÀN THI ĐẤU</a:t>
            </a:r>
            <a:endParaRPr lang="en-US" sz="1800" dirty="0"/>
          </a:p>
        </p:txBody>
      </p:sp>
      <p:sp>
        <p:nvSpPr>
          <p:cNvPr id="37" name="Text 27"/>
          <p:cNvSpPr txBox="1"/>
          <p:nvPr/>
        </p:nvSpPr>
        <p:spPr>
          <a:xfrm>
            <a:off x="4023360" y="4224528"/>
            <a:ext cx="4142232" cy="320040"/>
          </a:xfrm>
          <a:prstGeom prst="rect">
            <a:avLst/>
          </a:prstGeom>
          <a:noFill/>
          <a:ln/>
        </p:spPr>
        <p:txBody>
          <a:bodyPr wrap="square" lIns="0" tIns="0" rIns="0" bIns="0" rtlCol="0" anchor="t"/>
          <a:lstStyle/>
          <a:p>
            <a:pPr algn="ctr" indent="0" marL="0">
              <a:buNone/>
            </a:pPr>
            <a:r>
              <a:rPr lang="en-US" sz="1400" dirty="0">
                <a:solidFill>
                  <a:srgbClr val="5B4B8A"/>
                </a:solidFill>
              </a:rPr>
              <a:t>01 sa bàn dùng chung cho hai bảng</a:t>
            </a:r>
            <a:endParaRPr lang="en-US" sz="1400" dirty="0"/>
          </a:p>
        </p:txBody>
      </p:sp>
      <p:sp>
        <p:nvSpPr>
          <p:cNvPr id="38" name="Shape 28"/>
          <p:cNvSpPr/>
          <p:nvPr/>
        </p:nvSpPr>
        <p:spPr>
          <a:xfrm>
            <a:off x="4434840" y="4681728"/>
            <a:ext cx="3319272" cy="457200"/>
          </a:xfrm>
          <a:prstGeom prst="roundRect">
            <a:avLst>
              <a:gd name="adj" fmla="val 50000"/>
            </a:avLst>
          </a:prstGeom>
          <a:solidFill>
            <a:srgbClr val="FFFFFF"/>
          </a:solidFill>
          <a:ln/>
          <a:effectLst>
            <a:outerShdw sx="100000" sy="100000" kx="0" ky="0" algn="bl" rotWithShape="0" blurRad="127000" dist="38100" dir="5400000">
              <a:srgbClr val="4C1D95">
                <a:alpha val="16000"/>
              </a:srgbClr>
            </a:outerShdw>
          </a:effectLst>
        </p:spPr>
      </p:sp>
      <p:pic>
        <p:nvPicPr>
          <p:cNvPr id="39" name="Image 7" descr="Biểu tượng minh họa">    </p:cNvPr>
          <p:cNvPicPr>
            <a:picLocks noChangeAspect="1"/>
          </p:cNvPicPr>
          <p:nvPr/>
        </p:nvPicPr>
        <p:blipFill>
          <a:blip r:embed="rId8"/>
          <a:stretch>
            <a:fillRect/>
          </a:stretch>
        </p:blipFill>
        <p:spPr>
          <a:xfrm>
            <a:off x="4572000" y="4727448"/>
            <a:ext cx="365760" cy="365760"/>
          </a:xfrm>
          <a:prstGeom prst="rect">
            <a:avLst/>
          </a:prstGeom>
        </p:spPr>
      </p:pic>
      <p:sp>
        <p:nvSpPr>
          <p:cNvPr id="40" name="Text 29"/>
          <p:cNvSpPr txBox="1"/>
          <p:nvPr/>
        </p:nvSpPr>
        <p:spPr>
          <a:xfrm>
            <a:off x="5074920" y="4681728"/>
            <a:ext cx="2560320" cy="457200"/>
          </a:xfrm>
          <a:prstGeom prst="rect">
            <a:avLst/>
          </a:prstGeom>
          <a:noFill/>
          <a:ln/>
        </p:spPr>
        <p:txBody>
          <a:bodyPr wrap="square" lIns="0" tIns="0" rIns="0" bIns="0" rtlCol="0" anchor="ctr"/>
          <a:lstStyle/>
          <a:p>
            <a:pPr indent="0" marL="0">
              <a:buNone/>
            </a:pPr>
            <a:r>
              <a:rPr lang="en-US" sz="1500" b="1" dirty="0">
                <a:solidFill>
                  <a:srgbClr val="2E1065"/>
                </a:solidFill>
              </a:rPr>
              <a:t>Chuông báo sự cố</a:t>
            </a:r>
            <a:endParaRPr lang="en-US" sz="1500" dirty="0"/>
          </a:p>
        </p:txBody>
      </p:sp>
      <p:sp>
        <p:nvSpPr>
          <p:cNvPr id="41" name="Shape 30"/>
          <p:cNvSpPr/>
          <p:nvPr/>
        </p:nvSpPr>
        <p:spPr>
          <a:xfrm>
            <a:off x="4434840" y="5230368"/>
            <a:ext cx="3319272" cy="457200"/>
          </a:xfrm>
          <a:prstGeom prst="roundRect">
            <a:avLst>
              <a:gd name="adj" fmla="val 50000"/>
            </a:avLst>
          </a:prstGeom>
          <a:solidFill>
            <a:srgbClr val="FFFFFF"/>
          </a:solidFill>
          <a:ln/>
          <a:effectLst>
            <a:outerShdw sx="100000" sy="100000" kx="0" ky="0" algn="bl" rotWithShape="0" blurRad="127000" dist="38100" dir="5400000">
              <a:srgbClr val="4C1D95">
                <a:alpha val="16000"/>
              </a:srgbClr>
            </a:outerShdw>
          </a:effectLst>
        </p:spPr>
      </p:sp>
      <p:pic>
        <p:nvPicPr>
          <p:cNvPr id="42" name="Image 8" descr="Biểu tượng minh họa">    </p:cNvPr>
          <p:cNvPicPr>
            <a:picLocks noChangeAspect="1"/>
          </p:cNvPicPr>
          <p:nvPr/>
        </p:nvPicPr>
        <p:blipFill>
          <a:blip r:embed="rId9"/>
          <a:stretch>
            <a:fillRect/>
          </a:stretch>
        </p:blipFill>
        <p:spPr>
          <a:xfrm>
            <a:off x="4572000" y="5276088"/>
            <a:ext cx="365760" cy="365760"/>
          </a:xfrm>
          <a:prstGeom prst="rect">
            <a:avLst/>
          </a:prstGeom>
        </p:spPr>
      </p:pic>
      <p:sp>
        <p:nvSpPr>
          <p:cNvPr id="43" name="Text 31"/>
          <p:cNvSpPr txBox="1"/>
          <p:nvPr/>
        </p:nvSpPr>
        <p:spPr>
          <a:xfrm>
            <a:off x="5074920" y="5230368"/>
            <a:ext cx="2560320" cy="457200"/>
          </a:xfrm>
          <a:prstGeom prst="rect">
            <a:avLst/>
          </a:prstGeom>
          <a:noFill/>
          <a:ln/>
        </p:spPr>
        <p:txBody>
          <a:bodyPr wrap="square" lIns="0" tIns="0" rIns="0" bIns="0" rtlCol="0" anchor="ctr"/>
          <a:lstStyle/>
          <a:p>
            <a:pPr indent="0" marL="0">
              <a:buNone/>
            </a:pPr>
            <a:r>
              <a:rPr lang="en-US" sz="1500" b="1" dirty="0">
                <a:solidFill>
                  <a:srgbClr val="2E1065"/>
                </a:solidFill>
              </a:rPr>
              <a:t>Nguồn điện</a:t>
            </a:r>
            <a:endParaRPr lang="en-US" sz="1500" dirty="0"/>
          </a:p>
        </p:txBody>
      </p:sp>
      <p:sp>
        <p:nvSpPr>
          <p:cNvPr id="44" name="Shape 32"/>
          <p:cNvSpPr/>
          <p:nvPr/>
        </p:nvSpPr>
        <p:spPr>
          <a:xfrm>
            <a:off x="4434840" y="5779008"/>
            <a:ext cx="3319272" cy="457200"/>
          </a:xfrm>
          <a:prstGeom prst="roundRect">
            <a:avLst>
              <a:gd name="adj" fmla="val 50000"/>
            </a:avLst>
          </a:prstGeom>
          <a:solidFill>
            <a:srgbClr val="FFFFFF"/>
          </a:solidFill>
          <a:ln/>
          <a:effectLst>
            <a:outerShdw sx="100000" sy="100000" kx="0" ky="0" algn="bl" rotWithShape="0" blurRad="127000" dist="38100" dir="5400000">
              <a:srgbClr val="4C1D95">
                <a:alpha val="16000"/>
              </a:srgbClr>
            </a:outerShdw>
          </a:effectLst>
        </p:spPr>
      </p:sp>
      <p:pic>
        <p:nvPicPr>
          <p:cNvPr id="45" name="Image 9" descr="Biểu tượng minh họa">    </p:cNvPr>
          <p:cNvPicPr>
            <a:picLocks noChangeAspect="1"/>
          </p:cNvPicPr>
          <p:nvPr/>
        </p:nvPicPr>
        <p:blipFill>
          <a:blip r:embed="rId10"/>
          <a:stretch>
            <a:fillRect/>
          </a:stretch>
        </p:blipFill>
        <p:spPr>
          <a:xfrm>
            <a:off x="4572000" y="5824728"/>
            <a:ext cx="365760" cy="365760"/>
          </a:xfrm>
          <a:prstGeom prst="rect">
            <a:avLst/>
          </a:prstGeom>
        </p:spPr>
      </p:pic>
      <p:sp>
        <p:nvSpPr>
          <p:cNvPr id="46" name="Text 33"/>
          <p:cNvSpPr txBox="1"/>
          <p:nvPr/>
        </p:nvSpPr>
        <p:spPr>
          <a:xfrm>
            <a:off x="5074920" y="5779008"/>
            <a:ext cx="2560320" cy="457200"/>
          </a:xfrm>
          <a:prstGeom prst="rect">
            <a:avLst/>
          </a:prstGeom>
          <a:noFill/>
          <a:ln/>
        </p:spPr>
        <p:txBody>
          <a:bodyPr wrap="square" lIns="0" tIns="0" rIns="0" bIns="0" rtlCol="0" anchor="ctr"/>
          <a:lstStyle/>
          <a:p>
            <a:pPr indent="0" marL="0">
              <a:buNone/>
            </a:pPr>
            <a:r>
              <a:rPr lang="en-US" sz="1500" b="1" dirty="0">
                <a:solidFill>
                  <a:srgbClr val="2E1065"/>
                </a:solidFill>
              </a:rPr>
              <a:t>Biển chỉ dẫn</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TỪ KHÓA CẦN NHỚ (1/2)</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Thuật ngữ về lượt đấu và điểm số</a:t>
            </a:r>
            <a:endParaRPr lang="en-US" sz="3000" dirty="0"/>
          </a:p>
        </p:txBody>
      </p:sp>
      <p:sp>
        <p:nvSpPr>
          <p:cNvPr id="5" name="Shape 2"/>
          <p:cNvSpPr/>
          <p:nvPr/>
        </p:nvSpPr>
        <p:spPr>
          <a:xfrm>
            <a:off x="548640"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554480"/>
            <a:ext cx="658368" cy="658368"/>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850026" y="1672986"/>
            <a:ext cx="421356" cy="421356"/>
          </a:xfrm>
          <a:prstGeom prst="rect">
            <a:avLst/>
          </a:prstGeom>
        </p:spPr>
      </p:pic>
      <p:sp>
        <p:nvSpPr>
          <p:cNvPr id="8" name="Text 4"/>
          <p:cNvSpPr txBox="1"/>
          <p:nvPr/>
        </p:nvSpPr>
        <p:spPr>
          <a:xfrm>
            <a:off x="1463040"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Lượt đấu</a:t>
            </a:r>
            <a:endParaRPr lang="en-US" sz="1600" dirty="0"/>
          </a:p>
        </p:txBody>
      </p:sp>
      <p:sp>
        <p:nvSpPr>
          <p:cNvPr id="9" name="Text 5"/>
          <p:cNvSpPr txBox="1"/>
          <p:nvPr/>
        </p:nvSpPr>
        <p:spPr>
          <a:xfrm>
            <a:off x="731520"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Một lần hai đội đấu trực tiếp trên sa bàn, tối đa 03 phút.</a:t>
            </a:r>
            <a:endParaRPr lang="en-US" sz="1400" dirty="0"/>
          </a:p>
        </p:txBody>
      </p:sp>
      <p:sp>
        <p:nvSpPr>
          <p:cNvPr id="10" name="Shape 6"/>
          <p:cNvSpPr/>
          <p:nvPr/>
        </p:nvSpPr>
        <p:spPr>
          <a:xfrm>
            <a:off x="3389681"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3572561" y="1554480"/>
            <a:ext cx="658368" cy="658368"/>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3691067" y="1672986"/>
            <a:ext cx="421356" cy="421356"/>
          </a:xfrm>
          <a:prstGeom prst="rect">
            <a:avLst/>
          </a:prstGeom>
        </p:spPr>
      </p:pic>
      <p:sp>
        <p:nvSpPr>
          <p:cNvPr id="13" name="Text 8"/>
          <p:cNvSpPr txBox="1"/>
          <p:nvPr/>
        </p:nvSpPr>
        <p:spPr>
          <a:xfrm>
            <a:off x="4304081"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Cặp đấu</a:t>
            </a:r>
            <a:endParaRPr lang="en-US" sz="1600" dirty="0"/>
          </a:p>
        </p:txBody>
      </p:sp>
      <p:sp>
        <p:nvSpPr>
          <p:cNvPr id="14" name="Text 9"/>
          <p:cNvSpPr txBox="1"/>
          <p:nvPr/>
        </p:nvSpPr>
        <p:spPr>
          <a:xfrm>
            <a:off x="3572561"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Trận giữa hai đội trong một vòng: 02 lượt, đổi bên sau lượt 1.</a:t>
            </a:r>
            <a:endParaRPr lang="en-US" sz="1400" dirty="0"/>
          </a:p>
        </p:txBody>
      </p:sp>
      <p:sp>
        <p:nvSpPr>
          <p:cNvPr id="15" name="Shape 10"/>
          <p:cNvSpPr/>
          <p:nvPr/>
        </p:nvSpPr>
        <p:spPr>
          <a:xfrm>
            <a:off x="623072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6413602" y="1554480"/>
            <a:ext cx="658368" cy="658368"/>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6532108" y="1672986"/>
            <a:ext cx="421356" cy="421356"/>
          </a:xfrm>
          <a:prstGeom prst="rect">
            <a:avLst/>
          </a:prstGeom>
        </p:spPr>
      </p:pic>
      <p:sp>
        <p:nvSpPr>
          <p:cNvPr id="18" name="Text 12"/>
          <p:cNvSpPr txBox="1"/>
          <p:nvPr/>
        </p:nvSpPr>
        <p:spPr>
          <a:xfrm>
            <a:off x="714512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Điểm nhiệm vụ</a:t>
            </a:r>
            <a:endParaRPr lang="en-US" sz="1600" dirty="0"/>
          </a:p>
        </p:txBody>
      </p:sp>
      <p:sp>
        <p:nvSpPr>
          <p:cNvPr id="19" name="Text 13"/>
          <p:cNvSpPr txBox="1"/>
          <p:nvPr/>
        </p:nvSpPr>
        <p:spPr>
          <a:xfrm>
            <a:off x="641360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Tổng điểm cộng trừ đi tổng điểm trừ của đội trong một lượt.</a:t>
            </a:r>
            <a:endParaRPr lang="en-US" sz="1400" dirty="0"/>
          </a:p>
        </p:txBody>
      </p:sp>
      <p:sp>
        <p:nvSpPr>
          <p:cNvPr id="20" name="Shape 14"/>
          <p:cNvSpPr/>
          <p:nvPr/>
        </p:nvSpPr>
        <p:spPr>
          <a:xfrm>
            <a:off x="907176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9254642" y="1554480"/>
            <a:ext cx="658368" cy="658368"/>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9373149" y="1672986"/>
            <a:ext cx="421356" cy="421356"/>
          </a:xfrm>
          <a:prstGeom prst="rect">
            <a:avLst/>
          </a:prstGeom>
        </p:spPr>
      </p:pic>
      <p:sp>
        <p:nvSpPr>
          <p:cNvPr id="23" name="Text 16"/>
          <p:cNvSpPr txBox="1"/>
          <p:nvPr/>
        </p:nvSpPr>
        <p:spPr>
          <a:xfrm>
            <a:off x="998616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Điểm trận</a:t>
            </a:r>
            <a:endParaRPr lang="en-US" sz="1600" dirty="0"/>
          </a:p>
        </p:txBody>
      </p:sp>
      <p:sp>
        <p:nvSpPr>
          <p:cNvPr id="24" name="Text 17"/>
          <p:cNvSpPr txBox="1"/>
          <p:nvPr/>
        </p:nvSpPr>
        <p:spPr>
          <a:xfrm>
            <a:off x="925464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Quy đổi từ kết quả lượt: Thắng 3 – Hòa 1 – Thua 0.</a:t>
            </a:r>
            <a:endParaRPr lang="en-US" sz="1400" dirty="0"/>
          </a:p>
        </p:txBody>
      </p:sp>
      <p:sp>
        <p:nvSpPr>
          <p:cNvPr id="25" name="Shape 18"/>
          <p:cNvSpPr/>
          <p:nvPr/>
        </p:nvSpPr>
        <p:spPr>
          <a:xfrm>
            <a:off x="548640"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731520" y="3995928"/>
            <a:ext cx="658368" cy="658368"/>
          </a:xfrm>
          <a:prstGeom prst="ellipse">
            <a:avLst/>
          </a:prstGeom>
          <a:solidFill>
            <a:srgbClr val="EDE4FF"/>
          </a:solidFill>
          <a:ln/>
        </p:spPr>
      </p:sp>
      <p:pic>
        <p:nvPicPr>
          <p:cNvPr id="27" name="Image 4" descr="Biểu tượng minh họa">    </p:cNvPr>
          <p:cNvPicPr>
            <a:picLocks noChangeAspect="1"/>
          </p:cNvPicPr>
          <p:nvPr/>
        </p:nvPicPr>
        <p:blipFill>
          <a:blip r:embed="rId5"/>
          <a:stretch>
            <a:fillRect/>
          </a:stretch>
        </p:blipFill>
        <p:spPr>
          <a:xfrm>
            <a:off x="850026" y="4114434"/>
            <a:ext cx="421356" cy="421356"/>
          </a:xfrm>
          <a:prstGeom prst="rect">
            <a:avLst/>
          </a:prstGeom>
        </p:spPr>
      </p:pic>
      <p:sp>
        <p:nvSpPr>
          <p:cNvPr id="28" name="Text 20"/>
          <p:cNvSpPr txBox="1"/>
          <p:nvPr/>
        </p:nvSpPr>
        <p:spPr>
          <a:xfrm>
            <a:off x="1463040"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Mở khóa Trạm Trung tâm</a:t>
            </a:r>
            <a:endParaRPr lang="en-US" sz="1600" dirty="0"/>
          </a:p>
        </p:txBody>
      </p:sp>
      <p:sp>
        <p:nvSpPr>
          <p:cNvPr id="29" name="Text 21"/>
          <p:cNvSpPr txBox="1"/>
          <p:nvPr/>
        </p:nvSpPr>
        <p:spPr>
          <a:xfrm>
            <a:off x="731520"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Khi đội đưa được ít nhất 01 khối Dầu hợp lệ về Căn cứ, trọng tài xác nhận.</a:t>
            </a:r>
            <a:endParaRPr lang="en-US" sz="1400" dirty="0"/>
          </a:p>
        </p:txBody>
      </p:sp>
      <p:sp>
        <p:nvSpPr>
          <p:cNvPr id="30" name="Shape 22"/>
          <p:cNvSpPr/>
          <p:nvPr/>
        </p:nvSpPr>
        <p:spPr>
          <a:xfrm>
            <a:off x="3389681"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3572561" y="3995928"/>
            <a:ext cx="658368" cy="658368"/>
          </a:xfrm>
          <a:prstGeom prst="ellipse">
            <a:avLst/>
          </a:prstGeom>
          <a:solidFill>
            <a:srgbClr val="EDE4FF"/>
          </a:solidFill>
          <a:ln/>
        </p:spPr>
      </p:sp>
      <p:pic>
        <p:nvPicPr>
          <p:cNvPr id="32" name="Image 5" descr="Biểu tượng minh họa">    </p:cNvPr>
          <p:cNvPicPr>
            <a:picLocks noChangeAspect="1"/>
          </p:cNvPicPr>
          <p:nvPr/>
        </p:nvPicPr>
        <p:blipFill>
          <a:blip r:embed="rId6"/>
          <a:stretch>
            <a:fillRect/>
          </a:stretch>
        </p:blipFill>
        <p:spPr>
          <a:xfrm>
            <a:off x="3691067" y="4114434"/>
            <a:ext cx="421356" cy="421356"/>
          </a:xfrm>
          <a:prstGeom prst="rect">
            <a:avLst/>
          </a:prstGeom>
        </p:spPr>
      </p:pic>
      <p:sp>
        <p:nvSpPr>
          <p:cNvPr id="33" name="Text 24"/>
          <p:cNvSpPr txBox="1"/>
          <p:nvPr/>
        </p:nvSpPr>
        <p:spPr>
          <a:xfrm>
            <a:off x="4304081"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Hồi căn cứ</a:t>
            </a:r>
            <a:endParaRPr lang="en-US" sz="1600" dirty="0"/>
          </a:p>
        </p:txBody>
      </p:sp>
      <p:sp>
        <p:nvSpPr>
          <p:cNvPr id="34" name="Text 25"/>
          <p:cNvSpPr txBox="1"/>
          <p:nvPr/>
        </p:nvSpPr>
        <p:spPr>
          <a:xfrm>
            <a:off x="3572561"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Robot dừng hẳn tại Căn cứ đội mình, hô to “HỒI CĂN CỨ – KẾT THÚC!”.</a:t>
            </a:r>
            <a:endParaRPr lang="en-US" sz="1400" dirty="0"/>
          </a:p>
        </p:txBody>
      </p:sp>
      <p:sp>
        <p:nvSpPr>
          <p:cNvPr id="35" name="Shape 26"/>
          <p:cNvSpPr/>
          <p:nvPr/>
        </p:nvSpPr>
        <p:spPr>
          <a:xfrm>
            <a:off x="623072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6" name="Shape 27"/>
          <p:cNvSpPr/>
          <p:nvPr/>
        </p:nvSpPr>
        <p:spPr>
          <a:xfrm>
            <a:off x="6413602" y="3995928"/>
            <a:ext cx="658368" cy="658368"/>
          </a:xfrm>
          <a:prstGeom prst="ellipse">
            <a:avLst/>
          </a:prstGeom>
          <a:solidFill>
            <a:srgbClr val="EDE4FF"/>
          </a:solidFill>
          <a:ln/>
        </p:spPr>
      </p:sp>
      <p:pic>
        <p:nvPicPr>
          <p:cNvPr id="37" name="Image 6" descr="Biểu tượng minh họa">    </p:cNvPr>
          <p:cNvPicPr>
            <a:picLocks noChangeAspect="1"/>
          </p:cNvPicPr>
          <p:nvPr/>
        </p:nvPicPr>
        <p:blipFill>
          <a:blip r:embed="rId7"/>
          <a:stretch>
            <a:fillRect/>
          </a:stretch>
        </p:blipFill>
        <p:spPr>
          <a:xfrm>
            <a:off x="6532108" y="4114434"/>
            <a:ext cx="421356" cy="421356"/>
          </a:xfrm>
          <a:prstGeom prst="rect">
            <a:avLst/>
          </a:prstGeom>
        </p:spPr>
      </p:pic>
      <p:sp>
        <p:nvSpPr>
          <p:cNvPr id="38" name="Text 28"/>
          <p:cNvSpPr txBox="1"/>
          <p:nvPr/>
        </p:nvSpPr>
        <p:spPr>
          <a:xfrm>
            <a:off x="714512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Thời gian hoàn thành</a:t>
            </a:r>
            <a:endParaRPr lang="en-US" sz="1600" dirty="0"/>
          </a:p>
        </p:txBody>
      </p:sp>
      <p:sp>
        <p:nvSpPr>
          <p:cNvPr id="39" name="Text 29"/>
          <p:cNvSpPr txBox="1"/>
          <p:nvPr/>
        </p:nvSpPr>
        <p:spPr>
          <a:xfrm>
            <a:off x="641360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Thời điểm trọng tài xác nhận Hồi căn cứ; không Hồi căn cứ ghi 03:00.</a:t>
            </a:r>
            <a:endParaRPr lang="en-US" sz="1400" dirty="0"/>
          </a:p>
        </p:txBody>
      </p:sp>
      <p:sp>
        <p:nvSpPr>
          <p:cNvPr id="40" name="Shape 30"/>
          <p:cNvSpPr/>
          <p:nvPr/>
        </p:nvSpPr>
        <p:spPr>
          <a:xfrm>
            <a:off x="907176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41" name="Shape 31"/>
          <p:cNvSpPr/>
          <p:nvPr/>
        </p:nvSpPr>
        <p:spPr>
          <a:xfrm>
            <a:off x="9254642" y="3995928"/>
            <a:ext cx="658368" cy="658368"/>
          </a:xfrm>
          <a:prstGeom prst="ellipse">
            <a:avLst/>
          </a:prstGeom>
          <a:solidFill>
            <a:srgbClr val="EDE4FF"/>
          </a:solidFill>
          <a:ln/>
        </p:spPr>
      </p:sp>
      <p:pic>
        <p:nvPicPr>
          <p:cNvPr id="42" name="Image 7" descr="Biểu tượng minh họa">    </p:cNvPr>
          <p:cNvPicPr>
            <a:picLocks noChangeAspect="1"/>
          </p:cNvPicPr>
          <p:nvPr/>
        </p:nvPicPr>
        <p:blipFill>
          <a:blip r:embed="rId8"/>
          <a:stretch>
            <a:fillRect/>
          </a:stretch>
        </p:blipFill>
        <p:spPr>
          <a:xfrm>
            <a:off x="9373149" y="4114434"/>
            <a:ext cx="421356" cy="421356"/>
          </a:xfrm>
          <a:prstGeom prst="rect">
            <a:avLst/>
          </a:prstGeom>
        </p:spPr>
      </p:pic>
      <p:sp>
        <p:nvSpPr>
          <p:cNvPr id="43" name="Text 32"/>
          <p:cNvSpPr txBox="1"/>
          <p:nvPr/>
        </p:nvSpPr>
        <p:spPr>
          <a:xfrm>
            <a:off x="998616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Tác động từ bên ngoài</a:t>
            </a:r>
            <a:endParaRPr lang="en-US" sz="1600" dirty="0"/>
          </a:p>
        </p:txBody>
      </p:sp>
      <p:sp>
        <p:nvSpPr>
          <p:cNvPr id="44" name="Text 33"/>
          <p:cNvSpPr txBox="1"/>
          <p:nvPr/>
        </p:nvSpPr>
        <p:spPr>
          <a:xfrm>
            <a:off x="925464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Mọi tiếp xúc vào robot, khối trên sân không qua bộ điều khiển (tay, chân, đồ vật).</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TỪ KHÓA CẦN NHỚ (2/2)</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Thuật ngữ trên sa bàn</a:t>
            </a:r>
            <a:endParaRPr lang="en-US" sz="3000" dirty="0"/>
          </a:p>
        </p:txBody>
      </p:sp>
      <p:sp>
        <p:nvSpPr>
          <p:cNvPr id="5" name="Shape 2"/>
          <p:cNvSpPr/>
          <p:nvPr/>
        </p:nvSpPr>
        <p:spPr>
          <a:xfrm>
            <a:off x="548640"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554480"/>
            <a:ext cx="658368" cy="658368"/>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850026" y="1672986"/>
            <a:ext cx="421356" cy="421356"/>
          </a:xfrm>
          <a:prstGeom prst="rect">
            <a:avLst/>
          </a:prstGeom>
        </p:spPr>
      </p:pic>
      <p:sp>
        <p:nvSpPr>
          <p:cNvPr id="8" name="Text 4"/>
          <p:cNvSpPr txBox="1"/>
          <p:nvPr/>
        </p:nvSpPr>
        <p:spPr>
          <a:xfrm>
            <a:off x="1463040"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Khu Căn cứ</a:t>
            </a:r>
            <a:endParaRPr lang="en-US" sz="1600" dirty="0"/>
          </a:p>
        </p:txBody>
      </p:sp>
      <p:sp>
        <p:nvSpPr>
          <p:cNvPr id="9" name="Text 5"/>
          <p:cNvSpPr txBox="1"/>
          <p:nvPr/>
        </p:nvSpPr>
        <p:spPr>
          <a:xfrm>
            <a:off x="731520"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Ô chữ nhật có cờ đích ở hai đầu sa bàn: nơi robot xuất phát và tập kết khối.</a:t>
            </a:r>
            <a:endParaRPr lang="en-US" sz="1400" dirty="0"/>
          </a:p>
        </p:txBody>
      </p:sp>
      <p:sp>
        <p:nvSpPr>
          <p:cNvPr id="10" name="Shape 6"/>
          <p:cNvSpPr/>
          <p:nvPr/>
        </p:nvSpPr>
        <p:spPr>
          <a:xfrm>
            <a:off x="3389681"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3572561" y="1554480"/>
            <a:ext cx="658368" cy="658368"/>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3691067" y="1672986"/>
            <a:ext cx="421356" cy="421356"/>
          </a:xfrm>
          <a:prstGeom prst="rect">
            <a:avLst/>
          </a:prstGeom>
        </p:spPr>
      </p:pic>
      <p:sp>
        <p:nvSpPr>
          <p:cNvPr id="13" name="Text 8"/>
          <p:cNvSpPr txBox="1"/>
          <p:nvPr/>
        </p:nvSpPr>
        <p:spPr>
          <a:xfrm>
            <a:off x="4304081"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Khu vực tham chiếu</a:t>
            </a:r>
            <a:endParaRPr lang="en-US" sz="1600" dirty="0"/>
          </a:p>
        </p:txBody>
      </p:sp>
      <p:sp>
        <p:nvSpPr>
          <p:cNvPr id="14" name="Text 9"/>
          <p:cNvSpPr txBox="1"/>
          <p:nvPr/>
        </p:nvSpPr>
        <p:spPr>
          <a:xfrm>
            <a:off x="3572561"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Phần Khu Căn cứ trong vạch biên – TÍNH CẢ VẠCH BIÊN – để xét khối hợp lệ.</a:t>
            </a:r>
            <a:endParaRPr lang="en-US" sz="1400" dirty="0"/>
          </a:p>
        </p:txBody>
      </p:sp>
      <p:sp>
        <p:nvSpPr>
          <p:cNvPr id="15" name="Shape 10"/>
          <p:cNvSpPr/>
          <p:nvPr/>
        </p:nvSpPr>
        <p:spPr>
          <a:xfrm>
            <a:off x="623072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6413602" y="1554480"/>
            <a:ext cx="658368" cy="658368"/>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6532108" y="1672986"/>
            <a:ext cx="421356" cy="421356"/>
          </a:xfrm>
          <a:prstGeom prst="rect">
            <a:avLst/>
          </a:prstGeom>
        </p:spPr>
      </p:pic>
      <p:sp>
        <p:nvSpPr>
          <p:cNvPr id="18" name="Text 12"/>
          <p:cNvSpPr txBox="1"/>
          <p:nvPr/>
        </p:nvSpPr>
        <p:spPr>
          <a:xfrm>
            <a:off x="714512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Trạm Trung tâm</a:t>
            </a:r>
            <a:endParaRPr lang="en-US" sz="1600" dirty="0"/>
          </a:p>
        </p:txBody>
      </p:sp>
      <p:sp>
        <p:nvSpPr>
          <p:cNvPr id="19" name="Text 13"/>
          <p:cNvSpPr txBox="1"/>
          <p:nvPr/>
        </p:nvSpPr>
        <p:spPr>
          <a:xfrm>
            <a:off x="641360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Ô chữ nhật giữa sa bàn chứa khối Lá, Đất, Nước – tài nguyên chung.</a:t>
            </a:r>
            <a:endParaRPr lang="en-US" sz="1400" dirty="0"/>
          </a:p>
        </p:txBody>
      </p:sp>
      <p:sp>
        <p:nvSpPr>
          <p:cNvPr id="20" name="Shape 14"/>
          <p:cNvSpPr/>
          <p:nvPr/>
        </p:nvSpPr>
        <p:spPr>
          <a:xfrm>
            <a:off x="907176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9254642" y="1554480"/>
            <a:ext cx="658368" cy="658368"/>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9373149" y="1672986"/>
            <a:ext cx="421356" cy="421356"/>
          </a:xfrm>
          <a:prstGeom prst="rect">
            <a:avLst/>
          </a:prstGeom>
        </p:spPr>
      </p:pic>
      <p:sp>
        <p:nvSpPr>
          <p:cNvPr id="23" name="Text 16"/>
          <p:cNvSpPr txBox="1"/>
          <p:nvPr/>
        </p:nvSpPr>
        <p:spPr>
          <a:xfrm>
            <a:off x="998616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Đường trung tâm</a:t>
            </a:r>
            <a:endParaRPr lang="en-US" sz="1600" dirty="0"/>
          </a:p>
        </p:txBody>
      </p:sp>
      <p:sp>
        <p:nvSpPr>
          <p:cNvPr id="24" name="Text 17"/>
          <p:cNvSpPr txBox="1"/>
          <p:nvPr/>
        </p:nvSpPr>
        <p:spPr>
          <a:xfrm>
            <a:off x="925464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Đường chia sa bàn thành hai phần sân bằng nhau.</a:t>
            </a:r>
            <a:endParaRPr lang="en-US" sz="1400" dirty="0"/>
          </a:p>
        </p:txBody>
      </p:sp>
      <p:sp>
        <p:nvSpPr>
          <p:cNvPr id="25" name="Shape 18"/>
          <p:cNvSpPr/>
          <p:nvPr/>
        </p:nvSpPr>
        <p:spPr>
          <a:xfrm>
            <a:off x="548640"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731520" y="3995928"/>
            <a:ext cx="658368" cy="658368"/>
          </a:xfrm>
          <a:prstGeom prst="ellipse">
            <a:avLst/>
          </a:prstGeom>
          <a:solidFill>
            <a:srgbClr val="EDE4FF"/>
          </a:solidFill>
          <a:ln/>
        </p:spPr>
      </p:sp>
      <p:pic>
        <p:nvPicPr>
          <p:cNvPr id="27" name="Image 4" descr="Biểu tượng minh họa">    </p:cNvPr>
          <p:cNvPicPr>
            <a:picLocks noChangeAspect="1"/>
          </p:cNvPicPr>
          <p:nvPr/>
        </p:nvPicPr>
        <p:blipFill>
          <a:blip r:embed="rId5"/>
          <a:stretch>
            <a:fillRect/>
          </a:stretch>
        </p:blipFill>
        <p:spPr>
          <a:xfrm>
            <a:off x="850026" y="4114434"/>
            <a:ext cx="421356" cy="421356"/>
          </a:xfrm>
          <a:prstGeom prst="rect">
            <a:avLst/>
          </a:prstGeom>
        </p:spPr>
      </p:pic>
      <p:sp>
        <p:nvSpPr>
          <p:cNvPr id="28" name="Text 20"/>
          <p:cNvSpPr txBox="1"/>
          <p:nvPr/>
        </p:nvSpPr>
        <p:spPr>
          <a:xfrm>
            <a:off x="1463040"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Điểm đặt lại khối</a:t>
            </a:r>
            <a:endParaRPr lang="en-US" sz="1600" dirty="0"/>
          </a:p>
        </p:txBody>
      </p:sp>
      <p:sp>
        <p:nvSpPr>
          <p:cNvPr id="29" name="Text 21"/>
          <p:cNvSpPr txBox="1"/>
          <p:nvPr/>
        </p:nvSpPr>
        <p:spPr>
          <a:xfrm>
            <a:off x="731520"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02 điểm trên Đường trung tâm, nơi trọng tài đặt lại khối rơi ra ngoài.</a:t>
            </a:r>
            <a:endParaRPr lang="en-US" sz="1400" dirty="0"/>
          </a:p>
        </p:txBody>
      </p:sp>
      <p:sp>
        <p:nvSpPr>
          <p:cNvPr id="30" name="Shape 22"/>
          <p:cNvSpPr/>
          <p:nvPr/>
        </p:nvSpPr>
        <p:spPr>
          <a:xfrm>
            <a:off x="3389681"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3572561" y="3995928"/>
            <a:ext cx="658368" cy="658368"/>
          </a:xfrm>
          <a:prstGeom prst="ellipse">
            <a:avLst/>
          </a:prstGeom>
          <a:solidFill>
            <a:srgbClr val="EDE4FF"/>
          </a:solidFill>
          <a:ln/>
        </p:spPr>
      </p:sp>
      <p:pic>
        <p:nvPicPr>
          <p:cNvPr id="32" name="Image 5" descr="Biểu tượng minh họa">    </p:cNvPr>
          <p:cNvPicPr>
            <a:picLocks noChangeAspect="1"/>
          </p:cNvPicPr>
          <p:nvPr/>
        </p:nvPicPr>
        <p:blipFill>
          <a:blip r:embed="rId6"/>
          <a:stretch>
            <a:fillRect/>
          </a:stretch>
        </p:blipFill>
        <p:spPr>
          <a:xfrm>
            <a:off x="3691067" y="4114434"/>
            <a:ext cx="421356" cy="421356"/>
          </a:xfrm>
          <a:prstGeom prst="rect">
            <a:avLst/>
          </a:prstGeom>
        </p:spPr>
      </p:pic>
      <p:sp>
        <p:nvSpPr>
          <p:cNvPr id="33" name="Text 24"/>
          <p:cNvSpPr txBox="1"/>
          <p:nvPr/>
        </p:nvSpPr>
        <p:spPr>
          <a:xfrm>
            <a:off x="4304081"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Núi lửa lớn / nhỏ</a:t>
            </a:r>
            <a:endParaRPr lang="en-US" sz="1600" dirty="0"/>
          </a:p>
        </p:txBody>
      </p:sp>
      <p:sp>
        <p:nvSpPr>
          <p:cNvPr id="34" name="Text 25"/>
          <p:cNvSpPr txBox="1"/>
          <p:nvPr/>
        </p:nvSpPr>
        <p:spPr>
          <a:xfrm>
            <a:off x="3572561"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Mỗi bên sân 01 lớn + 01 nhỏ; Bảng Tiểu học chỉ là địa hình, không ghi điểm.</a:t>
            </a:r>
            <a:endParaRPr lang="en-US" sz="1400" dirty="0"/>
          </a:p>
        </p:txBody>
      </p:sp>
      <p:sp>
        <p:nvSpPr>
          <p:cNvPr id="35" name="Shape 26"/>
          <p:cNvSpPr/>
          <p:nvPr/>
        </p:nvSpPr>
        <p:spPr>
          <a:xfrm>
            <a:off x="623072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6" name="Shape 27"/>
          <p:cNvSpPr/>
          <p:nvPr/>
        </p:nvSpPr>
        <p:spPr>
          <a:xfrm>
            <a:off x="6413602" y="3995928"/>
            <a:ext cx="658368" cy="658368"/>
          </a:xfrm>
          <a:prstGeom prst="ellipse">
            <a:avLst/>
          </a:prstGeom>
          <a:solidFill>
            <a:srgbClr val="EDE4FF"/>
          </a:solidFill>
          <a:ln/>
        </p:spPr>
      </p:sp>
      <p:pic>
        <p:nvPicPr>
          <p:cNvPr id="37" name="Image 6" descr="Biểu tượng minh họa">    </p:cNvPr>
          <p:cNvPicPr>
            <a:picLocks noChangeAspect="1"/>
          </p:cNvPicPr>
          <p:nvPr/>
        </p:nvPicPr>
        <p:blipFill>
          <a:blip r:embed="rId7"/>
          <a:stretch>
            <a:fillRect/>
          </a:stretch>
        </p:blipFill>
        <p:spPr>
          <a:xfrm>
            <a:off x="6532108" y="4114434"/>
            <a:ext cx="421356" cy="421356"/>
          </a:xfrm>
          <a:prstGeom prst="rect">
            <a:avLst/>
          </a:prstGeom>
        </p:spPr>
      </p:pic>
      <p:sp>
        <p:nvSpPr>
          <p:cNvPr id="38" name="Text 28"/>
          <p:cNvSpPr txBox="1"/>
          <p:nvPr/>
        </p:nvSpPr>
        <p:spPr>
          <a:xfrm>
            <a:off x="714512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Phần sân 1 / 2</a:t>
            </a:r>
            <a:endParaRPr lang="en-US" sz="1600" dirty="0"/>
          </a:p>
        </p:txBody>
      </p:sp>
      <p:sp>
        <p:nvSpPr>
          <p:cNvPr id="39" name="Text 29"/>
          <p:cNvSpPr txBox="1"/>
          <p:nvPr/>
        </p:nvSpPr>
        <p:spPr>
          <a:xfrm>
            <a:off x="641360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Hai nửa sa bàn của hai đội; hết lượt 1 hai đội đổi bên cho nhau.</a:t>
            </a:r>
            <a:endParaRPr lang="en-US" sz="1400" dirty="0"/>
          </a:p>
        </p:txBody>
      </p:sp>
      <p:sp>
        <p:nvSpPr>
          <p:cNvPr id="40" name="Shape 30"/>
          <p:cNvSpPr/>
          <p:nvPr/>
        </p:nvSpPr>
        <p:spPr>
          <a:xfrm>
            <a:off x="907176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41" name="Shape 31"/>
          <p:cNvSpPr/>
          <p:nvPr/>
        </p:nvSpPr>
        <p:spPr>
          <a:xfrm>
            <a:off x="9254642" y="3995928"/>
            <a:ext cx="658368" cy="658368"/>
          </a:xfrm>
          <a:prstGeom prst="ellipse">
            <a:avLst/>
          </a:prstGeom>
          <a:solidFill>
            <a:srgbClr val="EDE4FF"/>
          </a:solidFill>
          <a:ln/>
        </p:spPr>
      </p:sp>
      <p:pic>
        <p:nvPicPr>
          <p:cNvPr id="42" name="Image 7" descr="Biểu tượng minh họa">    </p:cNvPr>
          <p:cNvPicPr>
            <a:picLocks noChangeAspect="1"/>
          </p:cNvPicPr>
          <p:nvPr/>
        </p:nvPicPr>
        <p:blipFill>
          <a:blip r:embed="rId8"/>
          <a:stretch>
            <a:fillRect/>
          </a:stretch>
        </p:blipFill>
        <p:spPr>
          <a:xfrm>
            <a:off x="9373149" y="4114434"/>
            <a:ext cx="421356" cy="421356"/>
          </a:xfrm>
          <a:prstGeom prst="rect">
            <a:avLst/>
          </a:prstGeom>
        </p:spPr>
      </p:pic>
      <p:sp>
        <p:nvSpPr>
          <p:cNvPr id="43" name="Text 32"/>
          <p:cNvSpPr txBox="1"/>
          <p:nvPr/>
        </p:nvSpPr>
        <p:spPr>
          <a:xfrm>
            <a:off x="998616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Tranh chấp chung</a:t>
            </a:r>
            <a:endParaRPr lang="en-US" sz="1600" dirty="0"/>
          </a:p>
        </p:txBody>
      </p:sp>
      <p:sp>
        <p:nvSpPr>
          <p:cNvPr id="44" name="Text 33"/>
          <p:cNvSpPr txBox="1"/>
          <p:nvPr/>
        </p:nvSpPr>
        <p:spPr>
          <a:xfrm>
            <a:off x="925464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Toàn bộ mặt sa bàn: robot di chuyển tự do, kể cả sang sân đội bạn.</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02</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2</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Đội thi &amp; thiết bị</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Thành phần đội, phân vai, đăng ký và robot UGOT do Ban Tổ chức cung cấp</a:t>
            </a:r>
            <a:endParaRPr lang="en-US" sz="1800" dirty="0"/>
          </a:p>
        </p:txBody>
      </p:sp>
      <p:pic>
        <p:nvPicPr>
          <p:cNvPr id="6" name="RR_ph_trainghiem2_jpg" descr="Học sinh trải nghiệm tại gian hàng STEM – Robotics – AI">    </p:cNvPr>
          <p:cNvPicPr>
            <a:picLocks noChangeAspect="1"/>
          </p:cNvPicPr>
          <p:nvPr/>
        </p:nvPicPr>
        <p:blipFill>
          <a:blip r:embed="rId1"/>
          <a:stretch>
            <a:fillRect/>
          </a:stretch>
        </p:blipFill>
        <p:spPr>
          <a:xfrm>
            <a:off x="7452360" y="1234440"/>
            <a:ext cx="4206240" cy="42062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7" name="Shape 4"/>
          <p:cNvSpPr/>
          <p:nvPr/>
        </p:nvSpPr>
        <p:spPr>
          <a:xfrm>
            <a:off x="6903720" y="4526280"/>
            <a:ext cx="1371600" cy="1371600"/>
          </a:xfrm>
          <a:prstGeom prst="ellipse">
            <a:avLst/>
          </a:prstGeom>
          <a:solidFill>
            <a:srgbClr val="FFFFFF">
              <a:alpha val="90000"/>
            </a:srgbClr>
          </a:solidFill>
          <a:ln/>
          <a:effectLst>
            <a:outerShdw sx="100000" sy="100000" kx="0" ky="0" algn="bl" rotWithShape="0" blurRad="127000" dist="38100" dir="5400000">
              <a:srgbClr val="4C1D95">
                <a:alpha val="16000"/>
              </a:srgbClr>
            </a:outerShdw>
          </a:effectLst>
        </p:spPr>
      </p:sp>
      <p:pic>
        <p:nvPicPr>
          <p:cNvPr id="8" name="Image 1" descr="Biểu tượng minh họa">    </p:cNvPr>
          <p:cNvPicPr>
            <a:picLocks noChangeAspect="1"/>
          </p:cNvPicPr>
          <p:nvPr/>
        </p:nvPicPr>
        <p:blipFill>
          <a:blip r:embed="rId2"/>
          <a:stretch>
            <a:fillRect/>
          </a:stretch>
        </p:blipFill>
        <p:spPr>
          <a:xfrm>
            <a:off x="7132320" y="4754880"/>
            <a:ext cx="914400" cy="9144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ĐỘI THI</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Mỗi đội: 05 học sinh + 01 giáo viên phụ trách</a:t>
            </a:r>
            <a:endParaRPr lang="en-US" sz="3000" dirty="0"/>
          </a:p>
        </p:txBody>
      </p:sp>
      <p:sp>
        <p:nvSpPr>
          <p:cNvPr id="5" name="Shape 2"/>
          <p:cNvSpPr/>
          <p:nvPr/>
        </p:nvSpPr>
        <p:spPr>
          <a:xfrm>
            <a:off x="548640" y="1371600"/>
            <a:ext cx="2057400" cy="274320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1074420" y="1554480"/>
            <a:ext cx="1005840" cy="1005840"/>
          </a:xfrm>
          <a:prstGeom prst="ellipse">
            <a:avLst/>
          </a:prstGeom>
          <a:solidFill>
            <a:srgbClr val="FFEDD5"/>
          </a:solidFill>
          <a:ln/>
        </p:spPr>
      </p:sp>
      <p:pic>
        <p:nvPicPr>
          <p:cNvPr id="7" name="Image 0" descr="Biểu tượng minh họa">    </p:cNvPr>
          <p:cNvPicPr>
            <a:picLocks noChangeAspect="1"/>
          </p:cNvPicPr>
          <p:nvPr/>
        </p:nvPicPr>
        <p:blipFill>
          <a:blip r:embed="rId1"/>
          <a:stretch>
            <a:fillRect/>
          </a:stretch>
        </p:blipFill>
        <p:spPr>
          <a:xfrm>
            <a:off x="1255471" y="1735531"/>
            <a:ext cx="643738" cy="643738"/>
          </a:xfrm>
          <a:prstGeom prst="rect">
            <a:avLst/>
          </a:prstGeom>
        </p:spPr>
      </p:pic>
      <p:sp>
        <p:nvSpPr>
          <p:cNvPr id="8" name="Text 4"/>
          <p:cNvSpPr txBox="1"/>
          <p:nvPr/>
        </p:nvSpPr>
        <p:spPr>
          <a:xfrm>
            <a:off x="640080" y="2651760"/>
            <a:ext cx="1874520" cy="566928"/>
          </a:xfrm>
          <a:prstGeom prst="rect">
            <a:avLst/>
          </a:prstGeom>
          <a:noFill/>
          <a:ln/>
        </p:spPr>
        <p:txBody>
          <a:bodyPr wrap="square" lIns="0" tIns="0" rIns="0" bIns="0" rtlCol="0" anchor="ctr"/>
          <a:lstStyle/>
          <a:p>
            <a:pPr algn="ctr" indent="0" marL="0">
              <a:buNone/>
            </a:pPr>
            <a:r>
              <a:rPr lang="en-US" sz="1600" b="1" dirty="0">
                <a:solidFill>
                  <a:srgbClr val="7C3AED"/>
                </a:solidFill>
              </a:rPr>
              <a:t>Đội trưởng – Vận hành 1</a:t>
            </a:r>
            <a:endParaRPr lang="en-US" sz="1600" dirty="0"/>
          </a:p>
        </p:txBody>
      </p:sp>
      <p:sp>
        <p:nvSpPr>
          <p:cNvPr id="9" name="Text 5"/>
          <p:cNvSpPr txBox="1"/>
          <p:nvPr/>
        </p:nvSpPr>
        <p:spPr>
          <a:xfrm>
            <a:off x="685800" y="3246120"/>
            <a:ext cx="1783080" cy="822960"/>
          </a:xfrm>
          <a:prstGeom prst="rect">
            <a:avLst/>
          </a:prstGeom>
          <a:noFill/>
          <a:ln/>
        </p:spPr>
        <p:txBody>
          <a:bodyPr wrap="square" lIns="0" tIns="0" rIns="0" bIns="0" rtlCol="0" anchor="t"/>
          <a:lstStyle/>
          <a:p>
            <a:pPr algn="ctr" indent="0" marL="0">
              <a:buNone/>
            </a:pPr>
            <a:r>
              <a:rPr lang="en-US" sz="1300" dirty="0">
                <a:solidFill>
                  <a:srgbClr val="2E1065"/>
                </a:solidFill>
              </a:rPr>
              <a:t>Điều khiển robot; đại diện đội hô hiệu lệnh, ký phiếu</a:t>
            </a:r>
            <a:endParaRPr lang="en-US" sz="1300" dirty="0"/>
          </a:p>
        </p:txBody>
      </p:sp>
      <p:sp>
        <p:nvSpPr>
          <p:cNvPr id="10" name="Shape 6"/>
          <p:cNvSpPr/>
          <p:nvPr/>
        </p:nvSpPr>
        <p:spPr>
          <a:xfrm>
            <a:off x="2807208" y="1371600"/>
            <a:ext cx="2057400" cy="274320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3332988" y="1554480"/>
            <a:ext cx="1005840" cy="1005840"/>
          </a:xfrm>
          <a:prstGeom prst="ellipse">
            <a:avLst/>
          </a:prstGeom>
          <a:solidFill>
            <a:srgbClr val="FFEDD5"/>
          </a:solidFill>
          <a:ln/>
        </p:spPr>
      </p:sp>
      <p:pic>
        <p:nvPicPr>
          <p:cNvPr id="12" name="Image 1" descr="Biểu tượng minh họa">    </p:cNvPr>
          <p:cNvPicPr>
            <a:picLocks noChangeAspect="1"/>
          </p:cNvPicPr>
          <p:nvPr/>
        </p:nvPicPr>
        <p:blipFill>
          <a:blip r:embed="rId2"/>
          <a:stretch>
            <a:fillRect/>
          </a:stretch>
        </p:blipFill>
        <p:spPr>
          <a:xfrm>
            <a:off x="3514039" y="1735531"/>
            <a:ext cx="643738" cy="643738"/>
          </a:xfrm>
          <a:prstGeom prst="rect">
            <a:avLst/>
          </a:prstGeom>
        </p:spPr>
      </p:pic>
      <p:sp>
        <p:nvSpPr>
          <p:cNvPr id="13" name="Text 8"/>
          <p:cNvSpPr txBox="1"/>
          <p:nvPr/>
        </p:nvSpPr>
        <p:spPr>
          <a:xfrm>
            <a:off x="2898648" y="2651760"/>
            <a:ext cx="1874520" cy="566928"/>
          </a:xfrm>
          <a:prstGeom prst="rect">
            <a:avLst/>
          </a:prstGeom>
          <a:noFill/>
          <a:ln/>
        </p:spPr>
        <p:txBody>
          <a:bodyPr wrap="square" lIns="0" tIns="0" rIns="0" bIns="0" rtlCol="0" anchor="ctr"/>
          <a:lstStyle/>
          <a:p>
            <a:pPr algn="ctr" indent="0" marL="0">
              <a:buNone/>
            </a:pPr>
            <a:r>
              <a:rPr lang="en-US" sz="1600" b="1" dirty="0">
                <a:solidFill>
                  <a:srgbClr val="7C3AED"/>
                </a:solidFill>
              </a:rPr>
              <a:t>Vận hành 2</a:t>
            </a:r>
            <a:endParaRPr lang="en-US" sz="1600" dirty="0"/>
          </a:p>
        </p:txBody>
      </p:sp>
      <p:sp>
        <p:nvSpPr>
          <p:cNvPr id="14" name="Text 9"/>
          <p:cNvSpPr txBox="1"/>
          <p:nvPr/>
        </p:nvSpPr>
        <p:spPr>
          <a:xfrm>
            <a:off x="2944368" y="3246120"/>
            <a:ext cx="1783080" cy="822960"/>
          </a:xfrm>
          <a:prstGeom prst="rect">
            <a:avLst/>
          </a:prstGeom>
          <a:noFill/>
          <a:ln/>
        </p:spPr>
        <p:txBody>
          <a:bodyPr wrap="square" lIns="0" tIns="0" rIns="0" bIns="0" rtlCol="0" anchor="t"/>
          <a:lstStyle/>
          <a:p>
            <a:pPr algn="ctr" indent="0" marL="0">
              <a:buNone/>
            </a:pPr>
            <a:r>
              <a:rPr lang="en-US" sz="1300" dirty="0">
                <a:solidFill>
                  <a:srgbClr val="2E1065"/>
                </a:solidFill>
              </a:rPr>
              <a:t>Điều khiển robot, phối hợp với Vận hành 1</a:t>
            </a:r>
            <a:endParaRPr lang="en-US" sz="1300" dirty="0"/>
          </a:p>
        </p:txBody>
      </p:sp>
      <p:sp>
        <p:nvSpPr>
          <p:cNvPr id="15" name="Shape 10"/>
          <p:cNvSpPr/>
          <p:nvPr/>
        </p:nvSpPr>
        <p:spPr>
          <a:xfrm>
            <a:off x="5065776" y="1371600"/>
            <a:ext cx="2057400" cy="274320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5591556" y="1554480"/>
            <a:ext cx="1005840" cy="1005840"/>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5772607" y="1735531"/>
            <a:ext cx="643738" cy="643738"/>
          </a:xfrm>
          <a:prstGeom prst="rect">
            <a:avLst/>
          </a:prstGeom>
        </p:spPr>
      </p:pic>
      <p:sp>
        <p:nvSpPr>
          <p:cNvPr id="18" name="Text 12"/>
          <p:cNvSpPr txBox="1"/>
          <p:nvPr/>
        </p:nvSpPr>
        <p:spPr>
          <a:xfrm>
            <a:off x="5157216" y="2651760"/>
            <a:ext cx="1874520" cy="566928"/>
          </a:xfrm>
          <a:prstGeom prst="rect">
            <a:avLst/>
          </a:prstGeom>
          <a:noFill/>
          <a:ln/>
        </p:spPr>
        <p:txBody>
          <a:bodyPr wrap="square" lIns="0" tIns="0" rIns="0" bIns="0" rtlCol="0" anchor="ctr"/>
          <a:lstStyle/>
          <a:p>
            <a:pPr algn="ctr" indent="0" marL="0">
              <a:buNone/>
            </a:pPr>
            <a:r>
              <a:rPr lang="en-US" sz="1600" b="1" dirty="0">
                <a:solidFill>
                  <a:srgbClr val="7C3AED"/>
                </a:solidFill>
              </a:rPr>
              <a:t>Kỹ thuật</a:t>
            </a:r>
            <a:endParaRPr lang="en-US" sz="1600" dirty="0"/>
          </a:p>
        </p:txBody>
      </p:sp>
      <p:sp>
        <p:nvSpPr>
          <p:cNvPr id="19" name="Text 13"/>
          <p:cNvSpPr txBox="1"/>
          <p:nvPr/>
        </p:nvSpPr>
        <p:spPr>
          <a:xfrm>
            <a:off x="5202936" y="3246120"/>
            <a:ext cx="1783080" cy="822960"/>
          </a:xfrm>
          <a:prstGeom prst="rect">
            <a:avLst/>
          </a:prstGeom>
          <a:noFill/>
          <a:ln/>
        </p:spPr>
        <p:txBody>
          <a:bodyPr wrap="square" lIns="0" tIns="0" rIns="0" bIns="0" rtlCol="0" anchor="t"/>
          <a:lstStyle/>
          <a:p>
            <a:pPr algn="ctr" indent="0" marL="0">
              <a:buNone/>
            </a:pPr>
            <a:r>
              <a:rPr lang="en-US" sz="1300" dirty="0">
                <a:solidFill>
                  <a:srgbClr val="2E1065"/>
                </a:solidFill>
              </a:rPr>
              <a:t>Phối hợp BTC nhận, kiểm tra, ký nhận, hoàn trả robot</a:t>
            </a:r>
            <a:endParaRPr lang="en-US" sz="1300" dirty="0"/>
          </a:p>
        </p:txBody>
      </p:sp>
      <p:sp>
        <p:nvSpPr>
          <p:cNvPr id="20" name="Shape 14"/>
          <p:cNvSpPr/>
          <p:nvPr/>
        </p:nvSpPr>
        <p:spPr>
          <a:xfrm>
            <a:off x="7324344" y="1371600"/>
            <a:ext cx="2057400" cy="274320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7850124" y="1554480"/>
            <a:ext cx="1005840" cy="1005840"/>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8031175" y="1735531"/>
            <a:ext cx="643738" cy="643738"/>
          </a:xfrm>
          <a:prstGeom prst="rect">
            <a:avLst/>
          </a:prstGeom>
        </p:spPr>
      </p:pic>
      <p:sp>
        <p:nvSpPr>
          <p:cNvPr id="23" name="Text 16"/>
          <p:cNvSpPr txBox="1"/>
          <p:nvPr/>
        </p:nvSpPr>
        <p:spPr>
          <a:xfrm>
            <a:off x="7415784" y="2651760"/>
            <a:ext cx="1874520" cy="566928"/>
          </a:xfrm>
          <a:prstGeom prst="rect">
            <a:avLst/>
          </a:prstGeom>
          <a:noFill/>
          <a:ln/>
        </p:spPr>
        <p:txBody>
          <a:bodyPr wrap="square" lIns="0" tIns="0" rIns="0" bIns="0" rtlCol="0" anchor="ctr"/>
          <a:lstStyle/>
          <a:p>
            <a:pPr algn="ctr" indent="0" marL="0">
              <a:buNone/>
            </a:pPr>
            <a:r>
              <a:rPr lang="en-US" sz="1600" b="1" dirty="0">
                <a:solidFill>
                  <a:srgbClr val="7C3AED"/>
                </a:solidFill>
              </a:rPr>
              <a:t>Chiến thuật</a:t>
            </a:r>
            <a:endParaRPr lang="en-US" sz="1600" dirty="0"/>
          </a:p>
        </p:txBody>
      </p:sp>
      <p:sp>
        <p:nvSpPr>
          <p:cNvPr id="24" name="Text 17"/>
          <p:cNvSpPr txBox="1"/>
          <p:nvPr/>
        </p:nvSpPr>
        <p:spPr>
          <a:xfrm>
            <a:off x="7461504" y="3246120"/>
            <a:ext cx="1783080" cy="822960"/>
          </a:xfrm>
          <a:prstGeom prst="rect">
            <a:avLst/>
          </a:prstGeom>
          <a:noFill/>
          <a:ln/>
        </p:spPr>
        <p:txBody>
          <a:bodyPr wrap="square" lIns="0" tIns="0" rIns="0" bIns="0" rtlCol="0" anchor="t"/>
          <a:lstStyle/>
          <a:p>
            <a:pPr algn="ctr" indent="0" marL="0">
              <a:buNone/>
            </a:pPr>
            <a:r>
              <a:rPr lang="en-US" sz="1300" dirty="0">
                <a:solidFill>
                  <a:srgbClr val="2E1065"/>
                </a:solidFill>
              </a:rPr>
              <a:t>Quan sát sa bàn, đếm khối, nhắc phương án</a:t>
            </a:r>
            <a:endParaRPr lang="en-US" sz="1300" dirty="0"/>
          </a:p>
        </p:txBody>
      </p:sp>
      <p:sp>
        <p:nvSpPr>
          <p:cNvPr id="25" name="Shape 18"/>
          <p:cNvSpPr/>
          <p:nvPr/>
        </p:nvSpPr>
        <p:spPr>
          <a:xfrm>
            <a:off x="9582912" y="1371600"/>
            <a:ext cx="2057400" cy="274320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10108692" y="1554480"/>
            <a:ext cx="1005840" cy="1005840"/>
          </a:xfrm>
          <a:prstGeom prst="ellipse">
            <a:avLst/>
          </a:prstGeom>
          <a:solidFill>
            <a:srgbClr val="EDE4FF"/>
          </a:solidFill>
          <a:ln/>
        </p:spPr>
      </p:sp>
      <p:pic>
        <p:nvPicPr>
          <p:cNvPr id="27" name="Image 4" descr="Biểu tượng minh họa">    </p:cNvPr>
          <p:cNvPicPr>
            <a:picLocks noChangeAspect="1"/>
          </p:cNvPicPr>
          <p:nvPr/>
        </p:nvPicPr>
        <p:blipFill>
          <a:blip r:embed="rId5"/>
          <a:stretch>
            <a:fillRect/>
          </a:stretch>
        </p:blipFill>
        <p:spPr>
          <a:xfrm>
            <a:off x="10289743" y="1735531"/>
            <a:ext cx="643738" cy="643738"/>
          </a:xfrm>
          <a:prstGeom prst="rect">
            <a:avLst/>
          </a:prstGeom>
        </p:spPr>
      </p:pic>
      <p:sp>
        <p:nvSpPr>
          <p:cNvPr id="28" name="Text 20"/>
          <p:cNvSpPr txBox="1"/>
          <p:nvPr/>
        </p:nvSpPr>
        <p:spPr>
          <a:xfrm>
            <a:off x="9674352" y="2651760"/>
            <a:ext cx="1874520" cy="566928"/>
          </a:xfrm>
          <a:prstGeom prst="rect">
            <a:avLst/>
          </a:prstGeom>
          <a:noFill/>
          <a:ln/>
        </p:spPr>
        <p:txBody>
          <a:bodyPr wrap="square" lIns="0" tIns="0" rIns="0" bIns="0" rtlCol="0" anchor="ctr"/>
          <a:lstStyle/>
          <a:p>
            <a:pPr algn="ctr" indent="0" marL="0">
              <a:buNone/>
            </a:pPr>
            <a:r>
              <a:rPr lang="en-US" sz="1600" b="1" dirty="0">
                <a:solidFill>
                  <a:srgbClr val="7C3AED"/>
                </a:solidFill>
              </a:rPr>
              <a:t>Hỗ trợ (dự bị)</a:t>
            </a:r>
            <a:endParaRPr lang="en-US" sz="1600" dirty="0"/>
          </a:p>
        </p:txBody>
      </p:sp>
      <p:sp>
        <p:nvSpPr>
          <p:cNvPr id="29" name="Text 21"/>
          <p:cNvSpPr txBox="1"/>
          <p:nvPr/>
        </p:nvSpPr>
        <p:spPr>
          <a:xfrm>
            <a:off x="9720072" y="3246120"/>
            <a:ext cx="1783080" cy="822960"/>
          </a:xfrm>
          <a:prstGeom prst="rect">
            <a:avLst/>
          </a:prstGeom>
          <a:noFill/>
          <a:ln/>
        </p:spPr>
        <p:txBody>
          <a:bodyPr wrap="square" lIns="0" tIns="0" rIns="0" bIns="0" rtlCol="0" anchor="t"/>
          <a:lstStyle/>
          <a:p>
            <a:pPr algn="ctr" indent="0" marL="0">
              <a:buNone/>
            </a:pPr>
            <a:r>
              <a:rPr lang="en-US" sz="1300" dirty="0">
                <a:solidFill>
                  <a:srgbClr val="2E1065"/>
                </a:solidFill>
              </a:rPr>
              <a:t>Thay thế khi thí sinh vắng mặt hoặc gặp sự cố sức khỏe</a:t>
            </a:r>
            <a:endParaRPr lang="en-US" sz="1300" dirty="0"/>
          </a:p>
        </p:txBody>
      </p:sp>
      <p:sp>
        <p:nvSpPr>
          <p:cNvPr id="30" name="Shape 22"/>
          <p:cNvSpPr/>
          <p:nvPr/>
        </p:nvSpPr>
        <p:spPr>
          <a:xfrm>
            <a:off x="548640" y="4343400"/>
            <a:ext cx="6675120" cy="1920240"/>
          </a:xfrm>
          <a:prstGeom prst="roundRect">
            <a:avLst>
              <a:gd name="adj" fmla="val 5714"/>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731520" y="4617720"/>
            <a:ext cx="1188720" cy="1188720"/>
          </a:xfrm>
          <a:prstGeom prst="ellipse">
            <a:avLst/>
          </a:prstGeom>
          <a:solidFill>
            <a:srgbClr val="FEF3C7"/>
          </a:solidFill>
          <a:ln/>
        </p:spPr>
      </p:sp>
      <p:pic>
        <p:nvPicPr>
          <p:cNvPr id="32" name="Image 5" descr="Biểu tượng minh họa">    </p:cNvPr>
          <p:cNvPicPr>
            <a:picLocks noChangeAspect="1"/>
          </p:cNvPicPr>
          <p:nvPr/>
        </p:nvPicPr>
        <p:blipFill>
          <a:blip r:embed="rId6"/>
          <a:stretch>
            <a:fillRect/>
          </a:stretch>
        </p:blipFill>
        <p:spPr>
          <a:xfrm>
            <a:off x="945490" y="4831690"/>
            <a:ext cx="760781" cy="760781"/>
          </a:xfrm>
          <a:prstGeom prst="rect">
            <a:avLst/>
          </a:prstGeom>
        </p:spPr>
      </p:pic>
      <p:sp>
        <p:nvSpPr>
          <p:cNvPr id="33" name="Text 24"/>
          <p:cNvSpPr txBox="1"/>
          <p:nvPr/>
        </p:nvSpPr>
        <p:spPr>
          <a:xfrm>
            <a:off x="2103120" y="4434840"/>
            <a:ext cx="5029200" cy="457200"/>
          </a:xfrm>
          <a:prstGeom prst="rect">
            <a:avLst/>
          </a:prstGeom>
          <a:noFill/>
          <a:ln/>
        </p:spPr>
        <p:txBody>
          <a:bodyPr wrap="square" lIns="0" tIns="0" rIns="0" bIns="0" rtlCol="0" anchor="ctr"/>
          <a:lstStyle/>
          <a:p>
            <a:pPr indent="0" marL="0">
              <a:buNone/>
            </a:pPr>
            <a:r>
              <a:rPr lang="en-US" sz="1700" b="1" dirty="0">
                <a:solidFill>
                  <a:srgbClr val="7C3AED"/>
                </a:solidFill>
              </a:rPr>
              <a:t>Giáo viên phụ trách (huấn luyện viên) – từ đủ 18 tuổi</a:t>
            </a:r>
            <a:endParaRPr lang="en-US" sz="1700" dirty="0"/>
          </a:p>
        </p:txBody>
      </p:sp>
      <p:sp>
        <p:nvSpPr>
          <p:cNvPr id="34" name="Text 25"/>
          <p:cNvSpPr txBox="1"/>
          <p:nvPr/>
        </p:nvSpPr>
        <p:spPr>
          <a:xfrm>
            <a:off x="2103120" y="4919472"/>
            <a:ext cx="4983480" cy="12801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2E1065"/>
                </a:solidFill>
              </a:rPr>
              <a:t>Quản lý học sinh trong toàn bộ quá trình tập luyện, di chuyển và thi đấu.</a:t>
            </a:r>
            <a:endParaRPr lang="en-US" sz="1500" dirty="0"/>
          </a:p>
          <a:p>
            <a:pPr marL="203200" indent="-203200">
              <a:spcAft>
                <a:spcPts val="600"/>
              </a:spcAft>
              <a:buSzPct val="100000"/>
              <a:buChar char="•"/>
            </a:pPr>
            <a:r>
              <a:rPr lang="en-US" sz="1500" dirty="0">
                <a:solidFill>
                  <a:srgbClr val="2E1065"/>
                </a:solidFill>
              </a:rPr>
              <a:t>KHÔNG vào Khu Điều khiển, KHÔNG chỉ đạo trực tiếp khi lượt đấu đang diễn ra.</a:t>
            </a:r>
            <a:endParaRPr lang="en-US" sz="1500" dirty="0"/>
          </a:p>
        </p:txBody>
      </p:sp>
      <p:sp>
        <p:nvSpPr>
          <p:cNvPr id="35" name="Shape 26"/>
          <p:cNvSpPr/>
          <p:nvPr/>
        </p:nvSpPr>
        <p:spPr>
          <a:xfrm>
            <a:off x="7452360" y="4343400"/>
            <a:ext cx="4187952" cy="1920240"/>
          </a:xfrm>
          <a:prstGeom prst="roundRect">
            <a:avLst>
              <a:gd name="adj" fmla="val 5714"/>
            </a:avLst>
          </a:prstGeom>
          <a:solidFill>
            <a:srgbClr val="FFFFFF"/>
          </a:solidFill>
          <a:ln/>
          <a:effectLst>
            <a:outerShdw sx="100000" sy="100000" kx="0" ky="0" algn="bl" rotWithShape="0" blurRad="127000" dist="38100" dir="5400000">
              <a:srgbClr val="4C1D95">
                <a:alpha val="16000"/>
              </a:srgbClr>
            </a:outerShdw>
          </a:effectLst>
        </p:spPr>
      </p:sp>
      <p:sp>
        <p:nvSpPr>
          <p:cNvPr id="36" name="Shape 27"/>
          <p:cNvSpPr/>
          <p:nvPr/>
        </p:nvSpPr>
        <p:spPr>
          <a:xfrm>
            <a:off x="7635240" y="4526280"/>
            <a:ext cx="822960" cy="822960"/>
          </a:xfrm>
          <a:prstGeom prst="ellipse">
            <a:avLst/>
          </a:prstGeom>
          <a:solidFill>
            <a:srgbClr val="EDE4FF"/>
          </a:solidFill>
          <a:ln/>
        </p:spPr>
      </p:sp>
      <p:pic>
        <p:nvPicPr>
          <p:cNvPr id="37" name="Image 6" descr="Biểu tượng minh họa">    </p:cNvPr>
          <p:cNvPicPr>
            <a:picLocks noChangeAspect="1"/>
          </p:cNvPicPr>
          <p:nvPr/>
        </p:nvPicPr>
        <p:blipFill>
          <a:blip r:embed="rId7"/>
          <a:stretch>
            <a:fillRect/>
          </a:stretch>
        </p:blipFill>
        <p:spPr>
          <a:xfrm>
            <a:off x="7783373" y="4674413"/>
            <a:ext cx="526694" cy="526694"/>
          </a:xfrm>
          <a:prstGeom prst="rect">
            <a:avLst/>
          </a:prstGeom>
        </p:spPr>
      </p:pic>
      <p:sp>
        <p:nvSpPr>
          <p:cNvPr id="38" name="Text 28"/>
          <p:cNvSpPr txBox="1"/>
          <p:nvPr/>
        </p:nvSpPr>
        <p:spPr>
          <a:xfrm>
            <a:off x="8595360" y="4526280"/>
            <a:ext cx="2926080" cy="822960"/>
          </a:xfrm>
          <a:prstGeom prst="rect">
            <a:avLst/>
          </a:prstGeom>
          <a:noFill/>
          <a:ln/>
        </p:spPr>
        <p:txBody>
          <a:bodyPr wrap="square" lIns="0" tIns="0" rIns="0" bIns="0" rtlCol="0" anchor="ctr"/>
          <a:lstStyle/>
          <a:p>
            <a:pPr indent="0" marL="0">
              <a:buNone/>
            </a:pPr>
            <a:r>
              <a:rPr lang="en-US" sz="1800" b="1" dirty="0">
                <a:solidFill>
                  <a:srgbClr val="7C3AED"/>
                </a:solidFill>
              </a:rPr>
              <a:t>Mã đội: A1, A2, A3…</a:t>
            </a:r>
            <a:endParaRPr lang="en-US" sz="1800" dirty="0"/>
          </a:p>
        </p:txBody>
      </p:sp>
      <p:sp>
        <p:nvSpPr>
          <p:cNvPr id="39" name="Text 29"/>
          <p:cNvSpPr txBox="1"/>
          <p:nvPr/>
        </p:nvSpPr>
        <p:spPr>
          <a:xfrm>
            <a:off x="7635240" y="5394960"/>
            <a:ext cx="3886200" cy="8229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Theo kết quả bốc thăm, dùng thống nhất suốt giải.</a:t>
            </a:r>
            <a:endParaRPr lang="en-US" sz="1400" dirty="0"/>
          </a:p>
          <a:p>
            <a:pPr marL="203200" indent="-203200">
              <a:spcAft>
                <a:spcPts val="600"/>
              </a:spcAft>
              <a:buSzPct val="100000"/>
              <a:buChar char="•"/>
            </a:pPr>
            <a:r>
              <a:rPr lang="en-US" sz="1400" dirty="0">
                <a:solidFill>
                  <a:srgbClr val="2E1065"/>
                </a:solidFill>
              </a:rPr>
              <a:t>Mỗi học sinh chỉ thi cho 01 đội, đúng bảng theo cấp học.</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ĐỘI THI</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Ai đứng ở đâu trong một lượt đấu?</a:t>
            </a:r>
            <a:endParaRPr lang="en-US" sz="3000" dirty="0"/>
          </a:p>
        </p:txBody>
      </p:sp>
      <p:sp>
        <p:nvSpPr>
          <p:cNvPr id="5" name="Shape 2"/>
          <p:cNvSpPr/>
          <p:nvPr/>
        </p:nvSpPr>
        <p:spPr>
          <a:xfrm>
            <a:off x="548640" y="1371600"/>
            <a:ext cx="4206240" cy="3246120"/>
          </a:xfrm>
          <a:prstGeom prst="roundRect">
            <a:avLst>
              <a:gd name="adj" fmla="val 3380"/>
            </a:avLst>
          </a:prstGeom>
          <a:solidFill>
            <a:srgbClr val="EDE4FF"/>
          </a:solidFill>
          <a:ln w="25400">
            <a:solidFill>
              <a:srgbClr val="7C3AED"/>
            </a:solidFill>
            <a:prstDash val="dash"/>
          </a:ln>
        </p:spPr>
      </p:sp>
      <p:sp>
        <p:nvSpPr>
          <p:cNvPr id="6" name="Text 3"/>
          <p:cNvSpPr txBox="1"/>
          <p:nvPr/>
        </p:nvSpPr>
        <p:spPr>
          <a:xfrm>
            <a:off x="731520" y="1481328"/>
            <a:ext cx="3840480" cy="411480"/>
          </a:xfrm>
          <a:prstGeom prst="rect">
            <a:avLst/>
          </a:prstGeom>
          <a:noFill/>
          <a:ln/>
        </p:spPr>
        <p:txBody>
          <a:bodyPr wrap="square" lIns="0" tIns="0" rIns="0" bIns="0" rtlCol="0" anchor="t"/>
          <a:lstStyle/>
          <a:p>
            <a:pPr algn="ctr" indent="0" marL="0">
              <a:buNone/>
            </a:pPr>
            <a:r>
              <a:rPr lang="en-US" sz="1900" b="1" dirty="0">
                <a:solidFill>
                  <a:srgbClr val="2E1065"/>
                </a:solidFill>
              </a:rPr>
              <a:t>KHU ĐIỀU KHIỂN</a:t>
            </a:r>
            <a:endParaRPr lang="en-US" sz="1900" dirty="0"/>
          </a:p>
        </p:txBody>
      </p:sp>
      <p:sp>
        <p:nvSpPr>
          <p:cNvPr id="7" name="Shape 4"/>
          <p:cNvSpPr/>
          <p:nvPr/>
        </p:nvSpPr>
        <p:spPr>
          <a:xfrm>
            <a:off x="1371600" y="1938528"/>
            <a:ext cx="2560320" cy="384048"/>
          </a:xfrm>
          <a:prstGeom prst="roundRect">
            <a:avLst>
              <a:gd name="adj" fmla="val 50000"/>
            </a:avLst>
          </a:prstGeom>
          <a:solidFill>
            <a:srgbClr val="7C3AED"/>
          </a:solidFill>
          <a:ln/>
        </p:spPr>
      </p:sp>
      <p:sp>
        <p:nvSpPr>
          <p:cNvPr id="8" name="Text 5"/>
          <p:cNvSpPr txBox="1"/>
          <p:nvPr/>
        </p:nvSpPr>
        <p:spPr>
          <a:xfrm>
            <a:off x="1371600" y="1938528"/>
            <a:ext cx="2560320" cy="384048"/>
          </a:xfrm>
          <a:prstGeom prst="rect">
            <a:avLst/>
          </a:prstGeom>
          <a:noFill/>
          <a:ln/>
        </p:spPr>
        <p:txBody>
          <a:bodyPr wrap="square" lIns="0" tIns="0" rIns="0" bIns="0" rtlCol="0" anchor="ctr"/>
          <a:lstStyle/>
          <a:p>
            <a:pPr algn="ctr" indent="0" marL="0">
              <a:buNone/>
            </a:pPr>
            <a:r>
              <a:rPr lang="en-US" sz="1400" b="1" dirty="0">
                <a:solidFill>
                  <a:srgbClr val="FFFFFF"/>
                </a:solidFill>
              </a:rPr>
              <a:t>Tối đa 03 thí sinh</a:t>
            </a:r>
            <a:endParaRPr lang="en-US" sz="1400" dirty="0"/>
          </a:p>
        </p:txBody>
      </p:sp>
      <p:sp>
        <p:nvSpPr>
          <p:cNvPr id="9" name="Shape 6"/>
          <p:cNvSpPr/>
          <p:nvPr/>
        </p:nvSpPr>
        <p:spPr>
          <a:xfrm>
            <a:off x="1184148"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10" name="Image 0" descr="Biểu tượng minh họa">    </p:cNvPr>
          <p:cNvPicPr>
            <a:picLocks noChangeAspect="1"/>
          </p:cNvPicPr>
          <p:nvPr/>
        </p:nvPicPr>
        <p:blipFill>
          <a:blip r:embed="rId1"/>
          <a:stretch>
            <a:fillRect/>
          </a:stretch>
        </p:blipFill>
        <p:spPr>
          <a:xfrm>
            <a:off x="1340510" y="2762402"/>
            <a:ext cx="555955" cy="555955"/>
          </a:xfrm>
          <a:prstGeom prst="rect">
            <a:avLst/>
          </a:prstGeom>
        </p:spPr>
      </p:pic>
      <p:sp>
        <p:nvSpPr>
          <p:cNvPr id="11" name="Shape 7"/>
          <p:cNvSpPr/>
          <p:nvPr/>
        </p:nvSpPr>
        <p:spPr>
          <a:xfrm>
            <a:off x="2217420"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12" name="Image 1" descr="Biểu tượng minh họa">    </p:cNvPr>
          <p:cNvPicPr>
            <a:picLocks noChangeAspect="1"/>
          </p:cNvPicPr>
          <p:nvPr/>
        </p:nvPicPr>
        <p:blipFill>
          <a:blip r:embed="rId2"/>
          <a:stretch>
            <a:fillRect/>
          </a:stretch>
        </p:blipFill>
        <p:spPr>
          <a:xfrm>
            <a:off x="2373782" y="2762402"/>
            <a:ext cx="555955" cy="555955"/>
          </a:xfrm>
          <a:prstGeom prst="rect">
            <a:avLst/>
          </a:prstGeom>
        </p:spPr>
      </p:pic>
      <p:sp>
        <p:nvSpPr>
          <p:cNvPr id="13" name="Shape 8"/>
          <p:cNvSpPr/>
          <p:nvPr/>
        </p:nvSpPr>
        <p:spPr>
          <a:xfrm>
            <a:off x="3250692"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14" name="Image 2" descr="Biểu tượng minh họa">    </p:cNvPr>
          <p:cNvPicPr>
            <a:picLocks noChangeAspect="1"/>
          </p:cNvPicPr>
          <p:nvPr/>
        </p:nvPicPr>
        <p:blipFill>
          <a:blip r:embed="rId3"/>
          <a:stretch>
            <a:fillRect/>
          </a:stretch>
        </p:blipFill>
        <p:spPr>
          <a:xfrm>
            <a:off x="3407054" y="2762402"/>
            <a:ext cx="555955" cy="555955"/>
          </a:xfrm>
          <a:prstGeom prst="rect">
            <a:avLst/>
          </a:prstGeom>
        </p:spPr>
      </p:pic>
      <p:sp>
        <p:nvSpPr>
          <p:cNvPr id="15" name="Text 9"/>
          <p:cNvSpPr txBox="1"/>
          <p:nvPr/>
        </p:nvSpPr>
        <p:spPr>
          <a:xfrm>
            <a:off x="731520" y="3611880"/>
            <a:ext cx="3840480" cy="914400"/>
          </a:xfrm>
          <a:prstGeom prst="rect">
            <a:avLst/>
          </a:prstGeom>
          <a:noFill/>
          <a:ln/>
        </p:spPr>
        <p:txBody>
          <a:bodyPr wrap="square" lIns="0" tIns="0" rIns="0" bIns="0" rtlCol="0" anchor="t"/>
          <a:lstStyle/>
          <a:p>
            <a:pPr algn="ctr" indent="0" marL="0">
              <a:buNone/>
            </a:pPr>
            <a:r>
              <a:rPr lang="en-US" sz="1400" dirty="0">
                <a:solidFill>
                  <a:srgbClr val="5B4B8A"/>
                </a:solidFill>
              </a:rPr>
              <a:t>Gợi ý: 02 Vận hành + 01 Chiến thuật</a:t>
            </a:r>
            <a:endParaRPr lang="en-US" sz="1400" dirty="0"/>
          </a:p>
        </p:txBody>
      </p:sp>
      <p:sp>
        <p:nvSpPr>
          <p:cNvPr id="16" name="Shape 10"/>
          <p:cNvSpPr/>
          <p:nvPr/>
        </p:nvSpPr>
        <p:spPr>
          <a:xfrm>
            <a:off x="4983480" y="1371600"/>
            <a:ext cx="3108960" cy="3246120"/>
          </a:xfrm>
          <a:prstGeom prst="roundRect">
            <a:avLst>
              <a:gd name="adj" fmla="val 3529"/>
            </a:avLst>
          </a:prstGeom>
          <a:solidFill>
            <a:srgbClr val="E0F2FE"/>
          </a:solidFill>
          <a:ln w="25400">
            <a:solidFill>
              <a:srgbClr val="2563EB"/>
            </a:solidFill>
            <a:prstDash val="dash"/>
          </a:ln>
        </p:spPr>
      </p:sp>
      <p:sp>
        <p:nvSpPr>
          <p:cNvPr id="17" name="Text 11"/>
          <p:cNvSpPr txBox="1"/>
          <p:nvPr/>
        </p:nvSpPr>
        <p:spPr>
          <a:xfrm>
            <a:off x="5166360" y="1481328"/>
            <a:ext cx="2743200" cy="411480"/>
          </a:xfrm>
          <a:prstGeom prst="rect">
            <a:avLst/>
          </a:prstGeom>
          <a:noFill/>
          <a:ln/>
        </p:spPr>
        <p:txBody>
          <a:bodyPr wrap="square" lIns="0" tIns="0" rIns="0" bIns="0" rtlCol="0" anchor="t"/>
          <a:lstStyle/>
          <a:p>
            <a:pPr algn="ctr" indent="0" marL="0">
              <a:buNone/>
            </a:pPr>
            <a:r>
              <a:rPr lang="en-US" sz="1900" b="1" dirty="0">
                <a:solidFill>
                  <a:srgbClr val="2E1065"/>
                </a:solidFill>
              </a:rPr>
              <a:t>KHU KỸ THUẬT</a:t>
            </a:r>
            <a:endParaRPr lang="en-US" sz="1900" dirty="0"/>
          </a:p>
        </p:txBody>
      </p:sp>
      <p:sp>
        <p:nvSpPr>
          <p:cNvPr id="18" name="Shape 12"/>
          <p:cNvSpPr/>
          <p:nvPr/>
        </p:nvSpPr>
        <p:spPr>
          <a:xfrm>
            <a:off x="5257800" y="1938528"/>
            <a:ext cx="2560320" cy="384048"/>
          </a:xfrm>
          <a:prstGeom prst="roundRect">
            <a:avLst>
              <a:gd name="adj" fmla="val 50000"/>
            </a:avLst>
          </a:prstGeom>
          <a:solidFill>
            <a:srgbClr val="2563EB"/>
          </a:solidFill>
          <a:ln/>
        </p:spPr>
      </p:sp>
      <p:sp>
        <p:nvSpPr>
          <p:cNvPr id="19" name="Text 13"/>
          <p:cNvSpPr txBox="1"/>
          <p:nvPr/>
        </p:nvSpPr>
        <p:spPr>
          <a:xfrm>
            <a:off x="5257800" y="1938528"/>
            <a:ext cx="2560320" cy="384048"/>
          </a:xfrm>
          <a:prstGeom prst="rect">
            <a:avLst/>
          </a:prstGeom>
          <a:noFill/>
          <a:ln/>
        </p:spPr>
        <p:txBody>
          <a:bodyPr wrap="square" lIns="0" tIns="0" rIns="0" bIns="0" rtlCol="0" anchor="ctr"/>
          <a:lstStyle/>
          <a:p>
            <a:pPr algn="ctr" indent="0" marL="0">
              <a:buNone/>
            </a:pPr>
            <a:r>
              <a:rPr lang="en-US" sz="1400" b="1" dirty="0">
                <a:solidFill>
                  <a:srgbClr val="FFFFFF"/>
                </a:solidFill>
              </a:rPr>
              <a:t>02 thí sinh còn lại</a:t>
            </a:r>
            <a:endParaRPr lang="en-US" sz="1400" dirty="0"/>
          </a:p>
        </p:txBody>
      </p:sp>
      <p:sp>
        <p:nvSpPr>
          <p:cNvPr id="20" name="Shape 14"/>
          <p:cNvSpPr/>
          <p:nvPr/>
        </p:nvSpPr>
        <p:spPr>
          <a:xfrm>
            <a:off x="5586984"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21" name="Image 3" descr="Biểu tượng minh họa">    </p:cNvPr>
          <p:cNvPicPr>
            <a:picLocks noChangeAspect="1"/>
          </p:cNvPicPr>
          <p:nvPr/>
        </p:nvPicPr>
        <p:blipFill>
          <a:blip r:embed="rId4"/>
          <a:stretch>
            <a:fillRect/>
          </a:stretch>
        </p:blipFill>
        <p:spPr>
          <a:xfrm>
            <a:off x="5743346" y="2762402"/>
            <a:ext cx="555955" cy="555955"/>
          </a:xfrm>
          <a:prstGeom prst="rect">
            <a:avLst/>
          </a:prstGeom>
        </p:spPr>
      </p:pic>
      <p:sp>
        <p:nvSpPr>
          <p:cNvPr id="22" name="Shape 15"/>
          <p:cNvSpPr/>
          <p:nvPr/>
        </p:nvSpPr>
        <p:spPr>
          <a:xfrm>
            <a:off x="6620256"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23" name="Image 4" descr="Biểu tượng minh họa">    </p:cNvPr>
          <p:cNvPicPr>
            <a:picLocks noChangeAspect="1"/>
          </p:cNvPicPr>
          <p:nvPr/>
        </p:nvPicPr>
        <p:blipFill>
          <a:blip r:embed="rId5"/>
          <a:stretch>
            <a:fillRect/>
          </a:stretch>
        </p:blipFill>
        <p:spPr>
          <a:xfrm>
            <a:off x="6776618" y="2762402"/>
            <a:ext cx="555955" cy="555955"/>
          </a:xfrm>
          <a:prstGeom prst="rect">
            <a:avLst/>
          </a:prstGeom>
        </p:spPr>
      </p:pic>
      <p:sp>
        <p:nvSpPr>
          <p:cNvPr id="24" name="Text 16"/>
          <p:cNvSpPr txBox="1"/>
          <p:nvPr/>
        </p:nvSpPr>
        <p:spPr>
          <a:xfrm>
            <a:off x="5166360" y="3611880"/>
            <a:ext cx="2743200" cy="914400"/>
          </a:xfrm>
          <a:prstGeom prst="rect">
            <a:avLst/>
          </a:prstGeom>
          <a:noFill/>
          <a:ln/>
        </p:spPr>
        <p:txBody>
          <a:bodyPr wrap="square" lIns="0" tIns="0" rIns="0" bIns="0" rtlCol="0" anchor="t"/>
          <a:lstStyle/>
          <a:p>
            <a:pPr algn="ctr" indent="0" marL="0">
              <a:buNone/>
            </a:pPr>
            <a:r>
              <a:rPr lang="en-US" sz="1400" dirty="0">
                <a:solidFill>
                  <a:srgbClr val="5B4B8A"/>
                </a:solidFill>
              </a:rPr>
              <a:t>Gợi ý: Kỹ thuật + Hỗ trợ</a:t>
            </a:r>
            <a:endParaRPr lang="en-US" sz="1400" dirty="0"/>
          </a:p>
        </p:txBody>
      </p:sp>
      <p:sp>
        <p:nvSpPr>
          <p:cNvPr id="25" name="Shape 17"/>
          <p:cNvSpPr/>
          <p:nvPr/>
        </p:nvSpPr>
        <p:spPr>
          <a:xfrm>
            <a:off x="8321040" y="1371600"/>
            <a:ext cx="3319272" cy="3246120"/>
          </a:xfrm>
          <a:prstGeom prst="roundRect">
            <a:avLst>
              <a:gd name="adj" fmla="val 3380"/>
            </a:avLst>
          </a:prstGeom>
          <a:solidFill>
            <a:srgbClr val="FEF3C7"/>
          </a:solidFill>
          <a:ln w="25400">
            <a:solidFill>
              <a:srgbClr val="EA580C"/>
            </a:solidFill>
            <a:prstDash val="dash"/>
          </a:ln>
        </p:spPr>
      </p:sp>
      <p:sp>
        <p:nvSpPr>
          <p:cNvPr id="26" name="Text 18"/>
          <p:cNvSpPr txBox="1"/>
          <p:nvPr/>
        </p:nvSpPr>
        <p:spPr>
          <a:xfrm>
            <a:off x="8503920" y="1481328"/>
            <a:ext cx="2953512" cy="411480"/>
          </a:xfrm>
          <a:prstGeom prst="rect">
            <a:avLst/>
          </a:prstGeom>
          <a:noFill/>
          <a:ln/>
        </p:spPr>
        <p:txBody>
          <a:bodyPr wrap="square" lIns="0" tIns="0" rIns="0" bIns="0" rtlCol="0" anchor="t"/>
          <a:lstStyle/>
          <a:p>
            <a:pPr algn="ctr" indent="0" marL="0">
              <a:buNone/>
            </a:pPr>
            <a:r>
              <a:rPr lang="en-US" sz="1900" b="1" dirty="0">
                <a:solidFill>
                  <a:srgbClr val="2E1065"/>
                </a:solidFill>
              </a:rPr>
              <a:t>NGOÀI KHU ĐIỀU KHIỂN</a:t>
            </a:r>
            <a:endParaRPr lang="en-US" sz="1900" dirty="0"/>
          </a:p>
        </p:txBody>
      </p:sp>
      <p:sp>
        <p:nvSpPr>
          <p:cNvPr id="27" name="Shape 19"/>
          <p:cNvSpPr/>
          <p:nvPr/>
        </p:nvSpPr>
        <p:spPr>
          <a:xfrm>
            <a:off x="8700516" y="1938528"/>
            <a:ext cx="2560320" cy="384048"/>
          </a:xfrm>
          <a:prstGeom prst="roundRect">
            <a:avLst>
              <a:gd name="adj" fmla="val 50000"/>
            </a:avLst>
          </a:prstGeom>
          <a:solidFill>
            <a:srgbClr val="EA580C"/>
          </a:solidFill>
          <a:ln/>
        </p:spPr>
      </p:sp>
      <p:sp>
        <p:nvSpPr>
          <p:cNvPr id="28" name="Text 20"/>
          <p:cNvSpPr txBox="1"/>
          <p:nvPr/>
        </p:nvSpPr>
        <p:spPr>
          <a:xfrm>
            <a:off x="8700516" y="1938528"/>
            <a:ext cx="2560320" cy="384048"/>
          </a:xfrm>
          <a:prstGeom prst="rect">
            <a:avLst/>
          </a:prstGeom>
          <a:noFill/>
          <a:ln/>
        </p:spPr>
        <p:txBody>
          <a:bodyPr wrap="square" lIns="0" tIns="0" rIns="0" bIns="0" rtlCol="0" anchor="ctr"/>
          <a:lstStyle/>
          <a:p>
            <a:pPr algn="ctr" indent="0" marL="0">
              <a:buNone/>
            </a:pPr>
            <a:r>
              <a:rPr lang="en-US" sz="1400" b="1" dirty="0">
                <a:solidFill>
                  <a:srgbClr val="FFFFFF"/>
                </a:solidFill>
              </a:rPr>
              <a:t>Giáo viên phụ trách</a:t>
            </a:r>
            <a:endParaRPr lang="en-US" sz="1400" dirty="0"/>
          </a:p>
        </p:txBody>
      </p:sp>
      <p:sp>
        <p:nvSpPr>
          <p:cNvPr id="29" name="Shape 21"/>
          <p:cNvSpPr/>
          <p:nvPr/>
        </p:nvSpPr>
        <p:spPr>
          <a:xfrm>
            <a:off x="9546336"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30" name="Image 5" descr="Biểu tượng minh họa">    </p:cNvPr>
          <p:cNvPicPr>
            <a:picLocks noChangeAspect="1"/>
          </p:cNvPicPr>
          <p:nvPr/>
        </p:nvPicPr>
        <p:blipFill>
          <a:blip r:embed="rId6"/>
          <a:stretch>
            <a:fillRect/>
          </a:stretch>
        </p:blipFill>
        <p:spPr>
          <a:xfrm>
            <a:off x="9702698" y="2762402"/>
            <a:ext cx="555955" cy="555955"/>
          </a:xfrm>
          <a:prstGeom prst="rect">
            <a:avLst/>
          </a:prstGeom>
        </p:spPr>
      </p:pic>
      <p:sp>
        <p:nvSpPr>
          <p:cNvPr id="31" name="Text 22"/>
          <p:cNvSpPr txBox="1"/>
          <p:nvPr/>
        </p:nvSpPr>
        <p:spPr>
          <a:xfrm>
            <a:off x="8503920" y="3611880"/>
            <a:ext cx="2953512" cy="914400"/>
          </a:xfrm>
          <a:prstGeom prst="rect">
            <a:avLst/>
          </a:prstGeom>
          <a:noFill/>
          <a:ln/>
        </p:spPr>
        <p:txBody>
          <a:bodyPr wrap="square" lIns="0" tIns="0" rIns="0" bIns="0" rtlCol="0" anchor="t"/>
          <a:lstStyle/>
          <a:p>
            <a:pPr algn="ctr" indent="0" marL="0">
              <a:buNone/>
            </a:pPr>
            <a:r>
              <a:rPr lang="en-US" sz="1400" dirty="0">
                <a:solidFill>
                  <a:srgbClr val="5B4B8A"/>
                </a:solidFill>
              </a:rPr>
              <a:t>Quan sát, cổ vũ – không vào Khu Điều khiển</a:t>
            </a:r>
            <a:endParaRPr lang="en-US" sz="1400" dirty="0"/>
          </a:p>
        </p:txBody>
      </p:sp>
      <p:sp>
        <p:nvSpPr>
          <p:cNvPr id="32" name="Shape 23"/>
          <p:cNvSpPr/>
          <p:nvPr/>
        </p:nvSpPr>
        <p:spPr>
          <a:xfrm>
            <a:off x="548640" y="4892040"/>
            <a:ext cx="3575304" cy="1371600"/>
          </a:xfrm>
          <a:prstGeom prst="roundRect">
            <a:avLst>
              <a:gd name="adj" fmla="val 8000"/>
            </a:avLst>
          </a:prstGeom>
          <a:solidFill>
            <a:srgbClr val="FFFFFF"/>
          </a:solidFill>
          <a:ln/>
          <a:effectLst>
            <a:outerShdw sx="100000" sy="100000" kx="0" ky="0" algn="bl" rotWithShape="0" blurRad="127000" dist="38100" dir="5400000">
              <a:srgbClr val="4C1D95">
                <a:alpha val="16000"/>
              </a:srgbClr>
            </a:outerShdw>
          </a:effectLst>
        </p:spPr>
      </p:sp>
      <p:pic>
        <p:nvPicPr>
          <p:cNvPr id="33" name="Image 6" descr="Biểu tượng minh họa">    </p:cNvPr>
          <p:cNvPicPr>
            <a:picLocks noChangeAspect="1"/>
          </p:cNvPicPr>
          <p:nvPr/>
        </p:nvPicPr>
        <p:blipFill>
          <a:blip r:embed="rId7"/>
          <a:stretch>
            <a:fillRect/>
          </a:stretch>
        </p:blipFill>
        <p:spPr>
          <a:xfrm>
            <a:off x="731520" y="5120640"/>
            <a:ext cx="685800" cy="685800"/>
          </a:xfrm>
          <a:prstGeom prst="rect">
            <a:avLst/>
          </a:prstGeom>
        </p:spPr>
      </p:pic>
      <p:sp>
        <p:nvSpPr>
          <p:cNvPr id="34" name="Text 24"/>
          <p:cNvSpPr txBox="1"/>
          <p:nvPr/>
        </p:nvSpPr>
        <p:spPr>
          <a:xfrm>
            <a:off x="1554480" y="4983480"/>
            <a:ext cx="2468880" cy="1188720"/>
          </a:xfrm>
          <a:prstGeom prst="rect">
            <a:avLst/>
          </a:prstGeom>
          <a:noFill/>
          <a:ln/>
        </p:spPr>
        <p:txBody>
          <a:bodyPr wrap="square" lIns="0" tIns="0" rIns="0" bIns="0" rtlCol="0" anchor="ctr"/>
          <a:lstStyle/>
          <a:p>
            <a:pPr indent="0" marL="0">
              <a:buNone/>
            </a:pPr>
            <a:r>
              <a:rPr lang="en-US" sz="1500" dirty="0">
                <a:solidFill>
                  <a:srgbClr val="2E1065"/>
                </a:solidFill>
              </a:rPr>
              <a:t>Chỉ đổi vị trí thí sinh GIỮA hai lượt đấu, không đổi trong lượt.</a:t>
            </a:r>
            <a:endParaRPr lang="en-US" sz="1500" dirty="0"/>
          </a:p>
        </p:txBody>
      </p:sp>
      <p:sp>
        <p:nvSpPr>
          <p:cNvPr id="35" name="Shape 25"/>
          <p:cNvSpPr/>
          <p:nvPr/>
        </p:nvSpPr>
        <p:spPr>
          <a:xfrm>
            <a:off x="4306824" y="4892040"/>
            <a:ext cx="3575304" cy="1371600"/>
          </a:xfrm>
          <a:prstGeom prst="roundRect">
            <a:avLst>
              <a:gd name="adj" fmla="val 8000"/>
            </a:avLst>
          </a:prstGeom>
          <a:solidFill>
            <a:srgbClr val="FFFFFF"/>
          </a:solidFill>
          <a:ln/>
          <a:effectLst>
            <a:outerShdw sx="100000" sy="100000" kx="0" ky="0" algn="bl" rotWithShape="0" blurRad="127000" dist="38100" dir="5400000">
              <a:srgbClr val="4C1D95">
                <a:alpha val="16000"/>
              </a:srgbClr>
            </a:outerShdw>
          </a:effectLst>
        </p:spPr>
      </p:sp>
      <p:pic>
        <p:nvPicPr>
          <p:cNvPr id="36" name="Image 7" descr="Biểu tượng minh họa">    </p:cNvPr>
          <p:cNvPicPr>
            <a:picLocks noChangeAspect="1"/>
          </p:cNvPicPr>
          <p:nvPr/>
        </p:nvPicPr>
        <p:blipFill>
          <a:blip r:embed="rId8"/>
          <a:stretch>
            <a:fillRect/>
          </a:stretch>
        </p:blipFill>
        <p:spPr>
          <a:xfrm>
            <a:off x="4489704" y="5120640"/>
            <a:ext cx="685800" cy="685800"/>
          </a:xfrm>
          <a:prstGeom prst="rect">
            <a:avLst/>
          </a:prstGeom>
        </p:spPr>
      </p:pic>
      <p:sp>
        <p:nvSpPr>
          <p:cNvPr id="37" name="Text 26"/>
          <p:cNvSpPr txBox="1"/>
          <p:nvPr/>
        </p:nvSpPr>
        <p:spPr>
          <a:xfrm>
            <a:off x="5312664" y="4983480"/>
            <a:ext cx="2468880" cy="1188720"/>
          </a:xfrm>
          <a:prstGeom prst="rect">
            <a:avLst/>
          </a:prstGeom>
          <a:noFill/>
          <a:ln/>
        </p:spPr>
        <p:txBody>
          <a:bodyPr wrap="square" lIns="0" tIns="0" rIns="0" bIns="0" rtlCol="0" anchor="ctr"/>
          <a:lstStyle/>
          <a:p>
            <a:pPr indent="0" marL="0">
              <a:buNone/>
            </a:pPr>
            <a:r>
              <a:rPr lang="en-US" sz="1500" dirty="0">
                <a:solidFill>
                  <a:srgbClr val="2E1065"/>
                </a:solidFill>
              </a:rPr>
              <a:t>Cấm chỉ đạo từ bên ngoài: hô phương án, ra tín hiệu tay, bộ đàm, điện thoại.</a:t>
            </a:r>
            <a:endParaRPr lang="en-US" sz="1500" dirty="0"/>
          </a:p>
        </p:txBody>
      </p:sp>
      <p:sp>
        <p:nvSpPr>
          <p:cNvPr id="38" name="Shape 27"/>
          <p:cNvSpPr/>
          <p:nvPr/>
        </p:nvSpPr>
        <p:spPr>
          <a:xfrm>
            <a:off x="8065008" y="4892040"/>
            <a:ext cx="3575304" cy="1371600"/>
          </a:xfrm>
          <a:prstGeom prst="roundRect">
            <a:avLst>
              <a:gd name="adj" fmla="val 8000"/>
            </a:avLst>
          </a:prstGeom>
          <a:solidFill>
            <a:srgbClr val="FFFFFF"/>
          </a:solidFill>
          <a:ln/>
          <a:effectLst>
            <a:outerShdw sx="100000" sy="100000" kx="0" ky="0" algn="bl" rotWithShape="0" blurRad="127000" dist="38100" dir="5400000">
              <a:srgbClr val="4C1D95">
                <a:alpha val="16000"/>
              </a:srgbClr>
            </a:outerShdw>
          </a:effectLst>
        </p:spPr>
      </p:sp>
      <p:pic>
        <p:nvPicPr>
          <p:cNvPr id="39" name="Image 8" descr="Biểu tượng minh họa">    </p:cNvPr>
          <p:cNvPicPr>
            <a:picLocks noChangeAspect="1"/>
          </p:cNvPicPr>
          <p:nvPr/>
        </p:nvPicPr>
        <p:blipFill>
          <a:blip r:embed="rId9"/>
          <a:stretch>
            <a:fillRect/>
          </a:stretch>
        </p:blipFill>
        <p:spPr>
          <a:xfrm>
            <a:off x="8247888" y="5120640"/>
            <a:ext cx="685800" cy="685800"/>
          </a:xfrm>
          <a:prstGeom prst="rect">
            <a:avLst/>
          </a:prstGeom>
        </p:spPr>
      </p:pic>
      <p:sp>
        <p:nvSpPr>
          <p:cNvPr id="40" name="Text 28"/>
          <p:cNvSpPr txBox="1"/>
          <p:nvPr/>
        </p:nvSpPr>
        <p:spPr>
          <a:xfrm>
            <a:off x="9070848" y="4983480"/>
            <a:ext cx="2468880" cy="1188720"/>
          </a:xfrm>
          <a:prstGeom prst="rect">
            <a:avLst/>
          </a:prstGeom>
          <a:noFill/>
          <a:ln/>
        </p:spPr>
        <p:txBody>
          <a:bodyPr wrap="square" lIns="0" tIns="0" rIns="0" bIns="0" rtlCol="0" anchor="ctr"/>
          <a:lstStyle/>
          <a:p>
            <a:pPr indent="0" marL="0">
              <a:buNone/>
            </a:pPr>
            <a:r>
              <a:rPr lang="en-US" sz="1500" dirty="0">
                <a:solidFill>
                  <a:srgbClr val="2E1065"/>
                </a:solidFill>
              </a:rPr>
              <a:t>Học sinh chỉ thi đấu cho 01 đội, đúng bảng theo cấp học.</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ĐĂNG KÝ</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Đăng ký và danh sách thí sinh</a:t>
            </a:r>
            <a:endParaRPr lang="en-US" sz="3000" dirty="0"/>
          </a:p>
        </p:txBody>
      </p:sp>
      <p:sp>
        <p:nvSpPr>
          <p:cNvPr id="5" name="Shape 2"/>
          <p:cNvSpPr/>
          <p:nvPr/>
        </p:nvSpPr>
        <p:spPr>
          <a:xfrm>
            <a:off x="548640" y="1371600"/>
            <a:ext cx="5760720"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685800" y="1517904"/>
            <a:ext cx="457200" cy="457200"/>
          </a:xfrm>
          <a:prstGeom prst="ellipse">
            <a:avLst/>
          </a:prstGeom>
          <a:solidFill>
            <a:srgbClr val="7C3AED"/>
          </a:solidFill>
          <a:ln/>
        </p:spPr>
      </p:sp>
      <p:sp>
        <p:nvSpPr>
          <p:cNvPr id="7" name="Text 4"/>
          <p:cNvSpPr txBox="1"/>
          <p:nvPr/>
        </p:nvSpPr>
        <p:spPr>
          <a:xfrm>
            <a:off x="685800" y="15179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pic>
        <p:nvPicPr>
          <p:cNvPr id="8" name="Image 0" descr="Biểu tượng minh họa">    </p:cNvPr>
          <p:cNvPicPr>
            <a:picLocks noChangeAspect="1"/>
          </p:cNvPicPr>
          <p:nvPr/>
        </p:nvPicPr>
        <p:blipFill>
          <a:blip r:embed="rId1"/>
          <a:stretch>
            <a:fillRect/>
          </a:stretch>
        </p:blipFill>
        <p:spPr>
          <a:xfrm>
            <a:off x="1280160" y="1499616"/>
            <a:ext cx="493776" cy="493776"/>
          </a:xfrm>
          <a:prstGeom prst="rect">
            <a:avLst/>
          </a:prstGeom>
        </p:spPr>
      </p:pic>
      <p:sp>
        <p:nvSpPr>
          <p:cNvPr id="9" name="Text 5"/>
          <p:cNvSpPr txBox="1"/>
          <p:nvPr/>
        </p:nvSpPr>
        <p:spPr>
          <a:xfrm>
            <a:off x="1920240" y="1371600"/>
            <a:ext cx="4297680" cy="749808"/>
          </a:xfrm>
          <a:prstGeom prst="rect">
            <a:avLst/>
          </a:prstGeom>
          <a:noFill/>
          <a:ln/>
        </p:spPr>
        <p:txBody>
          <a:bodyPr wrap="square" lIns="0" tIns="0" rIns="0" bIns="0" rtlCol="0" anchor="ctr"/>
          <a:lstStyle/>
          <a:p>
            <a:pPr indent="0" marL="0">
              <a:buNone/>
            </a:pPr>
            <a:r>
              <a:rPr lang="en-US" sz="1500" dirty="0">
                <a:solidFill>
                  <a:srgbClr val="2E1065"/>
                </a:solidFill>
              </a:rPr>
              <a:t>Lập danh sách theo mẫu Phụ lục 02</a:t>
            </a:r>
            <a:endParaRPr lang="en-US" sz="1500" dirty="0"/>
          </a:p>
        </p:txBody>
      </p:sp>
      <p:sp>
        <p:nvSpPr>
          <p:cNvPr id="10" name="Shape 6"/>
          <p:cNvSpPr/>
          <p:nvPr/>
        </p:nvSpPr>
        <p:spPr>
          <a:xfrm>
            <a:off x="548640" y="2267712"/>
            <a:ext cx="5760720"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685800" y="2414016"/>
            <a:ext cx="457200" cy="457200"/>
          </a:xfrm>
          <a:prstGeom prst="ellipse">
            <a:avLst/>
          </a:prstGeom>
          <a:solidFill>
            <a:srgbClr val="7C3AED"/>
          </a:solidFill>
          <a:ln/>
        </p:spPr>
      </p:sp>
      <p:sp>
        <p:nvSpPr>
          <p:cNvPr id="12" name="Text 8"/>
          <p:cNvSpPr txBox="1"/>
          <p:nvPr/>
        </p:nvSpPr>
        <p:spPr>
          <a:xfrm>
            <a:off x="685800" y="24140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pic>
        <p:nvPicPr>
          <p:cNvPr id="13" name="Image 1" descr="Biểu tượng minh họa">    </p:cNvPr>
          <p:cNvPicPr>
            <a:picLocks noChangeAspect="1"/>
          </p:cNvPicPr>
          <p:nvPr/>
        </p:nvPicPr>
        <p:blipFill>
          <a:blip r:embed="rId2"/>
          <a:stretch>
            <a:fillRect/>
          </a:stretch>
        </p:blipFill>
        <p:spPr>
          <a:xfrm>
            <a:off x="1280160" y="2395728"/>
            <a:ext cx="493776" cy="493776"/>
          </a:xfrm>
          <a:prstGeom prst="rect">
            <a:avLst/>
          </a:prstGeom>
        </p:spPr>
      </p:pic>
      <p:sp>
        <p:nvSpPr>
          <p:cNvPr id="14" name="Text 9"/>
          <p:cNvSpPr txBox="1"/>
          <p:nvPr/>
        </p:nvSpPr>
        <p:spPr>
          <a:xfrm>
            <a:off x="1920240" y="2267712"/>
            <a:ext cx="4297680" cy="749808"/>
          </a:xfrm>
          <a:prstGeom prst="rect">
            <a:avLst/>
          </a:prstGeom>
          <a:noFill/>
          <a:ln/>
        </p:spPr>
        <p:txBody>
          <a:bodyPr wrap="square" lIns="0" tIns="0" rIns="0" bIns="0" rtlCol="0" anchor="ctr"/>
          <a:lstStyle/>
          <a:p>
            <a:pPr indent="0" marL="0">
              <a:buNone/>
            </a:pPr>
            <a:r>
              <a:rPr lang="en-US" sz="1500" dirty="0">
                <a:solidFill>
                  <a:srgbClr val="2E1065"/>
                </a:solidFill>
              </a:rPr>
              <a:t>Nhà trường ký tên, đóng dấu xác nhận</a:t>
            </a:r>
            <a:endParaRPr lang="en-US" sz="1500" dirty="0"/>
          </a:p>
        </p:txBody>
      </p:sp>
      <p:sp>
        <p:nvSpPr>
          <p:cNvPr id="15" name="Shape 10"/>
          <p:cNvSpPr/>
          <p:nvPr/>
        </p:nvSpPr>
        <p:spPr>
          <a:xfrm>
            <a:off x="548640" y="3163824"/>
            <a:ext cx="5760720"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685800" y="3310128"/>
            <a:ext cx="457200" cy="457200"/>
          </a:xfrm>
          <a:prstGeom prst="ellipse">
            <a:avLst/>
          </a:prstGeom>
          <a:solidFill>
            <a:srgbClr val="7C3AED"/>
          </a:solidFill>
          <a:ln/>
        </p:spPr>
      </p:sp>
      <p:sp>
        <p:nvSpPr>
          <p:cNvPr id="17" name="Text 12"/>
          <p:cNvSpPr txBox="1"/>
          <p:nvPr/>
        </p:nvSpPr>
        <p:spPr>
          <a:xfrm>
            <a:off x="685800" y="3310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pic>
        <p:nvPicPr>
          <p:cNvPr id="18" name="Image 2" descr="Biểu tượng minh họa">    </p:cNvPr>
          <p:cNvPicPr>
            <a:picLocks noChangeAspect="1"/>
          </p:cNvPicPr>
          <p:nvPr/>
        </p:nvPicPr>
        <p:blipFill>
          <a:blip r:embed="rId3"/>
          <a:stretch>
            <a:fillRect/>
          </a:stretch>
        </p:blipFill>
        <p:spPr>
          <a:xfrm>
            <a:off x="1280160" y="3291840"/>
            <a:ext cx="493776" cy="493776"/>
          </a:xfrm>
          <a:prstGeom prst="rect">
            <a:avLst/>
          </a:prstGeom>
        </p:spPr>
      </p:pic>
      <p:sp>
        <p:nvSpPr>
          <p:cNvPr id="19" name="Text 13"/>
          <p:cNvSpPr txBox="1"/>
          <p:nvPr/>
        </p:nvSpPr>
        <p:spPr>
          <a:xfrm>
            <a:off x="1920240" y="3163824"/>
            <a:ext cx="4297680" cy="749808"/>
          </a:xfrm>
          <a:prstGeom prst="rect">
            <a:avLst/>
          </a:prstGeom>
          <a:noFill/>
          <a:ln/>
        </p:spPr>
        <p:txBody>
          <a:bodyPr wrap="square" lIns="0" tIns="0" rIns="0" bIns="0" rtlCol="0" anchor="ctr"/>
          <a:lstStyle/>
          <a:p>
            <a:pPr indent="0" marL="0">
              <a:buNone/>
            </a:pPr>
            <a:r>
              <a:rPr lang="en-US" sz="1500" dirty="0">
                <a:solidFill>
                  <a:srgbClr val="2E1065"/>
                </a:solidFill>
              </a:rPr>
              <a:t>Gửi BTC qua Phòng Văn hóa – Xã hội xã, trước 17h00 (ngày theo thông báo BTC)</a:t>
            </a:r>
            <a:endParaRPr lang="en-US" sz="1500" dirty="0"/>
          </a:p>
        </p:txBody>
      </p:sp>
      <p:sp>
        <p:nvSpPr>
          <p:cNvPr id="20" name="Shape 14"/>
          <p:cNvSpPr/>
          <p:nvPr/>
        </p:nvSpPr>
        <p:spPr>
          <a:xfrm>
            <a:off x="548640" y="4059936"/>
            <a:ext cx="5760720"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685800" y="4206240"/>
            <a:ext cx="457200" cy="457200"/>
          </a:xfrm>
          <a:prstGeom prst="ellipse">
            <a:avLst/>
          </a:prstGeom>
          <a:solidFill>
            <a:srgbClr val="7C3AED"/>
          </a:solidFill>
          <a:ln/>
        </p:spPr>
      </p:sp>
      <p:sp>
        <p:nvSpPr>
          <p:cNvPr id="22" name="Text 16"/>
          <p:cNvSpPr txBox="1"/>
          <p:nvPr/>
        </p:nvSpPr>
        <p:spPr>
          <a:xfrm>
            <a:off x="685800" y="4206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pic>
        <p:nvPicPr>
          <p:cNvPr id="23" name="Image 3" descr="Biểu tượng minh họa">    </p:cNvPr>
          <p:cNvPicPr>
            <a:picLocks noChangeAspect="1"/>
          </p:cNvPicPr>
          <p:nvPr/>
        </p:nvPicPr>
        <p:blipFill>
          <a:blip r:embed="rId4"/>
          <a:stretch>
            <a:fillRect/>
          </a:stretch>
        </p:blipFill>
        <p:spPr>
          <a:xfrm>
            <a:off x="1280160" y="4187952"/>
            <a:ext cx="493776" cy="493776"/>
          </a:xfrm>
          <a:prstGeom prst="rect">
            <a:avLst/>
          </a:prstGeom>
        </p:spPr>
      </p:pic>
      <p:sp>
        <p:nvSpPr>
          <p:cNvPr id="24" name="Text 17"/>
          <p:cNvSpPr txBox="1"/>
          <p:nvPr/>
        </p:nvSpPr>
        <p:spPr>
          <a:xfrm>
            <a:off x="1920240" y="4059936"/>
            <a:ext cx="4297680" cy="749808"/>
          </a:xfrm>
          <a:prstGeom prst="rect">
            <a:avLst/>
          </a:prstGeom>
          <a:noFill/>
          <a:ln/>
        </p:spPr>
        <p:txBody>
          <a:bodyPr wrap="square" lIns="0" tIns="0" rIns="0" bIns="0" rtlCol="0" anchor="ctr"/>
          <a:lstStyle/>
          <a:p>
            <a:pPr indent="0" marL="0">
              <a:buNone/>
            </a:pPr>
            <a:r>
              <a:rPr lang="en-US" sz="1500" dirty="0">
                <a:solidFill>
                  <a:srgbClr val="2E1065"/>
                </a:solidFill>
              </a:rPr>
              <a:t>BTC phê duyệt → căn cứ DUY NHẤT để xác định tư cách thi đấu</a:t>
            </a:r>
            <a:endParaRPr lang="en-US" sz="1500" dirty="0"/>
          </a:p>
        </p:txBody>
      </p:sp>
      <p:sp>
        <p:nvSpPr>
          <p:cNvPr id="25" name="Shape 18"/>
          <p:cNvSpPr/>
          <p:nvPr/>
        </p:nvSpPr>
        <p:spPr>
          <a:xfrm>
            <a:off x="6583680" y="1371600"/>
            <a:ext cx="5056632" cy="3429000"/>
          </a:xfrm>
          <a:prstGeom prst="roundRect">
            <a:avLst>
              <a:gd name="adj" fmla="val 3200"/>
            </a:avLst>
          </a:prstGeom>
          <a:solidFill>
            <a:srgbClr val="FFFFFF"/>
          </a:solidFill>
          <a:ln/>
          <a:effectLst>
            <a:outerShdw sx="100000" sy="100000" kx="0" ky="0" algn="bl" rotWithShape="0" blurRad="127000" dist="38100" dir="5400000">
              <a:srgbClr val="4C1D95">
                <a:alpha val="16000"/>
              </a:srgbClr>
            </a:outerShdw>
          </a:effectLst>
        </p:spPr>
      </p:sp>
      <p:sp>
        <p:nvSpPr>
          <p:cNvPr id="26" name="Text 19"/>
          <p:cNvSpPr txBox="1"/>
          <p:nvPr/>
        </p:nvSpPr>
        <p:spPr>
          <a:xfrm>
            <a:off x="6766560" y="1463040"/>
            <a:ext cx="4663440" cy="365760"/>
          </a:xfrm>
          <a:prstGeom prst="rect">
            <a:avLst/>
          </a:prstGeom>
          <a:noFill/>
          <a:ln/>
        </p:spPr>
        <p:txBody>
          <a:bodyPr wrap="square" lIns="0" tIns="0" rIns="0" bIns="0" rtlCol="0" anchor="t"/>
          <a:lstStyle/>
          <a:p>
            <a:pPr indent="0" marL="0">
              <a:buNone/>
            </a:pPr>
            <a:r>
              <a:rPr lang="en-US" sz="1500" b="1" dirty="0">
                <a:solidFill>
                  <a:srgbClr val="7C3AED"/>
                </a:solidFill>
              </a:rPr>
              <a:t>DANH SÁCH ĐỘI THI (mẫu Phụ lục 02)</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766560" y="1874520"/>
          <a:ext cx="4690872" cy="914400"/>
        </p:xfrm>
        <a:graphic>
          <a:graphicData uri="http://schemas.openxmlformats.org/drawingml/2006/table">
            <a:tbl>
              <a:tblPr/>
              <a:tblGrid>
                <a:gridCol w="457200"/>
                <a:gridCol w="1508760"/>
                <a:gridCol w="640080"/>
                <a:gridCol w="2084832"/>
              </a:tblGrid>
              <a:tr h="329184">
                <a:tc>
                  <a:txBody>
                    <a:bodyPr/>
                    <a:lstStyle/>
                    <a:p>
                      <a:pPr algn="ctr" indent="0" marL="0">
                        <a:buNone/>
                      </a:pPr>
                      <a:r>
                        <a:rPr lang="en-US" sz="1300" b="1" dirty="0">
                          <a:solidFill>
                            <a:srgbClr val="FFFFFF"/>
                          </a:solidFill>
                        </a:rPr>
                        <a:t>TT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rPr>
                        <a:t>Họ và tên</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rPr>
                        <a:t>Lớp</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rPr>
                        <a:t>Vai trò trong đội</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329184">
                <a:tc>
                  <a:txBody>
                    <a:bodyPr/>
                    <a:lstStyle/>
                    <a:p>
                      <a:pPr algn="ctr" indent="0" marL="0">
                        <a:buNone/>
                      </a:pPr>
                      <a:r>
                        <a:rPr lang="en-US" sz="1300" dirty="0">
                          <a:solidFill>
                            <a:srgbClr val="2E1065"/>
                          </a:solidFill>
                        </a:rPr>
                        <a:t>1</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Đội trưởng – Vận hành 1</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29184">
                <a:tc>
                  <a:txBody>
                    <a:bodyPr/>
                    <a:lstStyle/>
                    <a:p>
                      <a:pPr algn="ctr" indent="0" marL="0">
                        <a:buNone/>
                      </a:pPr>
                      <a:r>
                        <a:rPr lang="en-US" sz="1300" dirty="0">
                          <a:solidFill>
                            <a:srgbClr val="2E1065"/>
                          </a:solidFill>
                        </a:rPr>
                        <a:t>2</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Vận hành 2</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29184">
                <a:tc>
                  <a:txBody>
                    <a:bodyPr/>
                    <a:lstStyle/>
                    <a:p>
                      <a:pPr algn="ctr" indent="0" marL="0">
                        <a:buNone/>
                      </a:pPr>
                      <a:r>
                        <a:rPr lang="en-US" sz="1300" dirty="0">
                          <a:solidFill>
                            <a:srgbClr val="2E1065"/>
                          </a:solidFill>
                        </a:rPr>
                        <a:t>3</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Kỹ thuật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29184">
                <a:tc>
                  <a:txBody>
                    <a:bodyPr/>
                    <a:lstStyle/>
                    <a:p>
                      <a:pPr algn="ctr" indent="0" marL="0">
                        <a:buNone/>
                      </a:pPr>
                      <a:r>
                        <a:rPr lang="en-US" sz="1300" dirty="0">
                          <a:solidFill>
                            <a:srgbClr val="2E1065"/>
                          </a:solidFill>
                        </a:rPr>
                        <a:t>4</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Chiến thuật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29184">
                <a:tc>
                  <a:txBody>
                    <a:bodyPr/>
                    <a:lstStyle/>
                    <a:p>
                      <a:pPr algn="ctr" indent="0" marL="0">
                        <a:buNone/>
                      </a:pPr>
                      <a:r>
                        <a:rPr lang="en-US" sz="1300" dirty="0">
                          <a:solidFill>
                            <a:srgbClr val="2E1065"/>
                          </a:solidFill>
                        </a:rPr>
                        <a:t>5</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Hỗ trợ (dự bị)</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28" name="Text 20"/>
          <p:cNvSpPr txBox="1"/>
          <p:nvPr/>
        </p:nvSpPr>
        <p:spPr>
          <a:xfrm>
            <a:off x="6766560" y="3931920"/>
            <a:ext cx="4709160" cy="777240"/>
          </a:xfrm>
          <a:prstGeom prst="rect">
            <a:avLst/>
          </a:prstGeom>
          <a:noFill/>
          <a:ln/>
        </p:spPr>
        <p:txBody>
          <a:bodyPr wrap="square" lIns="0" tIns="0" rIns="0" bIns="0" rtlCol="0" anchor="t"/>
          <a:lstStyle/>
          <a:p>
            <a:pPr indent="0" marL="0">
              <a:buNone/>
            </a:pPr>
            <a:r>
              <a:rPr lang="en-US" sz="1300" i="1" dirty="0">
                <a:solidFill>
                  <a:srgbClr val="5B4B8A"/>
                </a:solidFill>
              </a:rPr>
              <a:t>Ghi đủ: tên đội, đơn vị, họ tên, ngày sinh, lớp, vai trò; họ tên và số điện thoại giáo viên phụ trách.</a:t>
            </a:r>
            <a:endParaRPr lang="en-US" sz="1300" dirty="0"/>
          </a:p>
        </p:txBody>
      </p:sp>
      <p:sp>
        <p:nvSpPr>
          <p:cNvPr id="29" name="Shape 21"/>
          <p:cNvSpPr/>
          <p:nvPr/>
        </p:nvSpPr>
        <p:spPr>
          <a:xfrm>
            <a:off x="548640" y="5029200"/>
            <a:ext cx="3575304" cy="1234440"/>
          </a:xfrm>
          <a:prstGeom prst="roundRect">
            <a:avLst>
              <a:gd name="adj" fmla="val 8889"/>
            </a:avLst>
          </a:prstGeom>
          <a:solidFill>
            <a:srgbClr val="FFFFFF"/>
          </a:solidFill>
          <a:ln/>
          <a:effectLst>
            <a:outerShdw sx="100000" sy="100000" kx="0" ky="0" algn="bl" rotWithShape="0" blurRad="127000" dist="38100" dir="5400000">
              <a:srgbClr val="4C1D95">
                <a:alpha val="16000"/>
              </a:srgbClr>
            </a:outerShdw>
          </a:effectLst>
        </p:spPr>
      </p:sp>
      <p:pic>
        <p:nvPicPr>
          <p:cNvPr id="30" name="Image 4" descr="Biểu tượng minh họa">    </p:cNvPr>
          <p:cNvPicPr>
            <a:picLocks noChangeAspect="1"/>
          </p:cNvPicPr>
          <p:nvPr/>
        </p:nvPicPr>
        <p:blipFill>
          <a:blip r:embed="rId5"/>
          <a:stretch>
            <a:fillRect/>
          </a:stretch>
        </p:blipFill>
        <p:spPr>
          <a:xfrm>
            <a:off x="713232" y="5166360"/>
            <a:ext cx="548640" cy="548640"/>
          </a:xfrm>
          <a:prstGeom prst="rect">
            <a:avLst/>
          </a:prstGeom>
        </p:spPr>
      </p:pic>
      <p:sp>
        <p:nvSpPr>
          <p:cNvPr id="31" name="Text 22"/>
          <p:cNvSpPr txBox="1"/>
          <p:nvPr/>
        </p:nvSpPr>
        <p:spPr>
          <a:xfrm>
            <a:off x="1371600" y="5102352"/>
            <a:ext cx="2651760" cy="365760"/>
          </a:xfrm>
          <a:prstGeom prst="rect">
            <a:avLst/>
          </a:prstGeom>
          <a:noFill/>
          <a:ln/>
        </p:spPr>
        <p:txBody>
          <a:bodyPr wrap="square" lIns="0" tIns="0" rIns="0" bIns="0" rtlCol="0" anchor="t"/>
          <a:lstStyle/>
          <a:p>
            <a:pPr indent="0" marL="0">
              <a:buNone/>
            </a:pPr>
            <a:r>
              <a:rPr lang="en-US" sz="1500" b="1" dirty="0">
                <a:solidFill>
                  <a:srgbClr val="7C3AED"/>
                </a:solidFill>
              </a:rPr>
              <a:t>Trước giờ khai mạc</a:t>
            </a:r>
            <a:endParaRPr lang="en-US" sz="1500" dirty="0"/>
          </a:p>
        </p:txBody>
      </p:sp>
      <p:sp>
        <p:nvSpPr>
          <p:cNvPr id="32" name="Text 23"/>
          <p:cNvSpPr txBox="1"/>
          <p:nvPr/>
        </p:nvSpPr>
        <p:spPr>
          <a:xfrm>
            <a:off x="1371600" y="5468112"/>
            <a:ext cx="2651760" cy="749808"/>
          </a:xfrm>
          <a:prstGeom prst="rect">
            <a:avLst/>
          </a:prstGeom>
          <a:noFill/>
          <a:ln/>
        </p:spPr>
        <p:txBody>
          <a:bodyPr wrap="square" lIns="0" tIns="0" rIns="0" bIns="0" rtlCol="0" anchor="t"/>
          <a:lstStyle/>
          <a:p>
            <a:pPr indent="0" marL="0">
              <a:buNone/>
            </a:pPr>
            <a:r>
              <a:rPr lang="en-US" sz="1300" dirty="0">
                <a:solidFill>
                  <a:srgbClr val="2E1065"/>
                </a:solidFill>
              </a:rPr>
              <a:t>Thay thí sinh khi có văn bản của nhà trường và được BTC chấp thuận.</a:t>
            </a:r>
            <a:endParaRPr lang="en-US" sz="1300" dirty="0"/>
          </a:p>
        </p:txBody>
      </p:sp>
      <p:sp>
        <p:nvSpPr>
          <p:cNvPr id="33" name="Shape 24"/>
          <p:cNvSpPr/>
          <p:nvPr/>
        </p:nvSpPr>
        <p:spPr>
          <a:xfrm>
            <a:off x="4306824" y="5029200"/>
            <a:ext cx="3575304" cy="1234440"/>
          </a:xfrm>
          <a:prstGeom prst="roundRect">
            <a:avLst>
              <a:gd name="adj" fmla="val 8889"/>
            </a:avLst>
          </a:prstGeom>
          <a:solidFill>
            <a:srgbClr val="FFFFFF"/>
          </a:solidFill>
          <a:ln/>
          <a:effectLst>
            <a:outerShdw sx="100000" sy="100000" kx="0" ky="0" algn="bl" rotWithShape="0" blurRad="127000" dist="38100" dir="5400000">
              <a:srgbClr val="4C1D95">
                <a:alpha val="16000"/>
              </a:srgbClr>
            </a:outerShdw>
          </a:effectLst>
        </p:spPr>
      </p:sp>
      <p:pic>
        <p:nvPicPr>
          <p:cNvPr id="34" name="Image 5" descr="Biểu tượng minh họa">    </p:cNvPr>
          <p:cNvPicPr>
            <a:picLocks noChangeAspect="1"/>
          </p:cNvPicPr>
          <p:nvPr/>
        </p:nvPicPr>
        <p:blipFill>
          <a:blip r:embed="rId6"/>
          <a:stretch>
            <a:fillRect/>
          </a:stretch>
        </p:blipFill>
        <p:spPr>
          <a:xfrm>
            <a:off x="4471416" y="5166360"/>
            <a:ext cx="548640" cy="548640"/>
          </a:xfrm>
          <a:prstGeom prst="rect">
            <a:avLst/>
          </a:prstGeom>
        </p:spPr>
      </p:pic>
      <p:sp>
        <p:nvSpPr>
          <p:cNvPr id="35" name="Text 25"/>
          <p:cNvSpPr txBox="1"/>
          <p:nvPr/>
        </p:nvSpPr>
        <p:spPr>
          <a:xfrm>
            <a:off x="5129784" y="5102352"/>
            <a:ext cx="2651760" cy="365760"/>
          </a:xfrm>
          <a:prstGeom prst="rect">
            <a:avLst/>
          </a:prstGeom>
          <a:noFill/>
          <a:ln/>
        </p:spPr>
        <p:txBody>
          <a:bodyPr wrap="square" lIns="0" tIns="0" rIns="0" bIns="0" rtlCol="0" anchor="t"/>
          <a:lstStyle/>
          <a:p>
            <a:pPr indent="0" marL="0">
              <a:buNone/>
            </a:pPr>
            <a:r>
              <a:rPr lang="en-US" sz="1500" b="1" dirty="0">
                <a:solidFill>
                  <a:srgbClr val="7C3AED"/>
                </a:solidFill>
              </a:rPr>
              <a:t>Sau khi giải bắt đầu</a:t>
            </a:r>
            <a:endParaRPr lang="en-US" sz="1500" dirty="0"/>
          </a:p>
        </p:txBody>
      </p:sp>
      <p:sp>
        <p:nvSpPr>
          <p:cNvPr id="36" name="Text 26"/>
          <p:cNvSpPr txBox="1"/>
          <p:nvPr/>
        </p:nvSpPr>
        <p:spPr>
          <a:xfrm>
            <a:off x="5129784" y="5468112"/>
            <a:ext cx="2651760" cy="749808"/>
          </a:xfrm>
          <a:prstGeom prst="rect">
            <a:avLst/>
          </a:prstGeom>
          <a:noFill/>
          <a:ln/>
        </p:spPr>
        <p:txBody>
          <a:bodyPr wrap="square" lIns="0" tIns="0" rIns="0" bIns="0" rtlCol="0" anchor="t"/>
          <a:lstStyle/>
          <a:p>
            <a:pPr indent="0" marL="0">
              <a:buNone/>
            </a:pPr>
            <a:r>
              <a:rPr lang="en-US" sz="1300" dirty="0">
                <a:solidFill>
                  <a:srgbClr val="2E1065"/>
                </a:solidFill>
              </a:rPr>
              <a:t>Chỉ thay bằng thí sinh Hỗ trợ đã có tên, khi bất khả kháng về sức khỏe.</a:t>
            </a:r>
            <a:endParaRPr lang="en-US" sz="1300" dirty="0"/>
          </a:p>
        </p:txBody>
      </p:sp>
      <p:sp>
        <p:nvSpPr>
          <p:cNvPr id="37" name="Shape 27"/>
          <p:cNvSpPr/>
          <p:nvPr/>
        </p:nvSpPr>
        <p:spPr>
          <a:xfrm>
            <a:off x="8065008" y="5029200"/>
            <a:ext cx="3575304" cy="1234440"/>
          </a:xfrm>
          <a:prstGeom prst="roundRect">
            <a:avLst>
              <a:gd name="adj" fmla="val 8889"/>
            </a:avLst>
          </a:prstGeom>
          <a:solidFill>
            <a:srgbClr val="FEE2E2"/>
          </a:solidFill>
          <a:ln/>
          <a:effectLst>
            <a:outerShdw sx="100000" sy="100000" kx="0" ky="0" algn="bl" rotWithShape="0" blurRad="127000" dist="38100" dir="5400000">
              <a:srgbClr val="4C1D95">
                <a:alpha val="16000"/>
              </a:srgbClr>
            </a:outerShdw>
          </a:effectLst>
        </p:spPr>
      </p:sp>
      <p:pic>
        <p:nvPicPr>
          <p:cNvPr id="38" name="Image 6" descr="Biểu tượng minh họa">    </p:cNvPr>
          <p:cNvPicPr>
            <a:picLocks noChangeAspect="1"/>
          </p:cNvPicPr>
          <p:nvPr/>
        </p:nvPicPr>
        <p:blipFill>
          <a:blip r:embed="rId7"/>
          <a:stretch>
            <a:fillRect/>
          </a:stretch>
        </p:blipFill>
        <p:spPr>
          <a:xfrm>
            <a:off x="8229600" y="5166360"/>
            <a:ext cx="548640" cy="548640"/>
          </a:xfrm>
          <a:prstGeom prst="rect">
            <a:avLst/>
          </a:prstGeom>
        </p:spPr>
      </p:pic>
      <p:sp>
        <p:nvSpPr>
          <p:cNvPr id="39" name="Text 28"/>
          <p:cNvSpPr txBox="1"/>
          <p:nvPr/>
        </p:nvSpPr>
        <p:spPr>
          <a:xfrm>
            <a:off x="8887968" y="5102352"/>
            <a:ext cx="2651760" cy="365760"/>
          </a:xfrm>
          <a:prstGeom prst="rect">
            <a:avLst/>
          </a:prstGeom>
          <a:noFill/>
          <a:ln/>
        </p:spPr>
        <p:txBody>
          <a:bodyPr wrap="square" lIns="0" tIns="0" rIns="0" bIns="0" rtlCol="0" anchor="t"/>
          <a:lstStyle/>
          <a:p>
            <a:pPr indent="0" marL="0">
              <a:buNone/>
            </a:pPr>
            <a:r>
              <a:rPr lang="en-US" sz="1500" b="1" dirty="0">
                <a:solidFill>
                  <a:srgbClr val="7C3AED"/>
                </a:solidFill>
              </a:rPr>
              <a:t>Không có tên trong danh sách</a:t>
            </a:r>
            <a:endParaRPr lang="en-US" sz="1500" dirty="0"/>
          </a:p>
        </p:txBody>
      </p:sp>
      <p:sp>
        <p:nvSpPr>
          <p:cNvPr id="40" name="Text 29"/>
          <p:cNvSpPr txBox="1"/>
          <p:nvPr/>
        </p:nvSpPr>
        <p:spPr>
          <a:xfrm>
            <a:off x="8887968" y="5468112"/>
            <a:ext cx="2651760" cy="749808"/>
          </a:xfrm>
          <a:prstGeom prst="rect">
            <a:avLst/>
          </a:prstGeom>
          <a:noFill/>
          <a:ln/>
        </p:spPr>
        <p:txBody>
          <a:bodyPr wrap="square" lIns="0" tIns="0" rIns="0" bIns="0" rtlCol="0" anchor="t"/>
          <a:lstStyle/>
          <a:p>
            <a:pPr indent="0" marL="0">
              <a:buNone/>
            </a:pPr>
            <a:r>
              <a:rPr lang="en-US" sz="1300" dirty="0">
                <a:solidFill>
                  <a:srgbClr val="2E1065"/>
                </a:solidFill>
              </a:rPr>
              <a:t>Không được tham gia thi đấu dưới mọi hình thức.</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THIẾT BỊ</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Robot UGOT do Ban Tổ chức cung cấp</a:t>
            </a:r>
            <a:endParaRPr lang="en-US" sz="3000" dirty="0"/>
          </a:p>
        </p:txBody>
      </p:sp>
      <p:sp>
        <p:nvSpPr>
          <p:cNvPr id="5" name="Shape 2"/>
          <p:cNvSpPr/>
          <p:nvPr/>
        </p:nvSpPr>
        <p:spPr>
          <a:xfrm>
            <a:off x="548640" y="1371600"/>
            <a:ext cx="5486400" cy="3429000"/>
          </a:xfrm>
          <a:prstGeom prst="roundRect">
            <a:avLst>
              <a:gd name="adj" fmla="val 3200"/>
            </a:avLst>
          </a:prstGeom>
          <a:solidFill>
            <a:srgbClr val="FFFFFF"/>
          </a:solidFill>
          <a:ln/>
          <a:effectLst>
            <a:outerShdw sx="100000" sy="100000" kx="0" ky="0" algn="bl" rotWithShape="0" blurRad="127000" dist="38100" dir="5400000">
              <a:srgbClr val="4C1D95">
                <a:alpha val="16000"/>
              </a:srgbClr>
            </a:outerShdw>
          </a:effectLst>
        </p:spPr>
      </p:sp>
      <p:pic>
        <p:nvPicPr>
          <p:cNvPr id="6" name="Image 0" descr="Robot UGOT có cơ cấu gắp">    </p:cNvPr>
          <p:cNvPicPr>
            <a:picLocks noChangeAspect="1"/>
          </p:cNvPicPr>
          <p:nvPr/>
        </p:nvPicPr>
        <p:blipFill>
          <a:blip r:embed="rId1"/>
          <a:stretch>
            <a:fillRect/>
          </a:stretch>
        </p:blipFill>
        <p:spPr>
          <a:xfrm>
            <a:off x="731520" y="2011680"/>
            <a:ext cx="5120640" cy="1970759"/>
          </a:xfrm>
          <a:prstGeom prst="rect">
            <a:avLst/>
          </a:prstGeom>
        </p:spPr>
      </p:pic>
      <p:sp>
        <p:nvSpPr>
          <p:cNvPr id="7" name="Shape 3"/>
          <p:cNvSpPr/>
          <p:nvPr/>
        </p:nvSpPr>
        <p:spPr>
          <a:xfrm>
            <a:off x="731520" y="1536192"/>
            <a:ext cx="2651760" cy="384048"/>
          </a:xfrm>
          <a:prstGeom prst="roundRect">
            <a:avLst>
              <a:gd name="adj" fmla="val 50000"/>
            </a:avLst>
          </a:prstGeom>
          <a:solidFill>
            <a:srgbClr val="EDE4FF"/>
          </a:solidFill>
          <a:ln/>
        </p:spPr>
      </p:sp>
      <p:sp>
        <p:nvSpPr>
          <p:cNvPr id="8" name="Text 4"/>
          <p:cNvSpPr txBox="1"/>
          <p:nvPr/>
        </p:nvSpPr>
        <p:spPr>
          <a:xfrm>
            <a:off x="731520" y="1536192"/>
            <a:ext cx="2651760" cy="384048"/>
          </a:xfrm>
          <a:prstGeom prst="rect">
            <a:avLst/>
          </a:prstGeom>
          <a:noFill/>
          <a:ln/>
        </p:spPr>
        <p:txBody>
          <a:bodyPr wrap="square" lIns="0" tIns="0" rIns="0" bIns="0" rtlCol="0" anchor="ctr"/>
          <a:lstStyle/>
          <a:p>
            <a:pPr algn="ctr" indent="0" marL="0">
              <a:buNone/>
            </a:pPr>
            <a:r>
              <a:rPr lang="en-US" sz="1300" b="1" dirty="0">
                <a:solidFill>
                  <a:srgbClr val="7C3AED"/>
                </a:solidFill>
              </a:rPr>
              <a:t>Robot UGOT có cơ cấu gắp</a:t>
            </a:r>
            <a:endParaRPr lang="en-US" sz="1300" dirty="0"/>
          </a:p>
        </p:txBody>
      </p:sp>
      <p:sp>
        <p:nvSpPr>
          <p:cNvPr id="9" name="Text 5"/>
          <p:cNvSpPr txBox="1"/>
          <p:nvPr/>
        </p:nvSpPr>
        <p:spPr>
          <a:xfrm>
            <a:off x="548640" y="4892040"/>
            <a:ext cx="5486400" cy="548640"/>
          </a:xfrm>
          <a:prstGeom prst="rect">
            <a:avLst/>
          </a:prstGeom>
          <a:noFill/>
          <a:ln/>
        </p:spPr>
        <p:txBody>
          <a:bodyPr wrap="square" lIns="0" tIns="0" rIns="0" bIns="0" rtlCol="0" anchor="t"/>
          <a:lstStyle/>
          <a:p>
            <a:pPr indent="0" marL="0">
              <a:buNone/>
            </a:pPr>
            <a:r>
              <a:rPr lang="en-US" sz="1400" i="1" dirty="0">
                <a:solidFill>
                  <a:srgbClr val="5B4B8A"/>
                </a:solidFill>
              </a:rPr>
              <a:t>Cấu hình Bảng A: Xe robot UGOT có cơ cấu gắp – gom khối, điều khiển bằng bộ điều khiển Bluetooth</a:t>
            </a:r>
            <a:endParaRPr lang="en-US" sz="1400" dirty="0"/>
          </a:p>
        </p:txBody>
      </p:sp>
      <p:sp>
        <p:nvSpPr>
          <p:cNvPr id="10" name="Shape 6"/>
          <p:cNvSpPr/>
          <p:nvPr/>
        </p:nvSpPr>
        <p:spPr>
          <a:xfrm>
            <a:off x="548640" y="5532120"/>
            <a:ext cx="1737360" cy="731520"/>
          </a:xfrm>
          <a:prstGeom prst="roundRect">
            <a:avLst>
              <a:gd name="adj" fmla="val 25000"/>
            </a:avLst>
          </a:prstGeom>
          <a:solidFill>
            <a:srgbClr val="FFFFFF"/>
          </a:solidFill>
          <a:ln/>
          <a:effectLst>
            <a:outerShdw sx="100000" sy="100000" kx="0" ky="0" algn="bl" rotWithShape="0" blurRad="127000" dist="38100" dir="5400000">
              <a:srgbClr val="4C1D95">
                <a:alpha val="16000"/>
              </a:srgbClr>
            </a:outerShdw>
          </a:effectLst>
        </p:spPr>
      </p:sp>
      <p:pic>
        <p:nvPicPr>
          <p:cNvPr id="11" name="Image 1" descr="Biểu tượng minh họa">    </p:cNvPr>
          <p:cNvPicPr>
            <a:picLocks noChangeAspect="1"/>
          </p:cNvPicPr>
          <p:nvPr/>
        </p:nvPicPr>
        <p:blipFill>
          <a:blip r:embed="rId2"/>
          <a:stretch>
            <a:fillRect/>
          </a:stretch>
        </p:blipFill>
        <p:spPr>
          <a:xfrm>
            <a:off x="658368" y="5641848"/>
            <a:ext cx="512064" cy="512064"/>
          </a:xfrm>
          <a:prstGeom prst="rect">
            <a:avLst/>
          </a:prstGeom>
        </p:spPr>
      </p:pic>
      <p:sp>
        <p:nvSpPr>
          <p:cNvPr id="12" name="Text 7"/>
          <p:cNvSpPr txBox="1"/>
          <p:nvPr/>
        </p:nvSpPr>
        <p:spPr>
          <a:xfrm>
            <a:off x="1207008" y="5532120"/>
            <a:ext cx="1051560" cy="731520"/>
          </a:xfrm>
          <a:prstGeom prst="rect">
            <a:avLst/>
          </a:prstGeom>
          <a:noFill/>
          <a:ln/>
        </p:spPr>
        <p:txBody>
          <a:bodyPr wrap="square" lIns="0" tIns="0" rIns="0" bIns="0" rtlCol="0" anchor="ctr"/>
          <a:lstStyle/>
          <a:p>
            <a:pPr indent="0" marL="0">
              <a:buNone/>
            </a:pPr>
            <a:r>
              <a:rPr lang="en-US" sz="1300" b="1" dirty="0">
                <a:solidFill>
                  <a:srgbClr val="2E1065"/>
                </a:solidFill>
              </a:rPr>
              <a:t>Lắp ráp sẵn</a:t>
            </a:r>
            <a:endParaRPr lang="en-US" sz="1300" dirty="0"/>
          </a:p>
        </p:txBody>
      </p:sp>
      <p:sp>
        <p:nvSpPr>
          <p:cNvPr id="13" name="Shape 8"/>
          <p:cNvSpPr/>
          <p:nvPr/>
        </p:nvSpPr>
        <p:spPr>
          <a:xfrm>
            <a:off x="2423160" y="5532120"/>
            <a:ext cx="1737360" cy="731520"/>
          </a:xfrm>
          <a:prstGeom prst="roundRect">
            <a:avLst>
              <a:gd name="adj" fmla="val 25000"/>
            </a:avLst>
          </a:prstGeom>
          <a:solidFill>
            <a:srgbClr val="FFFFFF"/>
          </a:solidFill>
          <a:ln/>
          <a:effectLst>
            <a:outerShdw sx="100000" sy="100000" kx="0" ky="0" algn="bl" rotWithShape="0" blurRad="127000" dist="38100" dir="5400000">
              <a:srgbClr val="4C1D95">
                <a:alpha val="16000"/>
              </a:srgbClr>
            </a:outerShdw>
          </a:effectLst>
        </p:spPr>
      </p:sp>
      <p:pic>
        <p:nvPicPr>
          <p:cNvPr id="14" name="Image 2" descr="Biểu tượng minh họa">    </p:cNvPr>
          <p:cNvPicPr>
            <a:picLocks noChangeAspect="1"/>
          </p:cNvPicPr>
          <p:nvPr/>
        </p:nvPicPr>
        <p:blipFill>
          <a:blip r:embed="rId3"/>
          <a:stretch>
            <a:fillRect/>
          </a:stretch>
        </p:blipFill>
        <p:spPr>
          <a:xfrm>
            <a:off x="2532888" y="5641848"/>
            <a:ext cx="512064" cy="512064"/>
          </a:xfrm>
          <a:prstGeom prst="rect">
            <a:avLst/>
          </a:prstGeom>
        </p:spPr>
      </p:pic>
      <p:sp>
        <p:nvSpPr>
          <p:cNvPr id="15" name="Text 9"/>
          <p:cNvSpPr txBox="1"/>
          <p:nvPr/>
        </p:nvSpPr>
        <p:spPr>
          <a:xfrm>
            <a:off x="3081528" y="5532120"/>
            <a:ext cx="1051560" cy="731520"/>
          </a:xfrm>
          <a:prstGeom prst="rect">
            <a:avLst/>
          </a:prstGeom>
          <a:noFill/>
          <a:ln/>
        </p:spPr>
        <p:txBody>
          <a:bodyPr wrap="square" lIns="0" tIns="0" rIns="0" bIns="0" rtlCol="0" anchor="ctr"/>
          <a:lstStyle/>
          <a:p>
            <a:pPr indent="0" marL="0">
              <a:buNone/>
            </a:pPr>
            <a:r>
              <a:rPr lang="en-US" sz="1300" b="1" dirty="0">
                <a:solidFill>
                  <a:srgbClr val="2E1065"/>
                </a:solidFill>
              </a:rPr>
              <a:t>Tay cầm Bluetooth</a:t>
            </a:r>
            <a:endParaRPr lang="en-US" sz="1300" dirty="0"/>
          </a:p>
        </p:txBody>
      </p:sp>
      <p:sp>
        <p:nvSpPr>
          <p:cNvPr id="16" name="Shape 10"/>
          <p:cNvSpPr/>
          <p:nvPr/>
        </p:nvSpPr>
        <p:spPr>
          <a:xfrm>
            <a:off x="4297680" y="5532120"/>
            <a:ext cx="1737360" cy="731520"/>
          </a:xfrm>
          <a:prstGeom prst="roundRect">
            <a:avLst>
              <a:gd name="adj" fmla="val 25000"/>
            </a:avLst>
          </a:prstGeom>
          <a:solidFill>
            <a:srgbClr val="FFFFFF"/>
          </a:solidFill>
          <a:ln/>
          <a:effectLst>
            <a:outerShdw sx="100000" sy="100000" kx="0" ky="0" algn="bl" rotWithShape="0" blurRad="127000" dist="38100" dir="5400000">
              <a:srgbClr val="4C1D95">
                <a:alpha val="16000"/>
              </a:srgbClr>
            </a:outerShdw>
          </a:effectLst>
        </p:spPr>
      </p:sp>
      <p:pic>
        <p:nvPicPr>
          <p:cNvPr id="17" name="Image 3" descr="Biểu tượng minh họa">    </p:cNvPr>
          <p:cNvPicPr>
            <a:picLocks noChangeAspect="1"/>
          </p:cNvPicPr>
          <p:nvPr/>
        </p:nvPicPr>
        <p:blipFill>
          <a:blip r:embed="rId4"/>
          <a:stretch>
            <a:fillRect/>
          </a:stretch>
        </p:blipFill>
        <p:spPr>
          <a:xfrm>
            <a:off x="4407408" y="5641848"/>
            <a:ext cx="512064" cy="512064"/>
          </a:xfrm>
          <a:prstGeom prst="rect">
            <a:avLst/>
          </a:prstGeom>
        </p:spPr>
      </p:pic>
      <p:sp>
        <p:nvSpPr>
          <p:cNvPr id="18" name="Text 11"/>
          <p:cNvSpPr txBox="1"/>
          <p:nvPr/>
        </p:nvSpPr>
        <p:spPr>
          <a:xfrm>
            <a:off x="4956048" y="5532120"/>
            <a:ext cx="1051560" cy="731520"/>
          </a:xfrm>
          <a:prstGeom prst="rect">
            <a:avLst/>
          </a:prstGeom>
          <a:noFill/>
          <a:ln/>
        </p:spPr>
        <p:txBody>
          <a:bodyPr wrap="square" lIns="0" tIns="0" rIns="0" bIns="0" rtlCol="0" anchor="ctr"/>
          <a:lstStyle/>
          <a:p>
            <a:pPr indent="0" marL="0">
              <a:buNone/>
            </a:pPr>
            <a:r>
              <a:rPr lang="en-US" sz="1300" b="1" dirty="0">
                <a:solidFill>
                  <a:srgbClr val="2E1065"/>
                </a:solidFill>
              </a:rPr>
              <a:t>Đủ pin mỗi lượt</a:t>
            </a:r>
            <a:endParaRPr lang="en-US" sz="1300" dirty="0"/>
          </a:p>
        </p:txBody>
      </p:sp>
      <p:sp>
        <p:nvSpPr>
          <p:cNvPr id="19" name="Shape 12"/>
          <p:cNvSpPr/>
          <p:nvPr/>
        </p:nvSpPr>
        <p:spPr>
          <a:xfrm>
            <a:off x="6355080" y="1371600"/>
            <a:ext cx="5285232" cy="2377440"/>
          </a:xfrm>
          <a:prstGeom prst="roundRect">
            <a:avLst>
              <a:gd name="adj" fmla="val 4615"/>
            </a:avLst>
          </a:prstGeom>
          <a:solidFill>
            <a:srgbClr val="F0FDF4"/>
          </a:solidFill>
          <a:ln/>
          <a:effectLst>
            <a:outerShdw sx="100000" sy="100000" kx="0" ky="0" algn="bl" rotWithShape="0" blurRad="127000" dist="38100" dir="5400000">
              <a:srgbClr val="4C1D95">
                <a:alpha val="16000"/>
              </a:srgbClr>
            </a:outerShdw>
          </a:effectLst>
        </p:spPr>
      </p:sp>
      <p:pic>
        <p:nvPicPr>
          <p:cNvPr id="20" name="Image 4" descr="Biểu tượng minh họa">    </p:cNvPr>
          <p:cNvPicPr>
            <a:picLocks noChangeAspect="1"/>
          </p:cNvPicPr>
          <p:nvPr/>
        </p:nvPicPr>
        <p:blipFill>
          <a:blip r:embed="rId5"/>
          <a:stretch>
            <a:fillRect/>
          </a:stretch>
        </p:blipFill>
        <p:spPr>
          <a:xfrm>
            <a:off x="6537960" y="1508760"/>
            <a:ext cx="502920" cy="502920"/>
          </a:xfrm>
          <a:prstGeom prst="rect">
            <a:avLst/>
          </a:prstGeom>
        </p:spPr>
      </p:pic>
      <p:sp>
        <p:nvSpPr>
          <p:cNvPr id="21" name="Text 13"/>
          <p:cNvSpPr txBox="1"/>
          <p:nvPr/>
        </p:nvSpPr>
        <p:spPr>
          <a:xfrm>
            <a:off x="7132320" y="1508760"/>
            <a:ext cx="4389120" cy="502920"/>
          </a:xfrm>
          <a:prstGeom prst="rect">
            <a:avLst/>
          </a:prstGeom>
          <a:noFill/>
          <a:ln/>
        </p:spPr>
        <p:txBody>
          <a:bodyPr wrap="square" lIns="0" tIns="0" rIns="0" bIns="0" rtlCol="0" anchor="ctr"/>
          <a:lstStyle/>
          <a:p>
            <a:pPr indent="0" marL="0">
              <a:buNone/>
            </a:pPr>
            <a:r>
              <a:rPr lang="en-US" sz="1800" b="1" dirty="0">
                <a:solidFill>
                  <a:srgbClr val="15803D"/>
                </a:solidFill>
              </a:rPr>
              <a:t>BTC CUNG CẤP &amp; BẢO ĐẢM</a:t>
            </a:r>
            <a:endParaRPr lang="en-US" sz="1800" dirty="0"/>
          </a:p>
        </p:txBody>
      </p:sp>
      <p:sp>
        <p:nvSpPr>
          <p:cNvPr id="22" name="Text 14"/>
          <p:cNvSpPr txBox="1"/>
          <p:nvPr/>
        </p:nvSpPr>
        <p:spPr>
          <a:xfrm>
            <a:off x="6537960" y="2103120"/>
            <a:ext cx="4983480" cy="16002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2E1065"/>
                </a:solidFill>
              </a:rPr>
              <a:t>Robot UGOT lắp ráp, cài đặt sẵn; bộ điều khiển Bluetooth, pin</a:t>
            </a:r>
            <a:endParaRPr lang="en-US" sz="1500" dirty="0"/>
          </a:p>
          <a:p>
            <a:pPr marL="203200" indent="-203200">
              <a:spcAft>
                <a:spcPts val="600"/>
              </a:spcAft>
              <a:buSzPct val="100000"/>
              <a:buChar char="•"/>
            </a:pPr>
            <a:r>
              <a:rPr lang="en-US" sz="1500" dirty="0">
                <a:solidFill>
                  <a:srgbClr val="2E1065"/>
                </a:solidFill>
              </a:rPr>
              <a:t>Sa bàn, chuông báo sự cố và toàn bộ đạo cụ thi đấu</a:t>
            </a:r>
            <a:endParaRPr lang="en-US" sz="1500" dirty="0"/>
          </a:p>
          <a:p>
            <a:pPr marL="203200" indent="-203200">
              <a:spcAft>
                <a:spcPts val="600"/>
              </a:spcAft>
              <a:buSzPct val="100000"/>
              <a:buChar char="•"/>
            </a:pPr>
            <a:r>
              <a:rPr lang="en-US" sz="1500" dirty="0">
                <a:solidFill>
                  <a:srgbClr val="2E1065"/>
                </a:solidFill>
              </a:rPr>
              <a:t>Robot đồng bộ cùng cấu hình – không đội nào có lợi thế</a:t>
            </a:r>
            <a:endParaRPr lang="en-US" sz="1500" dirty="0"/>
          </a:p>
          <a:p>
            <a:pPr marL="203200" indent="-203200">
              <a:spcAft>
                <a:spcPts val="600"/>
              </a:spcAft>
              <a:buSzPct val="100000"/>
              <a:buChar char="•"/>
            </a:pPr>
            <a:r>
              <a:rPr lang="en-US" sz="1500" dirty="0">
                <a:solidFill>
                  <a:srgbClr val="2E1065"/>
                </a:solidFill>
              </a:rPr>
              <a:t>Robot đủ pin, hoạt động bình thường trước mỗi lượt đấu</a:t>
            </a:r>
            <a:endParaRPr lang="en-US" sz="1500" dirty="0"/>
          </a:p>
        </p:txBody>
      </p:sp>
      <p:sp>
        <p:nvSpPr>
          <p:cNvPr id="23" name="Shape 15"/>
          <p:cNvSpPr/>
          <p:nvPr/>
        </p:nvSpPr>
        <p:spPr>
          <a:xfrm>
            <a:off x="6355080" y="3931920"/>
            <a:ext cx="5285232" cy="2331720"/>
          </a:xfrm>
          <a:prstGeom prst="roundRect">
            <a:avLst>
              <a:gd name="adj" fmla="val 4706"/>
            </a:avLst>
          </a:prstGeom>
          <a:solidFill>
            <a:srgbClr val="FEF2F2"/>
          </a:solidFill>
          <a:ln/>
          <a:effectLst>
            <a:outerShdw sx="100000" sy="100000" kx="0" ky="0" algn="bl" rotWithShape="0" blurRad="127000" dist="38100" dir="5400000">
              <a:srgbClr val="4C1D95">
                <a:alpha val="16000"/>
              </a:srgbClr>
            </a:outerShdw>
          </a:effectLst>
        </p:spPr>
      </p:sp>
      <p:pic>
        <p:nvPicPr>
          <p:cNvPr id="24" name="Image 5" descr="Biểu tượng minh họa">    </p:cNvPr>
          <p:cNvPicPr>
            <a:picLocks noChangeAspect="1"/>
          </p:cNvPicPr>
          <p:nvPr/>
        </p:nvPicPr>
        <p:blipFill>
          <a:blip r:embed="rId6"/>
          <a:stretch>
            <a:fillRect/>
          </a:stretch>
        </p:blipFill>
        <p:spPr>
          <a:xfrm>
            <a:off x="6537960" y="4069080"/>
            <a:ext cx="502920" cy="502920"/>
          </a:xfrm>
          <a:prstGeom prst="rect">
            <a:avLst/>
          </a:prstGeom>
        </p:spPr>
      </p:pic>
      <p:sp>
        <p:nvSpPr>
          <p:cNvPr id="25" name="Text 16"/>
          <p:cNvSpPr txBox="1"/>
          <p:nvPr/>
        </p:nvSpPr>
        <p:spPr>
          <a:xfrm>
            <a:off x="7132320" y="4069080"/>
            <a:ext cx="4389120" cy="502920"/>
          </a:xfrm>
          <a:prstGeom prst="rect">
            <a:avLst/>
          </a:prstGeom>
          <a:noFill/>
          <a:ln/>
        </p:spPr>
        <p:txBody>
          <a:bodyPr wrap="square" lIns="0" tIns="0" rIns="0" bIns="0" rtlCol="0" anchor="ctr"/>
          <a:lstStyle/>
          <a:p>
            <a:pPr indent="0" marL="0">
              <a:buNone/>
            </a:pPr>
            <a:r>
              <a:rPr lang="en-US" sz="1800" b="1" dirty="0">
                <a:solidFill>
                  <a:srgbClr val="DC2626"/>
                </a:solidFill>
              </a:rPr>
              <a:t>ĐỘI THI KHÔNG ĐƯỢC</a:t>
            </a:r>
            <a:endParaRPr lang="en-US" sz="1800" dirty="0"/>
          </a:p>
        </p:txBody>
      </p:sp>
      <p:sp>
        <p:nvSpPr>
          <p:cNvPr id="26" name="Text 17"/>
          <p:cNvSpPr txBox="1"/>
          <p:nvPr/>
        </p:nvSpPr>
        <p:spPr>
          <a:xfrm>
            <a:off x="6537960" y="4617720"/>
            <a:ext cx="4983480" cy="16002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Mang, dùng robot, linh kiện, cảm biến, pin, bộ điều khiển, phần mềm riêng</a:t>
            </a:r>
            <a:endParaRPr lang="en-US" sz="1400" dirty="0"/>
          </a:p>
          <a:p>
            <a:pPr marL="203200" indent="-203200">
              <a:spcAft>
                <a:spcPts val="600"/>
              </a:spcAft>
              <a:buSzPct val="100000"/>
              <a:buChar char="•"/>
            </a:pPr>
            <a:r>
              <a:rPr lang="en-US" sz="1400" dirty="0">
                <a:solidFill>
                  <a:srgbClr val="2E1065"/>
                </a:solidFill>
              </a:rPr>
              <a:t>Tháo lắp, thay đổi kết cấu, thay pin, cài đặt lại, can thiệp phần mềm</a:t>
            </a:r>
            <a:endParaRPr lang="en-US" sz="1400" dirty="0"/>
          </a:p>
          <a:p>
            <a:pPr marL="203200" indent="-203200">
              <a:spcAft>
                <a:spcPts val="600"/>
              </a:spcAft>
              <a:buSzPct val="100000"/>
              <a:buChar char="•"/>
            </a:pPr>
            <a:r>
              <a:rPr lang="en-US" sz="1400" dirty="0">
                <a:solidFill>
                  <a:srgbClr val="2E1065"/>
                </a:solidFill>
              </a:rPr>
              <a:t>Tự ý sửa chữa – mọi thao tác kỹ thuật do nhân sự BTC thực hiện</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THIẾT BỊ</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Bàn giao robot và 90 giây làm quen</a:t>
            </a:r>
            <a:endParaRPr lang="en-US" sz="3000" dirty="0"/>
          </a:p>
        </p:txBody>
      </p:sp>
      <p:sp>
        <p:nvSpPr>
          <p:cNvPr id="5" name="Shape 2"/>
          <p:cNvSpPr/>
          <p:nvPr/>
        </p:nvSpPr>
        <p:spPr>
          <a:xfrm>
            <a:off x="548640" y="1371600"/>
            <a:ext cx="2487168" cy="2697480"/>
          </a:xfrm>
          <a:prstGeom prst="roundRect">
            <a:avLst>
              <a:gd name="adj" fmla="val 4412"/>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13232" y="1508760"/>
            <a:ext cx="411480" cy="411480"/>
          </a:xfrm>
          <a:prstGeom prst="ellipse">
            <a:avLst/>
          </a:prstGeom>
          <a:solidFill>
            <a:srgbClr val="7C3AED"/>
          </a:solidFill>
          <a:ln/>
        </p:spPr>
      </p:sp>
      <p:sp>
        <p:nvSpPr>
          <p:cNvPr id="7" name="Text 4"/>
          <p:cNvSpPr txBox="1"/>
          <p:nvPr/>
        </p:nvSpPr>
        <p:spPr>
          <a:xfrm>
            <a:off x="713232" y="15087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Shape 5"/>
          <p:cNvSpPr/>
          <p:nvPr/>
        </p:nvSpPr>
        <p:spPr>
          <a:xfrm>
            <a:off x="1335024" y="1600200"/>
            <a:ext cx="914400" cy="914400"/>
          </a:xfrm>
          <a:prstGeom prst="ellipse">
            <a:avLst/>
          </a:prstGeom>
          <a:solidFill>
            <a:srgbClr val="EDE4FF"/>
          </a:solidFill>
          <a:ln/>
        </p:spPr>
      </p:sp>
      <p:pic>
        <p:nvPicPr>
          <p:cNvPr id="9" name="Image 0" descr="Biểu tượng minh họa">    </p:cNvPr>
          <p:cNvPicPr>
            <a:picLocks noChangeAspect="1"/>
          </p:cNvPicPr>
          <p:nvPr/>
        </p:nvPicPr>
        <p:blipFill>
          <a:blip r:embed="rId1"/>
          <a:stretch>
            <a:fillRect/>
          </a:stretch>
        </p:blipFill>
        <p:spPr>
          <a:xfrm>
            <a:off x="1499616" y="1764792"/>
            <a:ext cx="585216" cy="585216"/>
          </a:xfrm>
          <a:prstGeom prst="rect">
            <a:avLst/>
          </a:prstGeom>
        </p:spPr>
      </p:pic>
      <p:sp>
        <p:nvSpPr>
          <p:cNvPr id="10" name="Text 6"/>
          <p:cNvSpPr txBox="1"/>
          <p:nvPr/>
        </p:nvSpPr>
        <p:spPr>
          <a:xfrm>
            <a:off x="658368" y="2606040"/>
            <a:ext cx="2267712" cy="411480"/>
          </a:xfrm>
          <a:prstGeom prst="rect">
            <a:avLst/>
          </a:prstGeom>
          <a:noFill/>
          <a:ln/>
        </p:spPr>
        <p:txBody>
          <a:bodyPr wrap="square" lIns="0" tIns="0" rIns="0" bIns="0" rtlCol="0" anchor="t"/>
          <a:lstStyle/>
          <a:p>
            <a:pPr algn="ctr" indent="0" marL="0">
              <a:buNone/>
            </a:pPr>
            <a:r>
              <a:rPr lang="en-US" sz="1800" b="1" dirty="0">
                <a:solidFill>
                  <a:srgbClr val="7C3AED"/>
                </a:solidFill>
              </a:rPr>
              <a:t>Nhận robot</a:t>
            </a:r>
            <a:endParaRPr lang="en-US" sz="1800" dirty="0"/>
          </a:p>
        </p:txBody>
      </p:sp>
      <p:sp>
        <p:nvSpPr>
          <p:cNvPr id="11" name="Text 7"/>
          <p:cNvSpPr txBox="1"/>
          <p:nvPr/>
        </p:nvSpPr>
        <p:spPr>
          <a:xfrm>
            <a:off x="685800" y="3017520"/>
            <a:ext cx="2212848" cy="1005840"/>
          </a:xfrm>
          <a:prstGeom prst="rect">
            <a:avLst/>
          </a:prstGeom>
          <a:noFill/>
          <a:ln/>
        </p:spPr>
        <p:txBody>
          <a:bodyPr wrap="square" lIns="0" tIns="0" rIns="0" bIns="0" rtlCol="0" anchor="t"/>
          <a:lstStyle/>
          <a:p>
            <a:pPr algn="ctr" indent="0" marL="0">
              <a:buNone/>
            </a:pPr>
            <a:r>
              <a:rPr lang="en-US" sz="1400" dirty="0">
                <a:solidFill>
                  <a:srgbClr val="2E1065"/>
                </a:solidFill>
              </a:rPr>
              <a:t>Tại Bàn Kỹ thuật; thí sinh Kỹ thuật ký nhận, kiểm tra thiết bị</a:t>
            </a:r>
            <a:endParaRPr lang="en-US" sz="1400" dirty="0"/>
          </a:p>
        </p:txBody>
      </p:sp>
      <p:sp>
        <p:nvSpPr>
          <p:cNvPr id="12" name="Shape 8"/>
          <p:cNvSpPr/>
          <p:nvPr/>
        </p:nvSpPr>
        <p:spPr>
          <a:xfrm>
            <a:off x="3099816" y="2514600"/>
            <a:ext cx="256032" cy="365760"/>
          </a:xfrm>
          <a:prstGeom prst="rightArrow">
            <a:avLst/>
          </a:prstGeom>
          <a:solidFill>
            <a:srgbClr val="8B5CF6"/>
          </a:solidFill>
          <a:ln/>
        </p:spPr>
      </p:sp>
      <p:sp>
        <p:nvSpPr>
          <p:cNvPr id="13" name="Shape 9"/>
          <p:cNvSpPr/>
          <p:nvPr/>
        </p:nvSpPr>
        <p:spPr>
          <a:xfrm>
            <a:off x="3415284" y="1371600"/>
            <a:ext cx="2487168" cy="2697480"/>
          </a:xfrm>
          <a:prstGeom prst="roundRect">
            <a:avLst>
              <a:gd name="adj" fmla="val 4412"/>
            </a:avLst>
          </a:prstGeom>
          <a:solidFill>
            <a:srgbClr val="7C3AED"/>
          </a:solidFill>
          <a:ln/>
          <a:effectLst>
            <a:outerShdw sx="100000" sy="100000" kx="0" ky="0" algn="bl" rotWithShape="0" blurRad="127000" dist="38100" dir="5400000">
              <a:srgbClr val="4C1D95">
                <a:alpha val="16000"/>
              </a:srgbClr>
            </a:outerShdw>
          </a:effectLst>
        </p:spPr>
      </p:sp>
      <p:sp>
        <p:nvSpPr>
          <p:cNvPr id="14" name="Shape 10"/>
          <p:cNvSpPr/>
          <p:nvPr/>
        </p:nvSpPr>
        <p:spPr>
          <a:xfrm>
            <a:off x="3579876" y="1508760"/>
            <a:ext cx="411480" cy="411480"/>
          </a:xfrm>
          <a:prstGeom prst="ellipse">
            <a:avLst/>
          </a:prstGeom>
          <a:solidFill>
            <a:srgbClr val="FDE68A"/>
          </a:solidFill>
          <a:ln/>
        </p:spPr>
      </p:sp>
      <p:sp>
        <p:nvSpPr>
          <p:cNvPr id="15" name="Text 11"/>
          <p:cNvSpPr txBox="1"/>
          <p:nvPr/>
        </p:nvSpPr>
        <p:spPr>
          <a:xfrm>
            <a:off x="3579876" y="1508760"/>
            <a:ext cx="411480" cy="411480"/>
          </a:xfrm>
          <a:prstGeom prst="rect">
            <a:avLst/>
          </a:prstGeom>
          <a:noFill/>
          <a:ln/>
        </p:spPr>
        <p:txBody>
          <a:bodyPr wrap="square" lIns="0" tIns="0" rIns="0" bIns="0" rtlCol="0" anchor="ctr"/>
          <a:lstStyle/>
          <a:p>
            <a:pPr algn="ctr" indent="0" marL="0">
              <a:buNone/>
            </a:pPr>
            <a:r>
              <a:rPr lang="en-US" sz="1500" b="1" dirty="0">
                <a:solidFill>
                  <a:srgbClr val="2E1065"/>
                </a:solidFill>
              </a:rPr>
              <a:t>2</a:t>
            </a:r>
            <a:endParaRPr lang="en-US" sz="1500" dirty="0"/>
          </a:p>
        </p:txBody>
      </p:sp>
      <p:sp>
        <p:nvSpPr>
          <p:cNvPr id="16" name="Shape 12"/>
          <p:cNvSpPr/>
          <p:nvPr/>
        </p:nvSpPr>
        <p:spPr>
          <a:xfrm>
            <a:off x="4201668" y="1600200"/>
            <a:ext cx="914400" cy="914400"/>
          </a:xfrm>
          <a:prstGeom prst="ellipse">
            <a:avLst/>
          </a:prstGeom>
          <a:solidFill>
            <a:srgbClr val="FFFFFF"/>
          </a:solidFill>
          <a:ln/>
        </p:spPr>
      </p:sp>
      <p:pic>
        <p:nvPicPr>
          <p:cNvPr id="17" name="Image 1" descr="Biểu tượng minh họa">    </p:cNvPr>
          <p:cNvPicPr>
            <a:picLocks noChangeAspect="1"/>
          </p:cNvPicPr>
          <p:nvPr/>
        </p:nvPicPr>
        <p:blipFill>
          <a:blip r:embed="rId2"/>
          <a:stretch>
            <a:fillRect/>
          </a:stretch>
        </p:blipFill>
        <p:spPr>
          <a:xfrm>
            <a:off x="4366260" y="1764792"/>
            <a:ext cx="585216" cy="585216"/>
          </a:xfrm>
          <a:prstGeom prst="rect">
            <a:avLst/>
          </a:prstGeom>
        </p:spPr>
      </p:pic>
      <p:sp>
        <p:nvSpPr>
          <p:cNvPr id="18" name="Text 13"/>
          <p:cNvSpPr txBox="1"/>
          <p:nvPr/>
        </p:nvSpPr>
        <p:spPr>
          <a:xfrm>
            <a:off x="3525012" y="2606040"/>
            <a:ext cx="2267712" cy="411480"/>
          </a:xfrm>
          <a:prstGeom prst="rect">
            <a:avLst/>
          </a:prstGeom>
          <a:noFill/>
          <a:ln/>
        </p:spPr>
        <p:txBody>
          <a:bodyPr wrap="square" lIns="0" tIns="0" rIns="0" bIns="0" rtlCol="0" anchor="t"/>
          <a:lstStyle/>
          <a:p>
            <a:pPr algn="ctr" indent="0" marL="0">
              <a:buNone/>
            </a:pPr>
            <a:r>
              <a:rPr lang="en-US" sz="1800" b="1" dirty="0">
                <a:solidFill>
                  <a:srgbClr val="FDE68A"/>
                </a:solidFill>
              </a:rPr>
              <a:t>Làm quen 90 giây</a:t>
            </a:r>
            <a:endParaRPr lang="en-US" sz="1800" dirty="0"/>
          </a:p>
        </p:txBody>
      </p:sp>
      <p:sp>
        <p:nvSpPr>
          <p:cNvPr id="19" name="Text 14"/>
          <p:cNvSpPr txBox="1"/>
          <p:nvPr/>
        </p:nvSpPr>
        <p:spPr>
          <a:xfrm>
            <a:off x="3552444" y="3017520"/>
            <a:ext cx="2212848" cy="1005840"/>
          </a:xfrm>
          <a:prstGeom prst="rect">
            <a:avLst/>
          </a:prstGeom>
          <a:noFill/>
          <a:ln/>
        </p:spPr>
        <p:txBody>
          <a:bodyPr wrap="square" lIns="0" tIns="0" rIns="0" bIns="0" rtlCol="0" anchor="t"/>
          <a:lstStyle/>
          <a:p>
            <a:pPr algn="ctr" indent="0" marL="0">
              <a:buNone/>
            </a:pPr>
            <a:r>
              <a:rPr lang="en-US" sz="1400" dirty="0">
                <a:solidFill>
                  <a:srgbClr val="FFFFFF"/>
                </a:solidFill>
              </a:rPr>
              <a:t>Chạy thử, căn tốc độ, thử cơ cấu gắp, cảm nhận mặt sân, quan sát đạo cụ</a:t>
            </a:r>
            <a:endParaRPr lang="en-US" sz="1400" dirty="0"/>
          </a:p>
        </p:txBody>
      </p:sp>
      <p:sp>
        <p:nvSpPr>
          <p:cNvPr id="20" name="Shape 15"/>
          <p:cNvSpPr/>
          <p:nvPr/>
        </p:nvSpPr>
        <p:spPr>
          <a:xfrm>
            <a:off x="5966460" y="2514600"/>
            <a:ext cx="256032" cy="365760"/>
          </a:xfrm>
          <a:prstGeom prst="rightArrow">
            <a:avLst/>
          </a:prstGeom>
          <a:solidFill>
            <a:srgbClr val="8B5CF6"/>
          </a:solidFill>
          <a:ln/>
        </p:spPr>
      </p:sp>
      <p:sp>
        <p:nvSpPr>
          <p:cNvPr id="21" name="Shape 16"/>
          <p:cNvSpPr/>
          <p:nvPr/>
        </p:nvSpPr>
        <p:spPr>
          <a:xfrm>
            <a:off x="6281928" y="1371600"/>
            <a:ext cx="2487168" cy="2697480"/>
          </a:xfrm>
          <a:prstGeom prst="roundRect">
            <a:avLst>
              <a:gd name="adj" fmla="val 4412"/>
            </a:avLst>
          </a:prstGeom>
          <a:solidFill>
            <a:srgbClr val="FFFFFF"/>
          </a:solidFill>
          <a:ln/>
          <a:effectLst>
            <a:outerShdw sx="100000" sy="100000" kx="0" ky="0" algn="bl" rotWithShape="0" blurRad="127000" dist="38100" dir="5400000">
              <a:srgbClr val="4C1D95">
                <a:alpha val="16000"/>
              </a:srgbClr>
            </a:outerShdw>
          </a:effectLst>
        </p:spPr>
      </p:sp>
      <p:sp>
        <p:nvSpPr>
          <p:cNvPr id="22" name="Shape 17"/>
          <p:cNvSpPr/>
          <p:nvPr/>
        </p:nvSpPr>
        <p:spPr>
          <a:xfrm>
            <a:off x="6446520" y="1508760"/>
            <a:ext cx="411480" cy="411480"/>
          </a:xfrm>
          <a:prstGeom prst="ellipse">
            <a:avLst/>
          </a:prstGeom>
          <a:solidFill>
            <a:srgbClr val="7C3AED"/>
          </a:solidFill>
          <a:ln/>
        </p:spPr>
      </p:sp>
      <p:sp>
        <p:nvSpPr>
          <p:cNvPr id="23" name="Text 18"/>
          <p:cNvSpPr txBox="1"/>
          <p:nvPr/>
        </p:nvSpPr>
        <p:spPr>
          <a:xfrm>
            <a:off x="6446520" y="15087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4" name="Shape 19"/>
          <p:cNvSpPr/>
          <p:nvPr/>
        </p:nvSpPr>
        <p:spPr>
          <a:xfrm>
            <a:off x="7068312" y="1600200"/>
            <a:ext cx="914400" cy="914400"/>
          </a:xfrm>
          <a:prstGeom prst="ellipse">
            <a:avLst/>
          </a:prstGeom>
          <a:solidFill>
            <a:srgbClr val="EDE4FF"/>
          </a:solidFill>
          <a:ln/>
        </p:spPr>
      </p:sp>
      <p:pic>
        <p:nvPicPr>
          <p:cNvPr id="25" name="Image 2" descr="Biểu tượng minh họa">    </p:cNvPr>
          <p:cNvPicPr>
            <a:picLocks noChangeAspect="1"/>
          </p:cNvPicPr>
          <p:nvPr/>
        </p:nvPicPr>
        <p:blipFill>
          <a:blip r:embed="rId3"/>
          <a:stretch>
            <a:fillRect/>
          </a:stretch>
        </p:blipFill>
        <p:spPr>
          <a:xfrm>
            <a:off x="7232904" y="1764792"/>
            <a:ext cx="585216" cy="585216"/>
          </a:xfrm>
          <a:prstGeom prst="rect">
            <a:avLst/>
          </a:prstGeom>
        </p:spPr>
      </p:pic>
      <p:sp>
        <p:nvSpPr>
          <p:cNvPr id="26" name="Text 20"/>
          <p:cNvSpPr txBox="1"/>
          <p:nvPr/>
        </p:nvSpPr>
        <p:spPr>
          <a:xfrm>
            <a:off x="6391656" y="2606040"/>
            <a:ext cx="2267712" cy="411480"/>
          </a:xfrm>
          <a:prstGeom prst="rect">
            <a:avLst/>
          </a:prstGeom>
          <a:noFill/>
          <a:ln/>
        </p:spPr>
        <p:txBody>
          <a:bodyPr wrap="square" lIns="0" tIns="0" rIns="0" bIns="0" rtlCol="0" anchor="t"/>
          <a:lstStyle/>
          <a:p>
            <a:pPr algn="ctr" indent="0" marL="0">
              <a:buNone/>
            </a:pPr>
            <a:r>
              <a:rPr lang="en-US" sz="1800" b="1" dirty="0">
                <a:solidFill>
                  <a:srgbClr val="7C3AED"/>
                </a:solidFill>
              </a:rPr>
              <a:t>Về Khu Căn cứ</a:t>
            </a:r>
            <a:endParaRPr lang="en-US" sz="1800" dirty="0"/>
          </a:p>
        </p:txBody>
      </p:sp>
      <p:sp>
        <p:nvSpPr>
          <p:cNvPr id="27" name="Text 21"/>
          <p:cNvSpPr txBox="1"/>
          <p:nvPr/>
        </p:nvSpPr>
        <p:spPr>
          <a:xfrm>
            <a:off x="6419088" y="3017520"/>
            <a:ext cx="2212848" cy="1005840"/>
          </a:xfrm>
          <a:prstGeom prst="rect">
            <a:avLst/>
          </a:prstGeom>
          <a:noFill/>
          <a:ln/>
        </p:spPr>
        <p:txBody>
          <a:bodyPr wrap="square" lIns="0" tIns="0" rIns="0" bIns="0" rtlCol="0" anchor="t"/>
          <a:lstStyle/>
          <a:p>
            <a:pPr algn="ctr" indent="0" marL="0">
              <a:buNone/>
            </a:pPr>
            <a:r>
              <a:rPr lang="en-US" sz="1400" dirty="0">
                <a:solidFill>
                  <a:srgbClr val="2E1065"/>
                </a:solidFill>
              </a:rPr>
              <a:t>Hết 90 giây: đưa robot về Căn cứ; trọng tài đặt lại đạo cụ</a:t>
            </a:r>
            <a:endParaRPr lang="en-US" sz="1400" dirty="0"/>
          </a:p>
        </p:txBody>
      </p:sp>
      <p:sp>
        <p:nvSpPr>
          <p:cNvPr id="28" name="Shape 22"/>
          <p:cNvSpPr/>
          <p:nvPr/>
        </p:nvSpPr>
        <p:spPr>
          <a:xfrm>
            <a:off x="8833104" y="2514600"/>
            <a:ext cx="256032" cy="365760"/>
          </a:xfrm>
          <a:prstGeom prst="rightArrow">
            <a:avLst/>
          </a:prstGeom>
          <a:solidFill>
            <a:srgbClr val="8B5CF6"/>
          </a:solidFill>
          <a:ln/>
        </p:spPr>
      </p:sp>
      <p:sp>
        <p:nvSpPr>
          <p:cNvPr id="29" name="Shape 23"/>
          <p:cNvSpPr/>
          <p:nvPr/>
        </p:nvSpPr>
        <p:spPr>
          <a:xfrm>
            <a:off x="9148572" y="1371600"/>
            <a:ext cx="2487168" cy="2697480"/>
          </a:xfrm>
          <a:prstGeom prst="roundRect">
            <a:avLst>
              <a:gd name="adj" fmla="val 4412"/>
            </a:avLst>
          </a:prstGeom>
          <a:solidFill>
            <a:srgbClr val="FFFFFF"/>
          </a:solidFill>
          <a:ln/>
          <a:effectLst>
            <a:outerShdw sx="100000" sy="100000" kx="0" ky="0" algn="bl" rotWithShape="0" blurRad="127000" dist="38100" dir="5400000">
              <a:srgbClr val="4C1D95">
                <a:alpha val="16000"/>
              </a:srgbClr>
            </a:outerShdw>
          </a:effectLst>
        </p:spPr>
      </p:sp>
      <p:sp>
        <p:nvSpPr>
          <p:cNvPr id="30" name="Shape 24"/>
          <p:cNvSpPr/>
          <p:nvPr/>
        </p:nvSpPr>
        <p:spPr>
          <a:xfrm>
            <a:off x="9313164" y="1508760"/>
            <a:ext cx="411480" cy="411480"/>
          </a:xfrm>
          <a:prstGeom prst="ellipse">
            <a:avLst/>
          </a:prstGeom>
          <a:solidFill>
            <a:srgbClr val="7C3AED"/>
          </a:solidFill>
          <a:ln/>
        </p:spPr>
      </p:sp>
      <p:sp>
        <p:nvSpPr>
          <p:cNvPr id="31" name="Text 25"/>
          <p:cNvSpPr txBox="1"/>
          <p:nvPr/>
        </p:nvSpPr>
        <p:spPr>
          <a:xfrm>
            <a:off x="9313164" y="15087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2" name="Shape 26"/>
          <p:cNvSpPr/>
          <p:nvPr/>
        </p:nvSpPr>
        <p:spPr>
          <a:xfrm>
            <a:off x="9934956" y="1600200"/>
            <a:ext cx="914400" cy="914400"/>
          </a:xfrm>
          <a:prstGeom prst="ellipse">
            <a:avLst/>
          </a:prstGeom>
          <a:solidFill>
            <a:srgbClr val="EDE4FF"/>
          </a:solidFill>
          <a:ln/>
        </p:spPr>
      </p:sp>
      <p:pic>
        <p:nvPicPr>
          <p:cNvPr id="33" name="Image 3" descr="Biểu tượng minh họa">    </p:cNvPr>
          <p:cNvPicPr>
            <a:picLocks noChangeAspect="1"/>
          </p:cNvPicPr>
          <p:nvPr/>
        </p:nvPicPr>
        <p:blipFill>
          <a:blip r:embed="rId4"/>
          <a:stretch>
            <a:fillRect/>
          </a:stretch>
        </p:blipFill>
        <p:spPr>
          <a:xfrm>
            <a:off x="10099548" y="1764792"/>
            <a:ext cx="585216" cy="585216"/>
          </a:xfrm>
          <a:prstGeom prst="rect">
            <a:avLst/>
          </a:prstGeom>
        </p:spPr>
      </p:pic>
      <p:sp>
        <p:nvSpPr>
          <p:cNvPr id="34" name="Text 27"/>
          <p:cNvSpPr txBox="1"/>
          <p:nvPr/>
        </p:nvSpPr>
        <p:spPr>
          <a:xfrm>
            <a:off x="9258300" y="2606040"/>
            <a:ext cx="2267712" cy="411480"/>
          </a:xfrm>
          <a:prstGeom prst="rect">
            <a:avLst/>
          </a:prstGeom>
          <a:noFill/>
          <a:ln/>
        </p:spPr>
        <p:txBody>
          <a:bodyPr wrap="square" lIns="0" tIns="0" rIns="0" bIns="0" rtlCol="0" anchor="t"/>
          <a:lstStyle/>
          <a:p>
            <a:pPr algn="ctr" indent="0" marL="0">
              <a:buNone/>
            </a:pPr>
            <a:r>
              <a:rPr lang="en-US" sz="1800" b="1" dirty="0">
                <a:solidFill>
                  <a:srgbClr val="7C3AED"/>
                </a:solidFill>
              </a:rPr>
              <a:t>Hoàn trả robot</a:t>
            </a:r>
            <a:endParaRPr lang="en-US" sz="1800" dirty="0"/>
          </a:p>
        </p:txBody>
      </p:sp>
      <p:sp>
        <p:nvSpPr>
          <p:cNvPr id="35" name="Text 28"/>
          <p:cNvSpPr txBox="1"/>
          <p:nvPr/>
        </p:nvSpPr>
        <p:spPr>
          <a:xfrm>
            <a:off x="9285732" y="3017520"/>
            <a:ext cx="2212848" cy="1005840"/>
          </a:xfrm>
          <a:prstGeom prst="rect">
            <a:avLst/>
          </a:prstGeom>
          <a:noFill/>
          <a:ln/>
        </p:spPr>
        <p:txBody>
          <a:bodyPr wrap="square" lIns="0" tIns="0" rIns="0" bIns="0" rtlCol="0" anchor="t"/>
          <a:lstStyle/>
          <a:p>
            <a:pPr algn="ctr" indent="0" marL="0">
              <a:buNone/>
            </a:pPr>
            <a:r>
              <a:rPr lang="en-US" sz="1400" dirty="0">
                <a:solidFill>
                  <a:srgbClr val="2E1065"/>
                </a:solidFill>
              </a:rPr>
              <a:t>Ngay sau lượt đấu: trả robot, bộ điều khiển tại Bàn Kỹ thuật</a:t>
            </a:r>
            <a:endParaRPr lang="en-US" sz="1400" dirty="0"/>
          </a:p>
        </p:txBody>
      </p:sp>
      <p:sp>
        <p:nvSpPr>
          <p:cNvPr id="36" name="Shape 29"/>
          <p:cNvSpPr/>
          <p:nvPr/>
        </p:nvSpPr>
        <p:spPr>
          <a:xfrm>
            <a:off x="548640" y="4297680"/>
            <a:ext cx="6355080" cy="1965960"/>
          </a:xfrm>
          <a:prstGeom prst="roundRect">
            <a:avLst>
              <a:gd name="adj" fmla="val 5581"/>
            </a:avLst>
          </a:prstGeom>
          <a:solidFill>
            <a:srgbClr val="FFEDD5"/>
          </a:solidFill>
          <a:ln/>
          <a:effectLst>
            <a:outerShdw sx="100000" sy="100000" kx="0" ky="0" algn="bl" rotWithShape="0" blurRad="127000" dist="38100" dir="5400000">
              <a:srgbClr val="4C1D95">
                <a:alpha val="16000"/>
              </a:srgbClr>
            </a:outerShdw>
          </a:effectLst>
        </p:spPr>
      </p:sp>
      <p:pic>
        <p:nvPicPr>
          <p:cNvPr id="37" name="Image 4" descr="Biểu tượng minh họa">    </p:cNvPr>
          <p:cNvPicPr>
            <a:picLocks noChangeAspect="1"/>
          </p:cNvPicPr>
          <p:nvPr/>
        </p:nvPicPr>
        <p:blipFill>
          <a:blip r:embed="rId5"/>
          <a:stretch>
            <a:fillRect/>
          </a:stretch>
        </p:blipFill>
        <p:spPr>
          <a:xfrm>
            <a:off x="731520" y="4434840"/>
            <a:ext cx="594360" cy="594360"/>
          </a:xfrm>
          <a:prstGeom prst="rect">
            <a:avLst/>
          </a:prstGeom>
        </p:spPr>
      </p:pic>
      <p:sp>
        <p:nvSpPr>
          <p:cNvPr id="38" name="Text 30"/>
          <p:cNvSpPr txBox="1"/>
          <p:nvPr/>
        </p:nvSpPr>
        <p:spPr>
          <a:xfrm>
            <a:off x="1463040" y="4434840"/>
            <a:ext cx="5303520" cy="548640"/>
          </a:xfrm>
          <a:prstGeom prst="rect">
            <a:avLst/>
          </a:prstGeom>
          <a:noFill/>
          <a:ln/>
        </p:spPr>
        <p:txBody>
          <a:bodyPr wrap="square" lIns="0" tIns="0" rIns="0" bIns="0" rtlCol="0" anchor="ctr"/>
          <a:lstStyle/>
          <a:p>
            <a:pPr indent="0" marL="0">
              <a:buNone/>
            </a:pPr>
            <a:r>
              <a:rPr lang="en-US" sz="1800" b="1" dirty="0">
                <a:solidFill>
                  <a:srgbClr val="EA580C"/>
                </a:solidFill>
              </a:rPr>
              <a:t>Trong 90 giây làm quen</a:t>
            </a:r>
            <a:endParaRPr lang="en-US" sz="1800" dirty="0"/>
          </a:p>
        </p:txBody>
      </p:sp>
      <p:sp>
        <p:nvSpPr>
          <p:cNvPr id="39" name="Text 31"/>
          <p:cNvSpPr txBox="1"/>
          <p:nvPr/>
        </p:nvSpPr>
        <p:spPr>
          <a:xfrm>
            <a:off x="731520" y="5029200"/>
            <a:ext cx="6035040" cy="1188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KHÔNG chạm đạo cụ, KHÔNG di chuyển khối, KHÔNG đưa khối về Căn cứ (−5 điểm/lần, trừ vào lượt chính thức)</a:t>
            </a:r>
            <a:endParaRPr lang="en-US" sz="1400" dirty="0"/>
          </a:p>
          <a:p>
            <a:pPr marL="203200" indent="-203200">
              <a:spcAft>
                <a:spcPts val="600"/>
              </a:spcAft>
              <a:buSzPct val="100000"/>
              <a:buChar char="•"/>
            </a:pPr>
            <a:r>
              <a:rPr lang="en-US" sz="1400" dirty="0">
                <a:solidFill>
                  <a:srgbClr val="2E1065"/>
                </a:solidFill>
              </a:rPr>
              <a:t>Điểm số không được tính trong thời gian này</a:t>
            </a:r>
            <a:endParaRPr lang="en-US" sz="1400" dirty="0"/>
          </a:p>
          <a:p>
            <a:pPr marL="203200" indent="-203200">
              <a:spcAft>
                <a:spcPts val="600"/>
              </a:spcAft>
              <a:buSzPct val="100000"/>
              <a:buChar char="•"/>
            </a:pPr>
            <a:r>
              <a:rPr lang="en-US" sz="1400" dirty="0">
                <a:solidFill>
                  <a:srgbClr val="2E1065"/>
                </a:solidFill>
              </a:rPr>
              <a:t>Mọi ý kiến về sa bàn, đạo cụ, thiết bị phải nêu NGAY trong 90 giây</a:t>
            </a:r>
            <a:endParaRPr lang="en-US" sz="1400" dirty="0"/>
          </a:p>
        </p:txBody>
      </p:sp>
      <p:sp>
        <p:nvSpPr>
          <p:cNvPr id="40" name="Shape 32"/>
          <p:cNvSpPr/>
          <p:nvPr/>
        </p:nvSpPr>
        <p:spPr>
          <a:xfrm>
            <a:off x="7132320" y="4297680"/>
            <a:ext cx="4507992" cy="1965960"/>
          </a:xfrm>
          <a:prstGeom prst="roundRect">
            <a:avLst>
              <a:gd name="adj" fmla="val 5581"/>
            </a:avLst>
          </a:prstGeom>
          <a:solidFill>
            <a:srgbClr val="FEE2E2"/>
          </a:solidFill>
          <a:ln/>
          <a:effectLst>
            <a:outerShdw sx="100000" sy="100000" kx="0" ky="0" algn="bl" rotWithShape="0" blurRad="127000" dist="38100" dir="5400000">
              <a:srgbClr val="4C1D95">
                <a:alpha val="16000"/>
              </a:srgbClr>
            </a:outerShdw>
          </a:effectLst>
        </p:spPr>
      </p:sp>
      <p:pic>
        <p:nvPicPr>
          <p:cNvPr id="41" name="Image 5" descr="Biểu tượng minh họa">    </p:cNvPr>
          <p:cNvPicPr>
            <a:picLocks noChangeAspect="1"/>
          </p:cNvPicPr>
          <p:nvPr/>
        </p:nvPicPr>
        <p:blipFill>
          <a:blip r:embed="rId6"/>
          <a:stretch>
            <a:fillRect/>
          </a:stretch>
        </p:blipFill>
        <p:spPr>
          <a:xfrm>
            <a:off x="7315200" y="4434840"/>
            <a:ext cx="594360" cy="594360"/>
          </a:xfrm>
          <a:prstGeom prst="rect">
            <a:avLst/>
          </a:prstGeom>
        </p:spPr>
      </p:pic>
      <p:sp>
        <p:nvSpPr>
          <p:cNvPr id="42" name="Text 33"/>
          <p:cNvSpPr txBox="1"/>
          <p:nvPr/>
        </p:nvSpPr>
        <p:spPr>
          <a:xfrm>
            <a:off x="8046720" y="4434840"/>
            <a:ext cx="3474720" cy="548640"/>
          </a:xfrm>
          <a:prstGeom prst="rect">
            <a:avLst/>
          </a:prstGeom>
          <a:noFill/>
          <a:ln/>
        </p:spPr>
        <p:txBody>
          <a:bodyPr wrap="square" lIns="0" tIns="0" rIns="0" bIns="0" rtlCol="0" anchor="ctr"/>
          <a:lstStyle/>
          <a:p>
            <a:pPr indent="0" marL="0">
              <a:buNone/>
            </a:pPr>
            <a:r>
              <a:rPr lang="en-US" sz="1800" b="1" dirty="0">
                <a:solidFill>
                  <a:srgbClr val="DC2626"/>
                </a:solidFill>
              </a:rPr>
              <a:t>Đúng giờ khi được gọi trận!</a:t>
            </a:r>
            <a:endParaRPr lang="en-US" sz="1800" dirty="0"/>
          </a:p>
        </p:txBody>
      </p:sp>
      <p:sp>
        <p:nvSpPr>
          <p:cNvPr id="43" name="Text 34"/>
          <p:cNvSpPr txBox="1"/>
          <p:nvPr/>
        </p:nvSpPr>
        <p:spPr>
          <a:xfrm>
            <a:off x="7315200" y="5029200"/>
            <a:ext cx="4206240" cy="1188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Sau 03 phút vẫn không có mặt → xử thua lượt đó (0 điểm nhiệm vụ, 0 điểm trận)</a:t>
            </a:r>
            <a:endParaRPr lang="en-US" sz="1400" dirty="0"/>
          </a:p>
          <a:p>
            <a:pPr marL="203200" indent="-203200">
              <a:spcAft>
                <a:spcPts val="600"/>
              </a:spcAft>
              <a:buSzPct val="100000"/>
              <a:buChar char="•"/>
            </a:pPr>
            <a:r>
              <a:rPr lang="en-US" sz="1400" dirty="0">
                <a:solidFill>
                  <a:srgbClr val="2E1065"/>
                </a:solidFill>
              </a:rPr>
              <a:t>Vắng cả 02 lượt của cặp đấu → coi là bỏ cuộc, loại khỏi giải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03</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3</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Sa bàn &amp; đạo cụ</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Bố cục sân “Chinh phục Vũ trụ”, các loại khối tài nguyên và nguyên tắc mặt sân</a:t>
            </a:r>
            <a:endParaRPr lang="en-US" sz="1800" dirty="0"/>
          </a:p>
        </p:txBody>
      </p:sp>
      <p:sp>
        <p:nvSpPr>
          <p:cNvPr id="6" name="Shape 4"/>
          <p:cNvSpPr/>
          <p:nvPr/>
        </p:nvSpPr>
        <p:spPr>
          <a:xfrm>
            <a:off x="7543800" y="1143000"/>
            <a:ext cx="4023360" cy="4023360"/>
          </a:xfrm>
          <a:prstGeom prst="ellipse">
            <a:avLst/>
          </a:prstGeom>
          <a:solidFill>
            <a:srgbClr val="FFFFFF">
              <a:alpha val="12000"/>
            </a:srgbClr>
          </a:solidFill>
          <a:ln/>
        </p:spPr>
      </p:sp>
      <p:sp>
        <p:nvSpPr>
          <p:cNvPr id="7" name="Shape 5"/>
          <p:cNvSpPr/>
          <p:nvPr/>
        </p:nvSpPr>
        <p:spPr>
          <a:xfrm>
            <a:off x="8001000" y="1600200"/>
            <a:ext cx="3108960" cy="3108960"/>
          </a:xfrm>
          <a:prstGeom prst="ellipse">
            <a:avLst/>
          </a:prstGeom>
          <a:solidFill>
            <a:srgbClr val="FFFFFF">
              <a:alpha val="20000"/>
            </a:srgbClr>
          </a:solidFill>
          <a:ln/>
        </p:spPr>
      </p:sp>
      <p:pic>
        <p:nvPicPr>
          <p:cNvPr id="8" name="Image 0" descr="Biểu tượng minh họa">    </p:cNvPr>
          <p:cNvPicPr>
            <a:picLocks noChangeAspect="1"/>
          </p:cNvPicPr>
          <p:nvPr/>
        </p:nvPicPr>
        <p:blipFill>
          <a:blip r:embed="rId1"/>
          <a:stretch>
            <a:fillRect/>
          </a:stretch>
        </p:blipFill>
        <p:spPr>
          <a:xfrm>
            <a:off x="8412480" y="2011680"/>
            <a:ext cx="2286000" cy="22860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SA BÀN</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Sa bàn thi đấu “Chinh phục Vũ trụ”</a:t>
            </a:r>
            <a:endParaRPr lang="en-US" sz="3000" dirty="0"/>
          </a:p>
        </p:txBody>
      </p:sp>
      <p:pic>
        <p:nvPicPr>
          <p:cNvPr id="5" name="RR_sabam_th_full_jpg" descr="Sơ đồ sa bàn thi đấu và vị trí đặt khối (Phụ lục 01)">    </p:cNvPr>
          <p:cNvPicPr>
            <a:picLocks noChangeAspect="1"/>
          </p:cNvPicPr>
          <p:nvPr/>
        </p:nvPicPr>
        <p:blipFill>
          <a:blip r:embed="rId1"/>
          <a:stretch>
            <a:fillRect/>
          </a:stretch>
        </p:blipFill>
        <p:spPr>
          <a:xfrm>
            <a:off x="548640" y="1325880"/>
            <a:ext cx="7269480" cy="498348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6" name="Shape 2"/>
          <p:cNvSpPr/>
          <p:nvPr/>
        </p:nvSpPr>
        <p:spPr>
          <a:xfrm>
            <a:off x="8092440" y="1325880"/>
            <a:ext cx="3547872" cy="1133856"/>
          </a:xfrm>
          <a:prstGeom prst="roundRect">
            <a:avLst>
              <a:gd name="adj" fmla="val 9677"/>
            </a:avLst>
          </a:prstGeom>
          <a:solidFill>
            <a:srgbClr val="FFFFFF"/>
          </a:solidFill>
          <a:ln/>
          <a:effectLst>
            <a:outerShdw sx="100000" sy="100000" kx="0" ky="0" algn="bl" rotWithShape="0" blurRad="127000" dist="38100" dir="5400000">
              <a:srgbClr val="4C1D95">
                <a:alpha val="16000"/>
              </a:srgbClr>
            </a:outerShdw>
          </a:effectLst>
        </p:spPr>
      </p:sp>
      <p:sp>
        <p:nvSpPr>
          <p:cNvPr id="7" name="Shape 3"/>
          <p:cNvSpPr/>
          <p:nvPr/>
        </p:nvSpPr>
        <p:spPr>
          <a:xfrm>
            <a:off x="8229600" y="1527048"/>
            <a:ext cx="731520" cy="731520"/>
          </a:xfrm>
          <a:prstGeom prst="ellipse">
            <a:avLst/>
          </a:prstGeom>
          <a:solidFill>
            <a:srgbClr val="EDE4FF"/>
          </a:solidFill>
          <a:ln/>
        </p:spPr>
      </p:sp>
      <p:pic>
        <p:nvPicPr>
          <p:cNvPr id="8" name="Image 1" descr="Biểu tượng minh họa">    </p:cNvPr>
          <p:cNvPicPr>
            <a:picLocks noChangeAspect="1"/>
          </p:cNvPicPr>
          <p:nvPr/>
        </p:nvPicPr>
        <p:blipFill>
          <a:blip r:embed="rId2"/>
          <a:stretch>
            <a:fillRect/>
          </a:stretch>
        </p:blipFill>
        <p:spPr>
          <a:xfrm>
            <a:off x="8361274" y="1658722"/>
            <a:ext cx="468173" cy="468173"/>
          </a:xfrm>
          <a:prstGeom prst="rect">
            <a:avLst/>
          </a:prstGeom>
        </p:spPr>
      </p:pic>
      <p:sp>
        <p:nvSpPr>
          <p:cNvPr id="9" name="Text 4"/>
          <p:cNvSpPr txBox="1"/>
          <p:nvPr/>
        </p:nvSpPr>
        <p:spPr>
          <a:xfrm>
            <a:off x="9098280" y="1417320"/>
            <a:ext cx="2468880" cy="365760"/>
          </a:xfrm>
          <a:prstGeom prst="rect">
            <a:avLst/>
          </a:prstGeom>
          <a:noFill/>
          <a:ln/>
        </p:spPr>
        <p:txBody>
          <a:bodyPr wrap="square" lIns="0" tIns="0" rIns="0" bIns="0" rtlCol="0" anchor="t"/>
          <a:lstStyle/>
          <a:p>
            <a:pPr indent="0" marL="0">
              <a:buNone/>
            </a:pPr>
            <a:r>
              <a:rPr lang="en-US" sz="1600" b="1" dirty="0">
                <a:solidFill>
                  <a:srgbClr val="7C3AED"/>
                </a:solidFill>
              </a:rPr>
              <a:t>Chủ đề</a:t>
            </a:r>
            <a:endParaRPr lang="en-US" sz="1600" dirty="0"/>
          </a:p>
        </p:txBody>
      </p:sp>
      <p:sp>
        <p:nvSpPr>
          <p:cNvPr id="10" name="Text 5"/>
          <p:cNvSpPr txBox="1"/>
          <p:nvPr/>
        </p:nvSpPr>
        <p:spPr>
          <a:xfrm>
            <a:off x="9098280" y="1783080"/>
            <a:ext cx="2468880" cy="640080"/>
          </a:xfrm>
          <a:prstGeom prst="rect">
            <a:avLst/>
          </a:prstGeom>
          <a:noFill/>
          <a:ln/>
        </p:spPr>
        <p:txBody>
          <a:bodyPr wrap="square" lIns="0" tIns="0" rIns="0" bIns="0" rtlCol="0" anchor="t"/>
          <a:lstStyle/>
          <a:p>
            <a:pPr indent="0" marL="0">
              <a:buNone/>
            </a:pPr>
            <a:r>
              <a:rPr lang="en-US" sz="1300" dirty="0">
                <a:solidFill>
                  <a:srgbClr val="2E1065"/>
                </a:solidFill>
              </a:rPr>
              <a:t>“Chinh phục Vũ trụ” – sa bàn chuyên dụng do BTC bố trí</a:t>
            </a:r>
            <a:endParaRPr lang="en-US" sz="1300" dirty="0"/>
          </a:p>
        </p:txBody>
      </p:sp>
      <p:sp>
        <p:nvSpPr>
          <p:cNvPr id="11" name="Shape 6"/>
          <p:cNvSpPr/>
          <p:nvPr/>
        </p:nvSpPr>
        <p:spPr>
          <a:xfrm>
            <a:off x="8092440" y="2596896"/>
            <a:ext cx="3547872" cy="1133856"/>
          </a:xfrm>
          <a:prstGeom prst="roundRect">
            <a:avLst>
              <a:gd name="adj" fmla="val 9677"/>
            </a:avLst>
          </a:prstGeom>
          <a:solidFill>
            <a:srgbClr val="FFFFFF"/>
          </a:solidFill>
          <a:ln/>
          <a:effectLst>
            <a:outerShdw sx="100000" sy="100000" kx="0" ky="0" algn="bl" rotWithShape="0" blurRad="127000" dist="38100" dir="5400000">
              <a:srgbClr val="4C1D95">
                <a:alpha val="16000"/>
              </a:srgbClr>
            </a:outerShdw>
          </a:effectLst>
        </p:spPr>
      </p:sp>
      <p:sp>
        <p:nvSpPr>
          <p:cNvPr id="12" name="Shape 7"/>
          <p:cNvSpPr/>
          <p:nvPr/>
        </p:nvSpPr>
        <p:spPr>
          <a:xfrm>
            <a:off x="8229600" y="2798064"/>
            <a:ext cx="731520" cy="731520"/>
          </a:xfrm>
          <a:prstGeom prst="ellipse">
            <a:avLst/>
          </a:prstGeom>
          <a:solidFill>
            <a:srgbClr val="EDE4FF"/>
          </a:solidFill>
          <a:ln/>
        </p:spPr>
      </p:sp>
      <p:pic>
        <p:nvPicPr>
          <p:cNvPr id="13" name="Image 2" descr="Biểu tượng minh họa">    </p:cNvPr>
          <p:cNvPicPr>
            <a:picLocks noChangeAspect="1"/>
          </p:cNvPicPr>
          <p:nvPr/>
        </p:nvPicPr>
        <p:blipFill>
          <a:blip r:embed="rId3"/>
          <a:stretch>
            <a:fillRect/>
          </a:stretch>
        </p:blipFill>
        <p:spPr>
          <a:xfrm>
            <a:off x="8361274" y="2929738"/>
            <a:ext cx="468173" cy="468173"/>
          </a:xfrm>
          <a:prstGeom prst="rect">
            <a:avLst/>
          </a:prstGeom>
        </p:spPr>
      </p:pic>
      <p:sp>
        <p:nvSpPr>
          <p:cNvPr id="14" name="Text 8"/>
          <p:cNvSpPr txBox="1"/>
          <p:nvPr/>
        </p:nvSpPr>
        <p:spPr>
          <a:xfrm>
            <a:off x="9098280" y="2688336"/>
            <a:ext cx="2468880" cy="365760"/>
          </a:xfrm>
          <a:prstGeom prst="rect">
            <a:avLst/>
          </a:prstGeom>
          <a:noFill/>
          <a:ln/>
        </p:spPr>
        <p:txBody>
          <a:bodyPr wrap="square" lIns="0" tIns="0" rIns="0" bIns="0" rtlCol="0" anchor="t"/>
          <a:lstStyle/>
          <a:p>
            <a:pPr indent="0" marL="0">
              <a:buNone/>
            </a:pPr>
            <a:r>
              <a:rPr lang="en-US" sz="1600" b="1" dirty="0">
                <a:solidFill>
                  <a:srgbClr val="7C3AED"/>
                </a:solidFill>
              </a:rPr>
              <a:t>Kích thước thảm</a:t>
            </a:r>
            <a:endParaRPr lang="en-US" sz="1600" dirty="0"/>
          </a:p>
        </p:txBody>
      </p:sp>
      <p:sp>
        <p:nvSpPr>
          <p:cNvPr id="15" name="Text 9"/>
          <p:cNvSpPr txBox="1"/>
          <p:nvPr/>
        </p:nvSpPr>
        <p:spPr>
          <a:xfrm>
            <a:off x="9098280" y="3054096"/>
            <a:ext cx="2468880" cy="640080"/>
          </a:xfrm>
          <a:prstGeom prst="rect">
            <a:avLst/>
          </a:prstGeom>
          <a:noFill/>
          <a:ln/>
        </p:spPr>
        <p:txBody>
          <a:bodyPr wrap="square" lIns="0" tIns="0" rIns="0" bIns="0" rtlCol="0" anchor="t"/>
          <a:lstStyle/>
          <a:p>
            <a:pPr indent="0" marL="0">
              <a:buNone/>
            </a:pPr>
            <a:r>
              <a:rPr lang="en-US" sz="1300" dirty="0">
                <a:solidFill>
                  <a:srgbClr val="2E1065"/>
                </a:solidFill>
              </a:rPr>
              <a:t>2.400 × 1.200 mm (danh định)</a:t>
            </a:r>
            <a:endParaRPr lang="en-US" sz="1300" dirty="0"/>
          </a:p>
        </p:txBody>
      </p:sp>
      <p:sp>
        <p:nvSpPr>
          <p:cNvPr id="16" name="Shape 10"/>
          <p:cNvSpPr/>
          <p:nvPr/>
        </p:nvSpPr>
        <p:spPr>
          <a:xfrm>
            <a:off x="8092440" y="3867912"/>
            <a:ext cx="3547872" cy="1133856"/>
          </a:xfrm>
          <a:prstGeom prst="roundRect">
            <a:avLst>
              <a:gd name="adj" fmla="val 9677"/>
            </a:avLst>
          </a:prstGeom>
          <a:solidFill>
            <a:srgbClr val="FFFFFF"/>
          </a:solidFill>
          <a:ln/>
          <a:effectLst>
            <a:outerShdw sx="100000" sy="100000" kx="0" ky="0" algn="bl" rotWithShape="0" blurRad="127000" dist="38100" dir="5400000">
              <a:srgbClr val="4C1D95">
                <a:alpha val="16000"/>
              </a:srgbClr>
            </a:outerShdw>
          </a:effectLst>
        </p:spPr>
      </p:sp>
      <p:sp>
        <p:nvSpPr>
          <p:cNvPr id="17" name="Shape 11"/>
          <p:cNvSpPr/>
          <p:nvPr/>
        </p:nvSpPr>
        <p:spPr>
          <a:xfrm>
            <a:off x="8229600" y="4069080"/>
            <a:ext cx="731520" cy="731520"/>
          </a:xfrm>
          <a:prstGeom prst="ellipse">
            <a:avLst/>
          </a:prstGeom>
          <a:solidFill>
            <a:srgbClr val="EDE4FF"/>
          </a:solidFill>
          <a:ln/>
        </p:spPr>
      </p:sp>
      <p:pic>
        <p:nvPicPr>
          <p:cNvPr id="18" name="Image 3" descr="Biểu tượng minh họa">    </p:cNvPr>
          <p:cNvPicPr>
            <a:picLocks noChangeAspect="1"/>
          </p:cNvPicPr>
          <p:nvPr/>
        </p:nvPicPr>
        <p:blipFill>
          <a:blip r:embed="rId4"/>
          <a:stretch>
            <a:fillRect/>
          </a:stretch>
        </p:blipFill>
        <p:spPr>
          <a:xfrm>
            <a:off x="8361274" y="4200754"/>
            <a:ext cx="468173" cy="468173"/>
          </a:xfrm>
          <a:prstGeom prst="rect">
            <a:avLst/>
          </a:prstGeom>
        </p:spPr>
      </p:pic>
      <p:sp>
        <p:nvSpPr>
          <p:cNvPr id="19" name="Text 12"/>
          <p:cNvSpPr txBox="1"/>
          <p:nvPr/>
        </p:nvSpPr>
        <p:spPr>
          <a:xfrm>
            <a:off x="9098280" y="3959352"/>
            <a:ext cx="2468880" cy="365760"/>
          </a:xfrm>
          <a:prstGeom prst="rect">
            <a:avLst/>
          </a:prstGeom>
          <a:noFill/>
          <a:ln/>
        </p:spPr>
        <p:txBody>
          <a:bodyPr wrap="square" lIns="0" tIns="0" rIns="0" bIns="0" rtlCol="0" anchor="t"/>
          <a:lstStyle/>
          <a:p>
            <a:pPr indent="0" marL="0">
              <a:buNone/>
            </a:pPr>
            <a:r>
              <a:rPr lang="en-US" sz="1600" b="1" dirty="0">
                <a:solidFill>
                  <a:srgbClr val="7C3AED"/>
                </a:solidFill>
              </a:rPr>
              <a:t>Hai phần sân bằng nhau</a:t>
            </a:r>
            <a:endParaRPr lang="en-US" sz="1600" dirty="0"/>
          </a:p>
        </p:txBody>
      </p:sp>
      <p:sp>
        <p:nvSpPr>
          <p:cNvPr id="20" name="Text 13"/>
          <p:cNvSpPr txBox="1"/>
          <p:nvPr/>
        </p:nvSpPr>
        <p:spPr>
          <a:xfrm>
            <a:off x="9098280" y="4325112"/>
            <a:ext cx="2468880" cy="640080"/>
          </a:xfrm>
          <a:prstGeom prst="rect">
            <a:avLst/>
          </a:prstGeom>
          <a:noFill/>
          <a:ln/>
        </p:spPr>
        <p:txBody>
          <a:bodyPr wrap="square" lIns="0" tIns="0" rIns="0" bIns="0" rtlCol="0" anchor="t"/>
          <a:lstStyle/>
          <a:p>
            <a:pPr indent="0" marL="0">
              <a:buNone/>
            </a:pPr>
            <a:r>
              <a:rPr lang="en-US" sz="1300" dirty="0">
                <a:solidFill>
                  <a:srgbClr val="2E1065"/>
                </a:solidFill>
              </a:rPr>
              <a:t>Chia bởi Đường trung tâm; hết lượt 1 hai đội đổi bên</a:t>
            </a:r>
            <a:endParaRPr lang="en-US" sz="1300" dirty="0"/>
          </a:p>
        </p:txBody>
      </p:sp>
      <p:sp>
        <p:nvSpPr>
          <p:cNvPr id="21" name="Shape 14"/>
          <p:cNvSpPr/>
          <p:nvPr/>
        </p:nvSpPr>
        <p:spPr>
          <a:xfrm>
            <a:off x="8092440" y="5138928"/>
            <a:ext cx="3547872" cy="1133856"/>
          </a:xfrm>
          <a:prstGeom prst="roundRect">
            <a:avLst>
              <a:gd name="adj" fmla="val 9677"/>
            </a:avLst>
          </a:prstGeom>
          <a:solidFill>
            <a:srgbClr val="FFFFFF"/>
          </a:solidFill>
          <a:ln/>
          <a:effectLst>
            <a:outerShdw sx="100000" sy="100000" kx="0" ky="0" algn="bl" rotWithShape="0" blurRad="127000" dist="38100" dir="5400000">
              <a:srgbClr val="4C1D95">
                <a:alpha val="16000"/>
              </a:srgbClr>
            </a:outerShdw>
          </a:effectLst>
        </p:spPr>
      </p:sp>
      <p:sp>
        <p:nvSpPr>
          <p:cNvPr id="22" name="Shape 15"/>
          <p:cNvSpPr/>
          <p:nvPr/>
        </p:nvSpPr>
        <p:spPr>
          <a:xfrm>
            <a:off x="8229600" y="5340096"/>
            <a:ext cx="731520" cy="731520"/>
          </a:xfrm>
          <a:prstGeom prst="ellipse">
            <a:avLst/>
          </a:prstGeom>
          <a:solidFill>
            <a:srgbClr val="EDE4FF"/>
          </a:solidFill>
          <a:ln/>
        </p:spPr>
      </p:sp>
      <p:pic>
        <p:nvPicPr>
          <p:cNvPr id="23" name="Image 4" descr="Biểu tượng minh họa">    </p:cNvPr>
          <p:cNvPicPr>
            <a:picLocks noChangeAspect="1"/>
          </p:cNvPicPr>
          <p:nvPr/>
        </p:nvPicPr>
        <p:blipFill>
          <a:blip r:embed="rId5"/>
          <a:stretch>
            <a:fillRect/>
          </a:stretch>
        </p:blipFill>
        <p:spPr>
          <a:xfrm>
            <a:off x="8361274" y="5471770"/>
            <a:ext cx="468173" cy="468173"/>
          </a:xfrm>
          <a:prstGeom prst="rect">
            <a:avLst/>
          </a:prstGeom>
        </p:spPr>
      </p:pic>
      <p:sp>
        <p:nvSpPr>
          <p:cNvPr id="24" name="Text 16"/>
          <p:cNvSpPr txBox="1"/>
          <p:nvPr/>
        </p:nvSpPr>
        <p:spPr>
          <a:xfrm>
            <a:off x="9098280" y="5230368"/>
            <a:ext cx="2468880" cy="365760"/>
          </a:xfrm>
          <a:prstGeom prst="rect">
            <a:avLst/>
          </a:prstGeom>
          <a:noFill/>
          <a:ln/>
        </p:spPr>
        <p:txBody>
          <a:bodyPr wrap="square" lIns="0" tIns="0" rIns="0" bIns="0" rtlCol="0" anchor="t"/>
          <a:lstStyle/>
          <a:p>
            <a:pPr indent="0" marL="0">
              <a:buNone/>
            </a:pPr>
            <a:r>
              <a:rPr lang="en-US" sz="1600" b="1" dirty="0">
                <a:solidFill>
                  <a:srgbClr val="7C3AED"/>
                </a:solidFill>
              </a:rPr>
              <a:t>Khu tranh chấp chung</a:t>
            </a:r>
            <a:endParaRPr lang="en-US" sz="1600" dirty="0"/>
          </a:p>
        </p:txBody>
      </p:sp>
      <p:sp>
        <p:nvSpPr>
          <p:cNvPr id="25" name="Text 17"/>
          <p:cNvSpPr txBox="1"/>
          <p:nvPr/>
        </p:nvSpPr>
        <p:spPr>
          <a:xfrm>
            <a:off x="9098280" y="5596128"/>
            <a:ext cx="2468880" cy="640080"/>
          </a:xfrm>
          <a:prstGeom prst="rect">
            <a:avLst/>
          </a:prstGeom>
          <a:noFill/>
          <a:ln/>
        </p:spPr>
        <p:txBody>
          <a:bodyPr wrap="square" lIns="0" tIns="0" rIns="0" bIns="0" rtlCol="0" anchor="t"/>
          <a:lstStyle/>
          <a:p>
            <a:pPr indent="0" marL="0">
              <a:buNone/>
            </a:pPr>
            <a:r>
              <a:rPr lang="en-US" sz="1300" dirty="0">
                <a:solidFill>
                  <a:srgbClr val="2E1065"/>
                </a:solidFill>
              </a:rPr>
              <a:t>Robot được đi khắp sa bàn, kể cả sang sân đội bạn</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SA BÀN</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Bố cục sa bàn: 6 thành phần chính</a:t>
            </a:r>
            <a:endParaRPr lang="en-US" sz="3000" dirty="0"/>
          </a:p>
        </p:txBody>
      </p:sp>
      <p:pic>
        <p:nvPicPr>
          <p:cNvPr id="5" name="RR_field_th_jpg" descr="Sa bàn thi đấu Chinh phục Vũ trụ">    </p:cNvPr>
          <p:cNvPicPr>
            <a:picLocks noChangeAspect="1"/>
          </p:cNvPicPr>
          <p:nvPr/>
        </p:nvPicPr>
        <p:blipFill>
          <a:blip r:embed="rId1"/>
          <a:stretch>
            <a:fillRect/>
          </a:stretch>
        </p:blipFill>
        <p:spPr>
          <a:xfrm>
            <a:off x="548640" y="1371600"/>
            <a:ext cx="7040880" cy="35204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6" name="Shape 2"/>
          <p:cNvSpPr/>
          <p:nvPr/>
        </p:nvSpPr>
        <p:spPr>
          <a:xfrm>
            <a:off x="713598" y="3705149"/>
            <a:ext cx="402336" cy="402336"/>
          </a:xfrm>
          <a:prstGeom prst="ellipse">
            <a:avLst/>
          </a:prstGeom>
          <a:solidFill>
            <a:srgbClr val="FDE68A"/>
          </a:solidFill>
          <a:ln/>
        </p:spPr>
      </p:sp>
      <p:sp>
        <p:nvSpPr>
          <p:cNvPr id="7" name="Text 3"/>
          <p:cNvSpPr txBox="1"/>
          <p:nvPr/>
        </p:nvSpPr>
        <p:spPr>
          <a:xfrm>
            <a:off x="713598" y="3705149"/>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1</a:t>
            </a:r>
            <a:endParaRPr lang="en-US" sz="1600" dirty="0"/>
          </a:p>
        </p:txBody>
      </p:sp>
      <p:sp>
        <p:nvSpPr>
          <p:cNvPr id="8" name="Shape 4"/>
          <p:cNvSpPr/>
          <p:nvPr/>
        </p:nvSpPr>
        <p:spPr>
          <a:xfrm>
            <a:off x="7008144" y="3705149"/>
            <a:ext cx="402336" cy="402336"/>
          </a:xfrm>
          <a:prstGeom prst="ellipse">
            <a:avLst/>
          </a:prstGeom>
          <a:solidFill>
            <a:srgbClr val="FDE68A"/>
          </a:solidFill>
          <a:ln/>
        </p:spPr>
      </p:sp>
      <p:sp>
        <p:nvSpPr>
          <p:cNvPr id="9" name="Text 5"/>
          <p:cNvSpPr txBox="1"/>
          <p:nvPr/>
        </p:nvSpPr>
        <p:spPr>
          <a:xfrm>
            <a:off x="7008144" y="3705149"/>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1</a:t>
            </a:r>
            <a:endParaRPr lang="en-US" sz="1600" dirty="0"/>
          </a:p>
        </p:txBody>
      </p:sp>
      <p:sp>
        <p:nvSpPr>
          <p:cNvPr id="10" name="Shape 6"/>
          <p:cNvSpPr/>
          <p:nvPr/>
        </p:nvSpPr>
        <p:spPr>
          <a:xfrm>
            <a:off x="4572000" y="2120951"/>
            <a:ext cx="402336" cy="402336"/>
          </a:xfrm>
          <a:prstGeom prst="ellipse">
            <a:avLst/>
          </a:prstGeom>
          <a:solidFill>
            <a:srgbClr val="FDE68A"/>
          </a:solidFill>
          <a:ln/>
        </p:spPr>
      </p:sp>
      <p:sp>
        <p:nvSpPr>
          <p:cNvPr id="11" name="Text 7"/>
          <p:cNvSpPr txBox="1"/>
          <p:nvPr/>
        </p:nvSpPr>
        <p:spPr>
          <a:xfrm>
            <a:off x="4572000" y="2120951"/>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2</a:t>
            </a:r>
            <a:endParaRPr lang="en-US" sz="1600" dirty="0"/>
          </a:p>
        </p:txBody>
      </p:sp>
      <p:sp>
        <p:nvSpPr>
          <p:cNvPr id="12" name="Shape 8"/>
          <p:cNvSpPr/>
          <p:nvPr/>
        </p:nvSpPr>
        <p:spPr>
          <a:xfrm>
            <a:off x="2670962" y="2930652"/>
            <a:ext cx="402336" cy="402336"/>
          </a:xfrm>
          <a:prstGeom prst="ellipse">
            <a:avLst/>
          </a:prstGeom>
          <a:solidFill>
            <a:srgbClr val="FDE68A"/>
          </a:solidFill>
          <a:ln/>
        </p:spPr>
      </p:sp>
      <p:sp>
        <p:nvSpPr>
          <p:cNvPr id="13" name="Text 9"/>
          <p:cNvSpPr txBox="1"/>
          <p:nvPr/>
        </p:nvSpPr>
        <p:spPr>
          <a:xfrm>
            <a:off x="2670962" y="2930652"/>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3</a:t>
            </a:r>
            <a:endParaRPr lang="en-US" sz="1600" dirty="0"/>
          </a:p>
        </p:txBody>
      </p:sp>
      <p:sp>
        <p:nvSpPr>
          <p:cNvPr id="14" name="Shape 10"/>
          <p:cNvSpPr/>
          <p:nvPr/>
        </p:nvSpPr>
        <p:spPr>
          <a:xfrm>
            <a:off x="2389327" y="1522476"/>
            <a:ext cx="402336" cy="402336"/>
          </a:xfrm>
          <a:prstGeom prst="ellipse">
            <a:avLst/>
          </a:prstGeom>
          <a:solidFill>
            <a:srgbClr val="FDE68A"/>
          </a:solidFill>
          <a:ln/>
        </p:spPr>
      </p:sp>
      <p:sp>
        <p:nvSpPr>
          <p:cNvPr id="15" name="Text 11"/>
          <p:cNvSpPr txBox="1"/>
          <p:nvPr/>
        </p:nvSpPr>
        <p:spPr>
          <a:xfrm>
            <a:off x="2389327" y="1522476"/>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4</a:t>
            </a:r>
            <a:endParaRPr lang="en-US" sz="1600" dirty="0"/>
          </a:p>
        </p:txBody>
      </p:sp>
      <p:sp>
        <p:nvSpPr>
          <p:cNvPr id="16" name="Shape 12"/>
          <p:cNvSpPr/>
          <p:nvPr/>
        </p:nvSpPr>
        <p:spPr>
          <a:xfrm>
            <a:off x="2318918" y="4268419"/>
            <a:ext cx="402336" cy="402336"/>
          </a:xfrm>
          <a:prstGeom prst="ellipse">
            <a:avLst/>
          </a:prstGeom>
          <a:solidFill>
            <a:srgbClr val="FDE68A"/>
          </a:solidFill>
          <a:ln/>
        </p:spPr>
      </p:sp>
      <p:sp>
        <p:nvSpPr>
          <p:cNvPr id="17" name="Text 13"/>
          <p:cNvSpPr txBox="1"/>
          <p:nvPr/>
        </p:nvSpPr>
        <p:spPr>
          <a:xfrm>
            <a:off x="2318918" y="4268419"/>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5</a:t>
            </a:r>
            <a:endParaRPr lang="en-US" sz="1600" dirty="0"/>
          </a:p>
        </p:txBody>
      </p:sp>
      <p:sp>
        <p:nvSpPr>
          <p:cNvPr id="18" name="Shape 14"/>
          <p:cNvSpPr/>
          <p:nvPr/>
        </p:nvSpPr>
        <p:spPr>
          <a:xfrm>
            <a:off x="4184752" y="1487272"/>
            <a:ext cx="402336" cy="402336"/>
          </a:xfrm>
          <a:prstGeom prst="ellipse">
            <a:avLst/>
          </a:prstGeom>
          <a:solidFill>
            <a:srgbClr val="FDE68A"/>
          </a:solidFill>
          <a:ln/>
        </p:spPr>
      </p:sp>
      <p:sp>
        <p:nvSpPr>
          <p:cNvPr id="19" name="Text 15"/>
          <p:cNvSpPr txBox="1"/>
          <p:nvPr/>
        </p:nvSpPr>
        <p:spPr>
          <a:xfrm>
            <a:off x="4184752" y="1487272"/>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6</a:t>
            </a:r>
            <a:endParaRPr lang="en-US" sz="1600" dirty="0"/>
          </a:p>
        </p:txBody>
      </p:sp>
      <p:sp>
        <p:nvSpPr>
          <p:cNvPr id="20" name="Shape 16"/>
          <p:cNvSpPr/>
          <p:nvPr/>
        </p:nvSpPr>
        <p:spPr>
          <a:xfrm>
            <a:off x="7863840" y="1481328"/>
            <a:ext cx="402336" cy="402336"/>
          </a:xfrm>
          <a:prstGeom prst="ellipse">
            <a:avLst/>
          </a:prstGeom>
          <a:solidFill>
            <a:srgbClr val="FDE68A"/>
          </a:solidFill>
          <a:ln/>
        </p:spPr>
      </p:sp>
      <p:sp>
        <p:nvSpPr>
          <p:cNvPr id="21" name="Text 17"/>
          <p:cNvSpPr txBox="1"/>
          <p:nvPr/>
        </p:nvSpPr>
        <p:spPr>
          <a:xfrm>
            <a:off x="7863840" y="1481328"/>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1</a:t>
            </a:r>
            <a:endParaRPr lang="en-US" sz="1600" dirty="0"/>
          </a:p>
        </p:txBody>
      </p:sp>
      <p:sp>
        <p:nvSpPr>
          <p:cNvPr id="22" name="Text 18"/>
          <p:cNvSpPr txBox="1"/>
          <p:nvPr/>
        </p:nvSpPr>
        <p:spPr>
          <a:xfrm>
            <a:off x="8412480" y="1371600"/>
            <a:ext cx="3246120" cy="320040"/>
          </a:xfrm>
          <a:prstGeom prst="rect">
            <a:avLst/>
          </a:prstGeom>
          <a:noFill/>
          <a:ln/>
        </p:spPr>
        <p:txBody>
          <a:bodyPr wrap="square" lIns="0" tIns="0" rIns="0" bIns="0" rtlCol="0" anchor="t"/>
          <a:lstStyle/>
          <a:p>
            <a:pPr indent="0" marL="0">
              <a:buNone/>
            </a:pPr>
            <a:r>
              <a:rPr lang="en-US" sz="1600" b="1" dirty="0">
                <a:solidFill>
                  <a:srgbClr val="7C3AED"/>
                </a:solidFill>
              </a:rPr>
              <a:t>Khu Xuất phát – Căn cứ</a:t>
            </a:r>
            <a:endParaRPr lang="en-US" sz="1600" dirty="0"/>
          </a:p>
        </p:txBody>
      </p:sp>
      <p:sp>
        <p:nvSpPr>
          <p:cNvPr id="23" name="Text 19"/>
          <p:cNvSpPr txBox="1"/>
          <p:nvPr/>
        </p:nvSpPr>
        <p:spPr>
          <a:xfrm>
            <a:off x="8412480" y="1691640"/>
            <a:ext cx="3246120" cy="457200"/>
          </a:xfrm>
          <a:prstGeom prst="rect">
            <a:avLst/>
          </a:prstGeom>
          <a:noFill/>
          <a:ln/>
        </p:spPr>
        <p:txBody>
          <a:bodyPr wrap="square" lIns="0" tIns="0" rIns="0" bIns="0" rtlCol="0" anchor="t"/>
          <a:lstStyle/>
          <a:p>
            <a:pPr indent="0" marL="0">
              <a:buNone/>
            </a:pPr>
            <a:r>
              <a:rPr lang="en-US" sz="1300" dirty="0">
                <a:solidFill>
                  <a:srgbClr val="2E1065"/>
                </a:solidFill>
              </a:rPr>
              <a:t>02 khu ở hai đầu, có cờ đích (viền cam / viền xanh)</a:t>
            </a:r>
            <a:endParaRPr lang="en-US" sz="1300" dirty="0"/>
          </a:p>
        </p:txBody>
      </p:sp>
      <p:sp>
        <p:nvSpPr>
          <p:cNvPr id="24" name="Shape 20"/>
          <p:cNvSpPr/>
          <p:nvPr/>
        </p:nvSpPr>
        <p:spPr>
          <a:xfrm>
            <a:off x="7863840" y="2286000"/>
            <a:ext cx="402336" cy="402336"/>
          </a:xfrm>
          <a:prstGeom prst="ellipse">
            <a:avLst/>
          </a:prstGeom>
          <a:solidFill>
            <a:srgbClr val="FDE68A"/>
          </a:solidFill>
          <a:ln/>
        </p:spPr>
      </p:sp>
      <p:sp>
        <p:nvSpPr>
          <p:cNvPr id="25" name="Text 21"/>
          <p:cNvSpPr txBox="1"/>
          <p:nvPr/>
        </p:nvSpPr>
        <p:spPr>
          <a:xfrm>
            <a:off x="7863840" y="2286000"/>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2</a:t>
            </a:r>
            <a:endParaRPr lang="en-US" sz="1600" dirty="0"/>
          </a:p>
        </p:txBody>
      </p:sp>
      <p:sp>
        <p:nvSpPr>
          <p:cNvPr id="26" name="Text 22"/>
          <p:cNvSpPr txBox="1"/>
          <p:nvPr/>
        </p:nvSpPr>
        <p:spPr>
          <a:xfrm>
            <a:off x="8412480" y="2176272"/>
            <a:ext cx="3246120" cy="320040"/>
          </a:xfrm>
          <a:prstGeom prst="rect">
            <a:avLst/>
          </a:prstGeom>
          <a:noFill/>
          <a:ln/>
        </p:spPr>
        <p:txBody>
          <a:bodyPr wrap="square" lIns="0" tIns="0" rIns="0" bIns="0" rtlCol="0" anchor="t"/>
          <a:lstStyle/>
          <a:p>
            <a:pPr indent="0" marL="0">
              <a:buNone/>
            </a:pPr>
            <a:r>
              <a:rPr lang="en-US" sz="1600" b="1" dirty="0">
                <a:solidFill>
                  <a:srgbClr val="7C3AED"/>
                </a:solidFill>
              </a:rPr>
              <a:t>Trạm Tài nguyên Trung tâm</a:t>
            </a:r>
            <a:endParaRPr lang="en-US" sz="1600" dirty="0"/>
          </a:p>
        </p:txBody>
      </p:sp>
      <p:sp>
        <p:nvSpPr>
          <p:cNvPr id="27" name="Text 23"/>
          <p:cNvSpPr txBox="1"/>
          <p:nvPr/>
        </p:nvSpPr>
        <p:spPr>
          <a:xfrm>
            <a:off x="8412480" y="2496312"/>
            <a:ext cx="3246120" cy="457200"/>
          </a:xfrm>
          <a:prstGeom prst="rect">
            <a:avLst/>
          </a:prstGeom>
          <a:noFill/>
          <a:ln/>
        </p:spPr>
        <p:txBody>
          <a:bodyPr wrap="square" lIns="0" tIns="0" rIns="0" bIns="0" rtlCol="0" anchor="t"/>
          <a:lstStyle/>
          <a:p>
            <a:pPr indent="0" marL="0">
              <a:buNone/>
            </a:pPr>
            <a:r>
              <a:rPr lang="en-US" sz="1300" dirty="0">
                <a:solidFill>
                  <a:srgbClr val="2E1065"/>
                </a:solidFill>
              </a:rPr>
              <a:t>Giữa sa bàn, chứa khối Lá, Đất, Nước – tài nguyên chung</a:t>
            </a:r>
            <a:endParaRPr lang="en-US" sz="1300" dirty="0"/>
          </a:p>
        </p:txBody>
      </p:sp>
      <p:sp>
        <p:nvSpPr>
          <p:cNvPr id="28" name="Shape 24"/>
          <p:cNvSpPr/>
          <p:nvPr/>
        </p:nvSpPr>
        <p:spPr>
          <a:xfrm>
            <a:off x="7863840" y="3090672"/>
            <a:ext cx="402336" cy="402336"/>
          </a:xfrm>
          <a:prstGeom prst="ellipse">
            <a:avLst/>
          </a:prstGeom>
          <a:solidFill>
            <a:srgbClr val="FDE68A"/>
          </a:solidFill>
          <a:ln/>
        </p:spPr>
      </p:sp>
      <p:sp>
        <p:nvSpPr>
          <p:cNvPr id="29" name="Text 25"/>
          <p:cNvSpPr txBox="1"/>
          <p:nvPr/>
        </p:nvSpPr>
        <p:spPr>
          <a:xfrm>
            <a:off x="7863840" y="3090672"/>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3</a:t>
            </a:r>
            <a:endParaRPr lang="en-US" sz="1600" dirty="0"/>
          </a:p>
        </p:txBody>
      </p:sp>
      <p:sp>
        <p:nvSpPr>
          <p:cNvPr id="30" name="Text 26"/>
          <p:cNvSpPr txBox="1"/>
          <p:nvPr/>
        </p:nvSpPr>
        <p:spPr>
          <a:xfrm>
            <a:off x="8412480" y="2980944"/>
            <a:ext cx="3246120" cy="320040"/>
          </a:xfrm>
          <a:prstGeom prst="rect">
            <a:avLst/>
          </a:prstGeom>
          <a:noFill/>
          <a:ln/>
        </p:spPr>
        <p:txBody>
          <a:bodyPr wrap="square" lIns="0" tIns="0" rIns="0" bIns="0" rtlCol="0" anchor="t"/>
          <a:lstStyle/>
          <a:p>
            <a:pPr indent="0" marL="0">
              <a:buNone/>
            </a:pPr>
            <a:r>
              <a:rPr lang="en-US" sz="1600" b="1" dirty="0">
                <a:solidFill>
                  <a:srgbClr val="7C3AED"/>
                </a:solidFill>
              </a:rPr>
              <a:t>08 vị trí khối Dầu</a:t>
            </a:r>
            <a:endParaRPr lang="en-US" sz="1600" dirty="0"/>
          </a:p>
        </p:txBody>
      </p:sp>
      <p:sp>
        <p:nvSpPr>
          <p:cNvPr id="31" name="Text 27"/>
          <p:cNvSpPr txBox="1"/>
          <p:nvPr/>
        </p:nvSpPr>
        <p:spPr>
          <a:xfrm>
            <a:off x="8412480" y="3300984"/>
            <a:ext cx="3246120" cy="457200"/>
          </a:xfrm>
          <a:prstGeom prst="rect">
            <a:avLst/>
          </a:prstGeom>
          <a:noFill/>
          <a:ln/>
        </p:spPr>
        <p:txBody>
          <a:bodyPr wrap="square" lIns="0" tIns="0" rIns="0" bIns="0" rtlCol="0" anchor="t"/>
          <a:lstStyle/>
          <a:p>
            <a:pPr indent="0" marL="0">
              <a:buNone/>
            </a:pPr>
            <a:r>
              <a:rPr lang="en-US" sz="1300" dirty="0">
                <a:solidFill>
                  <a:srgbClr val="2E1065"/>
                </a:solidFill>
              </a:rPr>
              <a:t>Vòng tròn cam D1–D8, mỗi bên sân 04 vị trí</a:t>
            </a:r>
            <a:endParaRPr lang="en-US" sz="1300" dirty="0"/>
          </a:p>
        </p:txBody>
      </p:sp>
      <p:sp>
        <p:nvSpPr>
          <p:cNvPr id="32" name="Shape 28"/>
          <p:cNvSpPr/>
          <p:nvPr/>
        </p:nvSpPr>
        <p:spPr>
          <a:xfrm>
            <a:off x="7863840" y="3895344"/>
            <a:ext cx="402336" cy="402336"/>
          </a:xfrm>
          <a:prstGeom prst="ellipse">
            <a:avLst/>
          </a:prstGeom>
          <a:solidFill>
            <a:srgbClr val="FDE68A"/>
          </a:solidFill>
          <a:ln/>
        </p:spPr>
      </p:sp>
      <p:sp>
        <p:nvSpPr>
          <p:cNvPr id="33" name="Text 29"/>
          <p:cNvSpPr txBox="1"/>
          <p:nvPr/>
        </p:nvSpPr>
        <p:spPr>
          <a:xfrm>
            <a:off x="7863840" y="3895344"/>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4</a:t>
            </a:r>
            <a:endParaRPr lang="en-US" sz="1600" dirty="0"/>
          </a:p>
        </p:txBody>
      </p:sp>
      <p:sp>
        <p:nvSpPr>
          <p:cNvPr id="34" name="Text 30"/>
          <p:cNvSpPr txBox="1"/>
          <p:nvPr/>
        </p:nvSpPr>
        <p:spPr>
          <a:xfrm>
            <a:off x="8412480" y="3785616"/>
            <a:ext cx="3246120" cy="320040"/>
          </a:xfrm>
          <a:prstGeom prst="rect">
            <a:avLst/>
          </a:prstGeom>
          <a:noFill/>
          <a:ln/>
        </p:spPr>
        <p:txBody>
          <a:bodyPr wrap="square" lIns="0" tIns="0" rIns="0" bIns="0" rtlCol="0" anchor="t"/>
          <a:lstStyle/>
          <a:p>
            <a:pPr indent="0" marL="0">
              <a:buNone/>
            </a:pPr>
            <a:r>
              <a:rPr lang="en-US" sz="1600" b="1" dirty="0">
                <a:solidFill>
                  <a:srgbClr val="7C3AED"/>
                </a:solidFill>
              </a:rPr>
              <a:t>Núi lửa lớn</a:t>
            </a:r>
            <a:endParaRPr lang="en-US" sz="1600" dirty="0"/>
          </a:p>
        </p:txBody>
      </p:sp>
      <p:sp>
        <p:nvSpPr>
          <p:cNvPr id="35" name="Text 31"/>
          <p:cNvSpPr txBox="1"/>
          <p:nvPr/>
        </p:nvSpPr>
        <p:spPr>
          <a:xfrm>
            <a:off x="8412480" y="4105656"/>
            <a:ext cx="3246120" cy="457200"/>
          </a:xfrm>
          <a:prstGeom prst="rect">
            <a:avLst/>
          </a:prstGeom>
          <a:noFill/>
          <a:ln/>
        </p:spPr>
        <p:txBody>
          <a:bodyPr wrap="square" lIns="0" tIns="0" rIns="0" bIns="0" rtlCol="0" anchor="t"/>
          <a:lstStyle/>
          <a:p>
            <a:pPr indent="0" marL="0">
              <a:buNone/>
            </a:pPr>
            <a:r>
              <a:rPr lang="en-US" sz="1300" dirty="0">
                <a:solidFill>
                  <a:srgbClr val="2E1065"/>
                </a:solidFill>
              </a:rPr>
              <a:t>Mỗi bên sân 01 – chi tiết địa hình</a:t>
            </a:r>
            <a:endParaRPr lang="en-US" sz="1300" dirty="0"/>
          </a:p>
        </p:txBody>
      </p:sp>
      <p:sp>
        <p:nvSpPr>
          <p:cNvPr id="36" name="Shape 32"/>
          <p:cNvSpPr/>
          <p:nvPr/>
        </p:nvSpPr>
        <p:spPr>
          <a:xfrm>
            <a:off x="7863840" y="4700016"/>
            <a:ext cx="402336" cy="402336"/>
          </a:xfrm>
          <a:prstGeom prst="ellipse">
            <a:avLst/>
          </a:prstGeom>
          <a:solidFill>
            <a:srgbClr val="FDE68A"/>
          </a:solidFill>
          <a:ln/>
        </p:spPr>
      </p:sp>
      <p:sp>
        <p:nvSpPr>
          <p:cNvPr id="37" name="Text 33"/>
          <p:cNvSpPr txBox="1"/>
          <p:nvPr/>
        </p:nvSpPr>
        <p:spPr>
          <a:xfrm>
            <a:off x="7863840" y="4700016"/>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5</a:t>
            </a:r>
            <a:endParaRPr lang="en-US" sz="1600" dirty="0"/>
          </a:p>
        </p:txBody>
      </p:sp>
      <p:sp>
        <p:nvSpPr>
          <p:cNvPr id="38" name="Text 34"/>
          <p:cNvSpPr txBox="1"/>
          <p:nvPr/>
        </p:nvSpPr>
        <p:spPr>
          <a:xfrm>
            <a:off x="8412480" y="4590288"/>
            <a:ext cx="3246120" cy="320040"/>
          </a:xfrm>
          <a:prstGeom prst="rect">
            <a:avLst/>
          </a:prstGeom>
          <a:noFill/>
          <a:ln/>
        </p:spPr>
        <p:txBody>
          <a:bodyPr wrap="square" lIns="0" tIns="0" rIns="0" bIns="0" rtlCol="0" anchor="t"/>
          <a:lstStyle/>
          <a:p>
            <a:pPr indent="0" marL="0">
              <a:buNone/>
            </a:pPr>
            <a:r>
              <a:rPr lang="en-US" sz="1600" b="1" dirty="0">
                <a:solidFill>
                  <a:srgbClr val="7C3AED"/>
                </a:solidFill>
              </a:rPr>
              <a:t>Núi lửa nhỏ</a:t>
            </a:r>
            <a:endParaRPr lang="en-US" sz="1600" dirty="0"/>
          </a:p>
        </p:txBody>
      </p:sp>
      <p:sp>
        <p:nvSpPr>
          <p:cNvPr id="39" name="Text 35"/>
          <p:cNvSpPr txBox="1"/>
          <p:nvPr/>
        </p:nvSpPr>
        <p:spPr>
          <a:xfrm>
            <a:off x="8412480" y="4910328"/>
            <a:ext cx="3246120" cy="457200"/>
          </a:xfrm>
          <a:prstGeom prst="rect">
            <a:avLst/>
          </a:prstGeom>
          <a:noFill/>
          <a:ln/>
        </p:spPr>
        <p:txBody>
          <a:bodyPr wrap="square" lIns="0" tIns="0" rIns="0" bIns="0" rtlCol="0" anchor="t"/>
          <a:lstStyle/>
          <a:p>
            <a:pPr indent="0" marL="0">
              <a:buNone/>
            </a:pPr>
            <a:r>
              <a:rPr lang="en-US" sz="1300" dirty="0">
                <a:solidFill>
                  <a:srgbClr val="2E1065"/>
                </a:solidFill>
              </a:rPr>
              <a:t>Mỗi bên sân 01 – chi tiết địa hình</a:t>
            </a:r>
            <a:endParaRPr lang="en-US" sz="1300" dirty="0"/>
          </a:p>
        </p:txBody>
      </p:sp>
      <p:sp>
        <p:nvSpPr>
          <p:cNvPr id="40" name="Shape 36"/>
          <p:cNvSpPr/>
          <p:nvPr/>
        </p:nvSpPr>
        <p:spPr>
          <a:xfrm>
            <a:off x="7863840" y="5504688"/>
            <a:ext cx="402336" cy="402336"/>
          </a:xfrm>
          <a:prstGeom prst="ellipse">
            <a:avLst/>
          </a:prstGeom>
          <a:solidFill>
            <a:srgbClr val="FDE68A"/>
          </a:solidFill>
          <a:ln/>
        </p:spPr>
      </p:sp>
      <p:sp>
        <p:nvSpPr>
          <p:cNvPr id="41" name="Text 37"/>
          <p:cNvSpPr txBox="1"/>
          <p:nvPr/>
        </p:nvSpPr>
        <p:spPr>
          <a:xfrm>
            <a:off x="7863840" y="5504688"/>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6</a:t>
            </a:r>
            <a:endParaRPr lang="en-US" sz="1600" dirty="0"/>
          </a:p>
        </p:txBody>
      </p:sp>
      <p:sp>
        <p:nvSpPr>
          <p:cNvPr id="42" name="Text 38"/>
          <p:cNvSpPr txBox="1"/>
          <p:nvPr/>
        </p:nvSpPr>
        <p:spPr>
          <a:xfrm>
            <a:off x="8412480" y="5394960"/>
            <a:ext cx="3246120" cy="320040"/>
          </a:xfrm>
          <a:prstGeom prst="rect">
            <a:avLst/>
          </a:prstGeom>
          <a:noFill/>
          <a:ln/>
        </p:spPr>
        <p:txBody>
          <a:bodyPr wrap="square" lIns="0" tIns="0" rIns="0" bIns="0" rtlCol="0" anchor="t"/>
          <a:lstStyle/>
          <a:p>
            <a:pPr indent="0" marL="0">
              <a:buNone/>
            </a:pPr>
            <a:r>
              <a:rPr lang="en-US" sz="1600" b="1" dirty="0">
                <a:solidFill>
                  <a:srgbClr val="7C3AED"/>
                </a:solidFill>
              </a:rPr>
              <a:t>Điểm đặt lại khối (R)</a:t>
            </a:r>
            <a:endParaRPr lang="en-US" sz="1600" dirty="0"/>
          </a:p>
        </p:txBody>
      </p:sp>
      <p:sp>
        <p:nvSpPr>
          <p:cNvPr id="43" name="Text 39"/>
          <p:cNvSpPr txBox="1"/>
          <p:nvPr/>
        </p:nvSpPr>
        <p:spPr>
          <a:xfrm>
            <a:off x="8412480" y="5715000"/>
            <a:ext cx="3246120" cy="457200"/>
          </a:xfrm>
          <a:prstGeom prst="rect">
            <a:avLst/>
          </a:prstGeom>
          <a:noFill/>
          <a:ln/>
        </p:spPr>
        <p:txBody>
          <a:bodyPr wrap="square" lIns="0" tIns="0" rIns="0" bIns="0" rtlCol="0" anchor="t"/>
          <a:lstStyle/>
          <a:p>
            <a:pPr indent="0" marL="0">
              <a:buNone/>
            </a:pPr>
            <a:r>
              <a:rPr lang="en-US" sz="1300" dirty="0">
                <a:solidFill>
                  <a:srgbClr val="2E1065"/>
                </a:solidFill>
              </a:rPr>
              <a:t>02 điểm trên Đường trung tâm, trên và dưới Trạm</a:t>
            </a:r>
            <a:endParaRPr lang="en-US" sz="1300" dirty="0"/>
          </a:p>
        </p:txBody>
      </p:sp>
      <p:sp>
        <p:nvSpPr>
          <p:cNvPr id="44" name="Shape 40"/>
          <p:cNvSpPr/>
          <p:nvPr/>
        </p:nvSpPr>
        <p:spPr>
          <a:xfrm>
            <a:off x="548640" y="5120640"/>
            <a:ext cx="7040880" cy="1143000"/>
          </a:xfrm>
          <a:prstGeom prst="roundRect">
            <a:avLst>
              <a:gd name="adj" fmla="val 9600"/>
            </a:avLst>
          </a:prstGeom>
          <a:solidFill>
            <a:srgbClr val="FFFFFF"/>
          </a:solidFill>
          <a:ln/>
          <a:effectLst>
            <a:outerShdw sx="100000" sy="100000" kx="0" ky="0" algn="bl" rotWithShape="0" blurRad="127000" dist="38100" dir="5400000">
              <a:srgbClr val="4C1D95">
                <a:alpha val="16000"/>
              </a:srgbClr>
            </a:outerShdw>
          </a:effectLst>
        </p:spPr>
      </p:sp>
      <p:sp>
        <p:nvSpPr>
          <p:cNvPr id="45" name="Shape 41"/>
          <p:cNvSpPr/>
          <p:nvPr/>
        </p:nvSpPr>
        <p:spPr>
          <a:xfrm>
            <a:off x="731520" y="5303520"/>
            <a:ext cx="777240" cy="777240"/>
          </a:xfrm>
          <a:prstGeom prst="ellipse">
            <a:avLst/>
          </a:prstGeom>
          <a:solidFill>
            <a:srgbClr val="EDE4FF"/>
          </a:solidFill>
          <a:ln/>
        </p:spPr>
      </p:sp>
      <p:pic>
        <p:nvPicPr>
          <p:cNvPr id="46" name="Image 1" descr="Biểu tượng minh họa">    </p:cNvPr>
          <p:cNvPicPr>
            <a:picLocks noChangeAspect="1"/>
          </p:cNvPicPr>
          <p:nvPr/>
        </p:nvPicPr>
        <p:blipFill>
          <a:blip r:embed="rId2"/>
          <a:stretch>
            <a:fillRect/>
          </a:stretch>
        </p:blipFill>
        <p:spPr>
          <a:xfrm>
            <a:off x="871423" y="5443423"/>
            <a:ext cx="497434" cy="497434"/>
          </a:xfrm>
          <a:prstGeom prst="rect">
            <a:avLst/>
          </a:prstGeom>
        </p:spPr>
      </p:pic>
      <p:sp>
        <p:nvSpPr>
          <p:cNvPr id="47" name="Text 42"/>
          <p:cNvSpPr txBox="1"/>
          <p:nvPr/>
        </p:nvSpPr>
        <p:spPr>
          <a:xfrm>
            <a:off x="1691640" y="5166360"/>
            <a:ext cx="5760720" cy="1051560"/>
          </a:xfrm>
          <a:prstGeom prst="rect">
            <a:avLst/>
          </a:prstGeom>
          <a:noFill/>
          <a:ln/>
        </p:spPr>
        <p:txBody>
          <a:bodyPr wrap="square" lIns="0" tIns="0" rIns="0" bIns="0" rtlCol="0" anchor="ctr"/>
          <a:lstStyle/>
          <a:p>
            <a:pPr indent="0" marL="0">
              <a:buNone/>
            </a:pPr>
            <a:r>
              <a:rPr lang="en-US" sz="1400" b="1" dirty="0">
                <a:solidFill>
                  <a:srgbClr val="7C3AED"/>
                </a:solidFill>
              </a:rPr>
              <a:t>Đường trung tâm</a:t>
            </a:r>
            <a:pPr indent="0" marL="0">
              <a:buNone/>
            </a:pPr>
            <a:r>
              <a:rPr lang="en-US" sz="1400" dirty="0">
                <a:solidFill>
                  <a:srgbClr val="2E1065"/>
                </a:solidFill>
              </a:rPr>
              <a:t> chia sa bàn thành Phần sân 1 và Phần sân 2. </a:t>
            </a:r>
            <a:pPr indent="0" marL="0">
              <a:buNone/>
            </a:pPr>
            <a:r>
              <a:rPr lang="en-US" sz="1400" b="1" dirty="0">
                <a:solidFill>
                  <a:srgbClr val="2E1065"/>
                </a:solidFill>
              </a:rPr>
              <a:t>Hết lượt 1, hai đội đổi phần sân và Khu Căn cứ cho nhau.</a:t>
            </a:r>
            <a:pPr indent="0" marL="0">
              <a:buNone/>
            </a:pPr>
            <a:r>
              <a:rPr lang="en-US" sz="1400" dirty="0">
                <a:solidFill>
                  <a:srgbClr val="2E1065"/>
                </a:solidFill>
              </a:rPr>
              <a:t> Địa hình in trên thảm (miệng hố, đá, gờ nổi) là một phần sân, như nhau cho cả hai đội.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ĐẠO CỤ</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Các loại khối tài nguyên: 13 khối = 100 điểm</a:t>
            </a:r>
            <a:endParaRPr lang="en-US" sz="3000" dirty="0"/>
          </a:p>
        </p:txBody>
      </p:sp>
      <p:sp>
        <p:nvSpPr>
          <p:cNvPr id="5" name="Shape 2"/>
          <p:cNvSpPr/>
          <p:nvPr/>
        </p:nvSpPr>
        <p:spPr>
          <a:xfrm>
            <a:off x="548640" y="1371600"/>
            <a:ext cx="2567178" cy="3703320"/>
          </a:xfrm>
          <a:prstGeom prst="roundRect">
            <a:avLst>
              <a:gd name="adj" fmla="val 4274"/>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1237869" y="1600200"/>
            <a:ext cx="1188720" cy="1188720"/>
          </a:xfrm>
          <a:prstGeom prst="roundRect">
            <a:avLst>
              <a:gd name="adj" fmla="val 15385"/>
            </a:avLst>
          </a:prstGeom>
          <a:solidFill>
            <a:srgbClr val="FFEDD5"/>
          </a:solidFill>
          <a:ln w="31750">
            <a:solidFill>
              <a:srgbClr val="EA580C"/>
            </a:solidFill>
            <a:prstDash val="solid"/>
          </a:ln>
        </p:spPr>
      </p:sp>
      <p:pic>
        <p:nvPicPr>
          <p:cNvPr id="7" name="Image 0" descr="Biểu tượng minh họa">    </p:cNvPr>
          <p:cNvPicPr>
            <a:picLocks noChangeAspect="1"/>
          </p:cNvPicPr>
          <p:nvPr/>
        </p:nvPicPr>
        <p:blipFill>
          <a:blip r:embed="rId1"/>
          <a:stretch>
            <a:fillRect/>
          </a:stretch>
        </p:blipFill>
        <p:spPr>
          <a:xfrm>
            <a:off x="1397889" y="1755648"/>
            <a:ext cx="868680" cy="868680"/>
          </a:xfrm>
          <a:prstGeom prst="rect">
            <a:avLst/>
          </a:prstGeom>
        </p:spPr>
      </p:pic>
      <p:sp>
        <p:nvSpPr>
          <p:cNvPr id="8" name="Text 4"/>
          <p:cNvSpPr txBox="1"/>
          <p:nvPr/>
        </p:nvSpPr>
        <p:spPr>
          <a:xfrm>
            <a:off x="640080" y="2880360"/>
            <a:ext cx="2384298" cy="411480"/>
          </a:xfrm>
          <a:prstGeom prst="rect">
            <a:avLst/>
          </a:prstGeom>
          <a:noFill/>
          <a:ln/>
        </p:spPr>
        <p:txBody>
          <a:bodyPr wrap="square" lIns="0" tIns="0" rIns="0" bIns="0" rtlCol="0" anchor="t"/>
          <a:lstStyle/>
          <a:p>
            <a:pPr algn="ctr" indent="0" marL="0">
              <a:buNone/>
            </a:pPr>
            <a:r>
              <a:rPr lang="en-US" sz="2000" b="1" dirty="0">
                <a:solidFill>
                  <a:srgbClr val="EA580C"/>
                </a:solidFill>
              </a:rPr>
              <a:t>Khối Dầu</a:t>
            </a:r>
            <a:endParaRPr lang="en-US" sz="2000" dirty="0"/>
          </a:p>
        </p:txBody>
      </p:sp>
      <p:sp>
        <p:nvSpPr>
          <p:cNvPr id="9" name="Text 5"/>
          <p:cNvSpPr txBox="1"/>
          <p:nvPr/>
        </p:nvSpPr>
        <p:spPr>
          <a:xfrm>
            <a:off x="685800" y="3291840"/>
            <a:ext cx="2292858" cy="640080"/>
          </a:xfrm>
          <a:prstGeom prst="rect">
            <a:avLst/>
          </a:prstGeom>
          <a:noFill/>
          <a:ln/>
        </p:spPr>
        <p:txBody>
          <a:bodyPr wrap="square" lIns="0" tIns="0" rIns="0" bIns="0" rtlCol="0" anchor="t"/>
          <a:lstStyle/>
          <a:p>
            <a:pPr algn="ctr" indent="0" marL="0">
              <a:buNone/>
            </a:pPr>
            <a:r>
              <a:rPr lang="en-US" sz="1300" dirty="0">
                <a:solidFill>
                  <a:srgbClr val="5B4B8A"/>
                </a:solidFill>
              </a:rPr>
              <a:t>08 vòng tròn cam D1–D8, mỗi bên sân 04 vị trí</a:t>
            </a:r>
            <a:endParaRPr lang="en-US" sz="1300" dirty="0"/>
          </a:p>
        </p:txBody>
      </p:sp>
      <p:sp>
        <p:nvSpPr>
          <p:cNvPr id="10" name="Text 6"/>
          <p:cNvSpPr txBox="1"/>
          <p:nvPr/>
        </p:nvSpPr>
        <p:spPr>
          <a:xfrm>
            <a:off x="640080" y="3931920"/>
            <a:ext cx="2384298" cy="548640"/>
          </a:xfrm>
          <a:prstGeom prst="rect">
            <a:avLst/>
          </a:prstGeom>
          <a:noFill/>
          <a:ln/>
        </p:spPr>
        <p:txBody>
          <a:bodyPr wrap="square" lIns="0" tIns="0" rIns="0" bIns="0" rtlCol="0" anchor="ctr"/>
          <a:lstStyle/>
          <a:p>
            <a:pPr algn="ctr" indent="0" marL="0">
              <a:buNone/>
            </a:pPr>
            <a:r>
              <a:rPr lang="en-US" sz="3400" b="1" dirty="0">
                <a:solidFill>
                  <a:srgbClr val="EA580C"/>
                </a:solidFill>
              </a:rPr>
              <a:t>5</a:t>
            </a:r>
            <a:pPr algn="ctr" indent="0" marL="0">
              <a:buNone/>
            </a:pPr>
            <a:r>
              <a:rPr lang="en-US" sz="1400" dirty="0">
                <a:solidFill>
                  <a:srgbClr val="2E1065"/>
                </a:solidFill>
              </a:rPr>
              <a:t> điểm/khối</a:t>
            </a:r>
            <a:endParaRPr lang="en-US" sz="1600" dirty="0"/>
          </a:p>
        </p:txBody>
      </p:sp>
      <p:sp>
        <p:nvSpPr>
          <p:cNvPr id="11" name="Shape 7"/>
          <p:cNvSpPr/>
          <p:nvPr/>
        </p:nvSpPr>
        <p:spPr>
          <a:xfrm>
            <a:off x="658368" y="4572000"/>
            <a:ext cx="2347722" cy="365760"/>
          </a:xfrm>
          <a:prstGeom prst="roundRect">
            <a:avLst>
              <a:gd name="adj" fmla="val 50000"/>
            </a:avLst>
          </a:prstGeom>
          <a:solidFill>
            <a:srgbClr val="FFEDD5"/>
          </a:solidFill>
          <a:ln/>
        </p:spPr>
      </p:sp>
      <p:sp>
        <p:nvSpPr>
          <p:cNvPr id="12" name="Text 8"/>
          <p:cNvSpPr txBox="1"/>
          <p:nvPr/>
        </p:nvSpPr>
        <p:spPr>
          <a:xfrm>
            <a:off x="658368" y="4572000"/>
            <a:ext cx="2347722" cy="365760"/>
          </a:xfrm>
          <a:prstGeom prst="rect">
            <a:avLst/>
          </a:prstGeom>
          <a:noFill/>
          <a:ln/>
        </p:spPr>
        <p:txBody>
          <a:bodyPr wrap="square" lIns="0" tIns="0" rIns="0" bIns="0" rtlCol="0" anchor="ctr"/>
          <a:lstStyle/>
          <a:p>
            <a:pPr algn="ctr" indent="0" marL="0">
              <a:buNone/>
            </a:pPr>
            <a:r>
              <a:rPr lang="en-US" sz="1200" b="1" dirty="0">
                <a:solidFill>
                  <a:srgbClr val="EA580C"/>
                </a:solidFill>
              </a:rPr>
              <a:t>08 khối · Không cần mở khóa</a:t>
            </a:r>
            <a:endParaRPr lang="en-US" sz="1200" dirty="0"/>
          </a:p>
        </p:txBody>
      </p:sp>
      <p:sp>
        <p:nvSpPr>
          <p:cNvPr id="13" name="Shape 9"/>
          <p:cNvSpPr/>
          <p:nvPr/>
        </p:nvSpPr>
        <p:spPr>
          <a:xfrm>
            <a:off x="3390138" y="1371600"/>
            <a:ext cx="2567178" cy="3703320"/>
          </a:xfrm>
          <a:prstGeom prst="roundRect">
            <a:avLst>
              <a:gd name="adj" fmla="val 4274"/>
            </a:avLst>
          </a:prstGeom>
          <a:solidFill>
            <a:srgbClr val="FFFFFF"/>
          </a:solidFill>
          <a:ln/>
          <a:effectLst>
            <a:outerShdw sx="100000" sy="100000" kx="0" ky="0" algn="bl" rotWithShape="0" blurRad="127000" dist="38100" dir="5400000">
              <a:srgbClr val="4C1D95">
                <a:alpha val="16000"/>
              </a:srgbClr>
            </a:outerShdw>
          </a:effectLst>
        </p:spPr>
      </p:sp>
      <p:sp>
        <p:nvSpPr>
          <p:cNvPr id="14" name="Shape 10"/>
          <p:cNvSpPr/>
          <p:nvPr/>
        </p:nvSpPr>
        <p:spPr>
          <a:xfrm>
            <a:off x="4079367" y="1600200"/>
            <a:ext cx="1188720" cy="1188720"/>
          </a:xfrm>
          <a:prstGeom prst="roundRect">
            <a:avLst>
              <a:gd name="adj" fmla="val 15385"/>
            </a:avLst>
          </a:prstGeom>
          <a:solidFill>
            <a:srgbClr val="DBEAFE"/>
          </a:solidFill>
          <a:ln w="31750">
            <a:solidFill>
              <a:srgbClr val="2563EB"/>
            </a:solidFill>
            <a:prstDash val="solid"/>
          </a:ln>
        </p:spPr>
      </p:sp>
      <p:pic>
        <p:nvPicPr>
          <p:cNvPr id="15" name="Image 1" descr="Biểu tượng minh họa">    </p:cNvPr>
          <p:cNvPicPr>
            <a:picLocks noChangeAspect="1"/>
          </p:cNvPicPr>
          <p:nvPr/>
        </p:nvPicPr>
        <p:blipFill>
          <a:blip r:embed="rId2"/>
          <a:stretch>
            <a:fillRect/>
          </a:stretch>
        </p:blipFill>
        <p:spPr>
          <a:xfrm>
            <a:off x="4239387" y="1755648"/>
            <a:ext cx="868680" cy="868680"/>
          </a:xfrm>
          <a:prstGeom prst="rect">
            <a:avLst/>
          </a:prstGeom>
        </p:spPr>
      </p:pic>
      <p:sp>
        <p:nvSpPr>
          <p:cNvPr id="16" name="Text 11"/>
          <p:cNvSpPr txBox="1"/>
          <p:nvPr/>
        </p:nvSpPr>
        <p:spPr>
          <a:xfrm>
            <a:off x="3481578" y="2880360"/>
            <a:ext cx="2384298" cy="411480"/>
          </a:xfrm>
          <a:prstGeom prst="rect">
            <a:avLst/>
          </a:prstGeom>
          <a:noFill/>
          <a:ln/>
        </p:spPr>
        <p:txBody>
          <a:bodyPr wrap="square" lIns="0" tIns="0" rIns="0" bIns="0" rtlCol="0" anchor="t"/>
          <a:lstStyle/>
          <a:p>
            <a:pPr algn="ctr" indent="0" marL="0">
              <a:buNone/>
            </a:pPr>
            <a:r>
              <a:rPr lang="en-US" sz="2000" b="1" dirty="0">
                <a:solidFill>
                  <a:srgbClr val="2563EB"/>
                </a:solidFill>
              </a:rPr>
              <a:t>Khối Nước</a:t>
            </a:r>
            <a:endParaRPr lang="en-US" sz="2000" dirty="0"/>
          </a:p>
        </p:txBody>
      </p:sp>
      <p:sp>
        <p:nvSpPr>
          <p:cNvPr id="17" name="Text 12"/>
          <p:cNvSpPr txBox="1"/>
          <p:nvPr/>
        </p:nvSpPr>
        <p:spPr>
          <a:xfrm>
            <a:off x="3527298" y="3291840"/>
            <a:ext cx="2292858" cy="640080"/>
          </a:xfrm>
          <a:prstGeom prst="rect">
            <a:avLst/>
          </a:prstGeom>
          <a:noFill/>
          <a:ln/>
        </p:spPr>
        <p:txBody>
          <a:bodyPr wrap="square" lIns="0" tIns="0" rIns="0" bIns="0" rtlCol="0" anchor="t"/>
          <a:lstStyle/>
          <a:p>
            <a:pPr algn="ctr" indent="0" marL="0">
              <a:buNone/>
            </a:pPr>
            <a:r>
              <a:rPr lang="en-US" sz="1300" dirty="0">
                <a:solidFill>
                  <a:srgbClr val="5B4B8A"/>
                </a:solidFill>
              </a:rPr>
              <a:t>Ô Nc1, Nc2 trong Trạm Trung tâm</a:t>
            </a:r>
            <a:endParaRPr lang="en-US" sz="1300" dirty="0"/>
          </a:p>
        </p:txBody>
      </p:sp>
      <p:sp>
        <p:nvSpPr>
          <p:cNvPr id="18" name="Text 13"/>
          <p:cNvSpPr txBox="1"/>
          <p:nvPr/>
        </p:nvSpPr>
        <p:spPr>
          <a:xfrm>
            <a:off x="3481578" y="3931920"/>
            <a:ext cx="2384298" cy="548640"/>
          </a:xfrm>
          <a:prstGeom prst="rect">
            <a:avLst/>
          </a:prstGeom>
          <a:noFill/>
          <a:ln/>
        </p:spPr>
        <p:txBody>
          <a:bodyPr wrap="square" lIns="0" tIns="0" rIns="0" bIns="0" rtlCol="0" anchor="ctr"/>
          <a:lstStyle/>
          <a:p>
            <a:pPr algn="ctr" indent="0" marL="0">
              <a:buNone/>
            </a:pPr>
            <a:r>
              <a:rPr lang="en-US" sz="3400" b="1" dirty="0">
                <a:solidFill>
                  <a:srgbClr val="2563EB"/>
                </a:solidFill>
              </a:rPr>
              <a:t>10</a:t>
            </a:r>
            <a:pPr algn="ctr" indent="0" marL="0">
              <a:buNone/>
            </a:pPr>
            <a:r>
              <a:rPr lang="en-US" sz="1400" dirty="0">
                <a:solidFill>
                  <a:srgbClr val="2E1065"/>
                </a:solidFill>
              </a:rPr>
              <a:t> điểm/khối</a:t>
            </a:r>
            <a:endParaRPr lang="en-US" sz="1600" dirty="0"/>
          </a:p>
        </p:txBody>
      </p:sp>
      <p:sp>
        <p:nvSpPr>
          <p:cNvPr id="19" name="Shape 14"/>
          <p:cNvSpPr/>
          <p:nvPr/>
        </p:nvSpPr>
        <p:spPr>
          <a:xfrm>
            <a:off x="3499866" y="4572000"/>
            <a:ext cx="2347722" cy="365760"/>
          </a:xfrm>
          <a:prstGeom prst="roundRect">
            <a:avLst>
              <a:gd name="adj" fmla="val 50000"/>
            </a:avLst>
          </a:prstGeom>
          <a:solidFill>
            <a:srgbClr val="DBEAFE"/>
          </a:solidFill>
          <a:ln/>
        </p:spPr>
      </p:sp>
      <p:sp>
        <p:nvSpPr>
          <p:cNvPr id="20" name="Text 15"/>
          <p:cNvSpPr txBox="1"/>
          <p:nvPr/>
        </p:nvSpPr>
        <p:spPr>
          <a:xfrm>
            <a:off x="3499866" y="4572000"/>
            <a:ext cx="2347722" cy="365760"/>
          </a:xfrm>
          <a:prstGeom prst="rect">
            <a:avLst/>
          </a:prstGeom>
          <a:noFill/>
          <a:ln/>
        </p:spPr>
        <p:txBody>
          <a:bodyPr wrap="square" lIns="0" tIns="0" rIns="0" bIns="0" rtlCol="0" anchor="ctr"/>
          <a:lstStyle/>
          <a:p>
            <a:pPr algn="ctr" indent="0" marL="0">
              <a:buNone/>
            </a:pPr>
            <a:r>
              <a:rPr lang="en-US" sz="1200" b="1" dirty="0">
                <a:solidFill>
                  <a:srgbClr val="2563EB"/>
                </a:solidFill>
              </a:rPr>
              <a:t>02 khối · Sau khi mở khóa Trạm</a:t>
            </a:r>
            <a:endParaRPr lang="en-US" sz="1200" dirty="0"/>
          </a:p>
        </p:txBody>
      </p:sp>
      <p:sp>
        <p:nvSpPr>
          <p:cNvPr id="21" name="Shape 16"/>
          <p:cNvSpPr/>
          <p:nvPr/>
        </p:nvSpPr>
        <p:spPr>
          <a:xfrm>
            <a:off x="6231636" y="1371600"/>
            <a:ext cx="2567178" cy="3703320"/>
          </a:xfrm>
          <a:prstGeom prst="roundRect">
            <a:avLst>
              <a:gd name="adj" fmla="val 4274"/>
            </a:avLst>
          </a:prstGeom>
          <a:solidFill>
            <a:srgbClr val="FFFFFF"/>
          </a:solidFill>
          <a:ln/>
          <a:effectLst>
            <a:outerShdw sx="100000" sy="100000" kx="0" ky="0" algn="bl" rotWithShape="0" blurRad="127000" dist="38100" dir="5400000">
              <a:srgbClr val="4C1D95">
                <a:alpha val="16000"/>
              </a:srgbClr>
            </a:outerShdw>
          </a:effectLst>
        </p:spPr>
      </p:sp>
      <p:sp>
        <p:nvSpPr>
          <p:cNvPr id="22" name="Shape 17"/>
          <p:cNvSpPr/>
          <p:nvPr/>
        </p:nvSpPr>
        <p:spPr>
          <a:xfrm>
            <a:off x="6920865" y="1600200"/>
            <a:ext cx="1188720" cy="1188720"/>
          </a:xfrm>
          <a:prstGeom prst="roundRect">
            <a:avLst>
              <a:gd name="adj" fmla="val 15385"/>
            </a:avLst>
          </a:prstGeom>
          <a:solidFill>
            <a:srgbClr val="FEF3C7"/>
          </a:solidFill>
          <a:ln w="31750">
            <a:solidFill>
              <a:srgbClr val="A16207"/>
            </a:solidFill>
            <a:prstDash val="solid"/>
          </a:ln>
        </p:spPr>
      </p:sp>
      <p:pic>
        <p:nvPicPr>
          <p:cNvPr id="23" name="Image 2" descr="Biểu tượng minh họa">    </p:cNvPr>
          <p:cNvPicPr>
            <a:picLocks noChangeAspect="1"/>
          </p:cNvPicPr>
          <p:nvPr/>
        </p:nvPicPr>
        <p:blipFill>
          <a:blip r:embed="rId3"/>
          <a:stretch>
            <a:fillRect/>
          </a:stretch>
        </p:blipFill>
        <p:spPr>
          <a:xfrm>
            <a:off x="7080885" y="1755648"/>
            <a:ext cx="868680" cy="868680"/>
          </a:xfrm>
          <a:prstGeom prst="rect">
            <a:avLst/>
          </a:prstGeom>
        </p:spPr>
      </p:pic>
      <p:sp>
        <p:nvSpPr>
          <p:cNvPr id="24" name="Text 18"/>
          <p:cNvSpPr txBox="1"/>
          <p:nvPr/>
        </p:nvSpPr>
        <p:spPr>
          <a:xfrm>
            <a:off x="6323076" y="2880360"/>
            <a:ext cx="2384298" cy="411480"/>
          </a:xfrm>
          <a:prstGeom prst="rect">
            <a:avLst/>
          </a:prstGeom>
          <a:noFill/>
          <a:ln/>
        </p:spPr>
        <p:txBody>
          <a:bodyPr wrap="square" lIns="0" tIns="0" rIns="0" bIns="0" rtlCol="0" anchor="t"/>
          <a:lstStyle/>
          <a:p>
            <a:pPr algn="ctr" indent="0" marL="0">
              <a:buNone/>
            </a:pPr>
            <a:r>
              <a:rPr lang="en-US" sz="2000" b="1" dirty="0">
                <a:solidFill>
                  <a:srgbClr val="A16207"/>
                </a:solidFill>
              </a:rPr>
              <a:t>Khối Đất</a:t>
            </a:r>
            <a:endParaRPr lang="en-US" sz="2000" dirty="0"/>
          </a:p>
        </p:txBody>
      </p:sp>
      <p:sp>
        <p:nvSpPr>
          <p:cNvPr id="25" name="Text 19"/>
          <p:cNvSpPr txBox="1"/>
          <p:nvPr/>
        </p:nvSpPr>
        <p:spPr>
          <a:xfrm>
            <a:off x="6368796" y="3291840"/>
            <a:ext cx="2292858" cy="640080"/>
          </a:xfrm>
          <a:prstGeom prst="rect">
            <a:avLst/>
          </a:prstGeom>
          <a:noFill/>
          <a:ln/>
        </p:spPr>
        <p:txBody>
          <a:bodyPr wrap="square" lIns="0" tIns="0" rIns="0" bIns="0" rtlCol="0" anchor="t"/>
          <a:lstStyle/>
          <a:p>
            <a:pPr algn="ctr" indent="0" marL="0">
              <a:buNone/>
            </a:pPr>
            <a:r>
              <a:rPr lang="en-US" sz="1300" dirty="0">
                <a:solidFill>
                  <a:srgbClr val="5B4B8A"/>
                </a:solidFill>
              </a:rPr>
              <a:t>Ô Đ1, Đ2 trong Trạm Trung tâm</a:t>
            </a:r>
            <a:endParaRPr lang="en-US" sz="1300" dirty="0"/>
          </a:p>
        </p:txBody>
      </p:sp>
      <p:sp>
        <p:nvSpPr>
          <p:cNvPr id="26" name="Text 20"/>
          <p:cNvSpPr txBox="1"/>
          <p:nvPr/>
        </p:nvSpPr>
        <p:spPr>
          <a:xfrm>
            <a:off x="6323076" y="3931920"/>
            <a:ext cx="2384298" cy="548640"/>
          </a:xfrm>
          <a:prstGeom prst="rect">
            <a:avLst/>
          </a:prstGeom>
          <a:noFill/>
          <a:ln/>
        </p:spPr>
        <p:txBody>
          <a:bodyPr wrap="square" lIns="0" tIns="0" rIns="0" bIns="0" rtlCol="0" anchor="ctr"/>
          <a:lstStyle/>
          <a:p>
            <a:pPr algn="ctr" indent="0" marL="0">
              <a:buNone/>
            </a:pPr>
            <a:r>
              <a:rPr lang="en-US" sz="3400" b="1" dirty="0">
                <a:solidFill>
                  <a:srgbClr val="A16207"/>
                </a:solidFill>
              </a:rPr>
              <a:t>10</a:t>
            </a:r>
            <a:pPr algn="ctr" indent="0" marL="0">
              <a:buNone/>
            </a:pPr>
            <a:r>
              <a:rPr lang="en-US" sz="1400" dirty="0">
                <a:solidFill>
                  <a:srgbClr val="2E1065"/>
                </a:solidFill>
              </a:rPr>
              <a:t> điểm/khối</a:t>
            </a:r>
            <a:endParaRPr lang="en-US" sz="1600" dirty="0"/>
          </a:p>
        </p:txBody>
      </p:sp>
      <p:sp>
        <p:nvSpPr>
          <p:cNvPr id="27" name="Shape 21"/>
          <p:cNvSpPr/>
          <p:nvPr/>
        </p:nvSpPr>
        <p:spPr>
          <a:xfrm>
            <a:off x="6341364" y="4572000"/>
            <a:ext cx="2347722" cy="365760"/>
          </a:xfrm>
          <a:prstGeom prst="roundRect">
            <a:avLst>
              <a:gd name="adj" fmla="val 50000"/>
            </a:avLst>
          </a:prstGeom>
          <a:solidFill>
            <a:srgbClr val="FEF3C7"/>
          </a:solidFill>
          <a:ln/>
        </p:spPr>
      </p:sp>
      <p:sp>
        <p:nvSpPr>
          <p:cNvPr id="28" name="Text 22"/>
          <p:cNvSpPr txBox="1"/>
          <p:nvPr/>
        </p:nvSpPr>
        <p:spPr>
          <a:xfrm>
            <a:off x="6341364" y="4572000"/>
            <a:ext cx="2347722" cy="365760"/>
          </a:xfrm>
          <a:prstGeom prst="rect">
            <a:avLst/>
          </a:prstGeom>
          <a:noFill/>
          <a:ln/>
        </p:spPr>
        <p:txBody>
          <a:bodyPr wrap="square" lIns="0" tIns="0" rIns="0" bIns="0" rtlCol="0" anchor="ctr"/>
          <a:lstStyle/>
          <a:p>
            <a:pPr algn="ctr" indent="0" marL="0">
              <a:buNone/>
            </a:pPr>
            <a:r>
              <a:rPr lang="en-US" sz="1200" b="1" dirty="0">
                <a:solidFill>
                  <a:srgbClr val="A16207"/>
                </a:solidFill>
              </a:rPr>
              <a:t>02 khối · Sau khi mở khóa Trạm</a:t>
            </a:r>
            <a:endParaRPr lang="en-US" sz="1200" dirty="0"/>
          </a:p>
        </p:txBody>
      </p:sp>
      <p:sp>
        <p:nvSpPr>
          <p:cNvPr id="29" name="Shape 23"/>
          <p:cNvSpPr/>
          <p:nvPr/>
        </p:nvSpPr>
        <p:spPr>
          <a:xfrm>
            <a:off x="9073134" y="1371600"/>
            <a:ext cx="2567178" cy="3703320"/>
          </a:xfrm>
          <a:prstGeom prst="roundRect">
            <a:avLst>
              <a:gd name="adj" fmla="val 4274"/>
            </a:avLst>
          </a:prstGeom>
          <a:solidFill>
            <a:srgbClr val="FFFFFF"/>
          </a:solidFill>
          <a:ln/>
          <a:effectLst>
            <a:outerShdw sx="100000" sy="100000" kx="0" ky="0" algn="bl" rotWithShape="0" blurRad="127000" dist="38100" dir="5400000">
              <a:srgbClr val="4C1D95">
                <a:alpha val="16000"/>
              </a:srgbClr>
            </a:outerShdw>
          </a:effectLst>
        </p:spPr>
      </p:sp>
      <p:sp>
        <p:nvSpPr>
          <p:cNvPr id="30" name="Shape 24"/>
          <p:cNvSpPr/>
          <p:nvPr/>
        </p:nvSpPr>
        <p:spPr>
          <a:xfrm>
            <a:off x="9762363" y="1600200"/>
            <a:ext cx="1188720" cy="1188720"/>
          </a:xfrm>
          <a:prstGeom prst="roundRect">
            <a:avLst>
              <a:gd name="adj" fmla="val 15385"/>
            </a:avLst>
          </a:prstGeom>
          <a:solidFill>
            <a:srgbClr val="DCFCE7"/>
          </a:solidFill>
          <a:ln w="31750">
            <a:solidFill>
              <a:srgbClr val="15803D"/>
            </a:solidFill>
            <a:prstDash val="solid"/>
          </a:ln>
        </p:spPr>
      </p:sp>
      <p:pic>
        <p:nvPicPr>
          <p:cNvPr id="31" name="Image 3" descr="Biểu tượng minh họa">    </p:cNvPr>
          <p:cNvPicPr>
            <a:picLocks noChangeAspect="1"/>
          </p:cNvPicPr>
          <p:nvPr/>
        </p:nvPicPr>
        <p:blipFill>
          <a:blip r:embed="rId4"/>
          <a:stretch>
            <a:fillRect/>
          </a:stretch>
        </p:blipFill>
        <p:spPr>
          <a:xfrm>
            <a:off x="9922383" y="1755648"/>
            <a:ext cx="868680" cy="868680"/>
          </a:xfrm>
          <a:prstGeom prst="rect">
            <a:avLst/>
          </a:prstGeom>
        </p:spPr>
      </p:pic>
      <p:sp>
        <p:nvSpPr>
          <p:cNvPr id="32" name="Text 25"/>
          <p:cNvSpPr txBox="1"/>
          <p:nvPr/>
        </p:nvSpPr>
        <p:spPr>
          <a:xfrm>
            <a:off x="9164574" y="2880360"/>
            <a:ext cx="2384298" cy="411480"/>
          </a:xfrm>
          <a:prstGeom prst="rect">
            <a:avLst/>
          </a:prstGeom>
          <a:noFill/>
          <a:ln/>
        </p:spPr>
        <p:txBody>
          <a:bodyPr wrap="square" lIns="0" tIns="0" rIns="0" bIns="0" rtlCol="0" anchor="t"/>
          <a:lstStyle/>
          <a:p>
            <a:pPr algn="ctr" indent="0" marL="0">
              <a:buNone/>
            </a:pPr>
            <a:r>
              <a:rPr lang="en-US" sz="2000" b="1" dirty="0">
                <a:solidFill>
                  <a:srgbClr val="15803D"/>
                </a:solidFill>
              </a:rPr>
              <a:t>Khối Lá</a:t>
            </a:r>
            <a:endParaRPr lang="en-US" sz="2000" dirty="0"/>
          </a:p>
        </p:txBody>
      </p:sp>
      <p:sp>
        <p:nvSpPr>
          <p:cNvPr id="33" name="Text 26"/>
          <p:cNvSpPr txBox="1"/>
          <p:nvPr/>
        </p:nvSpPr>
        <p:spPr>
          <a:xfrm>
            <a:off x="9210294" y="3291840"/>
            <a:ext cx="2292858" cy="640080"/>
          </a:xfrm>
          <a:prstGeom prst="rect">
            <a:avLst/>
          </a:prstGeom>
          <a:noFill/>
          <a:ln/>
        </p:spPr>
        <p:txBody>
          <a:bodyPr wrap="square" lIns="0" tIns="0" rIns="0" bIns="0" rtlCol="0" anchor="t"/>
          <a:lstStyle/>
          <a:p>
            <a:pPr algn="ctr" indent="0" marL="0">
              <a:buNone/>
            </a:pPr>
            <a:r>
              <a:rPr lang="en-US" sz="1300" dirty="0">
                <a:solidFill>
                  <a:srgbClr val="5B4B8A"/>
                </a:solidFill>
              </a:rPr>
              <a:t>Ô L trong Trạm Trung tâm</a:t>
            </a:r>
            <a:endParaRPr lang="en-US" sz="1300" dirty="0"/>
          </a:p>
        </p:txBody>
      </p:sp>
      <p:sp>
        <p:nvSpPr>
          <p:cNvPr id="34" name="Text 27"/>
          <p:cNvSpPr txBox="1"/>
          <p:nvPr/>
        </p:nvSpPr>
        <p:spPr>
          <a:xfrm>
            <a:off x="9164574" y="3931920"/>
            <a:ext cx="2384298" cy="548640"/>
          </a:xfrm>
          <a:prstGeom prst="rect">
            <a:avLst/>
          </a:prstGeom>
          <a:noFill/>
          <a:ln/>
        </p:spPr>
        <p:txBody>
          <a:bodyPr wrap="square" lIns="0" tIns="0" rIns="0" bIns="0" rtlCol="0" anchor="ctr"/>
          <a:lstStyle/>
          <a:p>
            <a:pPr algn="ctr" indent="0" marL="0">
              <a:buNone/>
            </a:pPr>
            <a:r>
              <a:rPr lang="en-US" sz="3400" b="1" dirty="0">
                <a:solidFill>
                  <a:srgbClr val="15803D"/>
                </a:solidFill>
              </a:rPr>
              <a:t>20</a:t>
            </a:r>
            <a:pPr algn="ctr" indent="0" marL="0">
              <a:buNone/>
            </a:pPr>
            <a:r>
              <a:rPr lang="en-US" sz="1400" dirty="0">
                <a:solidFill>
                  <a:srgbClr val="2E1065"/>
                </a:solidFill>
              </a:rPr>
              <a:t> điểm/khối</a:t>
            </a:r>
            <a:endParaRPr lang="en-US" sz="1600" dirty="0"/>
          </a:p>
        </p:txBody>
      </p:sp>
      <p:sp>
        <p:nvSpPr>
          <p:cNvPr id="35" name="Shape 28"/>
          <p:cNvSpPr/>
          <p:nvPr/>
        </p:nvSpPr>
        <p:spPr>
          <a:xfrm>
            <a:off x="9182862" y="4572000"/>
            <a:ext cx="2347722" cy="365760"/>
          </a:xfrm>
          <a:prstGeom prst="roundRect">
            <a:avLst>
              <a:gd name="adj" fmla="val 50000"/>
            </a:avLst>
          </a:prstGeom>
          <a:solidFill>
            <a:srgbClr val="DCFCE7"/>
          </a:solidFill>
          <a:ln/>
        </p:spPr>
      </p:sp>
      <p:sp>
        <p:nvSpPr>
          <p:cNvPr id="36" name="Text 29"/>
          <p:cNvSpPr txBox="1"/>
          <p:nvPr/>
        </p:nvSpPr>
        <p:spPr>
          <a:xfrm>
            <a:off x="9182862" y="4572000"/>
            <a:ext cx="2347722" cy="365760"/>
          </a:xfrm>
          <a:prstGeom prst="rect">
            <a:avLst/>
          </a:prstGeom>
          <a:noFill/>
          <a:ln/>
        </p:spPr>
        <p:txBody>
          <a:bodyPr wrap="square" lIns="0" tIns="0" rIns="0" bIns="0" rtlCol="0" anchor="ctr"/>
          <a:lstStyle/>
          <a:p>
            <a:pPr algn="ctr" indent="0" marL="0">
              <a:buNone/>
            </a:pPr>
            <a:r>
              <a:rPr lang="en-US" sz="1200" b="1" dirty="0">
                <a:solidFill>
                  <a:srgbClr val="15803D"/>
                </a:solidFill>
              </a:rPr>
              <a:t>01 khối · Sau khi mở khóa Trạm</a:t>
            </a:r>
            <a:endParaRPr lang="en-US" sz="1200" dirty="0"/>
          </a:p>
        </p:txBody>
      </p:sp>
      <p:sp>
        <p:nvSpPr>
          <p:cNvPr id="37" name="Shape 30"/>
          <p:cNvSpPr/>
          <p:nvPr/>
        </p:nvSpPr>
        <p:spPr>
          <a:xfrm>
            <a:off x="548640" y="5303520"/>
            <a:ext cx="11091672" cy="960120"/>
          </a:xfrm>
          <a:prstGeom prst="roundRect">
            <a:avLst>
              <a:gd name="adj" fmla="val 11429"/>
            </a:avLst>
          </a:prstGeom>
          <a:solidFill>
            <a:srgbClr val="7C3AED"/>
          </a:solidFill>
          <a:ln/>
        </p:spPr>
      </p:sp>
      <p:pic>
        <p:nvPicPr>
          <p:cNvPr id="38" name="Image 4" descr="Biểu tượng minh họa">    </p:cNvPr>
          <p:cNvPicPr>
            <a:picLocks noChangeAspect="1"/>
          </p:cNvPicPr>
          <p:nvPr/>
        </p:nvPicPr>
        <p:blipFill>
          <a:blip r:embed="rId5"/>
          <a:stretch>
            <a:fillRect/>
          </a:stretch>
        </p:blipFill>
        <p:spPr>
          <a:xfrm>
            <a:off x="777240" y="5413248"/>
            <a:ext cx="731520" cy="731520"/>
          </a:xfrm>
          <a:prstGeom prst="rect">
            <a:avLst/>
          </a:prstGeom>
        </p:spPr>
      </p:pic>
      <p:sp>
        <p:nvSpPr>
          <p:cNvPr id="39" name="Text 31"/>
          <p:cNvSpPr txBox="1"/>
          <p:nvPr/>
        </p:nvSpPr>
        <p:spPr>
          <a:xfrm>
            <a:off x="1691640" y="5349240"/>
            <a:ext cx="9784080" cy="868680"/>
          </a:xfrm>
          <a:prstGeom prst="rect">
            <a:avLst/>
          </a:prstGeom>
          <a:noFill/>
          <a:ln/>
        </p:spPr>
        <p:txBody>
          <a:bodyPr wrap="square" lIns="0" tIns="0" rIns="0" bIns="0" rtlCol="0" anchor="ctr"/>
          <a:lstStyle/>
          <a:p>
            <a:pPr indent="0" marL="0">
              <a:buNone/>
            </a:pPr>
            <a:r>
              <a:rPr lang="en-US" sz="2200" b="1" dirty="0">
                <a:solidFill>
                  <a:srgbClr val="FFFFFF"/>
                </a:solidFill>
              </a:rPr>
              <a:t>TỔNG: 13 khối trên sa bàn = 100 điểm</a:t>
            </a:r>
            <a:endParaRPr lang="en-US" sz="1600" dirty="0"/>
          </a:p>
          <a:p>
            <a:pPr indent="0" marL="0">
              <a:buNone/>
            </a:pPr>
            <a:r>
              <a:rPr lang="en-US" sz="1400" dirty="0">
                <a:solidFill>
                  <a:srgbClr val="E9D5FF"/>
                </a:solidFill>
              </a:rPr>
              <a:t>Chưa gồm điểm Hồi căn cứ (05 điểm/đội). Bảng Tiểu học không dùng khối Nham thạch.</a:t>
            </a:r>
            <a:endParaRPr lang="en-US" sz="16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PHỤ LỤC 01</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Vị trí đặt khối và đạo cụ</a:t>
            </a:r>
            <a:endParaRPr lang="en-US" sz="3000" dirty="0"/>
          </a:p>
        </p:txBody>
      </p:sp>
      <p:pic>
        <p:nvPicPr>
          <p:cNvPr id="5" name="RR_tram_jpg" descr="Trạm Tài nguyên Trung tâm với khối Lá, Đất, Nước">    </p:cNvPr>
          <p:cNvPicPr>
            <a:picLocks noChangeAspect="1"/>
          </p:cNvPicPr>
          <p:nvPr/>
        </p:nvPicPr>
        <p:blipFill>
          <a:blip r:embed="rId1"/>
          <a:stretch>
            <a:fillRect/>
          </a:stretch>
        </p:blipFill>
        <p:spPr>
          <a:xfrm>
            <a:off x="548640" y="1371600"/>
            <a:ext cx="2286000" cy="429768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6" name="Text 2"/>
          <p:cNvSpPr txBox="1"/>
          <p:nvPr/>
        </p:nvSpPr>
        <p:spPr>
          <a:xfrm>
            <a:off x="411480" y="5742432"/>
            <a:ext cx="2560320" cy="457200"/>
          </a:xfrm>
          <a:prstGeom prst="rect">
            <a:avLst/>
          </a:prstGeom>
          <a:noFill/>
          <a:ln/>
        </p:spPr>
        <p:txBody>
          <a:bodyPr wrap="square" lIns="0" tIns="0" rIns="0" bIns="0" rtlCol="0" anchor="t"/>
          <a:lstStyle/>
          <a:p>
            <a:pPr algn="ctr" indent="0" marL="0">
              <a:buNone/>
            </a:pPr>
            <a:r>
              <a:rPr lang="en-US" sz="1300" b="1" dirty="0">
                <a:solidFill>
                  <a:srgbClr val="7C3AED"/>
                </a:solidFill>
              </a:rPr>
              <a:t>Trạm Tài nguyên Trung tâm</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063240" y="1371600"/>
          <a:ext cx="8577072" cy="914400"/>
        </p:xfrm>
        <a:graphic>
          <a:graphicData uri="http://schemas.openxmlformats.org/drawingml/2006/table">
            <a:tbl>
              <a:tblPr/>
              <a:tblGrid>
                <a:gridCol w="868680"/>
                <a:gridCol w="1783080"/>
                <a:gridCol w="2770632"/>
                <a:gridCol w="3154680"/>
              </a:tblGrid>
              <a:tr h="438912">
                <a:tc>
                  <a:txBody>
                    <a:bodyPr/>
                    <a:lstStyle/>
                    <a:p>
                      <a:pPr indent="0" marL="0">
                        <a:buNone/>
                      </a:pPr>
                      <a:r>
                        <a:rPr lang="en-US" sz="1300" b="1" dirty="0">
                          <a:solidFill>
                            <a:srgbClr val="FFFFFF"/>
                          </a:solidFill>
                        </a:rPr>
                        <a:t>Mã</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indent="0" marL="0">
                        <a:buNone/>
                      </a:pPr>
                      <a:r>
                        <a:rPr lang="en-US" sz="1300" b="1" dirty="0">
                          <a:solidFill>
                            <a:srgbClr val="FFFFFF"/>
                          </a:solidFill>
                        </a:rPr>
                        <a:t>Khối / đạo cụ</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indent="0" marL="0">
                        <a:buNone/>
                      </a:pPr>
                      <a:r>
                        <a:rPr lang="en-US" sz="1300" b="1" dirty="0">
                          <a:solidFill>
                            <a:srgbClr val="FFFFFF"/>
                          </a:solidFill>
                        </a:rPr>
                        <a:t>Vị trí đặt trên sa bàn</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indent="0" marL="0">
                        <a:buNone/>
                      </a:pPr>
                      <a:r>
                        <a:rPr lang="en-US" sz="1300" b="1" dirty="0">
                          <a:solidFill>
                            <a:srgbClr val="FFFFFF"/>
                          </a:solidFill>
                        </a:rPr>
                        <a:t>Tọa độ tâm X ; Y (mm)</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438912">
                <a:tc>
                  <a:txBody>
                    <a:bodyPr/>
                    <a:lstStyle/>
                    <a:p>
                      <a:pPr algn="ctr" indent="0" marL="0">
                        <a:buNone/>
                      </a:pPr>
                      <a:r>
                        <a:rPr lang="en-US" sz="1300" b="1" dirty="0">
                          <a:solidFill>
                            <a:srgbClr val="2E1065"/>
                          </a:solidFill>
                        </a:rPr>
                        <a:t>D1–D4</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b="1" dirty="0">
                          <a:solidFill>
                            <a:srgbClr val="EA580C"/>
                          </a:solidFill>
                        </a:rPr>
                        <a:t>Khối Dầu – sân 1</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04 vòng tròn cam bên Phần sân 1</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D1: 620;510 · D2: 830;500</a:t>
                      </a:r>
                      <a:endParaRPr lang="en-US" sz="1300" dirty="0"/>
                    </a:p>
                    <a:p>
                      <a:pPr indent="0" marL="0">
                        <a:buNone/>
                      </a:pPr>
                      <a:r>
                        <a:rPr lang="en-US" sz="1300" dirty="0">
                          <a:solidFill>
                            <a:srgbClr val="5B4B8A"/>
                          </a:solidFill>
                        </a:rPr>
                        <a:t>D3: 730;690 · D4: 970;690</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2E1065"/>
                          </a:solidFill>
                        </a:rPr>
                        <a:t>D5–D8</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b="1" dirty="0">
                          <a:solidFill>
                            <a:srgbClr val="EA580C"/>
                          </a:solidFill>
                        </a:rPr>
                        <a:t>Khối Dầu – sân 2</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04 vòng tròn cam bên Phần sân 2</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D5: 1440;460 · D6: 1650;460</a:t>
                      </a:r>
                      <a:endParaRPr lang="en-US" sz="1300" dirty="0"/>
                    </a:p>
                    <a:p>
                      <a:pPr indent="0" marL="0">
                        <a:buNone/>
                      </a:pPr>
                      <a:r>
                        <a:rPr lang="en-US" sz="1300" dirty="0">
                          <a:solidFill>
                            <a:srgbClr val="5B4B8A"/>
                          </a:solidFill>
                        </a:rPr>
                        <a:t>D7: 1550;650 · D8: 1790;650</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2E1065"/>
                          </a:solidFill>
                        </a:rPr>
                        <a:t>L</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rPr>
                        <a:t>Khối Lá</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Ô in trên cùng trong Trạm Trung tâm</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L: 1200;450</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2E1065"/>
                          </a:solidFill>
                        </a:rPr>
                        <a:t>Đ1–Đ2</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b="1" dirty="0">
                          <a:solidFill>
                            <a:srgbClr val="A16207"/>
                          </a:solidFill>
                        </a:rPr>
                        <a:t>Khối Đất</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Hai ô giữa trong Trạm Trung tâm</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Đ1: 1140;590 · Đ2: 1260;590</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2E1065"/>
                          </a:solidFill>
                        </a:rPr>
                        <a:t>Nc1–Nc2</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b="1" dirty="0">
                          <a:solidFill>
                            <a:srgbClr val="2563EB"/>
                          </a:solidFill>
                        </a:rPr>
                        <a:t>Khối Nước</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Hai ô dưới cùng trong Trạm Trung tâm</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Nc1: 1140;770 · Nc2: 1260;770</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2E1065"/>
                          </a:solidFill>
                        </a:rPr>
                        <a:t>R1–R2</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b="1" dirty="0">
                          <a:solidFill>
                            <a:srgbClr val="7C3AED"/>
                          </a:solidFill>
                        </a:rPr>
                        <a:t>Điểm đặt lại khối</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Đường trung tâm, trên/dưới Trạm</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R1: 1200;200 · R2: 1200;1080</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2E1065"/>
                          </a:solidFill>
                        </a:rPr>
                        <a:t>–</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b="1" dirty="0">
                          <a:solidFill>
                            <a:srgbClr val="2E1065"/>
                          </a:solidFill>
                        </a:rPr>
                        <a:t>Khu Căn cứ 1 / 2</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Hai đầu sa bàn, tính cả vạch biên</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X 10–240 và 2160–2390; Y 430–780</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38912">
                <a:tc>
                  <a:txBody>
                    <a:bodyPr/>
                    <a:lstStyle/>
                    <a:p>
                      <a:pPr algn="ctr" indent="0" marL="0">
                        <a:buNone/>
                      </a:pPr>
                      <a:r>
                        <a:rPr lang="en-US" sz="1300" b="1" dirty="0">
                          <a:solidFill>
                            <a:srgbClr val="2E1065"/>
                          </a:solidFill>
                        </a:rPr>
                        <a:t>–</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b="1" dirty="0">
                          <a:solidFill>
                            <a:srgbClr val="2E1065"/>
                          </a:solidFill>
                        </a:rPr>
                        <a:t>Núi lửa (địa hình)</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Chi tiết in trên thảm, không ghi điểm</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Lớn: 490;250 · 1730;940</a:t>
                      </a:r>
                      <a:endParaRPr lang="en-US" sz="1300" dirty="0"/>
                    </a:p>
                    <a:p>
                      <a:pPr indent="0" marL="0">
                        <a:buNone/>
                      </a:pPr>
                      <a:r>
                        <a:rPr lang="en-US" sz="1300" dirty="0">
                          <a:solidFill>
                            <a:srgbClr val="5B4B8A"/>
                          </a:solidFill>
                        </a:rPr>
                        <a:t>Nhỏ: 490;940 · 1730;250</a:t>
                      </a:r>
                      <a:endParaRPr lang="en-US" sz="13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3063240" y="5806440"/>
            <a:ext cx="8577072" cy="457200"/>
          </a:xfrm>
          <a:prstGeom prst="rect">
            <a:avLst/>
          </a:prstGeom>
          <a:noFill/>
          <a:ln/>
        </p:spPr>
        <p:txBody>
          <a:bodyPr wrap="square" lIns="0" tIns="0" rIns="0" bIns="0" rtlCol="0" anchor="t"/>
          <a:lstStyle/>
          <a:p>
            <a:pPr indent="0" marL="0">
              <a:buNone/>
            </a:pPr>
            <a:r>
              <a:rPr lang="en-US" sz="1200" i="1" dirty="0">
                <a:solidFill>
                  <a:srgbClr val="5B4B8A"/>
                </a:solidFill>
              </a:rPr>
              <a:t>Tọa độ tham khảo đo từ góc trên bên Căn cứ 1 (gốc O), thảm 2.400 × 1.200 mm; vị trí chuẩn là dấu in trên thảm. Đạo cụ hai phần sân bố trí đối xứng.</a:t>
            </a:r>
            <a:endParaRPr lang="en-US" sz="12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ĐIỀU KIỆN THI ĐẤU</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Nguyên tắc mặt sân: điều kiện chung cho cả hai đội</a:t>
            </a:r>
            <a:endParaRPr lang="en-US" sz="3000" dirty="0"/>
          </a:p>
        </p:txBody>
      </p:sp>
      <p:sp>
        <p:nvSpPr>
          <p:cNvPr id="5" name="Shape 2"/>
          <p:cNvSpPr/>
          <p:nvPr/>
        </p:nvSpPr>
        <p:spPr>
          <a:xfrm>
            <a:off x="548640" y="1371600"/>
            <a:ext cx="11091672" cy="1188720"/>
          </a:xfrm>
          <a:prstGeom prst="roundRect">
            <a:avLst>
              <a:gd name="adj" fmla="val 9231"/>
            </a:avLst>
          </a:prstGeom>
          <a:solidFill>
            <a:srgbClr val="7C3AED"/>
          </a:solidFill>
          <a:ln/>
        </p:spPr>
      </p:sp>
      <p:pic>
        <p:nvPicPr>
          <p:cNvPr id="6" name="Image 0" descr="Biểu tượng minh họa">    </p:cNvPr>
          <p:cNvPicPr>
            <a:picLocks noChangeAspect="1"/>
          </p:cNvPicPr>
          <p:nvPr/>
        </p:nvPicPr>
        <p:blipFill>
          <a:blip r:embed="rId1"/>
          <a:stretch>
            <a:fillRect/>
          </a:stretch>
        </p:blipFill>
        <p:spPr>
          <a:xfrm>
            <a:off x="777240" y="1554480"/>
            <a:ext cx="822960" cy="822960"/>
          </a:xfrm>
          <a:prstGeom prst="rect">
            <a:avLst/>
          </a:prstGeom>
        </p:spPr>
      </p:pic>
      <p:sp>
        <p:nvSpPr>
          <p:cNvPr id="7" name="Text 3"/>
          <p:cNvSpPr txBox="1"/>
          <p:nvPr/>
        </p:nvSpPr>
        <p:spPr>
          <a:xfrm>
            <a:off x="1828800" y="1417320"/>
            <a:ext cx="9646920" cy="1097280"/>
          </a:xfrm>
          <a:prstGeom prst="rect">
            <a:avLst/>
          </a:prstGeom>
          <a:noFill/>
          <a:ln/>
        </p:spPr>
        <p:txBody>
          <a:bodyPr wrap="square" lIns="0" tIns="0" rIns="0" bIns="0" rtlCol="0" anchor="ctr"/>
          <a:lstStyle/>
          <a:p>
            <a:pPr indent="0" marL="0">
              <a:buNone/>
            </a:pPr>
            <a:r>
              <a:rPr lang="en-US" sz="1700" dirty="0">
                <a:solidFill>
                  <a:srgbClr val="FFFFFF"/>
                </a:solidFill>
              </a:rPr>
              <a:t>Mọi điểm mấp mô, lồi lõm, gờ nổi, nếp gấp, mép ghép nối và địa hình trên sa bàn là điều kiện CHUNG. </a:t>
            </a:r>
            <a:pPr indent="0" marL="0">
              <a:buNone/>
            </a:pPr>
            <a:r>
              <a:rPr lang="en-US" sz="1700" b="1" dirty="0">
                <a:solidFill>
                  <a:srgbClr val="FDE68A"/>
                </a:solidFill>
              </a:rPr>
              <a:t>KHÔNG ảnh hưởng kết quả · KHÔNG là căn cứ khiếu nại, tạm dừng hay thi lại.</a:t>
            </a:r>
            <a:endParaRPr lang="en-US" sz="1700" dirty="0"/>
          </a:p>
        </p:txBody>
      </p:sp>
      <p:sp>
        <p:nvSpPr>
          <p:cNvPr id="8" name="Text 4"/>
          <p:cNvSpPr txBox="1"/>
          <p:nvPr/>
        </p:nvSpPr>
        <p:spPr>
          <a:xfrm>
            <a:off x="548640" y="2697480"/>
            <a:ext cx="10972800" cy="365760"/>
          </a:xfrm>
          <a:prstGeom prst="rect">
            <a:avLst/>
          </a:prstGeom>
          <a:noFill/>
          <a:ln/>
        </p:spPr>
        <p:txBody>
          <a:bodyPr wrap="square" lIns="0" tIns="0" rIns="0" bIns="0" rtlCol="0" anchor="t"/>
          <a:lstStyle/>
          <a:p>
            <a:pPr indent="0" marL="0">
              <a:buNone/>
            </a:pPr>
            <a:r>
              <a:rPr lang="en-US" sz="1600" b="1" dirty="0">
                <a:solidFill>
                  <a:srgbClr val="7C3AED"/>
                </a:solidFill>
              </a:rPr>
              <a:t>Các yếu tố sau cũng KHÔNG được xem là căn cứ khiếu nại:</a:t>
            </a:r>
            <a:endParaRPr lang="en-US" sz="1600" dirty="0"/>
          </a:p>
        </p:txBody>
      </p:sp>
      <p:sp>
        <p:nvSpPr>
          <p:cNvPr id="9" name="Shape 5"/>
          <p:cNvSpPr/>
          <p:nvPr/>
        </p:nvSpPr>
        <p:spPr>
          <a:xfrm>
            <a:off x="548640" y="315468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10" name="Shape 6"/>
          <p:cNvSpPr/>
          <p:nvPr/>
        </p:nvSpPr>
        <p:spPr>
          <a:xfrm>
            <a:off x="685800" y="3474720"/>
            <a:ext cx="777240" cy="777240"/>
          </a:xfrm>
          <a:prstGeom prst="ellipse">
            <a:avLst/>
          </a:prstGeom>
          <a:solidFill>
            <a:srgbClr val="EDE4FF"/>
          </a:solidFill>
          <a:ln/>
        </p:spPr>
      </p:sp>
      <p:pic>
        <p:nvPicPr>
          <p:cNvPr id="11" name="Image 1" descr="Biểu tượng minh họa">    </p:cNvPr>
          <p:cNvPicPr>
            <a:picLocks noChangeAspect="1"/>
          </p:cNvPicPr>
          <p:nvPr/>
        </p:nvPicPr>
        <p:blipFill>
          <a:blip r:embed="rId2"/>
          <a:stretch>
            <a:fillRect/>
          </a:stretch>
        </p:blipFill>
        <p:spPr>
          <a:xfrm>
            <a:off x="825703" y="3614623"/>
            <a:ext cx="497434" cy="497434"/>
          </a:xfrm>
          <a:prstGeom prst="rect">
            <a:avLst/>
          </a:prstGeom>
        </p:spPr>
      </p:pic>
      <p:sp>
        <p:nvSpPr>
          <p:cNvPr id="12" name="Text 7"/>
          <p:cNvSpPr txBox="1"/>
          <p:nvPr/>
        </p:nvSpPr>
        <p:spPr>
          <a:xfrm>
            <a:off x="1554480" y="326440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Ánh sáng</a:t>
            </a:r>
            <a:endParaRPr lang="en-US" sz="1600" dirty="0"/>
          </a:p>
        </p:txBody>
      </p:sp>
      <p:sp>
        <p:nvSpPr>
          <p:cNvPr id="13" name="Text 8"/>
          <p:cNvSpPr txBox="1"/>
          <p:nvPr/>
        </p:nvSpPr>
        <p:spPr>
          <a:xfrm>
            <a:off x="1554480" y="3630168"/>
            <a:ext cx="1472184" cy="868680"/>
          </a:xfrm>
          <a:prstGeom prst="rect">
            <a:avLst/>
          </a:prstGeom>
          <a:noFill/>
          <a:ln/>
        </p:spPr>
        <p:txBody>
          <a:bodyPr wrap="square" lIns="0" tIns="0" rIns="0" bIns="0" rtlCol="0" anchor="t"/>
          <a:lstStyle/>
          <a:p>
            <a:pPr indent="0" marL="0">
              <a:buNone/>
            </a:pPr>
            <a:r>
              <a:rPr lang="en-US" sz="1300" dirty="0">
                <a:solidFill>
                  <a:srgbClr val="5B4B8A"/>
                </a:solidFill>
              </a:rPr>
              <a:t>Đèn sân khấu, flash, bóng đổ, nắng hắt</a:t>
            </a:r>
            <a:endParaRPr lang="en-US" sz="1300" dirty="0"/>
          </a:p>
        </p:txBody>
      </p:sp>
      <p:sp>
        <p:nvSpPr>
          <p:cNvPr id="14" name="Shape 9"/>
          <p:cNvSpPr/>
          <p:nvPr/>
        </p:nvSpPr>
        <p:spPr>
          <a:xfrm>
            <a:off x="3389681" y="315468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15" name="Shape 10"/>
          <p:cNvSpPr/>
          <p:nvPr/>
        </p:nvSpPr>
        <p:spPr>
          <a:xfrm>
            <a:off x="3526841" y="3474720"/>
            <a:ext cx="777240" cy="777240"/>
          </a:xfrm>
          <a:prstGeom prst="ellipse">
            <a:avLst/>
          </a:prstGeom>
          <a:solidFill>
            <a:srgbClr val="EDE4FF"/>
          </a:solidFill>
          <a:ln/>
        </p:spPr>
      </p:sp>
      <p:pic>
        <p:nvPicPr>
          <p:cNvPr id="16" name="Image 2" descr="Biểu tượng minh họa">    </p:cNvPr>
          <p:cNvPicPr>
            <a:picLocks noChangeAspect="1"/>
          </p:cNvPicPr>
          <p:nvPr/>
        </p:nvPicPr>
        <p:blipFill>
          <a:blip r:embed="rId3"/>
          <a:stretch>
            <a:fillRect/>
          </a:stretch>
        </p:blipFill>
        <p:spPr>
          <a:xfrm>
            <a:off x="3666744" y="3614623"/>
            <a:ext cx="497434" cy="497434"/>
          </a:xfrm>
          <a:prstGeom prst="rect">
            <a:avLst/>
          </a:prstGeom>
        </p:spPr>
      </p:pic>
      <p:sp>
        <p:nvSpPr>
          <p:cNvPr id="17" name="Text 11"/>
          <p:cNvSpPr txBox="1"/>
          <p:nvPr/>
        </p:nvSpPr>
        <p:spPr>
          <a:xfrm>
            <a:off x="4395521" y="326440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Màu sắc</a:t>
            </a:r>
            <a:endParaRPr lang="en-US" sz="1600" dirty="0"/>
          </a:p>
        </p:txBody>
      </p:sp>
      <p:sp>
        <p:nvSpPr>
          <p:cNvPr id="18" name="Text 12"/>
          <p:cNvSpPr txBox="1"/>
          <p:nvPr/>
        </p:nvSpPr>
        <p:spPr>
          <a:xfrm>
            <a:off x="4395521" y="3630168"/>
            <a:ext cx="1472184" cy="868680"/>
          </a:xfrm>
          <a:prstGeom prst="rect">
            <a:avLst/>
          </a:prstGeom>
          <a:noFill/>
          <a:ln/>
        </p:spPr>
        <p:txBody>
          <a:bodyPr wrap="square" lIns="0" tIns="0" rIns="0" bIns="0" rtlCol="0" anchor="t"/>
          <a:lstStyle/>
          <a:p>
            <a:pPr indent="0" marL="0">
              <a:buNone/>
            </a:pPr>
            <a:r>
              <a:rPr lang="en-US" sz="1300" dirty="0">
                <a:solidFill>
                  <a:srgbClr val="5B4B8A"/>
                </a:solidFill>
              </a:rPr>
              <a:t>Sai lệch nhỏ về màu, độ bóng, phản quang</a:t>
            </a:r>
            <a:endParaRPr lang="en-US" sz="1300" dirty="0"/>
          </a:p>
        </p:txBody>
      </p:sp>
      <p:sp>
        <p:nvSpPr>
          <p:cNvPr id="19" name="Shape 13"/>
          <p:cNvSpPr/>
          <p:nvPr/>
        </p:nvSpPr>
        <p:spPr>
          <a:xfrm>
            <a:off x="6230722" y="315468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20" name="Shape 14"/>
          <p:cNvSpPr/>
          <p:nvPr/>
        </p:nvSpPr>
        <p:spPr>
          <a:xfrm>
            <a:off x="6367882" y="3474720"/>
            <a:ext cx="777240" cy="777240"/>
          </a:xfrm>
          <a:prstGeom prst="ellipse">
            <a:avLst/>
          </a:prstGeom>
          <a:solidFill>
            <a:srgbClr val="EDE4FF"/>
          </a:solidFill>
          <a:ln/>
        </p:spPr>
      </p:sp>
      <p:pic>
        <p:nvPicPr>
          <p:cNvPr id="21" name="Image 3" descr="Biểu tượng minh họa">    </p:cNvPr>
          <p:cNvPicPr>
            <a:picLocks noChangeAspect="1"/>
          </p:cNvPicPr>
          <p:nvPr/>
        </p:nvPicPr>
        <p:blipFill>
          <a:blip r:embed="rId4"/>
          <a:stretch>
            <a:fillRect/>
          </a:stretch>
        </p:blipFill>
        <p:spPr>
          <a:xfrm>
            <a:off x="6507785" y="3614623"/>
            <a:ext cx="497434" cy="497434"/>
          </a:xfrm>
          <a:prstGeom prst="rect">
            <a:avLst/>
          </a:prstGeom>
        </p:spPr>
      </p:pic>
      <p:sp>
        <p:nvSpPr>
          <p:cNvPr id="22" name="Text 15"/>
          <p:cNvSpPr txBox="1"/>
          <p:nvPr/>
        </p:nvSpPr>
        <p:spPr>
          <a:xfrm>
            <a:off x="7236562" y="326440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Mặt thảm</a:t>
            </a:r>
            <a:endParaRPr lang="en-US" sz="1600" dirty="0"/>
          </a:p>
        </p:txBody>
      </p:sp>
      <p:sp>
        <p:nvSpPr>
          <p:cNvPr id="23" name="Text 16"/>
          <p:cNvSpPr txBox="1"/>
          <p:nvPr/>
        </p:nvSpPr>
        <p:spPr>
          <a:xfrm>
            <a:off x="7236562" y="3630168"/>
            <a:ext cx="1472184" cy="868680"/>
          </a:xfrm>
          <a:prstGeom prst="rect">
            <a:avLst/>
          </a:prstGeom>
          <a:noFill/>
          <a:ln/>
        </p:spPr>
        <p:txBody>
          <a:bodyPr wrap="square" lIns="0" tIns="0" rIns="0" bIns="0" rtlCol="0" anchor="t"/>
          <a:lstStyle/>
          <a:p>
            <a:pPr indent="0" marL="0">
              <a:buNone/>
            </a:pPr>
            <a:r>
              <a:rPr lang="en-US" sz="1300" dirty="0">
                <a:solidFill>
                  <a:srgbClr val="5B4B8A"/>
                </a:solidFill>
              </a:rPr>
              <a:t>Vết xước, gợn sóng, khe ghép, độ trơn</a:t>
            </a:r>
            <a:endParaRPr lang="en-US" sz="1300" dirty="0"/>
          </a:p>
        </p:txBody>
      </p:sp>
      <p:sp>
        <p:nvSpPr>
          <p:cNvPr id="24" name="Shape 17"/>
          <p:cNvSpPr/>
          <p:nvPr/>
        </p:nvSpPr>
        <p:spPr>
          <a:xfrm>
            <a:off x="9071762" y="315468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25" name="Shape 18"/>
          <p:cNvSpPr/>
          <p:nvPr/>
        </p:nvSpPr>
        <p:spPr>
          <a:xfrm>
            <a:off x="9208922" y="3474720"/>
            <a:ext cx="777240" cy="777240"/>
          </a:xfrm>
          <a:prstGeom prst="ellipse">
            <a:avLst/>
          </a:prstGeom>
          <a:solidFill>
            <a:srgbClr val="EDE4FF"/>
          </a:solidFill>
          <a:ln/>
        </p:spPr>
      </p:sp>
      <p:pic>
        <p:nvPicPr>
          <p:cNvPr id="26" name="Image 4" descr="Biểu tượng minh họa">    </p:cNvPr>
          <p:cNvPicPr>
            <a:picLocks noChangeAspect="1"/>
          </p:cNvPicPr>
          <p:nvPr/>
        </p:nvPicPr>
        <p:blipFill>
          <a:blip r:embed="rId5"/>
          <a:stretch>
            <a:fillRect/>
          </a:stretch>
        </p:blipFill>
        <p:spPr>
          <a:xfrm>
            <a:off x="9348826" y="3614623"/>
            <a:ext cx="497434" cy="497434"/>
          </a:xfrm>
          <a:prstGeom prst="rect">
            <a:avLst/>
          </a:prstGeom>
        </p:spPr>
      </p:pic>
      <p:sp>
        <p:nvSpPr>
          <p:cNvPr id="27" name="Text 19"/>
          <p:cNvSpPr txBox="1"/>
          <p:nvPr/>
        </p:nvSpPr>
        <p:spPr>
          <a:xfrm>
            <a:off x="10077602" y="326440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Đạo cụ</a:t>
            </a:r>
            <a:endParaRPr lang="en-US" sz="1600" dirty="0"/>
          </a:p>
        </p:txBody>
      </p:sp>
      <p:sp>
        <p:nvSpPr>
          <p:cNvPr id="28" name="Text 20"/>
          <p:cNvSpPr txBox="1"/>
          <p:nvPr/>
        </p:nvSpPr>
        <p:spPr>
          <a:xfrm>
            <a:off x="10077602" y="3630168"/>
            <a:ext cx="1472184" cy="868680"/>
          </a:xfrm>
          <a:prstGeom prst="rect">
            <a:avLst/>
          </a:prstGeom>
          <a:noFill/>
          <a:ln/>
        </p:spPr>
        <p:txBody>
          <a:bodyPr wrap="square" lIns="0" tIns="0" rIns="0" bIns="0" rtlCol="0" anchor="t"/>
          <a:lstStyle/>
          <a:p>
            <a:pPr indent="0" marL="0">
              <a:buNone/>
            </a:pPr>
            <a:r>
              <a:rPr lang="en-US" sz="1300" dirty="0">
                <a:solidFill>
                  <a:srgbClr val="5B4B8A"/>
                </a:solidFill>
              </a:rPr>
              <a:t>Biến dạng, sờn mép, cong vênh nhẹ</a:t>
            </a:r>
            <a:endParaRPr lang="en-US" sz="1300" dirty="0"/>
          </a:p>
        </p:txBody>
      </p:sp>
      <p:sp>
        <p:nvSpPr>
          <p:cNvPr id="29" name="Shape 21"/>
          <p:cNvSpPr/>
          <p:nvPr/>
        </p:nvSpPr>
        <p:spPr>
          <a:xfrm>
            <a:off x="548640" y="480060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30" name="Shape 22"/>
          <p:cNvSpPr/>
          <p:nvPr/>
        </p:nvSpPr>
        <p:spPr>
          <a:xfrm>
            <a:off x="685800" y="5120640"/>
            <a:ext cx="777240" cy="777240"/>
          </a:xfrm>
          <a:prstGeom prst="ellipse">
            <a:avLst/>
          </a:prstGeom>
          <a:solidFill>
            <a:srgbClr val="EDE4FF"/>
          </a:solidFill>
          <a:ln/>
        </p:spPr>
      </p:sp>
      <p:pic>
        <p:nvPicPr>
          <p:cNvPr id="31" name="Image 5" descr="Biểu tượng minh họa">    </p:cNvPr>
          <p:cNvPicPr>
            <a:picLocks noChangeAspect="1"/>
          </p:cNvPicPr>
          <p:nvPr/>
        </p:nvPicPr>
        <p:blipFill>
          <a:blip r:embed="rId6"/>
          <a:stretch>
            <a:fillRect/>
          </a:stretch>
        </p:blipFill>
        <p:spPr>
          <a:xfrm>
            <a:off x="825703" y="5260543"/>
            <a:ext cx="497434" cy="497434"/>
          </a:xfrm>
          <a:prstGeom prst="rect">
            <a:avLst/>
          </a:prstGeom>
        </p:spPr>
      </p:pic>
      <p:sp>
        <p:nvSpPr>
          <p:cNvPr id="32" name="Text 23"/>
          <p:cNvSpPr txBox="1"/>
          <p:nvPr/>
        </p:nvSpPr>
        <p:spPr>
          <a:xfrm>
            <a:off x="1554480" y="491032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Tiếng ồn</a:t>
            </a:r>
            <a:endParaRPr lang="en-US" sz="1600" dirty="0"/>
          </a:p>
        </p:txBody>
      </p:sp>
      <p:sp>
        <p:nvSpPr>
          <p:cNvPr id="33" name="Text 24"/>
          <p:cNvSpPr txBox="1"/>
          <p:nvPr/>
        </p:nvSpPr>
        <p:spPr>
          <a:xfrm>
            <a:off x="1554480" y="5276088"/>
            <a:ext cx="1472184" cy="868680"/>
          </a:xfrm>
          <a:prstGeom prst="rect">
            <a:avLst/>
          </a:prstGeom>
          <a:noFill/>
          <a:ln/>
        </p:spPr>
        <p:txBody>
          <a:bodyPr wrap="square" lIns="0" tIns="0" rIns="0" bIns="0" rtlCol="0" anchor="t"/>
          <a:lstStyle/>
          <a:p>
            <a:pPr indent="0" marL="0">
              <a:buNone/>
            </a:pPr>
            <a:r>
              <a:rPr lang="en-US" sz="1300" dirty="0">
                <a:solidFill>
                  <a:srgbClr val="5B4B8A"/>
                </a:solidFill>
              </a:rPr>
              <a:t>Tiếng cổ vũ, rung nhẹ mặt sàn</a:t>
            </a:r>
            <a:endParaRPr lang="en-US" sz="1300" dirty="0"/>
          </a:p>
        </p:txBody>
      </p:sp>
      <p:sp>
        <p:nvSpPr>
          <p:cNvPr id="34" name="Shape 25"/>
          <p:cNvSpPr/>
          <p:nvPr/>
        </p:nvSpPr>
        <p:spPr>
          <a:xfrm>
            <a:off x="3389681" y="480060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35" name="Shape 26"/>
          <p:cNvSpPr/>
          <p:nvPr/>
        </p:nvSpPr>
        <p:spPr>
          <a:xfrm>
            <a:off x="3526841" y="5120640"/>
            <a:ext cx="777240" cy="777240"/>
          </a:xfrm>
          <a:prstGeom prst="ellipse">
            <a:avLst/>
          </a:prstGeom>
          <a:solidFill>
            <a:srgbClr val="EDE4FF"/>
          </a:solidFill>
          <a:ln/>
        </p:spPr>
      </p:sp>
      <p:pic>
        <p:nvPicPr>
          <p:cNvPr id="36" name="Image 6" descr="Biểu tượng minh họa">    </p:cNvPr>
          <p:cNvPicPr>
            <a:picLocks noChangeAspect="1"/>
          </p:cNvPicPr>
          <p:nvPr/>
        </p:nvPicPr>
        <p:blipFill>
          <a:blip r:embed="rId7"/>
          <a:stretch>
            <a:fillRect/>
          </a:stretch>
        </p:blipFill>
        <p:spPr>
          <a:xfrm>
            <a:off x="3666744" y="5260543"/>
            <a:ext cx="497434" cy="497434"/>
          </a:xfrm>
          <a:prstGeom prst="rect">
            <a:avLst/>
          </a:prstGeom>
        </p:spPr>
      </p:pic>
      <p:sp>
        <p:nvSpPr>
          <p:cNvPr id="37" name="Text 27"/>
          <p:cNvSpPr txBox="1"/>
          <p:nvPr/>
        </p:nvSpPr>
        <p:spPr>
          <a:xfrm>
            <a:off x="4395521" y="491032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Nhiễu sóng</a:t>
            </a:r>
            <a:endParaRPr lang="en-US" sz="1600" dirty="0"/>
          </a:p>
        </p:txBody>
      </p:sp>
      <p:sp>
        <p:nvSpPr>
          <p:cNvPr id="38" name="Text 28"/>
          <p:cNvSpPr txBox="1"/>
          <p:nvPr/>
        </p:nvSpPr>
        <p:spPr>
          <a:xfrm>
            <a:off x="4395521" y="5276088"/>
            <a:ext cx="1472184" cy="868680"/>
          </a:xfrm>
          <a:prstGeom prst="rect">
            <a:avLst/>
          </a:prstGeom>
          <a:noFill/>
          <a:ln/>
        </p:spPr>
        <p:txBody>
          <a:bodyPr wrap="square" lIns="0" tIns="0" rIns="0" bIns="0" rtlCol="0" anchor="t"/>
          <a:lstStyle/>
          <a:p>
            <a:pPr indent="0" marL="0">
              <a:buNone/>
            </a:pPr>
            <a:r>
              <a:rPr lang="en-US" sz="1300" dirty="0">
                <a:solidFill>
                  <a:srgbClr val="5B4B8A"/>
                </a:solidFill>
              </a:rPr>
              <a:t>Wi-Fi, Bluetooth ở mức thông thường</a:t>
            </a:r>
            <a:endParaRPr lang="en-US" sz="1300" dirty="0"/>
          </a:p>
        </p:txBody>
      </p:sp>
      <p:sp>
        <p:nvSpPr>
          <p:cNvPr id="39" name="Shape 29"/>
          <p:cNvSpPr/>
          <p:nvPr/>
        </p:nvSpPr>
        <p:spPr>
          <a:xfrm>
            <a:off x="6230722" y="480060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40" name="Shape 30"/>
          <p:cNvSpPr/>
          <p:nvPr/>
        </p:nvSpPr>
        <p:spPr>
          <a:xfrm>
            <a:off x="6367882" y="5120640"/>
            <a:ext cx="777240" cy="777240"/>
          </a:xfrm>
          <a:prstGeom prst="ellipse">
            <a:avLst/>
          </a:prstGeom>
          <a:solidFill>
            <a:srgbClr val="EDE4FF"/>
          </a:solidFill>
          <a:ln/>
        </p:spPr>
      </p:sp>
      <p:pic>
        <p:nvPicPr>
          <p:cNvPr id="41" name="Image 7" descr="Biểu tượng minh họa">    </p:cNvPr>
          <p:cNvPicPr>
            <a:picLocks noChangeAspect="1"/>
          </p:cNvPicPr>
          <p:nvPr/>
        </p:nvPicPr>
        <p:blipFill>
          <a:blip r:embed="rId8"/>
          <a:stretch>
            <a:fillRect/>
          </a:stretch>
        </p:blipFill>
        <p:spPr>
          <a:xfrm>
            <a:off x="6507785" y="5260543"/>
            <a:ext cx="497434" cy="497434"/>
          </a:xfrm>
          <a:prstGeom prst="rect">
            <a:avLst/>
          </a:prstGeom>
        </p:spPr>
      </p:pic>
      <p:sp>
        <p:nvSpPr>
          <p:cNvPr id="42" name="Text 31"/>
          <p:cNvSpPr txBox="1"/>
          <p:nvPr/>
        </p:nvSpPr>
        <p:spPr>
          <a:xfrm>
            <a:off x="7236562" y="491032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Khác biệt nhỏ</a:t>
            </a:r>
            <a:endParaRPr lang="en-US" sz="1600" dirty="0"/>
          </a:p>
        </p:txBody>
      </p:sp>
      <p:sp>
        <p:nvSpPr>
          <p:cNvPr id="43" name="Text 32"/>
          <p:cNvSpPr txBox="1"/>
          <p:nvPr/>
        </p:nvSpPr>
        <p:spPr>
          <a:xfrm>
            <a:off x="7236562" y="5276088"/>
            <a:ext cx="1472184" cy="868680"/>
          </a:xfrm>
          <a:prstGeom prst="rect">
            <a:avLst/>
          </a:prstGeom>
          <a:noFill/>
          <a:ln/>
        </p:spPr>
        <p:txBody>
          <a:bodyPr wrap="square" lIns="0" tIns="0" rIns="0" bIns="0" rtlCol="0" anchor="t"/>
          <a:lstStyle/>
          <a:p>
            <a:pPr indent="0" marL="0">
              <a:buNone/>
            </a:pPr>
            <a:r>
              <a:rPr lang="en-US" sz="1300" dirty="0">
                <a:solidFill>
                  <a:srgbClr val="5B4B8A"/>
                </a:solidFill>
              </a:rPr>
              <a:t>Độ nhạy tay ga, độ rơ cơ cấu gắp</a:t>
            </a:r>
            <a:endParaRPr lang="en-US" sz="1300" dirty="0"/>
          </a:p>
        </p:txBody>
      </p:sp>
      <p:sp>
        <p:nvSpPr>
          <p:cNvPr id="44" name="Shape 33"/>
          <p:cNvSpPr/>
          <p:nvPr/>
        </p:nvSpPr>
        <p:spPr>
          <a:xfrm>
            <a:off x="9071762" y="4800600"/>
            <a:ext cx="2569464" cy="1417320"/>
          </a:xfrm>
          <a:prstGeom prst="roundRect">
            <a:avLst>
              <a:gd name="adj" fmla="val 7742"/>
            </a:avLst>
          </a:prstGeom>
          <a:solidFill>
            <a:srgbClr val="EA580C"/>
          </a:solidFill>
          <a:ln/>
          <a:effectLst>
            <a:outerShdw sx="100000" sy="100000" kx="0" ky="0" algn="bl" rotWithShape="0" blurRad="127000" dist="38100" dir="5400000">
              <a:srgbClr val="4C1D95">
                <a:alpha val="16000"/>
              </a:srgbClr>
            </a:outerShdw>
          </a:effectLst>
        </p:spPr>
      </p:sp>
      <p:pic>
        <p:nvPicPr>
          <p:cNvPr id="45" name="Image 8" descr="Biểu tượng minh họa">    </p:cNvPr>
          <p:cNvPicPr>
            <a:picLocks noChangeAspect="1"/>
          </p:cNvPicPr>
          <p:nvPr/>
        </p:nvPicPr>
        <p:blipFill>
          <a:blip r:embed="rId9"/>
          <a:stretch>
            <a:fillRect/>
          </a:stretch>
        </p:blipFill>
        <p:spPr>
          <a:xfrm>
            <a:off x="9208922" y="4937760"/>
            <a:ext cx="548640" cy="548640"/>
          </a:xfrm>
          <a:prstGeom prst="rect">
            <a:avLst/>
          </a:prstGeom>
        </p:spPr>
      </p:pic>
      <p:sp>
        <p:nvSpPr>
          <p:cNvPr id="46" name="Text 34"/>
          <p:cNvSpPr txBox="1"/>
          <p:nvPr/>
        </p:nvSpPr>
        <p:spPr>
          <a:xfrm>
            <a:off x="9849002" y="4873752"/>
            <a:ext cx="1700784" cy="1271016"/>
          </a:xfrm>
          <a:prstGeom prst="rect">
            <a:avLst/>
          </a:prstGeom>
          <a:noFill/>
          <a:ln/>
        </p:spPr>
        <p:txBody>
          <a:bodyPr wrap="square" lIns="0" tIns="0" rIns="0" bIns="0" rtlCol="0" anchor="ctr"/>
          <a:lstStyle/>
          <a:p>
            <a:pPr indent="0" marL="0">
              <a:buNone/>
            </a:pPr>
            <a:r>
              <a:rPr lang="en-US" sz="1400" b="1" dirty="0">
                <a:solidFill>
                  <a:srgbClr val="FFFFFF"/>
                </a:solidFill>
              </a:rPr>
              <a:t>Mẹo: tận dụng 90 giây làm quen để thích ứng – có ý kiến phải nêu ngay lúc đó!</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CHỈ KHI BẤT KHẢ KHÁNG</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Khi nào lượt đấu được tổ chức lại?</a:t>
            </a:r>
            <a:endParaRPr lang="en-US" sz="3000" dirty="0"/>
          </a:p>
        </p:txBody>
      </p:sp>
      <p:sp>
        <p:nvSpPr>
          <p:cNvPr id="5" name="Shape 2"/>
          <p:cNvSpPr/>
          <p:nvPr/>
        </p:nvSpPr>
        <p:spPr>
          <a:xfrm>
            <a:off x="548640" y="1371600"/>
            <a:ext cx="3246120" cy="2286000"/>
          </a:xfrm>
          <a:prstGeom prst="roundRect">
            <a:avLst>
              <a:gd name="adj" fmla="val 4800"/>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77240" y="1600200"/>
            <a:ext cx="914400" cy="914400"/>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941832" y="1764792"/>
            <a:ext cx="585216" cy="585216"/>
          </a:xfrm>
          <a:prstGeom prst="rect">
            <a:avLst/>
          </a:prstGeom>
        </p:spPr>
      </p:pic>
      <p:sp>
        <p:nvSpPr>
          <p:cNvPr id="8" name="Text 4"/>
          <p:cNvSpPr txBox="1"/>
          <p:nvPr/>
        </p:nvSpPr>
        <p:spPr>
          <a:xfrm>
            <a:off x="1828800" y="1645920"/>
            <a:ext cx="1874520" cy="822960"/>
          </a:xfrm>
          <a:prstGeom prst="rect">
            <a:avLst/>
          </a:prstGeom>
          <a:noFill/>
          <a:ln/>
        </p:spPr>
        <p:txBody>
          <a:bodyPr wrap="square" lIns="0" tIns="0" rIns="0" bIns="0" rtlCol="0" anchor="ctr"/>
          <a:lstStyle/>
          <a:p>
            <a:pPr indent="0" marL="0">
              <a:buNone/>
            </a:pPr>
            <a:r>
              <a:rPr lang="en-US" sz="1800" b="1" dirty="0">
                <a:solidFill>
                  <a:srgbClr val="7C3AED"/>
                </a:solidFill>
              </a:rPr>
              <a:t>Mất điện</a:t>
            </a:r>
            <a:endParaRPr lang="en-US" sz="1800" dirty="0"/>
          </a:p>
        </p:txBody>
      </p:sp>
      <p:sp>
        <p:nvSpPr>
          <p:cNvPr id="9" name="Text 5"/>
          <p:cNvSpPr txBox="1"/>
          <p:nvPr/>
        </p:nvSpPr>
        <p:spPr>
          <a:xfrm>
            <a:off x="777240" y="2606040"/>
            <a:ext cx="2788920" cy="960120"/>
          </a:xfrm>
          <a:prstGeom prst="rect">
            <a:avLst/>
          </a:prstGeom>
          <a:noFill/>
          <a:ln/>
        </p:spPr>
        <p:txBody>
          <a:bodyPr wrap="square" lIns="0" tIns="0" rIns="0" bIns="0" rtlCol="0" anchor="t"/>
          <a:lstStyle/>
          <a:p>
            <a:pPr indent="0" marL="0">
              <a:buNone/>
            </a:pPr>
            <a:r>
              <a:rPr lang="en-US" sz="1400" dirty="0">
                <a:solidFill>
                  <a:srgbClr val="2E1065"/>
                </a:solidFill>
              </a:rPr>
              <a:t>Sự cố điện ảnh hưởng trực tiếp đến lượt đấu</a:t>
            </a:r>
            <a:endParaRPr lang="en-US" sz="1400" dirty="0"/>
          </a:p>
        </p:txBody>
      </p:sp>
      <p:sp>
        <p:nvSpPr>
          <p:cNvPr id="10" name="Shape 6"/>
          <p:cNvSpPr/>
          <p:nvPr/>
        </p:nvSpPr>
        <p:spPr>
          <a:xfrm>
            <a:off x="3977640" y="1371600"/>
            <a:ext cx="3246120" cy="2286000"/>
          </a:xfrm>
          <a:prstGeom prst="roundRect">
            <a:avLst>
              <a:gd name="adj" fmla="val 4800"/>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4206240" y="1600200"/>
            <a:ext cx="914400" cy="914400"/>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4370832" y="1764792"/>
            <a:ext cx="585216" cy="585216"/>
          </a:xfrm>
          <a:prstGeom prst="rect">
            <a:avLst/>
          </a:prstGeom>
        </p:spPr>
      </p:pic>
      <p:sp>
        <p:nvSpPr>
          <p:cNvPr id="13" name="Text 8"/>
          <p:cNvSpPr txBox="1"/>
          <p:nvPr/>
        </p:nvSpPr>
        <p:spPr>
          <a:xfrm>
            <a:off x="5257800" y="1645920"/>
            <a:ext cx="1874520" cy="822960"/>
          </a:xfrm>
          <a:prstGeom prst="rect">
            <a:avLst/>
          </a:prstGeom>
          <a:noFill/>
          <a:ln/>
        </p:spPr>
        <p:txBody>
          <a:bodyPr wrap="square" lIns="0" tIns="0" rIns="0" bIns="0" rtlCol="0" anchor="ctr"/>
          <a:lstStyle/>
          <a:p>
            <a:pPr indent="0" marL="0">
              <a:buNone/>
            </a:pPr>
            <a:r>
              <a:rPr lang="en-US" sz="1800" b="1" dirty="0">
                <a:solidFill>
                  <a:srgbClr val="7C3AED"/>
                </a:solidFill>
              </a:rPr>
              <a:t>Thiết bị BTC hỏng</a:t>
            </a:r>
            <a:endParaRPr lang="en-US" sz="1800" dirty="0"/>
          </a:p>
        </p:txBody>
      </p:sp>
      <p:sp>
        <p:nvSpPr>
          <p:cNvPr id="14" name="Text 9"/>
          <p:cNvSpPr txBox="1"/>
          <p:nvPr/>
        </p:nvSpPr>
        <p:spPr>
          <a:xfrm>
            <a:off x="4206240" y="2606040"/>
            <a:ext cx="2788920" cy="960120"/>
          </a:xfrm>
          <a:prstGeom prst="rect">
            <a:avLst/>
          </a:prstGeom>
          <a:noFill/>
          <a:ln/>
        </p:spPr>
        <p:txBody>
          <a:bodyPr wrap="square" lIns="0" tIns="0" rIns="0" bIns="0" rtlCol="0" anchor="t"/>
          <a:lstStyle/>
          <a:p>
            <a:pPr indent="0" marL="0">
              <a:buNone/>
            </a:pPr>
            <a:r>
              <a:rPr lang="en-US" sz="1400" dirty="0">
                <a:solidFill>
                  <a:srgbClr val="2E1065"/>
                </a:solidFill>
              </a:rPr>
              <a:t>Robot hoặc thiết bị do BTC cung cấp hỏng, không khắc phục được theo quy trình sự cố</a:t>
            </a:r>
            <a:endParaRPr lang="en-US" sz="1400" dirty="0"/>
          </a:p>
        </p:txBody>
      </p:sp>
      <p:sp>
        <p:nvSpPr>
          <p:cNvPr id="15" name="Shape 10"/>
          <p:cNvSpPr/>
          <p:nvPr/>
        </p:nvSpPr>
        <p:spPr>
          <a:xfrm>
            <a:off x="548640" y="3840480"/>
            <a:ext cx="3246120" cy="2286000"/>
          </a:xfrm>
          <a:prstGeom prst="roundRect">
            <a:avLst>
              <a:gd name="adj" fmla="val 4800"/>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777240" y="4069080"/>
            <a:ext cx="914400" cy="914400"/>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941832" y="4233672"/>
            <a:ext cx="585216" cy="585216"/>
          </a:xfrm>
          <a:prstGeom prst="rect">
            <a:avLst/>
          </a:prstGeom>
        </p:spPr>
      </p:pic>
      <p:sp>
        <p:nvSpPr>
          <p:cNvPr id="18" name="Text 12"/>
          <p:cNvSpPr txBox="1"/>
          <p:nvPr/>
        </p:nvSpPr>
        <p:spPr>
          <a:xfrm>
            <a:off x="1828800" y="4114800"/>
            <a:ext cx="1874520" cy="822960"/>
          </a:xfrm>
          <a:prstGeom prst="rect">
            <a:avLst/>
          </a:prstGeom>
          <a:noFill/>
          <a:ln/>
        </p:spPr>
        <p:txBody>
          <a:bodyPr wrap="square" lIns="0" tIns="0" rIns="0" bIns="0" rtlCol="0" anchor="ctr"/>
          <a:lstStyle/>
          <a:p>
            <a:pPr indent="0" marL="0">
              <a:buNone/>
            </a:pPr>
            <a:r>
              <a:rPr lang="en-US" sz="1800" b="1" dirty="0">
                <a:solidFill>
                  <a:srgbClr val="7C3AED"/>
                </a:solidFill>
              </a:rPr>
              <a:t>Lỗi của trọng tài, BTC</a:t>
            </a:r>
            <a:endParaRPr lang="en-US" sz="1800" dirty="0"/>
          </a:p>
        </p:txBody>
      </p:sp>
      <p:sp>
        <p:nvSpPr>
          <p:cNvPr id="19" name="Text 13"/>
          <p:cNvSpPr txBox="1"/>
          <p:nvPr/>
        </p:nvSpPr>
        <p:spPr>
          <a:xfrm>
            <a:off x="777240" y="5074920"/>
            <a:ext cx="2788920" cy="960120"/>
          </a:xfrm>
          <a:prstGeom prst="rect">
            <a:avLst/>
          </a:prstGeom>
          <a:noFill/>
          <a:ln/>
        </p:spPr>
        <p:txBody>
          <a:bodyPr wrap="square" lIns="0" tIns="0" rIns="0" bIns="0" rtlCol="0" anchor="t"/>
          <a:lstStyle/>
          <a:p>
            <a:pPr indent="0" marL="0">
              <a:buNone/>
            </a:pPr>
            <a:r>
              <a:rPr lang="en-US" sz="1400" dirty="0">
                <a:solidFill>
                  <a:srgbClr val="2E1065"/>
                </a:solidFill>
              </a:rPr>
              <a:t>Đạo cụ bị rơi, lệch vị trí do lỗi của trọng tài hoặc nhân sự Ban Tổ chức</a:t>
            </a:r>
            <a:endParaRPr lang="en-US" sz="1400" dirty="0"/>
          </a:p>
        </p:txBody>
      </p:sp>
      <p:sp>
        <p:nvSpPr>
          <p:cNvPr id="20" name="Shape 14"/>
          <p:cNvSpPr/>
          <p:nvPr/>
        </p:nvSpPr>
        <p:spPr>
          <a:xfrm>
            <a:off x="3977640" y="3840480"/>
            <a:ext cx="3246120" cy="2286000"/>
          </a:xfrm>
          <a:prstGeom prst="roundRect">
            <a:avLst>
              <a:gd name="adj" fmla="val 4800"/>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4206240" y="4069080"/>
            <a:ext cx="914400" cy="914400"/>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4370832" y="4233672"/>
            <a:ext cx="585216" cy="585216"/>
          </a:xfrm>
          <a:prstGeom prst="rect">
            <a:avLst/>
          </a:prstGeom>
        </p:spPr>
      </p:pic>
      <p:sp>
        <p:nvSpPr>
          <p:cNvPr id="23" name="Text 16"/>
          <p:cNvSpPr txBox="1"/>
          <p:nvPr/>
        </p:nvSpPr>
        <p:spPr>
          <a:xfrm>
            <a:off x="5257800" y="4114800"/>
            <a:ext cx="1874520" cy="822960"/>
          </a:xfrm>
          <a:prstGeom prst="rect">
            <a:avLst/>
          </a:prstGeom>
          <a:noFill/>
          <a:ln/>
        </p:spPr>
        <p:txBody>
          <a:bodyPr wrap="square" lIns="0" tIns="0" rIns="0" bIns="0" rtlCol="0" anchor="ctr"/>
          <a:lstStyle/>
          <a:p>
            <a:pPr indent="0" marL="0">
              <a:buNone/>
            </a:pPr>
            <a:r>
              <a:rPr lang="en-US" sz="1800" b="1" dirty="0">
                <a:solidFill>
                  <a:srgbClr val="7C3AED"/>
                </a:solidFill>
              </a:rPr>
              <a:t>Xâm nhập sa bàn</a:t>
            </a:r>
            <a:endParaRPr lang="en-US" sz="1800" dirty="0"/>
          </a:p>
        </p:txBody>
      </p:sp>
      <p:sp>
        <p:nvSpPr>
          <p:cNvPr id="24" name="Text 17"/>
          <p:cNvSpPr txBox="1"/>
          <p:nvPr/>
        </p:nvSpPr>
        <p:spPr>
          <a:xfrm>
            <a:off x="4206240" y="5074920"/>
            <a:ext cx="2788920" cy="960120"/>
          </a:xfrm>
          <a:prstGeom prst="rect">
            <a:avLst/>
          </a:prstGeom>
          <a:noFill/>
          <a:ln/>
        </p:spPr>
        <p:txBody>
          <a:bodyPr wrap="square" lIns="0" tIns="0" rIns="0" bIns="0" rtlCol="0" anchor="t"/>
          <a:lstStyle/>
          <a:p>
            <a:pPr indent="0" marL="0">
              <a:buNone/>
            </a:pPr>
            <a:r>
              <a:rPr lang="en-US" sz="1400" dirty="0">
                <a:solidFill>
                  <a:srgbClr val="2E1065"/>
                </a:solidFill>
              </a:rPr>
              <a:t>Người hoặc vật ngoài cuộc xâm nhập vào sa bàn thi đấu</a:t>
            </a:r>
            <a:endParaRPr lang="en-US" sz="1400" dirty="0"/>
          </a:p>
        </p:txBody>
      </p:sp>
      <p:sp>
        <p:nvSpPr>
          <p:cNvPr id="25" name="Shape 18"/>
          <p:cNvSpPr/>
          <p:nvPr/>
        </p:nvSpPr>
        <p:spPr>
          <a:xfrm>
            <a:off x="7589520" y="1371600"/>
            <a:ext cx="4050792" cy="4754880"/>
          </a:xfrm>
          <a:prstGeom prst="roundRect">
            <a:avLst>
              <a:gd name="adj" fmla="val 2709"/>
            </a:avLst>
          </a:prstGeom>
          <a:solidFill>
            <a:srgbClr val="7C3AED"/>
          </a:solidFill>
          <a:ln/>
        </p:spPr>
      </p:sp>
      <p:sp>
        <p:nvSpPr>
          <p:cNvPr id="26" name="Shape 19"/>
          <p:cNvSpPr/>
          <p:nvPr/>
        </p:nvSpPr>
        <p:spPr>
          <a:xfrm>
            <a:off x="7818120" y="1600200"/>
            <a:ext cx="914400" cy="914400"/>
          </a:xfrm>
          <a:prstGeom prst="ellipse">
            <a:avLst/>
          </a:prstGeom>
          <a:solidFill>
            <a:srgbClr val="FFFFFF"/>
          </a:solidFill>
          <a:ln/>
        </p:spPr>
      </p:sp>
      <p:pic>
        <p:nvPicPr>
          <p:cNvPr id="27" name="Image 4" descr="Biểu tượng minh họa">    </p:cNvPr>
          <p:cNvPicPr>
            <a:picLocks noChangeAspect="1"/>
          </p:cNvPicPr>
          <p:nvPr/>
        </p:nvPicPr>
        <p:blipFill>
          <a:blip r:embed="rId5"/>
          <a:stretch>
            <a:fillRect/>
          </a:stretch>
        </p:blipFill>
        <p:spPr>
          <a:xfrm>
            <a:off x="7982712" y="1764792"/>
            <a:ext cx="585216" cy="585216"/>
          </a:xfrm>
          <a:prstGeom prst="rect">
            <a:avLst/>
          </a:prstGeom>
        </p:spPr>
      </p:pic>
      <p:sp>
        <p:nvSpPr>
          <p:cNvPr id="28" name="Text 20"/>
          <p:cNvSpPr txBox="1"/>
          <p:nvPr/>
        </p:nvSpPr>
        <p:spPr>
          <a:xfrm>
            <a:off x="8915400" y="1600200"/>
            <a:ext cx="2560320" cy="914400"/>
          </a:xfrm>
          <a:prstGeom prst="rect">
            <a:avLst/>
          </a:prstGeom>
          <a:noFill/>
          <a:ln/>
        </p:spPr>
        <p:txBody>
          <a:bodyPr wrap="square" lIns="0" tIns="0" rIns="0" bIns="0" rtlCol="0" anchor="ctr"/>
          <a:lstStyle/>
          <a:p>
            <a:pPr indent="0" marL="0">
              <a:buNone/>
            </a:pPr>
            <a:r>
              <a:rPr lang="en-US" sz="2200" b="1" dirty="0">
                <a:solidFill>
                  <a:srgbClr val="FDE68A"/>
                </a:solidFill>
              </a:rPr>
              <a:t>Khi thi lại</a:t>
            </a:r>
            <a:endParaRPr lang="en-US" sz="2200" dirty="0"/>
          </a:p>
        </p:txBody>
      </p:sp>
      <p:sp>
        <p:nvSpPr>
          <p:cNvPr id="29" name="Text 21"/>
          <p:cNvSpPr txBox="1"/>
          <p:nvPr/>
        </p:nvSpPr>
        <p:spPr>
          <a:xfrm>
            <a:off x="7818120" y="2743200"/>
            <a:ext cx="3611880" cy="320040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FFFFFF"/>
                </a:solidFill>
              </a:rPr>
              <a:t>Quyết định thuộc thẩm quyền Tổng trọng tài</a:t>
            </a:r>
            <a:endParaRPr lang="en-US" sz="1600" dirty="0"/>
          </a:p>
          <a:p>
            <a:pPr marL="203200" indent="-203200">
              <a:spcAft>
                <a:spcPts val="1200"/>
              </a:spcAft>
              <a:buSzPct val="100000"/>
              <a:buChar char="•"/>
            </a:pPr>
            <a:r>
              <a:rPr lang="en-US" sz="1600" dirty="0">
                <a:solidFill>
                  <a:srgbClr val="FFFFFF"/>
                </a:solidFill>
              </a:rPr>
              <a:t>Điểm số của lượt bị hủy KHÔNG được bảo lưu</a:t>
            </a:r>
            <a:endParaRPr lang="en-US" sz="1600" dirty="0"/>
          </a:p>
          <a:p>
            <a:pPr marL="203200" indent="-203200">
              <a:spcAft>
                <a:spcPts val="1200"/>
              </a:spcAft>
              <a:buSzPct val="100000"/>
              <a:buChar char="•"/>
            </a:pPr>
            <a:r>
              <a:rPr lang="en-US" sz="1600" dirty="0">
                <a:solidFill>
                  <a:srgbClr val="FFFFFF"/>
                </a:solidFill>
              </a:rPr>
              <a:t>Hai đội thi đấu lại từ đầu với đủ 03 phút</a:t>
            </a:r>
            <a:endParaRPr lang="en-US" sz="1600" dirty="0"/>
          </a:p>
          <a:p>
            <a:pPr marL="203200" indent="-203200">
              <a:spcAft>
                <a:spcPts val="1200"/>
              </a:spcAft>
              <a:buSzPct val="100000"/>
              <a:buChar char="•"/>
            </a:pPr>
            <a:r>
              <a:rPr lang="en-US" sz="1600" dirty="0">
                <a:solidFill>
                  <a:srgbClr val="FFFFFF"/>
                </a:solidFill>
              </a:rPr>
              <a:t>Mọi trường hợp khác: thi đấu bình thường, không thi lại</a:t>
            </a:r>
            <a:endParaRPr lang="en-US" sz="16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04</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4</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Thể thức thi đấu</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Nguyên tắc đối kháng, sơ đồ loại trực tiếp và trình tự một lượt đấu</a:t>
            </a:r>
            <a:endParaRPr lang="en-US" sz="1800" dirty="0"/>
          </a:p>
        </p:txBody>
      </p:sp>
      <p:pic>
        <p:nvPicPr>
          <p:cNvPr id="6" name="RR_ph_robog_sq_jpg" descr="Học sinh thi đấu robot tại giải ROBOG Asia Cup 2026">    </p:cNvPr>
          <p:cNvPicPr>
            <a:picLocks noChangeAspect="1"/>
          </p:cNvPicPr>
          <p:nvPr/>
        </p:nvPicPr>
        <p:blipFill>
          <a:blip r:embed="rId1"/>
          <a:stretch>
            <a:fillRect/>
          </a:stretch>
        </p:blipFill>
        <p:spPr>
          <a:xfrm>
            <a:off x="7452360" y="1234440"/>
            <a:ext cx="4206240" cy="42062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7" name="Shape 4"/>
          <p:cNvSpPr/>
          <p:nvPr/>
        </p:nvSpPr>
        <p:spPr>
          <a:xfrm>
            <a:off x="6903720" y="4526280"/>
            <a:ext cx="1371600" cy="1371600"/>
          </a:xfrm>
          <a:prstGeom prst="ellipse">
            <a:avLst/>
          </a:prstGeom>
          <a:solidFill>
            <a:srgbClr val="FFFFFF">
              <a:alpha val="90000"/>
            </a:srgbClr>
          </a:solidFill>
          <a:ln/>
          <a:effectLst>
            <a:outerShdw sx="100000" sy="100000" kx="0" ky="0" algn="bl" rotWithShape="0" blurRad="127000" dist="38100" dir="5400000">
              <a:srgbClr val="4C1D95">
                <a:alpha val="16000"/>
              </a:srgbClr>
            </a:outerShdw>
          </a:effectLst>
        </p:spPr>
      </p:sp>
      <p:pic>
        <p:nvPicPr>
          <p:cNvPr id="8" name="Image 1" descr="Biểu tượng minh họa">    </p:cNvPr>
          <p:cNvPicPr>
            <a:picLocks noChangeAspect="1"/>
          </p:cNvPicPr>
          <p:nvPr/>
        </p:nvPicPr>
        <p:blipFill>
          <a:blip r:embed="rId2"/>
          <a:stretch>
            <a:fillRect/>
          </a:stretch>
        </p:blipFill>
        <p:spPr>
          <a:xfrm>
            <a:off x="7132320" y="4754880"/>
            <a:ext cx="914400" cy="9144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THỂ THỨC</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Nguyên tắc thi đấu đối kháng</a:t>
            </a:r>
            <a:endParaRPr lang="en-US" sz="3000" dirty="0"/>
          </a:p>
        </p:txBody>
      </p:sp>
      <p:sp>
        <p:nvSpPr>
          <p:cNvPr id="5" name="Shape 2"/>
          <p:cNvSpPr/>
          <p:nvPr/>
        </p:nvSpPr>
        <p:spPr>
          <a:xfrm>
            <a:off x="548640" y="1371600"/>
            <a:ext cx="2035454" cy="242316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6" name="Text 3"/>
          <p:cNvSpPr txBox="1"/>
          <p:nvPr/>
        </p:nvSpPr>
        <p:spPr>
          <a:xfrm>
            <a:off x="548640" y="1508760"/>
            <a:ext cx="2035454" cy="822960"/>
          </a:xfrm>
          <a:prstGeom prst="rect">
            <a:avLst/>
          </a:prstGeom>
          <a:noFill/>
          <a:ln/>
        </p:spPr>
        <p:txBody>
          <a:bodyPr wrap="square" lIns="0" tIns="0" rIns="0" bIns="0" rtlCol="0" anchor="ctr"/>
          <a:lstStyle/>
          <a:p>
            <a:pPr algn="ctr" indent="0" marL="0">
              <a:buNone/>
            </a:pPr>
            <a:r>
              <a:rPr lang="en-US" sz="3800" b="1" dirty="0">
                <a:solidFill>
                  <a:srgbClr val="7C3AED"/>
                </a:solidFill>
              </a:rPr>
              <a:t>1 vs 1</a:t>
            </a:r>
            <a:endParaRPr lang="en-US" sz="3800" dirty="0"/>
          </a:p>
        </p:txBody>
      </p:sp>
      <p:sp>
        <p:nvSpPr>
          <p:cNvPr id="7" name="Text 4"/>
          <p:cNvSpPr txBox="1"/>
          <p:nvPr/>
        </p:nvSpPr>
        <p:spPr>
          <a:xfrm>
            <a:off x="640080" y="2377440"/>
            <a:ext cx="1852574" cy="411480"/>
          </a:xfrm>
          <a:prstGeom prst="rect">
            <a:avLst/>
          </a:prstGeom>
          <a:noFill/>
          <a:ln/>
        </p:spPr>
        <p:txBody>
          <a:bodyPr wrap="square" lIns="0" tIns="0" rIns="0" bIns="0" rtlCol="0" anchor="t"/>
          <a:lstStyle/>
          <a:p>
            <a:pPr algn="ctr" indent="0" marL="0">
              <a:buNone/>
            </a:pPr>
            <a:r>
              <a:rPr lang="en-US" sz="1700" b="1" dirty="0">
                <a:solidFill>
                  <a:srgbClr val="2E1065"/>
                </a:solidFill>
              </a:rPr>
              <a:t>Đối kháng trực tiếp</a:t>
            </a:r>
            <a:endParaRPr lang="en-US" sz="1700" dirty="0"/>
          </a:p>
        </p:txBody>
      </p:sp>
      <p:sp>
        <p:nvSpPr>
          <p:cNvPr id="8" name="Text 5"/>
          <p:cNvSpPr txBox="1"/>
          <p:nvPr/>
        </p:nvSpPr>
        <p:spPr>
          <a:xfrm>
            <a:off x="685800" y="2788920"/>
            <a:ext cx="1761134" cy="868680"/>
          </a:xfrm>
          <a:prstGeom prst="rect">
            <a:avLst/>
          </a:prstGeom>
          <a:noFill/>
          <a:ln/>
        </p:spPr>
        <p:txBody>
          <a:bodyPr wrap="square" lIns="0" tIns="0" rIns="0" bIns="0" rtlCol="0" anchor="t"/>
          <a:lstStyle/>
          <a:p>
            <a:pPr algn="ctr" indent="0" marL="0">
              <a:buNone/>
            </a:pPr>
            <a:r>
              <a:rPr lang="en-US" sz="1300" dirty="0">
                <a:solidFill>
                  <a:srgbClr val="5B4B8A"/>
                </a:solidFill>
              </a:rPr>
              <a:t>01 đội gặp 01 đội trên cùng 01 sa bàn</a:t>
            </a:r>
            <a:endParaRPr lang="en-US" sz="1300" dirty="0"/>
          </a:p>
        </p:txBody>
      </p:sp>
      <p:sp>
        <p:nvSpPr>
          <p:cNvPr id="9" name="Shape 6"/>
          <p:cNvSpPr/>
          <p:nvPr/>
        </p:nvSpPr>
        <p:spPr>
          <a:xfrm>
            <a:off x="2812694" y="1371600"/>
            <a:ext cx="2035454" cy="242316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10" name="Text 7"/>
          <p:cNvSpPr txBox="1"/>
          <p:nvPr/>
        </p:nvSpPr>
        <p:spPr>
          <a:xfrm>
            <a:off x="2812694" y="1508760"/>
            <a:ext cx="2035454" cy="822960"/>
          </a:xfrm>
          <a:prstGeom prst="rect">
            <a:avLst/>
          </a:prstGeom>
          <a:noFill/>
          <a:ln/>
        </p:spPr>
        <p:txBody>
          <a:bodyPr wrap="square" lIns="0" tIns="0" rIns="0" bIns="0" rtlCol="0" anchor="ctr"/>
          <a:lstStyle/>
          <a:p>
            <a:pPr algn="ctr" indent="0" marL="0">
              <a:buNone/>
            </a:pPr>
            <a:r>
              <a:rPr lang="en-US" sz="3800" b="1" dirty="0">
                <a:solidFill>
                  <a:srgbClr val="7C3AED"/>
                </a:solidFill>
              </a:rPr>
              <a:t>3 phút</a:t>
            </a:r>
            <a:endParaRPr lang="en-US" sz="3800" dirty="0"/>
          </a:p>
        </p:txBody>
      </p:sp>
      <p:sp>
        <p:nvSpPr>
          <p:cNvPr id="11" name="Text 8"/>
          <p:cNvSpPr txBox="1"/>
          <p:nvPr/>
        </p:nvSpPr>
        <p:spPr>
          <a:xfrm>
            <a:off x="2904134" y="2377440"/>
            <a:ext cx="1852574" cy="411480"/>
          </a:xfrm>
          <a:prstGeom prst="rect">
            <a:avLst/>
          </a:prstGeom>
          <a:noFill/>
          <a:ln/>
        </p:spPr>
        <p:txBody>
          <a:bodyPr wrap="square" lIns="0" tIns="0" rIns="0" bIns="0" rtlCol="0" anchor="t"/>
          <a:lstStyle/>
          <a:p>
            <a:pPr algn="ctr" indent="0" marL="0">
              <a:buNone/>
            </a:pPr>
            <a:r>
              <a:rPr lang="en-US" sz="1700" b="1" dirty="0">
                <a:solidFill>
                  <a:srgbClr val="2E1065"/>
                </a:solidFill>
              </a:rPr>
              <a:t>Mỗi lượt đấu</a:t>
            </a:r>
            <a:endParaRPr lang="en-US" sz="1700" dirty="0"/>
          </a:p>
        </p:txBody>
      </p:sp>
      <p:sp>
        <p:nvSpPr>
          <p:cNvPr id="12" name="Text 9"/>
          <p:cNvSpPr txBox="1"/>
          <p:nvPr/>
        </p:nvSpPr>
        <p:spPr>
          <a:xfrm>
            <a:off x="2949854" y="2788920"/>
            <a:ext cx="1761134" cy="868680"/>
          </a:xfrm>
          <a:prstGeom prst="rect">
            <a:avLst/>
          </a:prstGeom>
          <a:noFill/>
          <a:ln/>
        </p:spPr>
        <p:txBody>
          <a:bodyPr wrap="square" lIns="0" tIns="0" rIns="0" bIns="0" rtlCol="0" anchor="t"/>
          <a:lstStyle/>
          <a:p>
            <a:pPr algn="ctr" indent="0" marL="0">
              <a:buNone/>
            </a:pPr>
            <a:r>
              <a:rPr lang="en-US" sz="1300" dirty="0">
                <a:solidFill>
                  <a:srgbClr val="5B4B8A"/>
                </a:solidFill>
              </a:rPr>
              <a:t>Tối đa 180 giây kể từ hiệu lệnh bắt đầu</a:t>
            </a:r>
            <a:endParaRPr lang="en-US" sz="1300" dirty="0"/>
          </a:p>
        </p:txBody>
      </p:sp>
      <p:sp>
        <p:nvSpPr>
          <p:cNvPr id="13" name="Shape 10"/>
          <p:cNvSpPr/>
          <p:nvPr/>
        </p:nvSpPr>
        <p:spPr>
          <a:xfrm>
            <a:off x="5076749" y="1371600"/>
            <a:ext cx="2035454" cy="242316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14" name="Text 11"/>
          <p:cNvSpPr txBox="1"/>
          <p:nvPr/>
        </p:nvSpPr>
        <p:spPr>
          <a:xfrm>
            <a:off x="5076749" y="1508760"/>
            <a:ext cx="2035454" cy="822960"/>
          </a:xfrm>
          <a:prstGeom prst="rect">
            <a:avLst/>
          </a:prstGeom>
          <a:noFill/>
          <a:ln/>
        </p:spPr>
        <p:txBody>
          <a:bodyPr wrap="square" lIns="0" tIns="0" rIns="0" bIns="0" rtlCol="0" anchor="ctr"/>
          <a:lstStyle/>
          <a:p>
            <a:pPr algn="ctr" indent="0" marL="0">
              <a:buNone/>
            </a:pPr>
            <a:r>
              <a:rPr lang="en-US" sz="3800" b="1" dirty="0">
                <a:solidFill>
                  <a:srgbClr val="7C3AED"/>
                </a:solidFill>
              </a:rPr>
              <a:t>2 lượt</a:t>
            </a:r>
            <a:endParaRPr lang="en-US" sz="3800" dirty="0"/>
          </a:p>
        </p:txBody>
      </p:sp>
      <p:sp>
        <p:nvSpPr>
          <p:cNvPr id="15" name="Text 12"/>
          <p:cNvSpPr txBox="1"/>
          <p:nvPr/>
        </p:nvSpPr>
        <p:spPr>
          <a:xfrm>
            <a:off x="5168189" y="2377440"/>
            <a:ext cx="1852574" cy="411480"/>
          </a:xfrm>
          <a:prstGeom prst="rect">
            <a:avLst/>
          </a:prstGeom>
          <a:noFill/>
          <a:ln/>
        </p:spPr>
        <p:txBody>
          <a:bodyPr wrap="square" lIns="0" tIns="0" rIns="0" bIns="0" rtlCol="0" anchor="t"/>
          <a:lstStyle/>
          <a:p>
            <a:pPr algn="ctr" indent="0" marL="0">
              <a:buNone/>
            </a:pPr>
            <a:r>
              <a:rPr lang="en-US" sz="1700" b="1" dirty="0">
                <a:solidFill>
                  <a:srgbClr val="2E1065"/>
                </a:solidFill>
              </a:rPr>
              <a:t>Mỗi cặp đấu</a:t>
            </a:r>
            <a:endParaRPr lang="en-US" sz="1700" dirty="0"/>
          </a:p>
        </p:txBody>
      </p:sp>
      <p:sp>
        <p:nvSpPr>
          <p:cNvPr id="16" name="Text 13"/>
          <p:cNvSpPr txBox="1"/>
          <p:nvPr/>
        </p:nvSpPr>
        <p:spPr>
          <a:xfrm>
            <a:off x="5213909" y="2788920"/>
            <a:ext cx="1761134" cy="868680"/>
          </a:xfrm>
          <a:prstGeom prst="rect">
            <a:avLst/>
          </a:prstGeom>
          <a:noFill/>
          <a:ln/>
        </p:spPr>
        <p:txBody>
          <a:bodyPr wrap="square" lIns="0" tIns="0" rIns="0" bIns="0" rtlCol="0" anchor="t"/>
          <a:lstStyle/>
          <a:p>
            <a:pPr algn="ctr" indent="0" marL="0">
              <a:buNone/>
            </a:pPr>
            <a:r>
              <a:rPr lang="en-US" sz="1300" dirty="0">
                <a:solidFill>
                  <a:srgbClr val="5B4B8A"/>
                </a:solidFill>
              </a:rPr>
              <a:t>Hết lượt 1 đổi bên: phần sân + Căn cứ</a:t>
            </a:r>
            <a:endParaRPr lang="en-US" sz="1300" dirty="0"/>
          </a:p>
        </p:txBody>
      </p:sp>
      <p:sp>
        <p:nvSpPr>
          <p:cNvPr id="17" name="Shape 14"/>
          <p:cNvSpPr/>
          <p:nvPr/>
        </p:nvSpPr>
        <p:spPr>
          <a:xfrm>
            <a:off x="7340803" y="1371600"/>
            <a:ext cx="2035454" cy="242316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18" name="Text 15"/>
          <p:cNvSpPr txBox="1"/>
          <p:nvPr/>
        </p:nvSpPr>
        <p:spPr>
          <a:xfrm>
            <a:off x="7340803" y="1508760"/>
            <a:ext cx="2035454" cy="822960"/>
          </a:xfrm>
          <a:prstGeom prst="rect">
            <a:avLst/>
          </a:prstGeom>
          <a:noFill/>
          <a:ln/>
        </p:spPr>
        <p:txBody>
          <a:bodyPr wrap="square" lIns="0" tIns="0" rIns="0" bIns="0" rtlCol="0" anchor="ctr"/>
          <a:lstStyle/>
          <a:p>
            <a:pPr algn="ctr" indent="0" marL="0">
              <a:buNone/>
            </a:pPr>
            <a:r>
              <a:rPr lang="en-US" sz="3800" b="1" dirty="0">
                <a:solidFill>
                  <a:srgbClr val="7C3AED"/>
                </a:solidFill>
              </a:rPr>
              <a:t>5 phút</a:t>
            </a:r>
            <a:endParaRPr lang="en-US" sz="3800" dirty="0"/>
          </a:p>
        </p:txBody>
      </p:sp>
      <p:sp>
        <p:nvSpPr>
          <p:cNvPr id="19" name="Text 16"/>
          <p:cNvSpPr txBox="1"/>
          <p:nvPr/>
        </p:nvSpPr>
        <p:spPr>
          <a:xfrm>
            <a:off x="7432243" y="2377440"/>
            <a:ext cx="1852574" cy="411480"/>
          </a:xfrm>
          <a:prstGeom prst="rect">
            <a:avLst/>
          </a:prstGeom>
          <a:noFill/>
          <a:ln/>
        </p:spPr>
        <p:txBody>
          <a:bodyPr wrap="square" lIns="0" tIns="0" rIns="0" bIns="0" rtlCol="0" anchor="t"/>
          <a:lstStyle/>
          <a:p>
            <a:pPr algn="ctr" indent="0" marL="0">
              <a:buNone/>
            </a:pPr>
            <a:r>
              <a:rPr lang="en-US" sz="1700" b="1" dirty="0">
                <a:solidFill>
                  <a:srgbClr val="2E1065"/>
                </a:solidFill>
              </a:rPr>
              <a:t>Nghỉ giữa 2 lượt</a:t>
            </a:r>
            <a:endParaRPr lang="en-US" sz="1700" dirty="0"/>
          </a:p>
        </p:txBody>
      </p:sp>
      <p:sp>
        <p:nvSpPr>
          <p:cNvPr id="20" name="Text 17"/>
          <p:cNvSpPr txBox="1"/>
          <p:nvPr/>
        </p:nvSpPr>
        <p:spPr>
          <a:xfrm>
            <a:off x="7477963" y="2788920"/>
            <a:ext cx="1761134" cy="868680"/>
          </a:xfrm>
          <a:prstGeom prst="rect">
            <a:avLst/>
          </a:prstGeom>
          <a:noFill/>
          <a:ln/>
        </p:spPr>
        <p:txBody>
          <a:bodyPr wrap="square" lIns="0" tIns="0" rIns="0" bIns="0" rtlCol="0" anchor="t"/>
          <a:lstStyle/>
          <a:p>
            <a:pPr algn="ctr" indent="0" marL="0">
              <a:buNone/>
            </a:pPr>
            <a:r>
              <a:rPr lang="en-US" sz="1300" dirty="0">
                <a:solidFill>
                  <a:srgbClr val="5B4B8A"/>
                </a:solidFill>
              </a:rPr>
              <a:t>Tối đa 05 phút nghỉ, trao đổi phương án</a:t>
            </a:r>
            <a:endParaRPr lang="en-US" sz="1300" dirty="0"/>
          </a:p>
        </p:txBody>
      </p:sp>
      <p:sp>
        <p:nvSpPr>
          <p:cNvPr id="21" name="Shape 18"/>
          <p:cNvSpPr/>
          <p:nvPr/>
        </p:nvSpPr>
        <p:spPr>
          <a:xfrm>
            <a:off x="9604858" y="1371600"/>
            <a:ext cx="2035454" cy="2423160"/>
          </a:xfrm>
          <a:prstGeom prst="roundRect">
            <a:avLst>
              <a:gd name="adj" fmla="val 5391"/>
            </a:avLst>
          </a:prstGeom>
          <a:solidFill>
            <a:srgbClr val="7C3AED"/>
          </a:solidFill>
          <a:ln/>
          <a:effectLst>
            <a:outerShdw sx="100000" sy="100000" kx="0" ky="0" algn="bl" rotWithShape="0" blurRad="127000" dist="38100" dir="5400000">
              <a:srgbClr val="4C1D95">
                <a:alpha val="16000"/>
              </a:srgbClr>
            </a:outerShdw>
          </a:effectLst>
        </p:spPr>
      </p:sp>
      <p:sp>
        <p:nvSpPr>
          <p:cNvPr id="22" name="Text 19"/>
          <p:cNvSpPr txBox="1"/>
          <p:nvPr/>
        </p:nvSpPr>
        <p:spPr>
          <a:xfrm>
            <a:off x="9604858" y="1508760"/>
            <a:ext cx="2035454" cy="822960"/>
          </a:xfrm>
          <a:prstGeom prst="rect">
            <a:avLst/>
          </a:prstGeom>
          <a:noFill/>
          <a:ln/>
        </p:spPr>
        <p:txBody>
          <a:bodyPr wrap="square" lIns="0" tIns="0" rIns="0" bIns="0" rtlCol="0" anchor="ctr"/>
          <a:lstStyle/>
          <a:p>
            <a:pPr algn="ctr" indent="0" marL="0">
              <a:buNone/>
            </a:pPr>
            <a:r>
              <a:rPr lang="en-US" sz="3800" b="1" dirty="0">
                <a:solidFill>
                  <a:srgbClr val="FDE68A"/>
                </a:solidFill>
              </a:rPr>
              <a:t>3 · 1 · 0</a:t>
            </a:r>
            <a:endParaRPr lang="en-US" sz="3800" dirty="0"/>
          </a:p>
        </p:txBody>
      </p:sp>
      <p:sp>
        <p:nvSpPr>
          <p:cNvPr id="23" name="Text 20"/>
          <p:cNvSpPr txBox="1"/>
          <p:nvPr/>
        </p:nvSpPr>
        <p:spPr>
          <a:xfrm>
            <a:off x="9696298" y="2377440"/>
            <a:ext cx="1852574" cy="411480"/>
          </a:xfrm>
          <a:prstGeom prst="rect">
            <a:avLst/>
          </a:prstGeom>
          <a:noFill/>
          <a:ln/>
        </p:spPr>
        <p:txBody>
          <a:bodyPr wrap="square" lIns="0" tIns="0" rIns="0" bIns="0" rtlCol="0" anchor="t"/>
          <a:lstStyle/>
          <a:p>
            <a:pPr algn="ctr" indent="0" marL="0">
              <a:buNone/>
            </a:pPr>
            <a:r>
              <a:rPr lang="en-US" sz="1700" b="1" dirty="0">
                <a:solidFill>
                  <a:srgbClr val="FFFFFF"/>
                </a:solidFill>
              </a:rPr>
              <a:t>Điểm trận</a:t>
            </a:r>
            <a:endParaRPr lang="en-US" sz="1700" dirty="0"/>
          </a:p>
        </p:txBody>
      </p:sp>
      <p:sp>
        <p:nvSpPr>
          <p:cNvPr id="24" name="Text 21"/>
          <p:cNvSpPr txBox="1"/>
          <p:nvPr/>
        </p:nvSpPr>
        <p:spPr>
          <a:xfrm>
            <a:off x="9742018" y="2788920"/>
            <a:ext cx="1761134" cy="868680"/>
          </a:xfrm>
          <a:prstGeom prst="rect">
            <a:avLst/>
          </a:prstGeom>
          <a:noFill/>
          <a:ln/>
        </p:spPr>
        <p:txBody>
          <a:bodyPr wrap="square" lIns="0" tIns="0" rIns="0" bIns="0" rtlCol="0" anchor="t"/>
          <a:lstStyle/>
          <a:p>
            <a:pPr algn="ctr" indent="0" marL="0">
              <a:buNone/>
            </a:pPr>
            <a:r>
              <a:rPr lang="en-US" sz="1300" dirty="0">
                <a:solidFill>
                  <a:srgbClr val="E9D5FF"/>
                </a:solidFill>
              </a:rPr>
              <a:t>Thắng 3 · Hòa 1 · Thua 0</a:t>
            </a:r>
            <a:endParaRPr lang="en-US" sz="1300" dirty="0"/>
          </a:p>
        </p:txBody>
      </p:sp>
      <p:sp>
        <p:nvSpPr>
          <p:cNvPr id="25" name="Shape 22"/>
          <p:cNvSpPr/>
          <p:nvPr/>
        </p:nvSpPr>
        <p:spPr>
          <a:xfrm>
            <a:off x="548640" y="4069080"/>
            <a:ext cx="3886200" cy="2194560"/>
          </a:xfrm>
          <a:prstGeom prst="roundRect">
            <a:avLst>
              <a:gd name="adj" fmla="val 5000"/>
            </a:avLst>
          </a:prstGeom>
          <a:solidFill>
            <a:srgbClr val="FFFFFF"/>
          </a:solidFill>
          <a:ln/>
          <a:effectLst>
            <a:outerShdw sx="100000" sy="100000" kx="0" ky="0" algn="bl" rotWithShape="0" blurRad="127000" dist="38100" dir="5400000">
              <a:srgbClr val="4C1D95">
                <a:alpha val="16000"/>
              </a:srgbClr>
            </a:outerShdw>
          </a:effectLst>
        </p:spPr>
      </p:sp>
      <p:sp>
        <p:nvSpPr>
          <p:cNvPr id="26" name="Shape 23"/>
          <p:cNvSpPr/>
          <p:nvPr/>
        </p:nvSpPr>
        <p:spPr>
          <a:xfrm>
            <a:off x="731520" y="4251960"/>
            <a:ext cx="822960" cy="822960"/>
          </a:xfrm>
          <a:prstGeom prst="ellipse">
            <a:avLst/>
          </a:prstGeom>
          <a:solidFill>
            <a:srgbClr val="FFEDD5"/>
          </a:solidFill>
          <a:ln/>
        </p:spPr>
      </p:sp>
      <p:pic>
        <p:nvPicPr>
          <p:cNvPr id="27" name="Image 0" descr="Biểu tượng minh họa">    </p:cNvPr>
          <p:cNvPicPr>
            <a:picLocks noChangeAspect="1"/>
          </p:cNvPicPr>
          <p:nvPr/>
        </p:nvPicPr>
        <p:blipFill>
          <a:blip r:embed="rId1"/>
          <a:stretch>
            <a:fillRect/>
          </a:stretch>
        </p:blipFill>
        <p:spPr>
          <a:xfrm>
            <a:off x="879653" y="4400093"/>
            <a:ext cx="526694" cy="526694"/>
          </a:xfrm>
          <a:prstGeom prst="rect">
            <a:avLst/>
          </a:prstGeom>
        </p:spPr>
      </p:pic>
      <p:sp>
        <p:nvSpPr>
          <p:cNvPr id="28" name="Text 24"/>
          <p:cNvSpPr txBox="1"/>
          <p:nvPr/>
        </p:nvSpPr>
        <p:spPr>
          <a:xfrm>
            <a:off x="1691640" y="4251960"/>
            <a:ext cx="2651760" cy="822960"/>
          </a:xfrm>
          <a:prstGeom prst="rect">
            <a:avLst/>
          </a:prstGeom>
          <a:noFill/>
          <a:ln/>
        </p:spPr>
        <p:txBody>
          <a:bodyPr wrap="square" lIns="0" tIns="0" rIns="0" bIns="0" rtlCol="0" anchor="ctr"/>
          <a:lstStyle/>
          <a:p>
            <a:pPr indent="0" marL="0">
              <a:buNone/>
            </a:pPr>
            <a:r>
              <a:rPr lang="en-US" sz="1800" b="1" dirty="0">
                <a:solidFill>
                  <a:srgbClr val="EA580C"/>
                </a:solidFill>
              </a:rPr>
              <a:t>100% điều khiển thủ công</a:t>
            </a:r>
            <a:endParaRPr lang="en-US" sz="1800" dirty="0"/>
          </a:p>
        </p:txBody>
      </p:sp>
      <p:sp>
        <p:nvSpPr>
          <p:cNvPr id="29" name="Text 25"/>
          <p:cNvSpPr txBox="1"/>
          <p:nvPr/>
        </p:nvSpPr>
        <p:spPr>
          <a:xfrm>
            <a:off x="731520" y="5166360"/>
            <a:ext cx="3566160" cy="1051560"/>
          </a:xfrm>
          <a:prstGeom prst="rect">
            <a:avLst/>
          </a:prstGeom>
          <a:noFill/>
          <a:ln/>
        </p:spPr>
        <p:txBody>
          <a:bodyPr wrap="square" lIns="0" tIns="0" rIns="0" bIns="0" rtlCol="0" anchor="t"/>
          <a:lstStyle/>
          <a:p>
            <a:pPr indent="0" marL="0">
              <a:buNone/>
            </a:pPr>
            <a:r>
              <a:rPr lang="en-US" sz="1400" dirty="0">
                <a:solidFill>
                  <a:srgbClr val="2E1065"/>
                </a:solidFill>
              </a:rPr>
              <a:t>Toàn bộ thời gian thi đấu điều khiển bằng bộ điều khiển Bluetooth. Nội dung thi không có phần tự động hóa.</a:t>
            </a:r>
            <a:endParaRPr lang="en-US" sz="1400" dirty="0"/>
          </a:p>
        </p:txBody>
      </p:sp>
      <p:sp>
        <p:nvSpPr>
          <p:cNvPr id="30" name="Shape 26"/>
          <p:cNvSpPr/>
          <p:nvPr/>
        </p:nvSpPr>
        <p:spPr>
          <a:xfrm>
            <a:off x="4663440" y="4069080"/>
            <a:ext cx="3657600" cy="2194560"/>
          </a:xfrm>
          <a:prstGeom prst="roundRect">
            <a:avLst>
              <a:gd name="adj" fmla="val 5000"/>
            </a:avLst>
          </a:prstGeom>
          <a:solidFill>
            <a:srgbClr val="FFFFFF"/>
          </a:solidFill>
          <a:ln/>
          <a:effectLst>
            <a:outerShdw sx="100000" sy="100000" kx="0" ky="0" algn="bl" rotWithShape="0" blurRad="127000" dist="38100" dir="5400000">
              <a:srgbClr val="4C1D95">
                <a:alpha val="16000"/>
              </a:srgbClr>
            </a:outerShdw>
          </a:effectLst>
        </p:spPr>
      </p:sp>
      <p:sp>
        <p:nvSpPr>
          <p:cNvPr id="31" name="Shape 27"/>
          <p:cNvSpPr/>
          <p:nvPr/>
        </p:nvSpPr>
        <p:spPr>
          <a:xfrm>
            <a:off x="4846320" y="4251960"/>
            <a:ext cx="822960" cy="822960"/>
          </a:xfrm>
          <a:prstGeom prst="ellipse">
            <a:avLst/>
          </a:prstGeom>
          <a:solidFill>
            <a:srgbClr val="EDE4FF"/>
          </a:solidFill>
          <a:ln/>
        </p:spPr>
      </p:sp>
      <p:pic>
        <p:nvPicPr>
          <p:cNvPr id="32" name="Image 1" descr="Biểu tượng minh họa">    </p:cNvPr>
          <p:cNvPicPr>
            <a:picLocks noChangeAspect="1"/>
          </p:cNvPicPr>
          <p:nvPr/>
        </p:nvPicPr>
        <p:blipFill>
          <a:blip r:embed="rId2"/>
          <a:stretch>
            <a:fillRect/>
          </a:stretch>
        </p:blipFill>
        <p:spPr>
          <a:xfrm>
            <a:off x="4994453" y="4400093"/>
            <a:ext cx="526694" cy="526694"/>
          </a:xfrm>
          <a:prstGeom prst="rect">
            <a:avLst/>
          </a:prstGeom>
        </p:spPr>
      </p:pic>
      <p:sp>
        <p:nvSpPr>
          <p:cNvPr id="33" name="Text 28"/>
          <p:cNvSpPr txBox="1"/>
          <p:nvPr/>
        </p:nvSpPr>
        <p:spPr>
          <a:xfrm>
            <a:off x="5806440" y="4251960"/>
            <a:ext cx="2423160" cy="822960"/>
          </a:xfrm>
          <a:prstGeom prst="rect">
            <a:avLst/>
          </a:prstGeom>
          <a:noFill/>
          <a:ln/>
        </p:spPr>
        <p:txBody>
          <a:bodyPr wrap="square" lIns="0" tIns="0" rIns="0" bIns="0" rtlCol="0" anchor="ctr"/>
          <a:lstStyle/>
          <a:p>
            <a:pPr indent="0" marL="0">
              <a:buNone/>
            </a:pPr>
            <a:r>
              <a:rPr lang="en-US" sz="1800" b="1" dirty="0">
                <a:solidFill>
                  <a:srgbClr val="7C3AED"/>
                </a:solidFill>
              </a:rPr>
              <a:t>Không tính vào 03 phút</a:t>
            </a:r>
            <a:endParaRPr lang="en-US" sz="1800" dirty="0"/>
          </a:p>
        </p:txBody>
      </p:sp>
      <p:sp>
        <p:nvSpPr>
          <p:cNvPr id="34" name="Text 29"/>
          <p:cNvSpPr txBox="1"/>
          <p:nvPr/>
        </p:nvSpPr>
        <p:spPr>
          <a:xfrm>
            <a:off x="4846320" y="5166360"/>
            <a:ext cx="3337560" cy="1051560"/>
          </a:xfrm>
          <a:prstGeom prst="rect">
            <a:avLst/>
          </a:prstGeom>
          <a:noFill/>
          <a:ln/>
        </p:spPr>
        <p:txBody>
          <a:bodyPr wrap="square" lIns="0" tIns="0" rIns="0" bIns="0" rtlCol="0" anchor="t"/>
          <a:lstStyle/>
          <a:p>
            <a:pPr indent="0" marL="0">
              <a:buNone/>
            </a:pPr>
            <a:r>
              <a:rPr lang="en-US" sz="1400" dirty="0">
                <a:solidFill>
                  <a:srgbClr val="2E1065"/>
                </a:solidFill>
              </a:rPr>
              <a:t>90 giây làm quen và thời gian tạm dừng để xử lý sự cố kỹ thuật.</a:t>
            </a:r>
            <a:endParaRPr lang="en-US" sz="1400" dirty="0"/>
          </a:p>
        </p:txBody>
      </p:sp>
      <p:pic>
        <p:nvPicPr>
          <p:cNvPr id="35" name="RR_ph_thidau2_jpg" descr="Học sinh điều khiển robot UGOT trên sa bàn thi đấu">    </p:cNvPr>
          <p:cNvPicPr>
            <a:picLocks noChangeAspect="1"/>
          </p:cNvPicPr>
          <p:nvPr/>
        </p:nvPicPr>
        <p:blipFill>
          <a:blip r:embed="rId3"/>
          <a:stretch>
            <a:fillRect/>
          </a:stretch>
        </p:blipFill>
        <p:spPr>
          <a:xfrm>
            <a:off x="8549640" y="4069080"/>
            <a:ext cx="3090672" cy="219456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SƠ ĐỒ THI ĐẤU</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Thể thức loại trực tiếp – đội thắng đi tiếp</a:t>
            </a:r>
            <a:endParaRPr lang="en-US" sz="3000" dirty="0"/>
          </a:p>
        </p:txBody>
      </p:sp>
      <p:sp>
        <p:nvSpPr>
          <p:cNvPr id="5" name="Text 2"/>
          <p:cNvSpPr txBox="1"/>
          <p:nvPr/>
        </p:nvSpPr>
        <p:spPr>
          <a:xfrm>
            <a:off x="548640" y="1325880"/>
            <a:ext cx="2103120" cy="320040"/>
          </a:xfrm>
          <a:prstGeom prst="rect">
            <a:avLst/>
          </a:prstGeom>
          <a:noFill/>
          <a:ln/>
        </p:spPr>
        <p:txBody>
          <a:bodyPr wrap="square" lIns="0" tIns="0" rIns="0" bIns="0" rtlCol="0" anchor="t"/>
          <a:lstStyle/>
          <a:p>
            <a:pPr algn="ctr" indent="0" marL="0">
              <a:buNone/>
            </a:pPr>
            <a:r>
              <a:rPr lang="en-US" sz="1300" b="1" dirty="0">
                <a:solidFill>
                  <a:srgbClr val="7C3AED"/>
                </a:solidFill>
              </a:rPr>
              <a:t>BÁN KẾT (4 chọn 2)</a:t>
            </a:r>
            <a:endParaRPr lang="en-US" sz="1300" dirty="0"/>
          </a:p>
        </p:txBody>
      </p:sp>
      <p:sp>
        <p:nvSpPr>
          <p:cNvPr id="6" name="Text 3"/>
          <p:cNvSpPr txBox="1"/>
          <p:nvPr/>
        </p:nvSpPr>
        <p:spPr>
          <a:xfrm>
            <a:off x="2880360" y="1325880"/>
            <a:ext cx="2103120" cy="320040"/>
          </a:xfrm>
          <a:prstGeom prst="rect">
            <a:avLst/>
          </a:prstGeom>
          <a:noFill/>
          <a:ln/>
        </p:spPr>
        <p:txBody>
          <a:bodyPr wrap="square" lIns="0" tIns="0" rIns="0" bIns="0" rtlCol="0" anchor="t"/>
          <a:lstStyle/>
          <a:p>
            <a:pPr algn="ctr" indent="0" marL="0">
              <a:buNone/>
            </a:pPr>
            <a:r>
              <a:rPr lang="en-US" sz="1300" b="1" dirty="0">
                <a:solidFill>
                  <a:srgbClr val="7C3AED"/>
                </a:solidFill>
              </a:rPr>
              <a:t>CHUNG KẾT (2 chọn 1)</a:t>
            </a:r>
            <a:endParaRPr lang="en-US" sz="1300" dirty="0"/>
          </a:p>
        </p:txBody>
      </p:sp>
      <p:sp>
        <p:nvSpPr>
          <p:cNvPr id="7" name="Text 4"/>
          <p:cNvSpPr txBox="1"/>
          <p:nvPr/>
        </p:nvSpPr>
        <p:spPr>
          <a:xfrm>
            <a:off x="5120640" y="1325880"/>
            <a:ext cx="1645920" cy="320040"/>
          </a:xfrm>
          <a:prstGeom prst="rect">
            <a:avLst/>
          </a:prstGeom>
          <a:noFill/>
          <a:ln/>
        </p:spPr>
        <p:txBody>
          <a:bodyPr wrap="square" lIns="0" tIns="0" rIns="0" bIns="0" rtlCol="0" anchor="t"/>
          <a:lstStyle/>
          <a:p>
            <a:pPr algn="ctr" indent="0" marL="0">
              <a:buNone/>
            </a:pPr>
            <a:r>
              <a:rPr lang="en-US" sz="1300" b="1" dirty="0">
                <a:solidFill>
                  <a:srgbClr val="EA580C"/>
                </a:solidFill>
              </a:rPr>
              <a:t>GIẢI NHẤT</a:t>
            </a:r>
            <a:endParaRPr lang="en-US" sz="1300" dirty="0"/>
          </a:p>
        </p:txBody>
      </p:sp>
      <p:sp>
        <p:nvSpPr>
          <p:cNvPr id="8" name="Shape 5"/>
          <p:cNvSpPr/>
          <p:nvPr/>
        </p:nvSpPr>
        <p:spPr>
          <a:xfrm>
            <a:off x="548640" y="1783080"/>
            <a:ext cx="2103120" cy="548640"/>
          </a:xfrm>
          <a:prstGeom prst="roundRect">
            <a:avLst>
              <a:gd name="adj" fmla="val 16667"/>
            </a:avLst>
          </a:prstGeom>
          <a:solidFill>
            <a:srgbClr val="FFFFFF"/>
          </a:solidFill>
          <a:ln/>
          <a:effectLst>
            <a:outerShdw sx="100000" sy="100000" kx="0" ky="0" algn="bl" rotWithShape="0" blurRad="127000" dist="38100" dir="5400000">
              <a:srgbClr val="4C1D95">
                <a:alpha val="16000"/>
              </a:srgbClr>
            </a:outerShdw>
          </a:effectLst>
        </p:spPr>
      </p:sp>
      <p:sp>
        <p:nvSpPr>
          <p:cNvPr id="9" name="Text 6"/>
          <p:cNvSpPr txBox="1"/>
          <p:nvPr/>
        </p:nvSpPr>
        <p:spPr>
          <a:xfrm>
            <a:off x="548640" y="1783080"/>
            <a:ext cx="2103120" cy="548640"/>
          </a:xfrm>
          <a:prstGeom prst="rect">
            <a:avLst/>
          </a:prstGeom>
          <a:noFill/>
          <a:ln/>
        </p:spPr>
        <p:txBody>
          <a:bodyPr wrap="square" lIns="0" tIns="0" rIns="0" bIns="0" rtlCol="0" anchor="ctr"/>
          <a:lstStyle/>
          <a:p>
            <a:pPr algn="ctr" indent="0" marL="0">
              <a:buNone/>
            </a:pPr>
            <a:r>
              <a:rPr lang="en-US" sz="1400" b="1" dirty="0">
                <a:solidFill>
                  <a:srgbClr val="2E1065"/>
                </a:solidFill>
              </a:rPr>
              <a:t>Đội A? (bốc thăm)</a:t>
            </a:r>
            <a:endParaRPr lang="en-US" sz="1400" dirty="0"/>
          </a:p>
        </p:txBody>
      </p:sp>
      <p:sp>
        <p:nvSpPr>
          <p:cNvPr id="10" name="Shape 7"/>
          <p:cNvSpPr/>
          <p:nvPr/>
        </p:nvSpPr>
        <p:spPr>
          <a:xfrm>
            <a:off x="548640" y="2514600"/>
            <a:ext cx="2103120" cy="548640"/>
          </a:xfrm>
          <a:prstGeom prst="roundRect">
            <a:avLst>
              <a:gd name="adj" fmla="val 16667"/>
            </a:avLst>
          </a:prstGeom>
          <a:solidFill>
            <a:srgbClr val="FFFFFF"/>
          </a:solidFill>
          <a:ln/>
          <a:effectLst>
            <a:outerShdw sx="100000" sy="100000" kx="0" ky="0" algn="bl" rotWithShape="0" blurRad="127000" dist="38100" dir="5400000">
              <a:srgbClr val="4C1D95">
                <a:alpha val="16000"/>
              </a:srgbClr>
            </a:outerShdw>
          </a:effectLst>
        </p:spPr>
      </p:sp>
      <p:sp>
        <p:nvSpPr>
          <p:cNvPr id="11" name="Text 8"/>
          <p:cNvSpPr txBox="1"/>
          <p:nvPr/>
        </p:nvSpPr>
        <p:spPr>
          <a:xfrm>
            <a:off x="548640" y="2514600"/>
            <a:ext cx="2103120" cy="548640"/>
          </a:xfrm>
          <a:prstGeom prst="rect">
            <a:avLst/>
          </a:prstGeom>
          <a:noFill/>
          <a:ln/>
        </p:spPr>
        <p:txBody>
          <a:bodyPr wrap="square" lIns="0" tIns="0" rIns="0" bIns="0" rtlCol="0" anchor="ctr"/>
          <a:lstStyle/>
          <a:p>
            <a:pPr algn="ctr" indent="0" marL="0">
              <a:buNone/>
            </a:pPr>
            <a:r>
              <a:rPr lang="en-US" sz="1400" b="1" dirty="0">
                <a:solidFill>
                  <a:srgbClr val="2E1065"/>
                </a:solidFill>
              </a:rPr>
              <a:t>Đội A? (bốc thăm)</a:t>
            </a:r>
            <a:endParaRPr lang="en-US" sz="1400" dirty="0"/>
          </a:p>
        </p:txBody>
      </p:sp>
      <p:sp>
        <p:nvSpPr>
          <p:cNvPr id="12" name="Shape 9"/>
          <p:cNvSpPr/>
          <p:nvPr/>
        </p:nvSpPr>
        <p:spPr>
          <a:xfrm>
            <a:off x="548640" y="3977640"/>
            <a:ext cx="2103120" cy="548640"/>
          </a:xfrm>
          <a:prstGeom prst="roundRect">
            <a:avLst>
              <a:gd name="adj" fmla="val 16667"/>
            </a:avLst>
          </a:prstGeom>
          <a:solidFill>
            <a:srgbClr val="FFFFFF"/>
          </a:solidFill>
          <a:ln/>
          <a:effectLst>
            <a:outerShdw sx="100000" sy="100000" kx="0" ky="0" algn="bl" rotWithShape="0" blurRad="127000" dist="38100" dir="5400000">
              <a:srgbClr val="4C1D95">
                <a:alpha val="16000"/>
              </a:srgbClr>
            </a:outerShdw>
          </a:effectLst>
        </p:spPr>
      </p:sp>
      <p:sp>
        <p:nvSpPr>
          <p:cNvPr id="13" name="Text 10"/>
          <p:cNvSpPr txBox="1"/>
          <p:nvPr/>
        </p:nvSpPr>
        <p:spPr>
          <a:xfrm>
            <a:off x="548640" y="3977640"/>
            <a:ext cx="2103120" cy="548640"/>
          </a:xfrm>
          <a:prstGeom prst="rect">
            <a:avLst/>
          </a:prstGeom>
          <a:noFill/>
          <a:ln/>
        </p:spPr>
        <p:txBody>
          <a:bodyPr wrap="square" lIns="0" tIns="0" rIns="0" bIns="0" rtlCol="0" anchor="ctr"/>
          <a:lstStyle/>
          <a:p>
            <a:pPr algn="ctr" indent="0" marL="0">
              <a:buNone/>
            </a:pPr>
            <a:r>
              <a:rPr lang="en-US" sz="1400" b="1" dirty="0">
                <a:solidFill>
                  <a:srgbClr val="2E1065"/>
                </a:solidFill>
              </a:rPr>
              <a:t>Đội A? (bốc thăm)</a:t>
            </a:r>
            <a:endParaRPr lang="en-US" sz="1400" dirty="0"/>
          </a:p>
        </p:txBody>
      </p:sp>
      <p:sp>
        <p:nvSpPr>
          <p:cNvPr id="14" name="Shape 11"/>
          <p:cNvSpPr/>
          <p:nvPr/>
        </p:nvSpPr>
        <p:spPr>
          <a:xfrm>
            <a:off x="548640" y="4709160"/>
            <a:ext cx="2103120" cy="548640"/>
          </a:xfrm>
          <a:prstGeom prst="roundRect">
            <a:avLst>
              <a:gd name="adj" fmla="val 16667"/>
            </a:avLst>
          </a:prstGeom>
          <a:solidFill>
            <a:srgbClr val="FFFFFF"/>
          </a:solidFill>
          <a:ln/>
          <a:effectLst>
            <a:outerShdw sx="100000" sy="100000" kx="0" ky="0" algn="bl" rotWithShape="0" blurRad="127000" dist="38100" dir="5400000">
              <a:srgbClr val="4C1D95">
                <a:alpha val="16000"/>
              </a:srgbClr>
            </a:outerShdw>
          </a:effectLst>
        </p:spPr>
      </p:sp>
      <p:sp>
        <p:nvSpPr>
          <p:cNvPr id="15" name="Text 12"/>
          <p:cNvSpPr txBox="1"/>
          <p:nvPr/>
        </p:nvSpPr>
        <p:spPr>
          <a:xfrm>
            <a:off x="548640" y="4709160"/>
            <a:ext cx="2103120" cy="548640"/>
          </a:xfrm>
          <a:prstGeom prst="rect">
            <a:avLst/>
          </a:prstGeom>
          <a:noFill/>
          <a:ln/>
        </p:spPr>
        <p:txBody>
          <a:bodyPr wrap="square" lIns="0" tIns="0" rIns="0" bIns="0" rtlCol="0" anchor="ctr"/>
          <a:lstStyle/>
          <a:p>
            <a:pPr algn="ctr" indent="0" marL="0">
              <a:buNone/>
            </a:pPr>
            <a:r>
              <a:rPr lang="en-US" sz="1400" b="1" dirty="0">
                <a:solidFill>
                  <a:srgbClr val="2E1065"/>
                </a:solidFill>
              </a:rPr>
              <a:t>Đội A? (bốc thăm)</a:t>
            </a:r>
            <a:endParaRPr lang="en-US" sz="1400" dirty="0"/>
          </a:p>
        </p:txBody>
      </p:sp>
      <p:sp>
        <p:nvSpPr>
          <p:cNvPr id="16" name="Shape 13"/>
          <p:cNvSpPr/>
          <p:nvPr/>
        </p:nvSpPr>
        <p:spPr>
          <a:xfrm>
            <a:off x="2651760" y="2057400"/>
            <a:ext cx="109728" cy="0"/>
          </a:xfrm>
          <a:prstGeom prst="line">
            <a:avLst/>
          </a:prstGeom>
          <a:noFill/>
          <a:ln w="25400">
            <a:solidFill>
              <a:srgbClr val="8B5CF6"/>
            </a:solidFill>
            <a:prstDash val="solid"/>
          </a:ln>
        </p:spPr>
      </p:sp>
      <p:sp>
        <p:nvSpPr>
          <p:cNvPr id="17" name="Shape 14"/>
          <p:cNvSpPr/>
          <p:nvPr/>
        </p:nvSpPr>
        <p:spPr>
          <a:xfrm>
            <a:off x="2651760" y="2788920"/>
            <a:ext cx="109728" cy="0"/>
          </a:xfrm>
          <a:prstGeom prst="line">
            <a:avLst/>
          </a:prstGeom>
          <a:noFill/>
          <a:ln w="25400">
            <a:solidFill>
              <a:srgbClr val="8B5CF6"/>
            </a:solidFill>
            <a:prstDash val="solid"/>
          </a:ln>
        </p:spPr>
      </p:sp>
      <p:sp>
        <p:nvSpPr>
          <p:cNvPr id="18" name="Shape 15"/>
          <p:cNvSpPr/>
          <p:nvPr/>
        </p:nvSpPr>
        <p:spPr>
          <a:xfrm>
            <a:off x="2761488" y="2057400"/>
            <a:ext cx="0" cy="731520"/>
          </a:xfrm>
          <a:prstGeom prst="line">
            <a:avLst/>
          </a:prstGeom>
          <a:noFill/>
          <a:ln w="25400">
            <a:solidFill>
              <a:srgbClr val="8B5CF6"/>
            </a:solidFill>
            <a:prstDash val="solid"/>
          </a:ln>
        </p:spPr>
      </p:sp>
      <p:sp>
        <p:nvSpPr>
          <p:cNvPr id="19" name="Shape 16"/>
          <p:cNvSpPr/>
          <p:nvPr/>
        </p:nvSpPr>
        <p:spPr>
          <a:xfrm>
            <a:off x="2761488" y="2423160"/>
            <a:ext cx="118872" cy="0"/>
          </a:xfrm>
          <a:prstGeom prst="line">
            <a:avLst/>
          </a:prstGeom>
          <a:noFill/>
          <a:ln w="25400">
            <a:solidFill>
              <a:srgbClr val="8B5CF6"/>
            </a:solidFill>
            <a:prstDash val="solid"/>
          </a:ln>
        </p:spPr>
      </p:sp>
      <p:sp>
        <p:nvSpPr>
          <p:cNvPr id="20" name="Shape 17"/>
          <p:cNvSpPr/>
          <p:nvPr/>
        </p:nvSpPr>
        <p:spPr>
          <a:xfrm>
            <a:off x="2651760" y="4251960"/>
            <a:ext cx="109728" cy="0"/>
          </a:xfrm>
          <a:prstGeom prst="line">
            <a:avLst/>
          </a:prstGeom>
          <a:noFill/>
          <a:ln w="25400">
            <a:solidFill>
              <a:srgbClr val="8B5CF6"/>
            </a:solidFill>
            <a:prstDash val="solid"/>
          </a:ln>
        </p:spPr>
      </p:sp>
      <p:sp>
        <p:nvSpPr>
          <p:cNvPr id="21" name="Shape 18"/>
          <p:cNvSpPr/>
          <p:nvPr/>
        </p:nvSpPr>
        <p:spPr>
          <a:xfrm>
            <a:off x="2651760" y="4983480"/>
            <a:ext cx="109728" cy="0"/>
          </a:xfrm>
          <a:prstGeom prst="line">
            <a:avLst/>
          </a:prstGeom>
          <a:noFill/>
          <a:ln w="25400">
            <a:solidFill>
              <a:srgbClr val="8B5CF6"/>
            </a:solidFill>
            <a:prstDash val="solid"/>
          </a:ln>
        </p:spPr>
      </p:sp>
      <p:sp>
        <p:nvSpPr>
          <p:cNvPr id="22" name="Shape 19"/>
          <p:cNvSpPr/>
          <p:nvPr/>
        </p:nvSpPr>
        <p:spPr>
          <a:xfrm>
            <a:off x="2761488" y="4251960"/>
            <a:ext cx="0" cy="731520"/>
          </a:xfrm>
          <a:prstGeom prst="line">
            <a:avLst/>
          </a:prstGeom>
          <a:noFill/>
          <a:ln w="25400">
            <a:solidFill>
              <a:srgbClr val="8B5CF6"/>
            </a:solidFill>
            <a:prstDash val="solid"/>
          </a:ln>
        </p:spPr>
      </p:sp>
      <p:sp>
        <p:nvSpPr>
          <p:cNvPr id="23" name="Shape 20"/>
          <p:cNvSpPr/>
          <p:nvPr/>
        </p:nvSpPr>
        <p:spPr>
          <a:xfrm>
            <a:off x="2761488" y="4617720"/>
            <a:ext cx="118872" cy="0"/>
          </a:xfrm>
          <a:prstGeom prst="line">
            <a:avLst/>
          </a:prstGeom>
          <a:noFill/>
          <a:ln w="25400">
            <a:solidFill>
              <a:srgbClr val="8B5CF6"/>
            </a:solidFill>
            <a:prstDash val="solid"/>
          </a:ln>
        </p:spPr>
      </p:sp>
      <p:sp>
        <p:nvSpPr>
          <p:cNvPr id="24" name="Shape 21"/>
          <p:cNvSpPr/>
          <p:nvPr/>
        </p:nvSpPr>
        <p:spPr>
          <a:xfrm>
            <a:off x="2880360" y="2148840"/>
            <a:ext cx="2103120" cy="548640"/>
          </a:xfrm>
          <a:prstGeom prst="roundRect">
            <a:avLst>
              <a:gd name="adj" fmla="val 16667"/>
            </a:avLst>
          </a:prstGeom>
          <a:solidFill>
            <a:srgbClr val="EDE4FF"/>
          </a:solidFill>
          <a:ln/>
          <a:effectLst>
            <a:outerShdw sx="100000" sy="100000" kx="0" ky="0" algn="bl" rotWithShape="0" blurRad="127000" dist="38100" dir="5400000">
              <a:srgbClr val="4C1D95">
                <a:alpha val="16000"/>
              </a:srgbClr>
            </a:outerShdw>
          </a:effectLst>
        </p:spPr>
      </p:sp>
      <p:sp>
        <p:nvSpPr>
          <p:cNvPr id="25" name="Text 22"/>
          <p:cNvSpPr txBox="1"/>
          <p:nvPr/>
        </p:nvSpPr>
        <p:spPr>
          <a:xfrm>
            <a:off x="2880360" y="2148840"/>
            <a:ext cx="2103120" cy="548640"/>
          </a:xfrm>
          <a:prstGeom prst="rect">
            <a:avLst/>
          </a:prstGeom>
          <a:noFill/>
          <a:ln/>
        </p:spPr>
        <p:txBody>
          <a:bodyPr wrap="square" lIns="0" tIns="0" rIns="0" bIns="0" rtlCol="0" anchor="ctr"/>
          <a:lstStyle/>
          <a:p>
            <a:pPr algn="ctr" indent="0" marL="0">
              <a:buNone/>
            </a:pPr>
            <a:r>
              <a:rPr lang="en-US" sz="1500" b="1" dirty="0">
                <a:solidFill>
                  <a:srgbClr val="7C3AED"/>
                </a:solidFill>
              </a:rPr>
              <a:t>Thắng cặp 1</a:t>
            </a:r>
            <a:endParaRPr lang="en-US" sz="1500" dirty="0"/>
          </a:p>
        </p:txBody>
      </p:sp>
      <p:sp>
        <p:nvSpPr>
          <p:cNvPr id="26" name="Shape 23"/>
          <p:cNvSpPr/>
          <p:nvPr/>
        </p:nvSpPr>
        <p:spPr>
          <a:xfrm>
            <a:off x="2880360" y="4343400"/>
            <a:ext cx="2103120" cy="548640"/>
          </a:xfrm>
          <a:prstGeom prst="roundRect">
            <a:avLst>
              <a:gd name="adj" fmla="val 16667"/>
            </a:avLst>
          </a:prstGeom>
          <a:solidFill>
            <a:srgbClr val="EDE4FF"/>
          </a:solidFill>
          <a:ln/>
          <a:effectLst>
            <a:outerShdw sx="100000" sy="100000" kx="0" ky="0" algn="bl" rotWithShape="0" blurRad="127000" dist="38100" dir="5400000">
              <a:srgbClr val="4C1D95">
                <a:alpha val="16000"/>
              </a:srgbClr>
            </a:outerShdw>
          </a:effectLst>
        </p:spPr>
      </p:sp>
      <p:sp>
        <p:nvSpPr>
          <p:cNvPr id="27" name="Text 24"/>
          <p:cNvSpPr txBox="1"/>
          <p:nvPr/>
        </p:nvSpPr>
        <p:spPr>
          <a:xfrm>
            <a:off x="2880360" y="4343400"/>
            <a:ext cx="2103120" cy="548640"/>
          </a:xfrm>
          <a:prstGeom prst="rect">
            <a:avLst/>
          </a:prstGeom>
          <a:noFill/>
          <a:ln/>
        </p:spPr>
        <p:txBody>
          <a:bodyPr wrap="square" lIns="0" tIns="0" rIns="0" bIns="0" rtlCol="0" anchor="ctr"/>
          <a:lstStyle/>
          <a:p>
            <a:pPr algn="ctr" indent="0" marL="0">
              <a:buNone/>
            </a:pPr>
            <a:r>
              <a:rPr lang="en-US" sz="1500" b="1" dirty="0">
                <a:solidFill>
                  <a:srgbClr val="7C3AED"/>
                </a:solidFill>
              </a:rPr>
              <a:t>Thắng cặp 2</a:t>
            </a:r>
            <a:endParaRPr lang="en-US" sz="1500" dirty="0"/>
          </a:p>
        </p:txBody>
      </p:sp>
      <p:sp>
        <p:nvSpPr>
          <p:cNvPr id="28" name="Shape 25"/>
          <p:cNvSpPr/>
          <p:nvPr/>
        </p:nvSpPr>
        <p:spPr>
          <a:xfrm>
            <a:off x="4983480" y="2423160"/>
            <a:ext cx="137160" cy="0"/>
          </a:xfrm>
          <a:prstGeom prst="line">
            <a:avLst/>
          </a:prstGeom>
          <a:noFill/>
          <a:ln w="31750">
            <a:solidFill>
              <a:srgbClr val="EA580C"/>
            </a:solidFill>
            <a:prstDash val="solid"/>
          </a:ln>
        </p:spPr>
      </p:sp>
      <p:sp>
        <p:nvSpPr>
          <p:cNvPr id="29" name="Shape 26"/>
          <p:cNvSpPr/>
          <p:nvPr/>
        </p:nvSpPr>
        <p:spPr>
          <a:xfrm>
            <a:off x="4983480" y="4617720"/>
            <a:ext cx="137160" cy="0"/>
          </a:xfrm>
          <a:prstGeom prst="line">
            <a:avLst/>
          </a:prstGeom>
          <a:noFill/>
          <a:ln w="31750">
            <a:solidFill>
              <a:srgbClr val="EA580C"/>
            </a:solidFill>
            <a:prstDash val="solid"/>
          </a:ln>
        </p:spPr>
      </p:sp>
      <p:sp>
        <p:nvSpPr>
          <p:cNvPr id="30" name="Shape 27"/>
          <p:cNvSpPr/>
          <p:nvPr/>
        </p:nvSpPr>
        <p:spPr>
          <a:xfrm>
            <a:off x="5120640" y="2423160"/>
            <a:ext cx="0" cy="2194560"/>
          </a:xfrm>
          <a:prstGeom prst="line">
            <a:avLst/>
          </a:prstGeom>
          <a:noFill/>
          <a:ln w="31750">
            <a:solidFill>
              <a:srgbClr val="EA580C"/>
            </a:solidFill>
            <a:prstDash val="solid"/>
          </a:ln>
        </p:spPr>
      </p:sp>
      <p:sp>
        <p:nvSpPr>
          <p:cNvPr id="31" name="Shape 28"/>
          <p:cNvSpPr/>
          <p:nvPr/>
        </p:nvSpPr>
        <p:spPr>
          <a:xfrm>
            <a:off x="5120640" y="3520440"/>
            <a:ext cx="182880" cy="0"/>
          </a:xfrm>
          <a:prstGeom prst="line">
            <a:avLst/>
          </a:prstGeom>
          <a:noFill/>
          <a:ln w="31750">
            <a:solidFill>
              <a:srgbClr val="EA580C"/>
            </a:solidFill>
            <a:prstDash val="solid"/>
          </a:ln>
        </p:spPr>
      </p:sp>
      <p:sp>
        <p:nvSpPr>
          <p:cNvPr id="32" name="Shape 29"/>
          <p:cNvSpPr/>
          <p:nvPr/>
        </p:nvSpPr>
        <p:spPr>
          <a:xfrm>
            <a:off x="5303520" y="2926080"/>
            <a:ext cx="1463040" cy="1188720"/>
          </a:xfrm>
          <a:prstGeom prst="roundRect">
            <a:avLst>
              <a:gd name="adj" fmla="val 11538"/>
            </a:avLst>
          </a:prstGeom>
          <a:solidFill>
            <a:srgbClr val="EA580C"/>
          </a:solidFill>
          <a:ln/>
          <a:effectLst>
            <a:outerShdw sx="100000" sy="100000" kx="0" ky="0" algn="bl" rotWithShape="0" blurRad="127000" dist="38100" dir="5400000">
              <a:srgbClr val="4C1D95">
                <a:alpha val="16000"/>
              </a:srgbClr>
            </a:outerShdw>
          </a:effectLst>
        </p:spPr>
      </p:sp>
      <p:pic>
        <p:nvPicPr>
          <p:cNvPr id="33" name="Image 0" descr="Biểu tượng minh họa">    </p:cNvPr>
          <p:cNvPicPr>
            <a:picLocks noChangeAspect="1"/>
          </p:cNvPicPr>
          <p:nvPr/>
        </p:nvPicPr>
        <p:blipFill>
          <a:blip r:embed="rId1"/>
          <a:stretch>
            <a:fillRect/>
          </a:stretch>
        </p:blipFill>
        <p:spPr>
          <a:xfrm>
            <a:off x="5760720" y="2999232"/>
            <a:ext cx="548640" cy="548640"/>
          </a:xfrm>
          <a:prstGeom prst="rect">
            <a:avLst/>
          </a:prstGeom>
        </p:spPr>
      </p:pic>
      <p:sp>
        <p:nvSpPr>
          <p:cNvPr id="34" name="Text 30"/>
          <p:cNvSpPr txBox="1"/>
          <p:nvPr/>
        </p:nvSpPr>
        <p:spPr>
          <a:xfrm>
            <a:off x="5303520" y="3566160"/>
            <a:ext cx="1463040" cy="457200"/>
          </a:xfrm>
          <a:prstGeom prst="rect">
            <a:avLst/>
          </a:prstGeom>
          <a:noFill/>
          <a:ln/>
        </p:spPr>
        <p:txBody>
          <a:bodyPr wrap="square" lIns="0" tIns="0" rIns="0" bIns="0" rtlCol="0" anchor="ctr"/>
          <a:lstStyle/>
          <a:p>
            <a:pPr algn="ctr" indent="0" marL="0">
              <a:buNone/>
            </a:pPr>
            <a:r>
              <a:rPr lang="en-US" sz="1700" b="1" dirty="0">
                <a:solidFill>
                  <a:srgbClr val="FFFFFF"/>
                </a:solidFill>
              </a:rPr>
              <a:t>VÔ ĐỊCH</a:t>
            </a:r>
            <a:endParaRPr lang="en-US" sz="1700" dirty="0"/>
          </a:p>
        </p:txBody>
      </p:sp>
      <p:sp>
        <p:nvSpPr>
          <p:cNvPr id="35" name="Text 31"/>
          <p:cNvSpPr txBox="1"/>
          <p:nvPr/>
        </p:nvSpPr>
        <p:spPr>
          <a:xfrm>
            <a:off x="548640" y="5394960"/>
            <a:ext cx="6217920" cy="320040"/>
          </a:xfrm>
          <a:prstGeom prst="rect">
            <a:avLst/>
          </a:prstGeom>
          <a:noFill/>
          <a:ln/>
        </p:spPr>
        <p:txBody>
          <a:bodyPr wrap="square" lIns="0" tIns="0" rIns="0" bIns="0" rtlCol="0" anchor="t"/>
          <a:lstStyle/>
          <a:p>
            <a:pPr indent="0" marL="0">
              <a:buNone/>
            </a:pPr>
            <a:r>
              <a:rPr lang="en-US" sz="1300" i="1" dirty="0">
                <a:solidFill>
                  <a:srgbClr val="5B4B8A"/>
                </a:solidFill>
              </a:rPr>
              <a:t>Mỗi cặp: 02 lượt × 03 phút, đổi bên sau lượt 1</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086600" y="1371600"/>
          <a:ext cx="4553712" cy="914400"/>
        </p:xfrm>
        <a:graphic>
          <a:graphicData uri="http://schemas.openxmlformats.org/drawingml/2006/table">
            <a:tbl>
              <a:tblPr/>
              <a:tblGrid>
                <a:gridCol w="960120"/>
                <a:gridCol w="2651760"/>
                <a:gridCol w="941832"/>
              </a:tblGrid>
              <a:tr h="0">
                <a:tc>
                  <a:txBody>
                    <a:bodyPr/>
                    <a:lstStyle/>
                    <a:p>
                      <a:pPr indent="0" marL="0">
                        <a:buNone/>
                      </a:pPr>
                      <a:r>
                        <a:rPr lang="en-US" sz="1300" b="1" dirty="0">
                          <a:solidFill>
                            <a:srgbClr val="FFFFFF"/>
                          </a:solidFill>
                        </a:rPr>
                        <a:t>Số đội</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indent="0" marL="0">
                        <a:buNone/>
                      </a:pPr>
                      <a:r>
                        <a:rPr lang="en-US" sz="1300" b="1" dirty="0">
                          <a:solidFill>
                            <a:srgbClr val="FFFFFF"/>
                          </a:solidFill>
                        </a:rPr>
                        <a:t>Sơ đồ thi đấu</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indent="0" marL="0">
                        <a:buNone/>
                      </a:pPr>
                      <a:r>
                        <a:rPr lang="en-US" sz="1300" b="1" dirty="0">
                          <a:solidFill>
                            <a:srgbClr val="FFFFFF"/>
                          </a:solidFill>
                        </a:rPr>
                        <a:t>Số lượt</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0">
                <a:tc>
                  <a:txBody>
                    <a:bodyPr/>
                    <a:lstStyle/>
                    <a:p>
                      <a:pPr indent="0" marL="0">
                        <a:buNone/>
                      </a:pPr>
                      <a:r>
                        <a:rPr lang="en-US" sz="1300" b="1" dirty="0">
                          <a:solidFill>
                            <a:srgbClr val="2E1065"/>
                          </a:solidFill>
                        </a:rPr>
                        <a:t>04 đội</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Bán kết: 02 cặp → Chung kết: 01 cặp</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06</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E1065"/>
                          </a:solidFill>
                        </a:rPr>
                        <a:t>03 đội</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Bốc thăm 01 đội vào thẳng Chung kết; 02 đội còn lại thi Bán kết</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04</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E1065"/>
                          </a:solidFill>
                        </a:rPr>
                        <a:t>02 đội</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Chung kết: 01 cặp đấu</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02</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E1065"/>
                          </a:solidFill>
                        </a:rPr>
                        <a:t>Từ 05 đội</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Thêm vòng loại trực tiếp trước Bán kết để chọn 04 đội; đội miễn đấu do bốc thăm</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Theo lịch BTC</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37" name="Text 32"/>
          <p:cNvSpPr txBox="1"/>
          <p:nvPr/>
        </p:nvSpPr>
        <p:spPr>
          <a:xfrm>
            <a:off x="7086600" y="4572000"/>
            <a:ext cx="4553712" cy="274320"/>
          </a:xfrm>
          <a:prstGeom prst="rect">
            <a:avLst/>
          </a:prstGeom>
          <a:noFill/>
          <a:ln/>
        </p:spPr>
        <p:txBody>
          <a:bodyPr wrap="square" lIns="0" tIns="0" rIns="0" bIns="0" rtlCol="0" anchor="t"/>
          <a:lstStyle/>
          <a:p>
            <a:pPr indent="0" marL="0">
              <a:buNone/>
            </a:pPr>
            <a:r>
              <a:rPr lang="en-US" sz="1200" i="1" dirty="0">
                <a:solidFill>
                  <a:srgbClr val="5B4B8A"/>
                </a:solidFill>
              </a:rPr>
              <a:t>* Chưa kể lượt đấu phụ (nếu có)</a:t>
            </a:r>
            <a:endParaRPr lang="en-US" sz="1200" dirty="0"/>
          </a:p>
        </p:txBody>
      </p:sp>
      <p:sp>
        <p:nvSpPr>
          <p:cNvPr id="38" name="Shape 33"/>
          <p:cNvSpPr/>
          <p:nvPr/>
        </p:nvSpPr>
        <p:spPr>
          <a:xfrm>
            <a:off x="548640" y="5760720"/>
            <a:ext cx="11091672" cy="530352"/>
          </a:xfrm>
          <a:prstGeom prst="roundRect">
            <a:avLst>
              <a:gd name="adj" fmla="val 50000"/>
            </a:avLst>
          </a:prstGeom>
          <a:solidFill>
            <a:srgbClr val="FFFFFF"/>
          </a:solidFill>
          <a:ln/>
          <a:effectLst>
            <a:outerShdw sx="100000" sy="100000" kx="0" ky="0" algn="bl" rotWithShape="0" blurRad="127000" dist="38100" dir="5400000">
              <a:srgbClr val="4C1D95">
                <a:alpha val="16000"/>
              </a:srgbClr>
            </a:outerShdw>
          </a:effectLst>
        </p:spPr>
      </p:sp>
      <p:pic>
        <p:nvPicPr>
          <p:cNvPr id="39" name="Image 1" descr="Biểu tượng minh họa">    </p:cNvPr>
          <p:cNvPicPr>
            <a:picLocks noChangeAspect="1"/>
          </p:cNvPicPr>
          <p:nvPr/>
        </p:nvPicPr>
        <p:blipFill>
          <a:blip r:embed="rId2"/>
          <a:stretch>
            <a:fillRect/>
          </a:stretch>
        </p:blipFill>
        <p:spPr>
          <a:xfrm>
            <a:off x="731520" y="5797296"/>
            <a:ext cx="438912" cy="438912"/>
          </a:xfrm>
          <a:prstGeom prst="rect">
            <a:avLst/>
          </a:prstGeom>
        </p:spPr>
      </p:pic>
      <p:sp>
        <p:nvSpPr>
          <p:cNvPr id="40" name="Text 34"/>
          <p:cNvSpPr txBox="1"/>
          <p:nvPr/>
        </p:nvSpPr>
        <p:spPr>
          <a:xfrm>
            <a:off x="1280160" y="5760720"/>
            <a:ext cx="10241280" cy="530352"/>
          </a:xfrm>
          <a:prstGeom prst="rect">
            <a:avLst/>
          </a:prstGeom>
          <a:noFill/>
          <a:ln/>
        </p:spPr>
        <p:txBody>
          <a:bodyPr wrap="square" lIns="0" tIns="0" rIns="0" bIns="0" rtlCol="0" anchor="ctr"/>
          <a:lstStyle/>
          <a:p>
            <a:pPr indent="0" marL="0">
              <a:buNone/>
            </a:pPr>
            <a:r>
              <a:rPr lang="en-US" sz="1400" dirty="0">
                <a:solidFill>
                  <a:srgbClr val="2E1065"/>
                </a:solidFill>
              </a:rPr>
              <a:t>Bốc thăm 01 lần tại buổi tổng duyệt chiều 24/10: công khai, có biên bản, niêm yết ngay. Nhánh đấu cố định đến Chung kết; đội vắng mặt → BTC bốc thay.</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TRÌNH TỰ</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Trình tự một lượt đấu: 8 bước</a:t>
            </a:r>
            <a:endParaRPr lang="en-US" sz="3000" dirty="0"/>
          </a:p>
        </p:txBody>
      </p:sp>
      <p:sp>
        <p:nvSpPr>
          <p:cNvPr id="5" name="Shape 2"/>
          <p:cNvSpPr/>
          <p:nvPr/>
        </p:nvSpPr>
        <p:spPr>
          <a:xfrm>
            <a:off x="548640" y="137160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13232" y="1536192"/>
            <a:ext cx="457200" cy="457200"/>
          </a:xfrm>
          <a:prstGeom prst="ellipse">
            <a:avLst/>
          </a:prstGeom>
          <a:solidFill>
            <a:srgbClr val="7C3AED"/>
          </a:solidFill>
          <a:ln/>
        </p:spPr>
      </p:sp>
      <p:sp>
        <p:nvSpPr>
          <p:cNvPr id="7" name="Text 4"/>
          <p:cNvSpPr txBox="1"/>
          <p:nvPr/>
        </p:nvSpPr>
        <p:spPr>
          <a:xfrm>
            <a:off x="713232"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pic>
        <p:nvPicPr>
          <p:cNvPr id="8" name="Image 0" descr="Biểu tượng minh họa">    </p:cNvPr>
          <p:cNvPicPr>
            <a:picLocks noChangeAspect="1"/>
          </p:cNvPicPr>
          <p:nvPr/>
        </p:nvPicPr>
        <p:blipFill>
          <a:blip r:embed="rId1"/>
          <a:stretch>
            <a:fillRect/>
          </a:stretch>
        </p:blipFill>
        <p:spPr>
          <a:xfrm>
            <a:off x="2167128" y="1508760"/>
            <a:ext cx="685800" cy="685800"/>
          </a:xfrm>
          <a:prstGeom prst="rect">
            <a:avLst/>
          </a:prstGeom>
        </p:spPr>
      </p:pic>
      <p:sp>
        <p:nvSpPr>
          <p:cNvPr id="9" name="Text 5"/>
          <p:cNvSpPr txBox="1"/>
          <p:nvPr/>
        </p:nvSpPr>
        <p:spPr>
          <a:xfrm>
            <a:off x="713232" y="224028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Gọi trận</a:t>
            </a:r>
            <a:endParaRPr lang="en-US" sz="1700" dirty="0"/>
          </a:p>
        </p:txBody>
      </p:sp>
      <p:sp>
        <p:nvSpPr>
          <p:cNvPr id="10" name="Text 6"/>
          <p:cNvSpPr txBox="1"/>
          <p:nvPr/>
        </p:nvSpPr>
        <p:spPr>
          <a:xfrm>
            <a:off x="713232" y="2697480"/>
            <a:ext cx="2212848" cy="731520"/>
          </a:xfrm>
          <a:prstGeom prst="rect">
            <a:avLst/>
          </a:prstGeom>
          <a:noFill/>
          <a:ln/>
        </p:spPr>
        <p:txBody>
          <a:bodyPr wrap="square" lIns="0" tIns="0" rIns="0" bIns="0" rtlCol="0" anchor="t"/>
          <a:lstStyle/>
          <a:p>
            <a:pPr indent="0" marL="0">
              <a:buNone/>
            </a:pPr>
            <a:r>
              <a:rPr lang="en-US" sz="1400" dirty="0">
                <a:solidFill>
                  <a:srgbClr val="2E1065"/>
                </a:solidFill>
              </a:rPr>
              <a:t>Trọng tài gọi tối đa 03 lần trong 03 phút</a:t>
            </a:r>
            <a:endParaRPr lang="en-US" sz="1400" dirty="0"/>
          </a:p>
        </p:txBody>
      </p:sp>
      <p:sp>
        <p:nvSpPr>
          <p:cNvPr id="11" name="Shape 7"/>
          <p:cNvSpPr/>
          <p:nvPr/>
        </p:nvSpPr>
        <p:spPr>
          <a:xfrm>
            <a:off x="3099816" y="2258568"/>
            <a:ext cx="256032" cy="329184"/>
          </a:xfrm>
          <a:prstGeom prst="rightArrow">
            <a:avLst/>
          </a:prstGeom>
          <a:solidFill>
            <a:srgbClr val="8B5CF6"/>
          </a:solidFill>
          <a:ln/>
        </p:spPr>
      </p:sp>
      <p:sp>
        <p:nvSpPr>
          <p:cNvPr id="12" name="Shape 8"/>
          <p:cNvSpPr/>
          <p:nvPr/>
        </p:nvSpPr>
        <p:spPr>
          <a:xfrm>
            <a:off x="3417113" y="137160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13" name="Shape 9"/>
          <p:cNvSpPr/>
          <p:nvPr/>
        </p:nvSpPr>
        <p:spPr>
          <a:xfrm>
            <a:off x="3581705" y="1536192"/>
            <a:ext cx="457200" cy="457200"/>
          </a:xfrm>
          <a:prstGeom prst="ellipse">
            <a:avLst/>
          </a:prstGeom>
          <a:solidFill>
            <a:srgbClr val="7C3AED"/>
          </a:solidFill>
          <a:ln/>
        </p:spPr>
      </p:sp>
      <p:sp>
        <p:nvSpPr>
          <p:cNvPr id="14" name="Text 10"/>
          <p:cNvSpPr txBox="1"/>
          <p:nvPr/>
        </p:nvSpPr>
        <p:spPr>
          <a:xfrm>
            <a:off x="3581705"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pic>
        <p:nvPicPr>
          <p:cNvPr id="15" name="Image 1" descr="Biểu tượng minh họa">    </p:cNvPr>
          <p:cNvPicPr>
            <a:picLocks noChangeAspect="1"/>
          </p:cNvPicPr>
          <p:nvPr/>
        </p:nvPicPr>
        <p:blipFill>
          <a:blip r:embed="rId2"/>
          <a:stretch>
            <a:fillRect/>
          </a:stretch>
        </p:blipFill>
        <p:spPr>
          <a:xfrm>
            <a:off x="5035601" y="1508760"/>
            <a:ext cx="685800" cy="685800"/>
          </a:xfrm>
          <a:prstGeom prst="rect">
            <a:avLst/>
          </a:prstGeom>
        </p:spPr>
      </p:pic>
      <p:sp>
        <p:nvSpPr>
          <p:cNvPr id="16" name="Text 11"/>
          <p:cNvSpPr txBox="1"/>
          <p:nvPr/>
        </p:nvSpPr>
        <p:spPr>
          <a:xfrm>
            <a:off x="3581705" y="224028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Nhận robot</a:t>
            </a:r>
            <a:endParaRPr lang="en-US" sz="1700" dirty="0"/>
          </a:p>
        </p:txBody>
      </p:sp>
      <p:sp>
        <p:nvSpPr>
          <p:cNvPr id="17" name="Text 12"/>
          <p:cNvSpPr txBox="1"/>
          <p:nvPr/>
        </p:nvSpPr>
        <p:spPr>
          <a:xfrm>
            <a:off x="3581705" y="2697480"/>
            <a:ext cx="2212848" cy="731520"/>
          </a:xfrm>
          <a:prstGeom prst="rect">
            <a:avLst/>
          </a:prstGeom>
          <a:noFill/>
          <a:ln/>
        </p:spPr>
        <p:txBody>
          <a:bodyPr wrap="square" lIns="0" tIns="0" rIns="0" bIns="0" rtlCol="0" anchor="t"/>
          <a:lstStyle/>
          <a:p>
            <a:pPr indent="0" marL="0">
              <a:buNone/>
            </a:pPr>
            <a:r>
              <a:rPr lang="en-US" sz="1400" dirty="0">
                <a:solidFill>
                  <a:srgbClr val="2E1065"/>
                </a:solidFill>
              </a:rPr>
              <a:t>Tại Bàn Kỹ thuật; thí sinh vào đúng vị trí</a:t>
            </a:r>
            <a:endParaRPr lang="en-US" sz="1400" dirty="0"/>
          </a:p>
        </p:txBody>
      </p:sp>
      <p:sp>
        <p:nvSpPr>
          <p:cNvPr id="18" name="Shape 13"/>
          <p:cNvSpPr/>
          <p:nvPr/>
        </p:nvSpPr>
        <p:spPr>
          <a:xfrm>
            <a:off x="5968289" y="2258568"/>
            <a:ext cx="256032" cy="329184"/>
          </a:xfrm>
          <a:prstGeom prst="rightArrow">
            <a:avLst/>
          </a:prstGeom>
          <a:solidFill>
            <a:srgbClr val="8B5CF6"/>
          </a:solidFill>
          <a:ln/>
        </p:spPr>
      </p:sp>
      <p:sp>
        <p:nvSpPr>
          <p:cNvPr id="19" name="Shape 14"/>
          <p:cNvSpPr/>
          <p:nvPr/>
        </p:nvSpPr>
        <p:spPr>
          <a:xfrm>
            <a:off x="6285586" y="137160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20" name="Shape 15"/>
          <p:cNvSpPr/>
          <p:nvPr/>
        </p:nvSpPr>
        <p:spPr>
          <a:xfrm>
            <a:off x="6450178" y="1536192"/>
            <a:ext cx="457200" cy="457200"/>
          </a:xfrm>
          <a:prstGeom prst="ellipse">
            <a:avLst/>
          </a:prstGeom>
          <a:solidFill>
            <a:srgbClr val="7C3AED"/>
          </a:solidFill>
          <a:ln/>
        </p:spPr>
      </p:sp>
      <p:sp>
        <p:nvSpPr>
          <p:cNvPr id="21" name="Text 16"/>
          <p:cNvSpPr txBox="1"/>
          <p:nvPr/>
        </p:nvSpPr>
        <p:spPr>
          <a:xfrm>
            <a:off x="6450178"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pic>
        <p:nvPicPr>
          <p:cNvPr id="22" name="Image 2" descr="Biểu tượng minh họa">    </p:cNvPr>
          <p:cNvPicPr>
            <a:picLocks noChangeAspect="1"/>
          </p:cNvPicPr>
          <p:nvPr/>
        </p:nvPicPr>
        <p:blipFill>
          <a:blip r:embed="rId3"/>
          <a:stretch>
            <a:fillRect/>
          </a:stretch>
        </p:blipFill>
        <p:spPr>
          <a:xfrm>
            <a:off x="7904074" y="1508760"/>
            <a:ext cx="685800" cy="685800"/>
          </a:xfrm>
          <a:prstGeom prst="rect">
            <a:avLst/>
          </a:prstGeom>
        </p:spPr>
      </p:pic>
      <p:sp>
        <p:nvSpPr>
          <p:cNvPr id="23" name="Text 17"/>
          <p:cNvSpPr txBox="1"/>
          <p:nvPr/>
        </p:nvSpPr>
        <p:spPr>
          <a:xfrm>
            <a:off x="6450178" y="224028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Làm quen 90 giây</a:t>
            </a:r>
            <a:endParaRPr lang="en-US" sz="1700" dirty="0"/>
          </a:p>
        </p:txBody>
      </p:sp>
      <p:sp>
        <p:nvSpPr>
          <p:cNvPr id="24" name="Text 18"/>
          <p:cNvSpPr txBox="1"/>
          <p:nvPr/>
        </p:nvSpPr>
        <p:spPr>
          <a:xfrm>
            <a:off x="6450178" y="2697480"/>
            <a:ext cx="2212848" cy="731520"/>
          </a:xfrm>
          <a:prstGeom prst="rect">
            <a:avLst/>
          </a:prstGeom>
          <a:noFill/>
          <a:ln/>
        </p:spPr>
        <p:txBody>
          <a:bodyPr wrap="square" lIns="0" tIns="0" rIns="0" bIns="0" rtlCol="0" anchor="t"/>
          <a:lstStyle/>
          <a:p>
            <a:pPr indent="0" marL="0">
              <a:buNone/>
            </a:pPr>
            <a:r>
              <a:rPr lang="en-US" sz="1400" dirty="0">
                <a:solidFill>
                  <a:srgbClr val="2E1065"/>
                </a:solidFill>
              </a:rPr>
              <a:t>Chạy thử robot, không chạm đạo cụ</a:t>
            </a:r>
            <a:endParaRPr lang="en-US" sz="1400" dirty="0"/>
          </a:p>
        </p:txBody>
      </p:sp>
      <p:sp>
        <p:nvSpPr>
          <p:cNvPr id="25" name="Shape 19"/>
          <p:cNvSpPr/>
          <p:nvPr/>
        </p:nvSpPr>
        <p:spPr>
          <a:xfrm>
            <a:off x="8836762" y="2258568"/>
            <a:ext cx="256032" cy="329184"/>
          </a:xfrm>
          <a:prstGeom prst="rightArrow">
            <a:avLst/>
          </a:prstGeom>
          <a:solidFill>
            <a:srgbClr val="8B5CF6"/>
          </a:solidFill>
          <a:ln/>
        </p:spPr>
      </p:sp>
      <p:sp>
        <p:nvSpPr>
          <p:cNvPr id="26" name="Shape 20"/>
          <p:cNvSpPr/>
          <p:nvPr/>
        </p:nvSpPr>
        <p:spPr>
          <a:xfrm>
            <a:off x="9154058" y="137160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27" name="Shape 21"/>
          <p:cNvSpPr/>
          <p:nvPr/>
        </p:nvSpPr>
        <p:spPr>
          <a:xfrm>
            <a:off x="9318650" y="1536192"/>
            <a:ext cx="457200" cy="457200"/>
          </a:xfrm>
          <a:prstGeom prst="ellipse">
            <a:avLst/>
          </a:prstGeom>
          <a:solidFill>
            <a:srgbClr val="7C3AED"/>
          </a:solidFill>
          <a:ln/>
        </p:spPr>
      </p:sp>
      <p:sp>
        <p:nvSpPr>
          <p:cNvPr id="28" name="Text 22"/>
          <p:cNvSpPr txBox="1"/>
          <p:nvPr/>
        </p:nvSpPr>
        <p:spPr>
          <a:xfrm>
            <a:off x="9318650"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pic>
        <p:nvPicPr>
          <p:cNvPr id="29" name="Image 3" descr="Biểu tượng minh họa">    </p:cNvPr>
          <p:cNvPicPr>
            <a:picLocks noChangeAspect="1"/>
          </p:cNvPicPr>
          <p:nvPr/>
        </p:nvPicPr>
        <p:blipFill>
          <a:blip r:embed="rId4"/>
          <a:stretch>
            <a:fillRect/>
          </a:stretch>
        </p:blipFill>
        <p:spPr>
          <a:xfrm>
            <a:off x="10772546" y="1508760"/>
            <a:ext cx="685800" cy="685800"/>
          </a:xfrm>
          <a:prstGeom prst="rect">
            <a:avLst/>
          </a:prstGeom>
        </p:spPr>
      </p:pic>
      <p:sp>
        <p:nvSpPr>
          <p:cNvPr id="30" name="Text 23"/>
          <p:cNvSpPr txBox="1"/>
          <p:nvPr/>
        </p:nvSpPr>
        <p:spPr>
          <a:xfrm>
            <a:off x="9318650" y="224028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Về Khu Căn cứ</a:t>
            </a:r>
            <a:endParaRPr lang="en-US" sz="1700" dirty="0"/>
          </a:p>
        </p:txBody>
      </p:sp>
      <p:sp>
        <p:nvSpPr>
          <p:cNvPr id="31" name="Text 24"/>
          <p:cNvSpPr txBox="1"/>
          <p:nvPr/>
        </p:nvSpPr>
        <p:spPr>
          <a:xfrm>
            <a:off x="9318650" y="2697480"/>
            <a:ext cx="2212848" cy="731520"/>
          </a:xfrm>
          <a:prstGeom prst="rect">
            <a:avLst/>
          </a:prstGeom>
          <a:noFill/>
          <a:ln/>
        </p:spPr>
        <p:txBody>
          <a:bodyPr wrap="square" lIns="0" tIns="0" rIns="0" bIns="0" rtlCol="0" anchor="t"/>
          <a:lstStyle/>
          <a:p>
            <a:pPr indent="0" marL="0">
              <a:buNone/>
            </a:pPr>
            <a:r>
              <a:rPr lang="en-US" sz="1400" dirty="0">
                <a:solidFill>
                  <a:srgbClr val="2E1065"/>
                </a:solidFill>
              </a:rPr>
              <a:t>Robot nằm trọn trong vạch; đặt lại đạo cụ</a:t>
            </a:r>
            <a:endParaRPr lang="en-US" sz="1400" dirty="0"/>
          </a:p>
        </p:txBody>
      </p:sp>
      <p:sp>
        <p:nvSpPr>
          <p:cNvPr id="32" name="Shape 25"/>
          <p:cNvSpPr/>
          <p:nvPr/>
        </p:nvSpPr>
        <p:spPr>
          <a:xfrm>
            <a:off x="9154058" y="4023360"/>
            <a:ext cx="2487168" cy="2103120"/>
          </a:xfrm>
          <a:prstGeom prst="roundRect">
            <a:avLst>
              <a:gd name="adj" fmla="val 5217"/>
            </a:avLst>
          </a:prstGeom>
          <a:solidFill>
            <a:srgbClr val="EA580C"/>
          </a:solidFill>
          <a:ln/>
          <a:effectLst>
            <a:outerShdw sx="100000" sy="100000" kx="0" ky="0" algn="bl" rotWithShape="0" blurRad="127000" dist="38100" dir="5400000">
              <a:srgbClr val="4C1D95">
                <a:alpha val="16000"/>
              </a:srgbClr>
            </a:outerShdw>
          </a:effectLst>
        </p:spPr>
      </p:sp>
      <p:sp>
        <p:nvSpPr>
          <p:cNvPr id="33" name="Shape 26"/>
          <p:cNvSpPr/>
          <p:nvPr/>
        </p:nvSpPr>
        <p:spPr>
          <a:xfrm>
            <a:off x="9318650" y="4187952"/>
            <a:ext cx="457200" cy="457200"/>
          </a:xfrm>
          <a:prstGeom prst="ellipse">
            <a:avLst/>
          </a:prstGeom>
          <a:solidFill>
            <a:srgbClr val="FFFFFF"/>
          </a:solidFill>
          <a:ln/>
        </p:spPr>
      </p:sp>
      <p:sp>
        <p:nvSpPr>
          <p:cNvPr id="34" name="Text 27"/>
          <p:cNvSpPr txBox="1"/>
          <p:nvPr/>
        </p:nvSpPr>
        <p:spPr>
          <a:xfrm>
            <a:off x="9318650" y="4187952"/>
            <a:ext cx="457200" cy="457200"/>
          </a:xfrm>
          <a:prstGeom prst="rect">
            <a:avLst/>
          </a:prstGeom>
          <a:noFill/>
          <a:ln/>
        </p:spPr>
        <p:txBody>
          <a:bodyPr wrap="square" lIns="0" tIns="0" rIns="0" bIns="0" rtlCol="0" anchor="ctr"/>
          <a:lstStyle/>
          <a:p>
            <a:pPr algn="ctr" indent="0" marL="0">
              <a:buNone/>
            </a:pPr>
            <a:r>
              <a:rPr lang="en-US" sz="1700" b="1" dirty="0">
                <a:solidFill>
                  <a:srgbClr val="EA580C"/>
                </a:solidFill>
              </a:rPr>
              <a:t>5</a:t>
            </a:r>
            <a:endParaRPr lang="en-US" sz="1700" dirty="0"/>
          </a:p>
        </p:txBody>
      </p:sp>
      <p:pic>
        <p:nvPicPr>
          <p:cNvPr id="35" name="Image 4" descr="Biểu tượng minh họa">    </p:cNvPr>
          <p:cNvPicPr>
            <a:picLocks noChangeAspect="1"/>
          </p:cNvPicPr>
          <p:nvPr/>
        </p:nvPicPr>
        <p:blipFill>
          <a:blip r:embed="rId5"/>
          <a:stretch>
            <a:fillRect/>
          </a:stretch>
        </p:blipFill>
        <p:spPr>
          <a:xfrm>
            <a:off x="10772546" y="4160520"/>
            <a:ext cx="685800" cy="685800"/>
          </a:xfrm>
          <a:prstGeom prst="rect">
            <a:avLst/>
          </a:prstGeom>
        </p:spPr>
      </p:pic>
      <p:sp>
        <p:nvSpPr>
          <p:cNvPr id="36" name="Text 28"/>
          <p:cNvSpPr txBox="1"/>
          <p:nvPr/>
        </p:nvSpPr>
        <p:spPr>
          <a:xfrm>
            <a:off x="9318650" y="4892040"/>
            <a:ext cx="2212848" cy="457200"/>
          </a:xfrm>
          <a:prstGeom prst="rect">
            <a:avLst/>
          </a:prstGeom>
          <a:noFill/>
          <a:ln/>
        </p:spPr>
        <p:txBody>
          <a:bodyPr wrap="square" lIns="0" tIns="0" rIns="0" bIns="0" rtlCol="0" anchor="t"/>
          <a:lstStyle/>
          <a:p>
            <a:pPr indent="0" marL="0">
              <a:buNone/>
            </a:pPr>
            <a:r>
              <a:rPr lang="en-US" sz="1700" b="1" dirty="0">
                <a:solidFill>
                  <a:srgbClr val="FFFFFF"/>
                </a:solidFill>
              </a:rPr>
              <a:t>“Chuẩn bị – Bắt đầu!”</a:t>
            </a:r>
            <a:endParaRPr lang="en-US" sz="1700" dirty="0"/>
          </a:p>
        </p:txBody>
      </p:sp>
      <p:sp>
        <p:nvSpPr>
          <p:cNvPr id="37" name="Text 29"/>
          <p:cNvSpPr txBox="1"/>
          <p:nvPr/>
        </p:nvSpPr>
        <p:spPr>
          <a:xfrm>
            <a:off x="9318650" y="5349240"/>
            <a:ext cx="2212848" cy="731520"/>
          </a:xfrm>
          <a:prstGeom prst="rect">
            <a:avLst/>
          </a:prstGeom>
          <a:noFill/>
          <a:ln/>
        </p:spPr>
        <p:txBody>
          <a:bodyPr wrap="square" lIns="0" tIns="0" rIns="0" bIns="0" rtlCol="0" anchor="t"/>
          <a:lstStyle/>
          <a:p>
            <a:pPr indent="0" marL="0">
              <a:buNone/>
            </a:pPr>
            <a:r>
              <a:rPr lang="en-US" sz="1400" dirty="0">
                <a:solidFill>
                  <a:srgbClr val="FFFFFF"/>
                </a:solidFill>
              </a:rPr>
              <a:t>Đồng hồ thi đấu bắt đầu đếm 03 phút</a:t>
            </a:r>
            <a:endParaRPr lang="en-US" sz="1400" dirty="0"/>
          </a:p>
        </p:txBody>
      </p:sp>
      <p:sp>
        <p:nvSpPr>
          <p:cNvPr id="38" name="Shape 30"/>
          <p:cNvSpPr/>
          <p:nvPr/>
        </p:nvSpPr>
        <p:spPr>
          <a:xfrm>
            <a:off x="8836762" y="4910328"/>
            <a:ext cx="256032" cy="329184"/>
          </a:xfrm>
          <a:prstGeom prst="leftArrow">
            <a:avLst/>
          </a:prstGeom>
          <a:solidFill>
            <a:srgbClr val="8B5CF6"/>
          </a:solidFill>
          <a:ln/>
        </p:spPr>
      </p:sp>
      <p:sp>
        <p:nvSpPr>
          <p:cNvPr id="39" name="Shape 31"/>
          <p:cNvSpPr/>
          <p:nvPr/>
        </p:nvSpPr>
        <p:spPr>
          <a:xfrm>
            <a:off x="6285586" y="402336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40" name="Shape 32"/>
          <p:cNvSpPr/>
          <p:nvPr/>
        </p:nvSpPr>
        <p:spPr>
          <a:xfrm>
            <a:off x="6450178" y="4187952"/>
            <a:ext cx="457200" cy="457200"/>
          </a:xfrm>
          <a:prstGeom prst="ellipse">
            <a:avLst/>
          </a:prstGeom>
          <a:solidFill>
            <a:srgbClr val="7C3AED"/>
          </a:solidFill>
          <a:ln/>
        </p:spPr>
      </p:sp>
      <p:sp>
        <p:nvSpPr>
          <p:cNvPr id="41" name="Text 33"/>
          <p:cNvSpPr txBox="1"/>
          <p:nvPr/>
        </p:nvSpPr>
        <p:spPr>
          <a:xfrm>
            <a:off x="6450178" y="41879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6</a:t>
            </a:r>
            <a:endParaRPr lang="en-US" sz="1700" dirty="0"/>
          </a:p>
        </p:txBody>
      </p:sp>
      <p:pic>
        <p:nvPicPr>
          <p:cNvPr id="42" name="Image 5" descr="Biểu tượng minh họa">    </p:cNvPr>
          <p:cNvPicPr>
            <a:picLocks noChangeAspect="1"/>
          </p:cNvPicPr>
          <p:nvPr/>
        </p:nvPicPr>
        <p:blipFill>
          <a:blip r:embed="rId6"/>
          <a:stretch>
            <a:fillRect/>
          </a:stretch>
        </p:blipFill>
        <p:spPr>
          <a:xfrm>
            <a:off x="7904074" y="4160520"/>
            <a:ext cx="685800" cy="685800"/>
          </a:xfrm>
          <a:prstGeom prst="rect">
            <a:avLst/>
          </a:prstGeom>
        </p:spPr>
      </p:pic>
      <p:sp>
        <p:nvSpPr>
          <p:cNvPr id="43" name="Text 34"/>
          <p:cNvSpPr txBox="1"/>
          <p:nvPr/>
        </p:nvSpPr>
        <p:spPr>
          <a:xfrm>
            <a:off x="6450178" y="489204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Thi đấu</a:t>
            </a:r>
            <a:endParaRPr lang="en-US" sz="1700" dirty="0"/>
          </a:p>
        </p:txBody>
      </p:sp>
      <p:sp>
        <p:nvSpPr>
          <p:cNvPr id="44" name="Text 35"/>
          <p:cNvSpPr txBox="1"/>
          <p:nvPr/>
        </p:nvSpPr>
        <p:spPr>
          <a:xfrm>
            <a:off x="6450178" y="5349240"/>
            <a:ext cx="2212848" cy="731520"/>
          </a:xfrm>
          <a:prstGeom prst="rect">
            <a:avLst/>
          </a:prstGeom>
          <a:noFill/>
          <a:ln/>
        </p:spPr>
        <p:txBody>
          <a:bodyPr wrap="square" lIns="0" tIns="0" rIns="0" bIns="0" rtlCol="0" anchor="t"/>
          <a:lstStyle/>
          <a:p>
            <a:pPr indent="0" marL="0">
              <a:buNone/>
            </a:pPr>
            <a:r>
              <a:rPr lang="en-US" sz="1400" dirty="0">
                <a:solidFill>
                  <a:srgbClr val="2E1065"/>
                </a:solidFill>
              </a:rPr>
              <a:t>Thực hiện nhiệm vụ, Hồi căn cứ khi xong</a:t>
            </a:r>
            <a:endParaRPr lang="en-US" sz="1400" dirty="0"/>
          </a:p>
        </p:txBody>
      </p:sp>
      <p:sp>
        <p:nvSpPr>
          <p:cNvPr id="45" name="Shape 36"/>
          <p:cNvSpPr/>
          <p:nvPr/>
        </p:nvSpPr>
        <p:spPr>
          <a:xfrm>
            <a:off x="5968289" y="4910328"/>
            <a:ext cx="256032" cy="329184"/>
          </a:xfrm>
          <a:prstGeom prst="leftArrow">
            <a:avLst/>
          </a:prstGeom>
          <a:solidFill>
            <a:srgbClr val="8B5CF6"/>
          </a:solidFill>
          <a:ln/>
        </p:spPr>
      </p:sp>
      <p:sp>
        <p:nvSpPr>
          <p:cNvPr id="46" name="Shape 37"/>
          <p:cNvSpPr/>
          <p:nvPr/>
        </p:nvSpPr>
        <p:spPr>
          <a:xfrm>
            <a:off x="3417113" y="402336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47" name="Shape 38"/>
          <p:cNvSpPr/>
          <p:nvPr/>
        </p:nvSpPr>
        <p:spPr>
          <a:xfrm>
            <a:off x="3581705" y="4187952"/>
            <a:ext cx="457200" cy="457200"/>
          </a:xfrm>
          <a:prstGeom prst="ellipse">
            <a:avLst/>
          </a:prstGeom>
          <a:solidFill>
            <a:srgbClr val="7C3AED"/>
          </a:solidFill>
          <a:ln/>
        </p:spPr>
      </p:sp>
      <p:sp>
        <p:nvSpPr>
          <p:cNvPr id="48" name="Text 39"/>
          <p:cNvSpPr txBox="1"/>
          <p:nvPr/>
        </p:nvSpPr>
        <p:spPr>
          <a:xfrm>
            <a:off x="3581705" y="41879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7</a:t>
            </a:r>
            <a:endParaRPr lang="en-US" sz="1700" dirty="0"/>
          </a:p>
        </p:txBody>
      </p:sp>
      <p:pic>
        <p:nvPicPr>
          <p:cNvPr id="49" name="Image 6" descr="Biểu tượng minh họa">    </p:cNvPr>
          <p:cNvPicPr>
            <a:picLocks noChangeAspect="1"/>
          </p:cNvPicPr>
          <p:nvPr/>
        </p:nvPicPr>
        <p:blipFill>
          <a:blip r:embed="rId7"/>
          <a:stretch>
            <a:fillRect/>
          </a:stretch>
        </p:blipFill>
        <p:spPr>
          <a:xfrm>
            <a:off x="5035601" y="4160520"/>
            <a:ext cx="685800" cy="685800"/>
          </a:xfrm>
          <a:prstGeom prst="rect">
            <a:avLst/>
          </a:prstGeom>
        </p:spPr>
      </p:pic>
      <p:sp>
        <p:nvSpPr>
          <p:cNvPr id="50" name="Text 40"/>
          <p:cNvSpPr txBox="1"/>
          <p:nvPr/>
        </p:nvSpPr>
        <p:spPr>
          <a:xfrm>
            <a:off x="3581705" y="489204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Kết thúc</a:t>
            </a:r>
            <a:endParaRPr lang="en-US" sz="1700" dirty="0"/>
          </a:p>
        </p:txBody>
      </p:sp>
      <p:sp>
        <p:nvSpPr>
          <p:cNvPr id="51" name="Text 41"/>
          <p:cNvSpPr txBox="1"/>
          <p:nvPr/>
        </p:nvSpPr>
        <p:spPr>
          <a:xfrm>
            <a:off x="3581705" y="5349240"/>
            <a:ext cx="2212848" cy="731520"/>
          </a:xfrm>
          <a:prstGeom prst="rect">
            <a:avLst/>
          </a:prstGeom>
          <a:noFill/>
          <a:ln/>
        </p:spPr>
        <p:txBody>
          <a:bodyPr wrap="square" lIns="0" tIns="0" rIns="0" bIns="0" rtlCol="0" anchor="t"/>
          <a:lstStyle/>
          <a:p>
            <a:pPr indent="0" marL="0">
              <a:buNone/>
            </a:pPr>
            <a:r>
              <a:rPr lang="en-US" sz="1400" dirty="0">
                <a:solidFill>
                  <a:srgbClr val="2E1065"/>
                </a:solidFill>
              </a:rPr>
              <a:t>Buông bộ điều khiển, giơ tay; robot dừng</a:t>
            </a:r>
            <a:endParaRPr lang="en-US" sz="1400" dirty="0"/>
          </a:p>
        </p:txBody>
      </p:sp>
      <p:sp>
        <p:nvSpPr>
          <p:cNvPr id="52" name="Shape 42"/>
          <p:cNvSpPr/>
          <p:nvPr/>
        </p:nvSpPr>
        <p:spPr>
          <a:xfrm>
            <a:off x="3099816" y="4910328"/>
            <a:ext cx="256032" cy="329184"/>
          </a:xfrm>
          <a:prstGeom prst="leftArrow">
            <a:avLst/>
          </a:prstGeom>
          <a:solidFill>
            <a:srgbClr val="8B5CF6"/>
          </a:solidFill>
          <a:ln/>
        </p:spPr>
      </p:sp>
      <p:sp>
        <p:nvSpPr>
          <p:cNvPr id="53" name="Shape 43"/>
          <p:cNvSpPr/>
          <p:nvPr/>
        </p:nvSpPr>
        <p:spPr>
          <a:xfrm>
            <a:off x="548640" y="402336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54" name="Shape 44"/>
          <p:cNvSpPr/>
          <p:nvPr/>
        </p:nvSpPr>
        <p:spPr>
          <a:xfrm>
            <a:off x="713232" y="4187952"/>
            <a:ext cx="457200" cy="457200"/>
          </a:xfrm>
          <a:prstGeom prst="ellipse">
            <a:avLst/>
          </a:prstGeom>
          <a:solidFill>
            <a:srgbClr val="7C3AED"/>
          </a:solidFill>
          <a:ln/>
        </p:spPr>
      </p:sp>
      <p:sp>
        <p:nvSpPr>
          <p:cNvPr id="55" name="Text 45"/>
          <p:cNvSpPr txBox="1"/>
          <p:nvPr/>
        </p:nvSpPr>
        <p:spPr>
          <a:xfrm>
            <a:off x="713232" y="41879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8</a:t>
            </a:r>
            <a:endParaRPr lang="en-US" sz="1700" dirty="0"/>
          </a:p>
        </p:txBody>
      </p:sp>
      <p:pic>
        <p:nvPicPr>
          <p:cNvPr id="56" name="Image 7" descr="Biểu tượng minh họa">    </p:cNvPr>
          <p:cNvPicPr>
            <a:picLocks noChangeAspect="1"/>
          </p:cNvPicPr>
          <p:nvPr/>
        </p:nvPicPr>
        <p:blipFill>
          <a:blip r:embed="rId8"/>
          <a:stretch>
            <a:fillRect/>
          </a:stretch>
        </p:blipFill>
        <p:spPr>
          <a:xfrm>
            <a:off x="2167128" y="4160520"/>
            <a:ext cx="685800" cy="685800"/>
          </a:xfrm>
          <a:prstGeom prst="rect">
            <a:avLst/>
          </a:prstGeom>
        </p:spPr>
      </p:pic>
      <p:sp>
        <p:nvSpPr>
          <p:cNvPr id="57" name="Text 46"/>
          <p:cNvSpPr txBox="1"/>
          <p:nvPr/>
        </p:nvSpPr>
        <p:spPr>
          <a:xfrm>
            <a:off x="713232" y="489204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Kiểm đếm, ký phiếu</a:t>
            </a:r>
            <a:endParaRPr lang="en-US" sz="1700" dirty="0"/>
          </a:p>
        </p:txBody>
      </p:sp>
      <p:sp>
        <p:nvSpPr>
          <p:cNvPr id="58" name="Text 47"/>
          <p:cNvSpPr txBox="1"/>
          <p:nvPr/>
        </p:nvSpPr>
        <p:spPr>
          <a:xfrm>
            <a:off x="713232" y="5349240"/>
            <a:ext cx="2212848" cy="731520"/>
          </a:xfrm>
          <a:prstGeom prst="rect">
            <a:avLst/>
          </a:prstGeom>
          <a:noFill/>
          <a:ln/>
        </p:spPr>
        <p:txBody>
          <a:bodyPr wrap="square" lIns="0" tIns="0" rIns="0" bIns="0" rtlCol="0" anchor="t"/>
          <a:lstStyle/>
          <a:p>
            <a:pPr indent="0" marL="0">
              <a:buNone/>
            </a:pPr>
            <a:r>
              <a:rPr lang="en-US" sz="1400" dirty="0">
                <a:solidFill>
                  <a:srgbClr val="2E1065"/>
                </a:solidFill>
              </a:rPr>
              <a:t>Công bố tại chỗ, hai đội ký; trả robot</a:t>
            </a:r>
            <a:endParaRPr lang="en-US" sz="1400" dirty="0"/>
          </a:p>
        </p:txBody>
      </p:sp>
      <p:sp>
        <p:nvSpPr>
          <p:cNvPr id="59" name="Shape 48"/>
          <p:cNvSpPr/>
          <p:nvPr/>
        </p:nvSpPr>
        <p:spPr>
          <a:xfrm>
            <a:off x="10214762" y="3529584"/>
            <a:ext cx="365760" cy="438912"/>
          </a:xfrm>
          <a:prstGeom prst="downArrow">
            <a:avLst/>
          </a:prstGeom>
          <a:solidFill>
            <a:srgbClr val="8B5CF6"/>
          </a:solidFill>
          <a:ln/>
        </p:spPr>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TRÌNH TỰ</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Xuất phát đúng – Kết thúc đúng</a:t>
            </a:r>
            <a:endParaRPr lang="en-US" sz="3000" dirty="0"/>
          </a:p>
        </p:txBody>
      </p:sp>
      <p:sp>
        <p:nvSpPr>
          <p:cNvPr id="5" name="Shape 2"/>
          <p:cNvSpPr/>
          <p:nvPr/>
        </p:nvSpPr>
        <p:spPr>
          <a:xfrm>
            <a:off x="548640" y="1371600"/>
            <a:ext cx="5349240" cy="4892040"/>
          </a:xfrm>
          <a:prstGeom prst="roundRect">
            <a:avLst>
              <a:gd name="adj" fmla="val 2243"/>
            </a:avLst>
          </a:prstGeom>
          <a:solidFill>
            <a:srgbClr val="FFFFFF"/>
          </a:solidFill>
          <a:ln/>
          <a:effectLst>
            <a:outerShdw sx="100000" sy="100000" kx="0" ky="0" algn="bl" rotWithShape="0" blurRad="127000" dist="38100" dir="5400000">
              <a:srgbClr val="4C1D95">
                <a:alpha val="16000"/>
              </a:srgbClr>
            </a:outerShdw>
          </a:effectLst>
        </p:spPr>
      </p:sp>
      <p:sp>
        <p:nvSpPr>
          <p:cNvPr id="6" name="Text 3"/>
          <p:cNvSpPr txBox="1"/>
          <p:nvPr/>
        </p:nvSpPr>
        <p:spPr>
          <a:xfrm>
            <a:off x="777240" y="1463040"/>
            <a:ext cx="4937760" cy="411480"/>
          </a:xfrm>
          <a:prstGeom prst="rect">
            <a:avLst/>
          </a:prstGeom>
          <a:noFill/>
          <a:ln/>
        </p:spPr>
        <p:txBody>
          <a:bodyPr wrap="square" lIns="0" tIns="0" rIns="0" bIns="0" rtlCol="0" anchor="t"/>
          <a:lstStyle/>
          <a:p>
            <a:pPr indent="0" marL="0">
              <a:buNone/>
            </a:pPr>
            <a:r>
              <a:rPr lang="en-US" sz="1900" b="1" dirty="0">
                <a:solidFill>
                  <a:srgbClr val="7C3AED"/>
                </a:solidFill>
              </a:rPr>
              <a:t>XUẤT PHÁT ĐÚNG</a:t>
            </a:r>
            <a:endParaRPr lang="en-US" sz="1900" dirty="0"/>
          </a:p>
        </p:txBody>
      </p:sp>
      <p:sp>
        <p:nvSpPr>
          <p:cNvPr id="7" name="Shape 4"/>
          <p:cNvSpPr/>
          <p:nvPr/>
        </p:nvSpPr>
        <p:spPr>
          <a:xfrm>
            <a:off x="868680" y="2057400"/>
            <a:ext cx="2148840" cy="1691640"/>
          </a:xfrm>
          <a:prstGeom prst="rect">
            <a:avLst/>
          </a:prstGeom>
          <a:solidFill>
            <a:srgbClr val="D6B98F"/>
          </a:solidFill>
          <a:ln w="50800">
            <a:solidFill>
              <a:srgbClr val="EA580C"/>
            </a:solidFill>
            <a:prstDash val="solid"/>
          </a:ln>
        </p:spPr>
      </p:sp>
      <p:pic>
        <p:nvPicPr>
          <p:cNvPr id="8" name="Image 0" descr="Biểu tượng minh họa">    </p:cNvPr>
          <p:cNvPicPr>
            <a:picLocks noChangeAspect="1"/>
          </p:cNvPicPr>
          <p:nvPr/>
        </p:nvPicPr>
        <p:blipFill>
          <a:blip r:embed="rId1"/>
          <a:stretch>
            <a:fillRect/>
          </a:stretch>
        </p:blipFill>
        <p:spPr>
          <a:xfrm>
            <a:off x="941832" y="2130552"/>
            <a:ext cx="365760" cy="365760"/>
          </a:xfrm>
          <a:prstGeom prst="rect">
            <a:avLst/>
          </a:prstGeom>
        </p:spPr>
      </p:pic>
      <p:sp>
        <p:nvSpPr>
          <p:cNvPr id="9" name="Shape 5"/>
          <p:cNvSpPr/>
          <p:nvPr/>
        </p:nvSpPr>
        <p:spPr>
          <a:xfrm>
            <a:off x="1264432" y="2744114"/>
            <a:ext cx="175565" cy="248717"/>
          </a:xfrm>
          <a:prstGeom prst="roundRect">
            <a:avLst>
              <a:gd name="adj" fmla="val 15625"/>
            </a:avLst>
          </a:prstGeom>
          <a:solidFill>
            <a:srgbClr val="111827"/>
          </a:solidFill>
          <a:ln/>
        </p:spPr>
      </p:sp>
      <p:sp>
        <p:nvSpPr>
          <p:cNvPr id="10" name="Shape 6"/>
          <p:cNvSpPr/>
          <p:nvPr/>
        </p:nvSpPr>
        <p:spPr>
          <a:xfrm>
            <a:off x="2309043" y="2744114"/>
            <a:ext cx="175565" cy="248717"/>
          </a:xfrm>
          <a:prstGeom prst="roundRect">
            <a:avLst>
              <a:gd name="adj" fmla="val 15625"/>
            </a:avLst>
          </a:prstGeom>
          <a:solidFill>
            <a:srgbClr val="111827"/>
          </a:solidFill>
          <a:ln/>
        </p:spPr>
      </p:sp>
      <p:sp>
        <p:nvSpPr>
          <p:cNvPr id="11" name="Shape 7"/>
          <p:cNvSpPr/>
          <p:nvPr/>
        </p:nvSpPr>
        <p:spPr>
          <a:xfrm>
            <a:off x="1264432" y="3179369"/>
            <a:ext cx="175565" cy="248717"/>
          </a:xfrm>
          <a:prstGeom prst="roundRect">
            <a:avLst>
              <a:gd name="adj" fmla="val 15625"/>
            </a:avLst>
          </a:prstGeom>
          <a:solidFill>
            <a:srgbClr val="111827"/>
          </a:solidFill>
          <a:ln/>
        </p:spPr>
      </p:sp>
      <p:sp>
        <p:nvSpPr>
          <p:cNvPr id="12" name="Shape 8"/>
          <p:cNvSpPr/>
          <p:nvPr/>
        </p:nvSpPr>
        <p:spPr>
          <a:xfrm>
            <a:off x="2309043" y="3179369"/>
            <a:ext cx="175565" cy="248717"/>
          </a:xfrm>
          <a:prstGeom prst="roundRect">
            <a:avLst>
              <a:gd name="adj" fmla="val 15625"/>
            </a:avLst>
          </a:prstGeom>
          <a:solidFill>
            <a:srgbClr val="111827"/>
          </a:solidFill>
          <a:ln/>
        </p:spPr>
      </p:sp>
      <p:sp>
        <p:nvSpPr>
          <p:cNvPr id="13" name="Shape 9"/>
          <p:cNvSpPr/>
          <p:nvPr/>
        </p:nvSpPr>
        <p:spPr>
          <a:xfrm>
            <a:off x="1404884" y="2697480"/>
            <a:ext cx="939272" cy="777240"/>
          </a:xfrm>
          <a:prstGeom prst="roundRect">
            <a:avLst>
              <a:gd name="adj" fmla="val 7059"/>
            </a:avLst>
          </a:prstGeom>
          <a:solidFill>
            <a:srgbClr val="334155"/>
          </a:solidFill>
          <a:ln w="12700">
            <a:solidFill>
              <a:srgbClr val="0F172A"/>
            </a:solidFill>
            <a:prstDash val="solid"/>
          </a:ln>
        </p:spPr>
      </p:sp>
      <p:sp>
        <p:nvSpPr>
          <p:cNvPr id="14" name="Shape 10"/>
          <p:cNvSpPr/>
          <p:nvPr/>
        </p:nvSpPr>
        <p:spPr>
          <a:xfrm>
            <a:off x="1677010" y="2930652"/>
            <a:ext cx="395021" cy="233172"/>
          </a:xfrm>
          <a:prstGeom prst="roundRect">
            <a:avLst>
              <a:gd name="adj" fmla="val 11765"/>
            </a:avLst>
          </a:prstGeom>
          <a:solidFill>
            <a:srgbClr val="22D3EE"/>
          </a:solidFill>
          <a:ln/>
        </p:spPr>
      </p:sp>
      <p:sp>
        <p:nvSpPr>
          <p:cNvPr id="15" name="Shape 11"/>
          <p:cNvSpPr/>
          <p:nvPr/>
        </p:nvSpPr>
        <p:spPr>
          <a:xfrm>
            <a:off x="2388047" y="2915107"/>
            <a:ext cx="241402" cy="62179"/>
          </a:xfrm>
          <a:prstGeom prst="rect">
            <a:avLst/>
          </a:prstGeom>
          <a:solidFill>
            <a:srgbClr val="F59E0B"/>
          </a:solidFill>
          <a:ln/>
        </p:spPr>
      </p:sp>
      <p:sp>
        <p:nvSpPr>
          <p:cNvPr id="16" name="Shape 12"/>
          <p:cNvSpPr/>
          <p:nvPr/>
        </p:nvSpPr>
        <p:spPr>
          <a:xfrm>
            <a:off x="2388047" y="3194914"/>
            <a:ext cx="241402" cy="62179"/>
          </a:xfrm>
          <a:prstGeom prst="rect">
            <a:avLst/>
          </a:prstGeom>
          <a:solidFill>
            <a:srgbClr val="F59E0B"/>
          </a:solidFill>
          <a:ln/>
        </p:spPr>
      </p:sp>
      <p:pic>
        <p:nvPicPr>
          <p:cNvPr id="17" name="Image 1" descr="Biểu tượng minh họa">    </p:cNvPr>
          <p:cNvPicPr>
            <a:picLocks noChangeAspect="1"/>
          </p:cNvPicPr>
          <p:nvPr/>
        </p:nvPicPr>
        <p:blipFill>
          <a:blip r:embed="rId2"/>
          <a:stretch>
            <a:fillRect/>
          </a:stretch>
        </p:blipFill>
        <p:spPr>
          <a:xfrm>
            <a:off x="1645920" y="3840480"/>
            <a:ext cx="457200" cy="457200"/>
          </a:xfrm>
          <a:prstGeom prst="rect">
            <a:avLst/>
          </a:prstGeom>
        </p:spPr>
      </p:pic>
      <p:sp>
        <p:nvSpPr>
          <p:cNvPr id="18" name="Shape 13"/>
          <p:cNvSpPr/>
          <p:nvPr/>
        </p:nvSpPr>
        <p:spPr>
          <a:xfrm>
            <a:off x="3429000" y="2057400"/>
            <a:ext cx="2148840" cy="1691640"/>
          </a:xfrm>
          <a:prstGeom prst="rect">
            <a:avLst/>
          </a:prstGeom>
          <a:solidFill>
            <a:srgbClr val="D6B98F"/>
          </a:solidFill>
          <a:ln w="50800">
            <a:solidFill>
              <a:srgbClr val="EA580C"/>
            </a:solidFill>
            <a:prstDash val="solid"/>
          </a:ln>
        </p:spPr>
      </p:sp>
      <p:pic>
        <p:nvPicPr>
          <p:cNvPr id="19" name="Image 2" descr="Biểu tượng minh họa">    </p:cNvPr>
          <p:cNvPicPr>
            <a:picLocks noChangeAspect="1"/>
          </p:cNvPicPr>
          <p:nvPr/>
        </p:nvPicPr>
        <p:blipFill>
          <a:blip r:embed="rId3"/>
          <a:stretch>
            <a:fillRect/>
          </a:stretch>
        </p:blipFill>
        <p:spPr>
          <a:xfrm>
            <a:off x="3502152" y="2130552"/>
            <a:ext cx="365760" cy="365760"/>
          </a:xfrm>
          <a:prstGeom prst="rect">
            <a:avLst/>
          </a:prstGeom>
        </p:spPr>
      </p:pic>
      <p:sp>
        <p:nvSpPr>
          <p:cNvPr id="20" name="Shape 14"/>
          <p:cNvSpPr/>
          <p:nvPr/>
        </p:nvSpPr>
        <p:spPr>
          <a:xfrm>
            <a:off x="5013472" y="2652674"/>
            <a:ext cx="175565" cy="248717"/>
          </a:xfrm>
          <a:prstGeom prst="roundRect">
            <a:avLst>
              <a:gd name="adj" fmla="val 15625"/>
            </a:avLst>
          </a:prstGeom>
          <a:solidFill>
            <a:srgbClr val="111827"/>
          </a:solidFill>
          <a:ln/>
        </p:spPr>
      </p:sp>
      <p:sp>
        <p:nvSpPr>
          <p:cNvPr id="21" name="Shape 15"/>
          <p:cNvSpPr/>
          <p:nvPr/>
        </p:nvSpPr>
        <p:spPr>
          <a:xfrm>
            <a:off x="6058083" y="2652674"/>
            <a:ext cx="175565" cy="248717"/>
          </a:xfrm>
          <a:prstGeom prst="roundRect">
            <a:avLst>
              <a:gd name="adj" fmla="val 15625"/>
            </a:avLst>
          </a:prstGeom>
          <a:solidFill>
            <a:srgbClr val="111827"/>
          </a:solidFill>
          <a:ln/>
        </p:spPr>
      </p:sp>
      <p:sp>
        <p:nvSpPr>
          <p:cNvPr id="22" name="Shape 16"/>
          <p:cNvSpPr/>
          <p:nvPr/>
        </p:nvSpPr>
        <p:spPr>
          <a:xfrm>
            <a:off x="5013472" y="3087929"/>
            <a:ext cx="175565" cy="248717"/>
          </a:xfrm>
          <a:prstGeom prst="roundRect">
            <a:avLst>
              <a:gd name="adj" fmla="val 15625"/>
            </a:avLst>
          </a:prstGeom>
          <a:solidFill>
            <a:srgbClr val="111827"/>
          </a:solidFill>
          <a:ln/>
        </p:spPr>
      </p:sp>
      <p:sp>
        <p:nvSpPr>
          <p:cNvPr id="23" name="Shape 17"/>
          <p:cNvSpPr/>
          <p:nvPr/>
        </p:nvSpPr>
        <p:spPr>
          <a:xfrm>
            <a:off x="6058083" y="3087929"/>
            <a:ext cx="175565" cy="248717"/>
          </a:xfrm>
          <a:prstGeom prst="roundRect">
            <a:avLst>
              <a:gd name="adj" fmla="val 15625"/>
            </a:avLst>
          </a:prstGeom>
          <a:solidFill>
            <a:srgbClr val="111827"/>
          </a:solidFill>
          <a:ln/>
        </p:spPr>
      </p:sp>
      <p:sp>
        <p:nvSpPr>
          <p:cNvPr id="24" name="Shape 18"/>
          <p:cNvSpPr/>
          <p:nvPr/>
        </p:nvSpPr>
        <p:spPr>
          <a:xfrm>
            <a:off x="5153924" y="2606040"/>
            <a:ext cx="939272" cy="777240"/>
          </a:xfrm>
          <a:prstGeom prst="roundRect">
            <a:avLst>
              <a:gd name="adj" fmla="val 7059"/>
            </a:avLst>
          </a:prstGeom>
          <a:solidFill>
            <a:srgbClr val="334155"/>
          </a:solidFill>
          <a:ln w="12700">
            <a:solidFill>
              <a:srgbClr val="0F172A"/>
            </a:solidFill>
            <a:prstDash val="solid"/>
          </a:ln>
        </p:spPr>
      </p:sp>
      <p:sp>
        <p:nvSpPr>
          <p:cNvPr id="25" name="Shape 19"/>
          <p:cNvSpPr/>
          <p:nvPr/>
        </p:nvSpPr>
        <p:spPr>
          <a:xfrm>
            <a:off x="5426050" y="2839212"/>
            <a:ext cx="395021" cy="233172"/>
          </a:xfrm>
          <a:prstGeom prst="roundRect">
            <a:avLst>
              <a:gd name="adj" fmla="val 11765"/>
            </a:avLst>
          </a:prstGeom>
          <a:solidFill>
            <a:srgbClr val="22D3EE"/>
          </a:solidFill>
          <a:ln/>
        </p:spPr>
      </p:sp>
      <p:sp>
        <p:nvSpPr>
          <p:cNvPr id="26" name="Shape 20"/>
          <p:cNvSpPr/>
          <p:nvPr/>
        </p:nvSpPr>
        <p:spPr>
          <a:xfrm>
            <a:off x="6137087" y="2823667"/>
            <a:ext cx="241402" cy="62179"/>
          </a:xfrm>
          <a:prstGeom prst="rect">
            <a:avLst/>
          </a:prstGeom>
          <a:solidFill>
            <a:srgbClr val="F59E0B"/>
          </a:solidFill>
          <a:ln/>
        </p:spPr>
      </p:sp>
      <p:sp>
        <p:nvSpPr>
          <p:cNvPr id="27" name="Shape 21"/>
          <p:cNvSpPr/>
          <p:nvPr/>
        </p:nvSpPr>
        <p:spPr>
          <a:xfrm>
            <a:off x="6137087" y="3103474"/>
            <a:ext cx="241402" cy="62179"/>
          </a:xfrm>
          <a:prstGeom prst="rect">
            <a:avLst/>
          </a:prstGeom>
          <a:solidFill>
            <a:srgbClr val="F59E0B"/>
          </a:solidFill>
          <a:ln/>
        </p:spPr>
      </p:sp>
      <p:pic>
        <p:nvPicPr>
          <p:cNvPr id="28" name="Image 3" descr="Biểu tượng minh họa">    </p:cNvPr>
          <p:cNvPicPr>
            <a:picLocks noChangeAspect="1"/>
          </p:cNvPicPr>
          <p:nvPr/>
        </p:nvPicPr>
        <p:blipFill>
          <a:blip r:embed="rId4"/>
          <a:stretch>
            <a:fillRect/>
          </a:stretch>
        </p:blipFill>
        <p:spPr>
          <a:xfrm>
            <a:off x="4206240" y="3840480"/>
            <a:ext cx="457200" cy="457200"/>
          </a:xfrm>
          <a:prstGeom prst="rect">
            <a:avLst/>
          </a:prstGeom>
        </p:spPr>
      </p:pic>
      <p:sp>
        <p:nvSpPr>
          <p:cNvPr id="29" name="Text 22"/>
          <p:cNvSpPr txBox="1"/>
          <p:nvPr/>
        </p:nvSpPr>
        <p:spPr>
          <a:xfrm>
            <a:off x="777240" y="4343400"/>
            <a:ext cx="4937760" cy="1828800"/>
          </a:xfrm>
          <a:prstGeom prst="rect">
            <a:avLst/>
          </a:prstGeom>
          <a:noFill/>
          <a:ln/>
        </p:spPr>
        <p:txBody>
          <a:bodyPr wrap="square" lIns="0" tIns="0" rIns="0" bIns="0" rtlCol="0" anchor="t"/>
          <a:lstStyle/>
          <a:p>
            <a:pPr indent="0" marL="0">
              <a:buNone/>
            </a:pPr>
            <a:r>
              <a:rPr lang="en-US" sz="1500" dirty="0">
                <a:solidFill>
                  <a:srgbClr val="2E1065"/>
                </a:solidFill>
              </a:rPr>
              <a:t>Tại thời điểm bắt đầu, </a:t>
            </a:r>
            <a:pPr indent="0" marL="0">
              <a:buNone/>
            </a:pPr>
            <a:r>
              <a:rPr lang="en-US" sz="1500" b="1" dirty="0">
                <a:solidFill>
                  <a:srgbClr val="2E1065"/>
                </a:solidFill>
              </a:rPr>
              <a:t>hình chiếu thẳng đứng của TOÀN BỘ robot nằm trong vạch biên</a:t>
            </a:r>
            <a:pPr indent="0" marL="0">
              <a:buNone/>
            </a:pPr>
            <a:r>
              <a:rPr lang="en-US" sz="1500" dirty="0">
                <a:solidFill>
                  <a:srgbClr val="2E1065"/>
                </a:solidFill>
              </a:rPr>
              <a:t> Khu Xuất phát – Căn cứ và robot đứng yên. Robot chưa đúng vị trí → trọng tài chưa phát lệnh bắt đầu.</a:t>
            </a:r>
            <a:endParaRPr lang="en-US" sz="1500" dirty="0"/>
          </a:p>
        </p:txBody>
      </p:sp>
      <p:sp>
        <p:nvSpPr>
          <p:cNvPr id="30" name="Text 23"/>
          <p:cNvSpPr txBox="1"/>
          <p:nvPr/>
        </p:nvSpPr>
        <p:spPr>
          <a:xfrm>
            <a:off x="6172200" y="1371600"/>
            <a:ext cx="5486400" cy="411480"/>
          </a:xfrm>
          <a:prstGeom prst="rect">
            <a:avLst/>
          </a:prstGeom>
          <a:noFill/>
          <a:ln/>
        </p:spPr>
        <p:txBody>
          <a:bodyPr wrap="square" lIns="0" tIns="0" rIns="0" bIns="0" rtlCol="0" anchor="t"/>
          <a:lstStyle/>
          <a:p>
            <a:pPr indent="0" marL="0">
              <a:buNone/>
            </a:pPr>
            <a:r>
              <a:rPr lang="en-US" sz="1900" b="1" dirty="0">
                <a:solidFill>
                  <a:srgbClr val="7C3AED"/>
                </a:solidFill>
              </a:rPr>
              <a:t>LƯỢT ĐẤU KẾT THÚC KHI</a:t>
            </a:r>
            <a:endParaRPr lang="en-US" sz="1900" dirty="0"/>
          </a:p>
        </p:txBody>
      </p:sp>
      <p:sp>
        <p:nvSpPr>
          <p:cNvPr id="31" name="Shape 24"/>
          <p:cNvSpPr/>
          <p:nvPr/>
        </p:nvSpPr>
        <p:spPr>
          <a:xfrm>
            <a:off x="6172200" y="1874520"/>
            <a:ext cx="5468112" cy="868680"/>
          </a:xfrm>
          <a:prstGeom prst="roundRect">
            <a:avLst>
              <a:gd name="adj" fmla="val 12632"/>
            </a:avLst>
          </a:prstGeom>
          <a:solidFill>
            <a:srgbClr val="FFFFFF"/>
          </a:solidFill>
          <a:ln/>
          <a:effectLst>
            <a:outerShdw sx="100000" sy="100000" kx="0" ky="0" algn="bl" rotWithShape="0" blurRad="127000" dist="38100" dir="5400000">
              <a:srgbClr val="4C1D95">
                <a:alpha val="16000"/>
              </a:srgbClr>
            </a:outerShdw>
          </a:effectLst>
        </p:spPr>
      </p:sp>
      <p:sp>
        <p:nvSpPr>
          <p:cNvPr id="32" name="Shape 25"/>
          <p:cNvSpPr/>
          <p:nvPr/>
        </p:nvSpPr>
        <p:spPr>
          <a:xfrm>
            <a:off x="6309360" y="2057400"/>
            <a:ext cx="502920" cy="502920"/>
          </a:xfrm>
          <a:prstGeom prst="ellipse">
            <a:avLst/>
          </a:prstGeom>
          <a:solidFill>
            <a:srgbClr val="7C3AED"/>
          </a:solidFill>
          <a:ln/>
        </p:spPr>
      </p:sp>
      <p:sp>
        <p:nvSpPr>
          <p:cNvPr id="33" name="Text 26"/>
          <p:cNvSpPr txBox="1"/>
          <p:nvPr/>
        </p:nvSpPr>
        <p:spPr>
          <a:xfrm>
            <a:off x="63093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a</a:t>
            </a:r>
            <a:endParaRPr lang="en-US" sz="1800" dirty="0"/>
          </a:p>
        </p:txBody>
      </p:sp>
      <p:pic>
        <p:nvPicPr>
          <p:cNvPr id="34" name="Image 4" descr="Biểu tượng minh họa">    </p:cNvPr>
          <p:cNvPicPr>
            <a:picLocks noChangeAspect="1"/>
          </p:cNvPicPr>
          <p:nvPr/>
        </p:nvPicPr>
        <p:blipFill>
          <a:blip r:embed="rId5"/>
          <a:stretch>
            <a:fillRect/>
          </a:stretch>
        </p:blipFill>
        <p:spPr>
          <a:xfrm>
            <a:off x="6949440" y="2029968"/>
            <a:ext cx="548640" cy="548640"/>
          </a:xfrm>
          <a:prstGeom prst="rect">
            <a:avLst/>
          </a:prstGeom>
        </p:spPr>
      </p:pic>
      <p:sp>
        <p:nvSpPr>
          <p:cNvPr id="35" name="Text 27"/>
          <p:cNvSpPr txBox="1"/>
          <p:nvPr/>
        </p:nvSpPr>
        <p:spPr>
          <a:xfrm>
            <a:off x="7635240" y="1874520"/>
            <a:ext cx="3931920" cy="868680"/>
          </a:xfrm>
          <a:prstGeom prst="rect">
            <a:avLst/>
          </a:prstGeom>
          <a:noFill/>
          <a:ln/>
        </p:spPr>
        <p:txBody>
          <a:bodyPr wrap="square" lIns="0" tIns="0" rIns="0" bIns="0" rtlCol="0" anchor="ctr"/>
          <a:lstStyle/>
          <a:p>
            <a:pPr indent="0" marL="0">
              <a:buNone/>
            </a:pPr>
            <a:r>
              <a:rPr lang="en-US" sz="1500" dirty="0">
                <a:solidFill>
                  <a:srgbClr val="2E1065"/>
                </a:solidFill>
              </a:rPr>
              <a:t>Hết 03 phút thi đấu – hồi còi kết thúc</a:t>
            </a:r>
            <a:endParaRPr lang="en-US" sz="1500" dirty="0"/>
          </a:p>
        </p:txBody>
      </p:sp>
      <p:sp>
        <p:nvSpPr>
          <p:cNvPr id="36" name="Shape 28"/>
          <p:cNvSpPr/>
          <p:nvPr/>
        </p:nvSpPr>
        <p:spPr>
          <a:xfrm>
            <a:off x="6172200" y="2862072"/>
            <a:ext cx="5468112" cy="868680"/>
          </a:xfrm>
          <a:prstGeom prst="roundRect">
            <a:avLst>
              <a:gd name="adj" fmla="val 12632"/>
            </a:avLst>
          </a:prstGeom>
          <a:solidFill>
            <a:srgbClr val="FFFFFF"/>
          </a:solidFill>
          <a:ln/>
          <a:effectLst>
            <a:outerShdw sx="100000" sy="100000" kx="0" ky="0" algn="bl" rotWithShape="0" blurRad="127000" dist="38100" dir="5400000">
              <a:srgbClr val="4C1D95">
                <a:alpha val="16000"/>
              </a:srgbClr>
            </a:outerShdw>
          </a:effectLst>
        </p:spPr>
      </p:sp>
      <p:sp>
        <p:nvSpPr>
          <p:cNvPr id="37" name="Shape 29"/>
          <p:cNvSpPr/>
          <p:nvPr/>
        </p:nvSpPr>
        <p:spPr>
          <a:xfrm>
            <a:off x="6309360" y="3044952"/>
            <a:ext cx="502920" cy="502920"/>
          </a:xfrm>
          <a:prstGeom prst="ellipse">
            <a:avLst/>
          </a:prstGeom>
          <a:solidFill>
            <a:srgbClr val="7C3AED"/>
          </a:solidFill>
          <a:ln/>
        </p:spPr>
      </p:sp>
      <p:sp>
        <p:nvSpPr>
          <p:cNvPr id="38" name="Text 30"/>
          <p:cNvSpPr txBox="1"/>
          <p:nvPr/>
        </p:nvSpPr>
        <p:spPr>
          <a:xfrm>
            <a:off x="6309360" y="30449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b</a:t>
            </a:r>
            <a:endParaRPr lang="en-US" sz="1800" dirty="0"/>
          </a:p>
        </p:txBody>
      </p:sp>
      <p:pic>
        <p:nvPicPr>
          <p:cNvPr id="39" name="Image 5" descr="Biểu tượng minh họa">    </p:cNvPr>
          <p:cNvPicPr>
            <a:picLocks noChangeAspect="1"/>
          </p:cNvPicPr>
          <p:nvPr/>
        </p:nvPicPr>
        <p:blipFill>
          <a:blip r:embed="rId6"/>
          <a:stretch>
            <a:fillRect/>
          </a:stretch>
        </p:blipFill>
        <p:spPr>
          <a:xfrm>
            <a:off x="6949440" y="3017520"/>
            <a:ext cx="548640" cy="548640"/>
          </a:xfrm>
          <a:prstGeom prst="rect">
            <a:avLst/>
          </a:prstGeom>
        </p:spPr>
      </p:pic>
      <p:sp>
        <p:nvSpPr>
          <p:cNvPr id="40" name="Text 31"/>
          <p:cNvSpPr txBox="1"/>
          <p:nvPr/>
        </p:nvSpPr>
        <p:spPr>
          <a:xfrm>
            <a:off x="7635240" y="2862072"/>
            <a:ext cx="3931920" cy="868680"/>
          </a:xfrm>
          <a:prstGeom prst="rect">
            <a:avLst/>
          </a:prstGeom>
          <a:noFill/>
          <a:ln/>
        </p:spPr>
        <p:txBody>
          <a:bodyPr wrap="square" lIns="0" tIns="0" rIns="0" bIns="0" rtlCol="0" anchor="ctr"/>
          <a:lstStyle/>
          <a:p>
            <a:pPr indent="0" marL="0">
              <a:buNone/>
            </a:pPr>
            <a:r>
              <a:rPr lang="en-US" sz="1500" dirty="0">
                <a:solidFill>
                  <a:srgbClr val="2E1065"/>
                </a:solidFill>
              </a:rPr>
              <a:t>Cả hai đội đã Hồi căn cứ hợp lệ</a:t>
            </a:r>
            <a:endParaRPr lang="en-US" sz="1500" dirty="0"/>
          </a:p>
        </p:txBody>
      </p:sp>
      <p:sp>
        <p:nvSpPr>
          <p:cNvPr id="41" name="Shape 32"/>
          <p:cNvSpPr/>
          <p:nvPr/>
        </p:nvSpPr>
        <p:spPr>
          <a:xfrm>
            <a:off x="6172200" y="3849624"/>
            <a:ext cx="5468112" cy="868680"/>
          </a:xfrm>
          <a:prstGeom prst="roundRect">
            <a:avLst>
              <a:gd name="adj" fmla="val 12632"/>
            </a:avLst>
          </a:prstGeom>
          <a:solidFill>
            <a:srgbClr val="FFFFFF"/>
          </a:solidFill>
          <a:ln/>
          <a:effectLst>
            <a:outerShdw sx="100000" sy="100000" kx="0" ky="0" algn="bl" rotWithShape="0" blurRad="127000" dist="38100" dir="5400000">
              <a:srgbClr val="4C1D95">
                <a:alpha val="16000"/>
              </a:srgbClr>
            </a:outerShdw>
          </a:effectLst>
        </p:spPr>
      </p:sp>
      <p:sp>
        <p:nvSpPr>
          <p:cNvPr id="42" name="Shape 33"/>
          <p:cNvSpPr/>
          <p:nvPr/>
        </p:nvSpPr>
        <p:spPr>
          <a:xfrm>
            <a:off x="6309360" y="4032504"/>
            <a:ext cx="502920" cy="502920"/>
          </a:xfrm>
          <a:prstGeom prst="ellipse">
            <a:avLst/>
          </a:prstGeom>
          <a:solidFill>
            <a:srgbClr val="7C3AED"/>
          </a:solidFill>
          <a:ln/>
        </p:spPr>
      </p:sp>
      <p:sp>
        <p:nvSpPr>
          <p:cNvPr id="43" name="Text 34"/>
          <p:cNvSpPr txBox="1"/>
          <p:nvPr/>
        </p:nvSpPr>
        <p:spPr>
          <a:xfrm>
            <a:off x="6309360" y="403250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c</a:t>
            </a:r>
            <a:endParaRPr lang="en-US" sz="1800" dirty="0"/>
          </a:p>
        </p:txBody>
      </p:sp>
      <p:pic>
        <p:nvPicPr>
          <p:cNvPr id="44" name="Image 6" descr="Biểu tượng minh họa">    </p:cNvPr>
          <p:cNvPicPr>
            <a:picLocks noChangeAspect="1"/>
          </p:cNvPicPr>
          <p:nvPr/>
        </p:nvPicPr>
        <p:blipFill>
          <a:blip r:embed="rId7"/>
          <a:stretch>
            <a:fillRect/>
          </a:stretch>
        </p:blipFill>
        <p:spPr>
          <a:xfrm>
            <a:off x="6949440" y="4005072"/>
            <a:ext cx="548640" cy="548640"/>
          </a:xfrm>
          <a:prstGeom prst="rect">
            <a:avLst/>
          </a:prstGeom>
        </p:spPr>
      </p:pic>
      <p:sp>
        <p:nvSpPr>
          <p:cNvPr id="45" name="Text 35"/>
          <p:cNvSpPr txBox="1"/>
          <p:nvPr/>
        </p:nvSpPr>
        <p:spPr>
          <a:xfrm>
            <a:off x="7635240" y="3849624"/>
            <a:ext cx="3931920" cy="868680"/>
          </a:xfrm>
          <a:prstGeom prst="rect">
            <a:avLst/>
          </a:prstGeom>
          <a:noFill/>
          <a:ln/>
        </p:spPr>
        <p:txBody>
          <a:bodyPr wrap="square" lIns="0" tIns="0" rIns="0" bIns="0" rtlCol="0" anchor="ctr"/>
          <a:lstStyle/>
          <a:p>
            <a:pPr indent="0" marL="0">
              <a:buNone/>
            </a:pPr>
            <a:r>
              <a:rPr lang="en-US" sz="1500" dirty="0">
                <a:solidFill>
                  <a:srgbClr val="2E1065"/>
                </a:solidFill>
              </a:rPr>
              <a:t>Toàn bộ khối đã nằm trong hai Khu Căn cứ VÀ một đội đã Hồi căn cứ → đội còn lại có tối đa 15 giây để Hồi căn cứ</a:t>
            </a:r>
            <a:endParaRPr lang="en-US" sz="1500" dirty="0"/>
          </a:p>
        </p:txBody>
      </p:sp>
      <p:sp>
        <p:nvSpPr>
          <p:cNvPr id="46" name="Shape 36"/>
          <p:cNvSpPr/>
          <p:nvPr/>
        </p:nvSpPr>
        <p:spPr>
          <a:xfrm>
            <a:off x="6172200" y="4937760"/>
            <a:ext cx="5468112" cy="1325880"/>
          </a:xfrm>
          <a:prstGeom prst="roundRect">
            <a:avLst>
              <a:gd name="adj" fmla="val 8276"/>
            </a:avLst>
          </a:prstGeom>
          <a:solidFill>
            <a:srgbClr val="EA580C"/>
          </a:solidFill>
          <a:ln/>
          <a:effectLst>
            <a:outerShdw sx="100000" sy="100000" kx="0" ky="0" algn="bl" rotWithShape="0" blurRad="127000" dist="38100" dir="5400000">
              <a:srgbClr val="4C1D95">
                <a:alpha val="16000"/>
              </a:srgbClr>
            </a:outerShdw>
          </a:effectLst>
        </p:spPr>
      </p:sp>
      <p:pic>
        <p:nvPicPr>
          <p:cNvPr id="47" name="Image 7" descr="Biểu tượng minh họa">    </p:cNvPr>
          <p:cNvPicPr>
            <a:picLocks noChangeAspect="1"/>
          </p:cNvPicPr>
          <p:nvPr/>
        </p:nvPicPr>
        <p:blipFill>
          <a:blip r:embed="rId8"/>
          <a:stretch>
            <a:fillRect/>
          </a:stretch>
        </p:blipFill>
        <p:spPr>
          <a:xfrm>
            <a:off x="6355080" y="5120640"/>
            <a:ext cx="868680" cy="868680"/>
          </a:xfrm>
          <a:prstGeom prst="rect">
            <a:avLst/>
          </a:prstGeom>
        </p:spPr>
      </p:pic>
      <p:sp>
        <p:nvSpPr>
          <p:cNvPr id="48" name="Text 37"/>
          <p:cNvSpPr txBox="1"/>
          <p:nvPr/>
        </p:nvSpPr>
        <p:spPr>
          <a:xfrm>
            <a:off x="7360920" y="4983480"/>
            <a:ext cx="4160520" cy="1234440"/>
          </a:xfrm>
          <a:prstGeom prst="rect">
            <a:avLst/>
          </a:prstGeom>
          <a:noFill/>
          <a:ln/>
        </p:spPr>
        <p:txBody>
          <a:bodyPr wrap="square" lIns="0" tIns="0" rIns="0" bIns="0" rtlCol="0" anchor="ctr"/>
          <a:lstStyle/>
          <a:p>
            <a:pPr indent="0" marL="0">
              <a:buNone/>
            </a:pPr>
            <a:r>
              <a:rPr lang="en-US" sz="1500" b="1" dirty="0">
                <a:solidFill>
                  <a:srgbClr val="FFFFFF"/>
                </a:solidFill>
              </a:rPr>
              <a:t>Khi kết thúc: buông bộ điều khiển, giơ tay lên cao; robot dừng hoạt động. </a:t>
            </a:r>
            <a:pPr indent="0" marL="0">
              <a:buNone/>
            </a:pPr>
            <a:r>
              <a:rPr lang="en-US" sz="1500" dirty="0">
                <a:solidFill>
                  <a:srgbClr val="FFFFFF"/>
                </a:solidFill>
              </a:rPr>
              <a:t>Mọi thay đổi trên sa bàn sau thời điểm này KHÔNG được tính.</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05</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5</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Nhiệm vụ &amp; cách tính điểm</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Mở khóa Trạm Trung tâm, khối hợp lệ, Hồi căn cứ, điểm cộng và điểm trừ</a:t>
            </a:r>
            <a:endParaRPr lang="en-US" sz="1800" dirty="0"/>
          </a:p>
        </p:txBody>
      </p:sp>
      <p:sp>
        <p:nvSpPr>
          <p:cNvPr id="6" name="Shape 4"/>
          <p:cNvSpPr/>
          <p:nvPr/>
        </p:nvSpPr>
        <p:spPr>
          <a:xfrm>
            <a:off x="7543800" y="1143000"/>
            <a:ext cx="4023360" cy="4023360"/>
          </a:xfrm>
          <a:prstGeom prst="ellipse">
            <a:avLst/>
          </a:prstGeom>
          <a:solidFill>
            <a:srgbClr val="FFFFFF">
              <a:alpha val="12000"/>
            </a:srgbClr>
          </a:solidFill>
          <a:ln/>
        </p:spPr>
      </p:sp>
      <p:sp>
        <p:nvSpPr>
          <p:cNvPr id="7" name="Shape 5"/>
          <p:cNvSpPr/>
          <p:nvPr/>
        </p:nvSpPr>
        <p:spPr>
          <a:xfrm>
            <a:off x="8001000" y="1600200"/>
            <a:ext cx="3108960" cy="3108960"/>
          </a:xfrm>
          <a:prstGeom prst="ellipse">
            <a:avLst/>
          </a:prstGeom>
          <a:solidFill>
            <a:srgbClr val="FFFFFF">
              <a:alpha val="20000"/>
            </a:srgbClr>
          </a:solidFill>
          <a:ln/>
        </p:spPr>
      </p:sp>
      <p:pic>
        <p:nvPicPr>
          <p:cNvPr id="8" name="Image 0" descr="Biểu tượng minh họa">    </p:cNvPr>
          <p:cNvPicPr>
            <a:picLocks noChangeAspect="1"/>
          </p:cNvPicPr>
          <p:nvPr/>
        </p:nvPicPr>
        <p:blipFill>
          <a:blip r:embed="rId1"/>
          <a:stretch>
            <a:fillRect/>
          </a:stretch>
        </p:blipFill>
        <p:spPr>
          <a:xfrm>
            <a:off x="8412480" y="2011680"/>
            <a:ext cx="2286000" cy="22860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NHIỆM VỤ</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05 nhiệm vụ của Bảng Tiểu học</a:t>
            </a:r>
            <a:endParaRPr lang="en-US" sz="3000" dirty="0"/>
          </a:p>
        </p:txBody>
      </p:sp>
      <p:sp>
        <p:nvSpPr>
          <p:cNvPr id="5" name="Shape 2"/>
          <p:cNvSpPr/>
          <p:nvPr/>
        </p:nvSpPr>
        <p:spPr>
          <a:xfrm>
            <a:off x="548640" y="1325880"/>
            <a:ext cx="11091672" cy="640080"/>
          </a:xfrm>
          <a:prstGeom prst="roundRect">
            <a:avLst>
              <a:gd name="adj" fmla="val 50000"/>
            </a:avLst>
          </a:prstGeom>
          <a:solidFill>
            <a:srgbClr val="7C3AED"/>
          </a:solidFill>
          <a:ln/>
        </p:spPr>
      </p:sp>
      <p:pic>
        <p:nvPicPr>
          <p:cNvPr id="6" name="Image 0" descr="Biểu tượng minh họa">    </p:cNvPr>
          <p:cNvPicPr>
            <a:picLocks noChangeAspect="1"/>
          </p:cNvPicPr>
          <p:nvPr/>
        </p:nvPicPr>
        <p:blipFill>
          <a:blip r:embed="rId1"/>
          <a:stretch>
            <a:fillRect/>
          </a:stretch>
        </p:blipFill>
        <p:spPr>
          <a:xfrm>
            <a:off x="731520" y="1371600"/>
            <a:ext cx="548640" cy="548640"/>
          </a:xfrm>
          <a:prstGeom prst="rect">
            <a:avLst/>
          </a:prstGeom>
        </p:spPr>
      </p:pic>
      <p:sp>
        <p:nvSpPr>
          <p:cNvPr id="7" name="Text 3"/>
          <p:cNvSpPr txBox="1"/>
          <p:nvPr/>
        </p:nvSpPr>
        <p:spPr>
          <a:xfrm>
            <a:off x="1417320" y="1325880"/>
            <a:ext cx="10058400" cy="640080"/>
          </a:xfrm>
          <a:prstGeom prst="rect">
            <a:avLst/>
          </a:prstGeom>
          <a:noFill/>
          <a:ln/>
        </p:spPr>
        <p:txBody>
          <a:bodyPr wrap="square" lIns="0" tIns="0" rIns="0" bIns="0" rtlCol="0" anchor="ctr"/>
          <a:lstStyle/>
          <a:p>
            <a:pPr indent="0" marL="0">
              <a:buNone/>
            </a:pPr>
            <a:r>
              <a:rPr lang="en-US" sz="1800" b="1" i="1" dirty="0">
                <a:solidFill>
                  <a:srgbClr val="FFFFFF"/>
                </a:solidFill>
              </a:rPr>
              <a:t>“Chinh phục Vũ trụ cùng Robot AI – Khai thác tài nguyên hành tinh”</a:t>
            </a:r>
            <a:endParaRPr lang="en-US" sz="1800" dirty="0"/>
          </a:p>
        </p:txBody>
      </p:sp>
      <p:sp>
        <p:nvSpPr>
          <p:cNvPr id="8" name="Shape 4"/>
          <p:cNvSpPr/>
          <p:nvPr/>
        </p:nvSpPr>
        <p:spPr>
          <a:xfrm>
            <a:off x="548640" y="2240280"/>
            <a:ext cx="2035454" cy="274320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9" name="Shape 5"/>
          <p:cNvSpPr/>
          <p:nvPr/>
        </p:nvSpPr>
        <p:spPr>
          <a:xfrm>
            <a:off x="685800" y="2377440"/>
            <a:ext cx="685800" cy="329184"/>
          </a:xfrm>
          <a:prstGeom prst="roundRect">
            <a:avLst>
              <a:gd name="adj" fmla="val 50000"/>
            </a:avLst>
          </a:prstGeom>
          <a:solidFill>
            <a:srgbClr val="EA580C"/>
          </a:solidFill>
          <a:ln/>
        </p:spPr>
      </p:sp>
      <p:sp>
        <p:nvSpPr>
          <p:cNvPr id="10" name="Text 6"/>
          <p:cNvSpPr txBox="1"/>
          <p:nvPr/>
        </p:nvSpPr>
        <p:spPr>
          <a:xfrm>
            <a:off x="685800" y="23774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NV1</a:t>
            </a:r>
            <a:endParaRPr lang="en-US" sz="1300" dirty="0"/>
          </a:p>
        </p:txBody>
      </p:sp>
      <p:sp>
        <p:nvSpPr>
          <p:cNvPr id="11" name="Shape 7"/>
          <p:cNvSpPr/>
          <p:nvPr/>
        </p:nvSpPr>
        <p:spPr>
          <a:xfrm>
            <a:off x="1715414" y="2350008"/>
            <a:ext cx="731520" cy="731520"/>
          </a:xfrm>
          <a:prstGeom prst="ellipse">
            <a:avLst/>
          </a:prstGeom>
          <a:solidFill>
            <a:srgbClr val="FFEDD5"/>
          </a:solidFill>
          <a:ln/>
        </p:spPr>
      </p:sp>
      <p:pic>
        <p:nvPicPr>
          <p:cNvPr id="12" name="Image 1" descr="Biểu tượng minh họa">    </p:cNvPr>
          <p:cNvPicPr>
            <a:picLocks noChangeAspect="1"/>
          </p:cNvPicPr>
          <p:nvPr/>
        </p:nvPicPr>
        <p:blipFill>
          <a:blip r:embed="rId2"/>
          <a:stretch>
            <a:fillRect/>
          </a:stretch>
        </p:blipFill>
        <p:spPr>
          <a:xfrm>
            <a:off x="1847088" y="2481682"/>
            <a:ext cx="468173" cy="468173"/>
          </a:xfrm>
          <a:prstGeom prst="rect">
            <a:avLst/>
          </a:prstGeom>
        </p:spPr>
      </p:pic>
      <p:sp>
        <p:nvSpPr>
          <p:cNvPr id="13" name="Text 8"/>
          <p:cNvSpPr txBox="1"/>
          <p:nvPr/>
        </p:nvSpPr>
        <p:spPr>
          <a:xfrm>
            <a:off x="685800" y="3081528"/>
            <a:ext cx="1761134" cy="384048"/>
          </a:xfrm>
          <a:prstGeom prst="rect">
            <a:avLst/>
          </a:prstGeom>
          <a:noFill/>
          <a:ln/>
        </p:spPr>
        <p:txBody>
          <a:bodyPr wrap="square" lIns="0" tIns="0" rIns="0" bIns="0" rtlCol="0" anchor="t"/>
          <a:lstStyle/>
          <a:p>
            <a:pPr indent="0" marL="0">
              <a:buNone/>
            </a:pPr>
            <a:r>
              <a:rPr lang="en-US" sz="1600" b="1" dirty="0">
                <a:solidFill>
                  <a:srgbClr val="EA580C"/>
                </a:solidFill>
              </a:rPr>
              <a:t>Thu gom khối Dầu</a:t>
            </a:r>
            <a:endParaRPr lang="en-US" sz="1600" dirty="0"/>
          </a:p>
        </p:txBody>
      </p:sp>
      <p:sp>
        <p:nvSpPr>
          <p:cNvPr id="14" name="Text 9"/>
          <p:cNvSpPr txBox="1"/>
          <p:nvPr/>
        </p:nvSpPr>
        <p:spPr>
          <a:xfrm>
            <a:off x="685800" y="3447288"/>
            <a:ext cx="1761134" cy="548640"/>
          </a:xfrm>
          <a:prstGeom prst="rect">
            <a:avLst/>
          </a:prstGeom>
          <a:noFill/>
          <a:ln/>
        </p:spPr>
        <p:txBody>
          <a:bodyPr wrap="square" lIns="0" tIns="0" rIns="0" bIns="0" rtlCol="0" anchor="t"/>
          <a:lstStyle/>
          <a:p>
            <a:pPr indent="0" marL="0">
              <a:buNone/>
            </a:pPr>
            <a:r>
              <a:rPr lang="en-US" sz="1300" dirty="0">
                <a:solidFill>
                  <a:srgbClr val="5B4B8A"/>
                </a:solidFill>
              </a:rPr>
              <a:t>Không cần mở khóa · 08 khối</a:t>
            </a:r>
            <a:endParaRPr lang="en-US" sz="1300" dirty="0"/>
          </a:p>
        </p:txBody>
      </p:sp>
      <p:sp>
        <p:nvSpPr>
          <p:cNvPr id="15" name="Text 10"/>
          <p:cNvSpPr txBox="1"/>
          <p:nvPr/>
        </p:nvSpPr>
        <p:spPr>
          <a:xfrm>
            <a:off x="685800" y="4297680"/>
            <a:ext cx="1761134" cy="548640"/>
          </a:xfrm>
          <a:prstGeom prst="rect">
            <a:avLst/>
          </a:prstGeom>
          <a:noFill/>
          <a:ln/>
        </p:spPr>
        <p:txBody>
          <a:bodyPr wrap="square" lIns="0" tIns="0" rIns="0" bIns="0" rtlCol="0" anchor="ctr"/>
          <a:lstStyle/>
          <a:p>
            <a:pPr indent="0" marL="0">
              <a:buNone/>
            </a:pPr>
            <a:r>
              <a:rPr lang="en-US" sz="3000" b="1" dirty="0">
                <a:solidFill>
                  <a:srgbClr val="EA580C"/>
                </a:solidFill>
              </a:rPr>
              <a:t>5</a:t>
            </a:r>
            <a:pPr indent="0" marL="0">
              <a:buNone/>
            </a:pPr>
            <a:r>
              <a:rPr lang="en-US" sz="1300" dirty="0">
                <a:solidFill>
                  <a:srgbClr val="2E1065"/>
                </a:solidFill>
              </a:rPr>
              <a:t>  điểm/khối</a:t>
            </a:r>
            <a:endParaRPr lang="en-US" sz="1600" dirty="0"/>
          </a:p>
        </p:txBody>
      </p:sp>
      <p:sp>
        <p:nvSpPr>
          <p:cNvPr id="16" name="Shape 11"/>
          <p:cNvSpPr/>
          <p:nvPr/>
        </p:nvSpPr>
        <p:spPr>
          <a:xfrm>
            <a:off x="2812694" y="2240280"/>
            <a:ext cx="2035454" cy="274320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17" name="Shape 12"/>
          <p:cNvSpPr/>
          <p:nvPr/>
        </p:nvSpPr>
        <p:spPr>
          <a:xfrm>
            <a:off x="2949854" y="2377440"/>
            <a:ext cx="685800" cy="329184"/>
          </a:xfrm>
          <a:prstGeom prst="roundRect">
            <a:avLst>
              <a:gd name="adj" fmla="val 50000"/>
            </a:avLst>
          </a:prstGeom>
          <a:solidFill>
            <a:srgbClr val="2563EB"/>
          </a:solidFill>
          <a:ln/>
        </p:spPr>
      </p:sp>
      <p:sp>
        <p:nvSpPr>
          <p:cNvPr id="18" name="Text 13"/>
          <p:cNvSpPr txBox="1"/>
          <p:nvPr/>
        </p:nvSpPr>
        <p:spPr>
          <a:xfrm>
            <a:off x="2949854" y="23774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NV2</a:t>
            </a:r>
            <a:endParaRPr lang="en-US" sz="1300" dirty="0"/>
          </a:p>
        </p:txBody>
      </p:sp>
      <p:sp>
        <p:nvSpPr>
          <p:cNvPr id="19" name="Shape 14"/>
          <p:cNvSpPr/>
          <p:nvPr/>
        </p:nvSpPr>
        <p:spPr>
          <a:xfrm>
            <a:off x="3979469" y="2350008"/>
            <a:ext cx="731520" cy="731520"/>
          </a:xfrm>
          <a:prstGeom prst="ellipse">
            <a:avLst/>
          </a:prstGeom>
          <a:solidFill>
            <a:srgbClr val="DBEAFE"/>
          </a:solidFill>
          <a:ln/>
        </p:spPr>
      </p:sp>
      <p:pic>
        <p:nvPicPr>
          <p:cNvPr id="20" name="Image 2" descr="Biểu tượng minh họa">    </p:cNvPr>
          <p:cNvPicPr>
            <a:picLocks noChangeAspect="1"/>
          </p:cNvPicPr>
          <p:nvPr/>
        </p:nvPicPr>
        <p:blipFill>
          <a:blip r:embed="rId3"/>
          <a:stretch>
            <a:fillRect/>
          </a:stretch>
        </p:blipFill>
        <p:spPr>
          <a:xfrm>
            <a:off x="4111142" y="2481682"/>
            <a:ext cx="468173" cy="468173"/>
          </a:xfrm>
          <a:prstGeom prst="rect">
            <a:avLst/>
          </a:prstGeom>
        </p:spPr>
      </p:pic>
      <p:sp>
        <p:nvSpPr>
          <p:cNvPr id="21" name="Text 15"/>
          <p:cNvSpPr txBox="1"/>
          <p:nvPr/>
        </p:nvSpPr>
        <p:spPr>
          <a:xfrm>
            <a:off x="2949854" y="3081528"/>
            <a:ext cx="1761134" cy="384048"/>
          </a:xfrm>
          <a:prstGeom prst="rect">
            <a:avLst/>
          </a:prstGeom>
          <a:noFill/>
          <a:ln/>
        </p:spPr>
        <p:txBody>
          <a:bodyPr wrap="square" lIns="0" tIns="0" rIns="0" bIns="0" rtlCol="0" anchor="t"/>
          <a:lstStyle/>
          <a:p>
            <a:pPr indent="0" marL="0">
              <a:buNone/>
            </a:pPr>
            <a:r>
              <a:rPr lang="en-US" sz="1600" b="1" dirty="0">
                <a:solidFill>
                  <a:srgbClr val="2563EB"/>
                </a:solidFill>
              </a:rPr>
              <a:t>Thu gom khối Nước</a:t>
            </a:r>
            <a:endParaRPr lang="en-US" sz="1600" dirty="0"/>
          </a:p>
        </p:txBody>
      </p:sp>
      <p:sp>
        <p:nvSpPr>
          <p:cNvPr id="22" name="Text 16"/>
          <p:cNvSpPr txBox="1"/>
          <p:nvPr/>
        </p:nvSpPr>
        <p:spPr>
          <a:xfrm>
            <a:off x="2949854" y="3447288"/>
            <a:ext cx="1761134" cy="548640"/>
          </a:xfrm>
          <a:prstGeom prst="rect">
            <a:avLst/>
          </a:prstGeom>
          <a:noFill/>
          <a:ln/>
        </p:spPr>
        <p:txBody>
          <a:bodyPr wrap="square" lIns="0" tIns="0" rIns="0" bIns="0" rtlCol="0" anchor="t"/>
          <a:lstStyle/>
          <a:p>
            <a:pPr indent="0" marL="0">
              <a:buNone/>
            </a:pPr>
            <a:r>
              <a:rPr lang="en-US" sz="1300" dirty="0">
                <a:solidFill>
                  <a:srgbClr val="5B4B8A"/>
                </a:solidFill>
              </a:rPr>
              <a:t>Sau mở khóa Trạm · 02 khối</a:t>
            </a:r>
            <a:endParaRPr lang="en-US" sz="1300" dirty="0"/>
          </a:p>
        </p:txBody>
      </p:sp>
      <p:sp>
        <p:nvSpPr>
          <p:cNvPr id="23" name="Text 17"/>
          <p:cNvSpPr txBox="1"/>
          <p:nvPr/>
        </p:nvSpPr>
        <p:spPr>
          <a:xfrm>
            <a:off x="2949854" y="4297680"/>
            <a:ext cx="1761134" cy="548640"/>
          </a:xfrm>
          <a:prstGeom prst="rect">
            <a:avLst/>
          </a:prstGeom>
          <a:noFill/>
          <a:ln/>
        </p:spPr>
        <p:txBody>
          <a:bodyPr wrap="square" lIns="0" tIns="0" rIns="0" bIns="0" rtlCol="0" anchor="ctr"/>
          <a:lstStyle/>
          <a:p>
            <a:pPr indent="0" marL="0">
              <a:buNone/>
            </a:pPr>
            <a:r>
              <a:rPr lang="en-US" sz="3000" b="1" dirty="0">
                <a:solidFill>
                  <a:srgbClr val="2563EB"/>
                </a:solidFill>
              </a:rPr>
              <a:t>10</a:t>
            </a:r>
            <a:pPr indent="0" marL="0">
              <a:buNone/>
            </a:pPr>
            <a:r>
              <a:rPr lang="en-US" sz="1300" dirty="0">
                <a:solidFill>
                  <a:srgbClr val="2E1065"/>
                </a:solidFill>
              </a:rPr>
              <a:t>  điểm/khối</a:t>
            </a:r>
            <a:endParaRPr lang="en-US" sz="1600" dirty="0"/>
          </a:p>
        </p:txBody>
      </p:sp>
      <p:sp>
        <p:nvSpPr>
          <p:cNvPr id="24" name="Shape 18"/>
          <p:cNvSpPr/>
          <p:nvPr/>
        </p:nvSpPr>
        <p:spPr>
          <a:xfrm>
            <a:off x="5076749" y="2240280"/>
            <a:ext cx="2035454" cy="274320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25" name="Shape 19"/>
          <p:cNvSpPr/>
          <p:nvPr/>
        </p:nvSpPr>
        <p:spPr>
          <a:xfrm>
            <a:off x="5213909" y="2377440"/>
            <a:ext cx="685800" cy="329184"/>
          </a:xfrm>
          <a:prstGeom prst="roundRect">
            <a:avLst>
              <a:gd name="adj" fmla="val 50000"/>
            </a:avLst>
          </a:prstGeom>
          <a:solidFill>
            <a:srgbClr val="A16207"/>
          </a:solidFill>
          <a:ln/>
        </p:spPr>
      </p:sp>
      <p:sp>
        <p:nvSpPr>
          <p:cNvPr id="26" name="Text 20"/>
          <p:cNvSpPr txBox="1"/>
          <p:nvPr/>
        </p:nvSpPr>
        <p:spPr>
          <a:xfrm>
            <a:off x="5213909" y="23774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NV3</a:t>
            </a:r>
            <a:endParaRPr lang="en-US" sz="1300" dirty="0"/>
          </a:p>
        </p:txBody>
      </p:sp>
      <p:sp>
        <p:nvSpPr>
          <p:cNvPr id="27" name="Shape 21"/>
          <p:cNvSpPr/>
          <p:nvPr/>
        </p:nvSpPr>
        <p:spPr>
          <a:xfrm>
            <a:off x="6243523" y="2350008"/>
            <a:ext cx="731520" cy="731520"/>
          </a:xfrm>
          <a:prstGeom prst="ellipse">
            <a:avLst/>
          </a:prstGeom>
          <a:solidFill>
            <a:srgbClr val="FEF3C7"/>
          </a:solidFill>
          <a:ln/>
        </p:spPr>
      </p:sp>
      <p:pic>
        <p:nvPicPr>
          <p:cNvPr id="28" name="Image 3" descr="Biểu tượng minh họa">    </p:cNvPr>
          <p:cNvPicPr>
            <a:picLocks noChangeAspect="1"/>
          </p:cNvPicPr>
          <p:nvPr/>
        </p:nvPicPr>
        <p:blipFill>
          <a:blip r:embed="rId4"/>
          <a:stretch>
            <a:fillRect/>
          </a:stretch>
        </p:blipFill>
        <p:spPr>
          <a:xfrm>
            <a:off x="6375197" y="2481682"/>
            <a:ext cx="468173" cy="468173"/>
          </a:xfrm>
          <a:prstGeom prst="rect">
            <a:avLst/>
          </a:prstGeom>
        </p:spPr>
      </p:pic>
      <p:sp>
        <p:nvSpPr>
          <p:cNvPr id="29" name="Text 22"/>
          <p:cNvSpPr txBox="1"/>
          <p:nvPr/>
        </p:nvSpPr>
        <p:spPr>
          <a:xfrm>
            <a:off x="5213909" y="3081528"/>
            <a:ext cx="1761134" cy="384048"/>
          </a:xfrm>
          <a:prstGeom prst="rect">
            <a:avLst/>
          </a:prstGeom>
          <a:noFill/>
          <a:ln/>
        </p:spPr>
        <p:txBody>
          <a:bodyPr wrap="square" lIns="0" tIns="0" rIns="0" bIns="0" rtlCol="0" anchor="t"/>
          <a:lstStyle/>
          <a:p>
            <a:pPr indent="0" marL="0">
              <a:buNone/>
            </a:pPr>
            <a:r>
              <a:rPr lang="en-US" sz="1600" b="1" dirty="0">
                <a:solidFill>
                  <a:srgbClr val="A16207"/>
                </a:solidFill>
              </a:rPr>
              <a:t>Thu gom khối Đất</a:t>
            </a:r>
            <a:endParaRPr lang="en-US" sz="1600" dirty="0"/>
          </a:p>
        </p:txBody>
      </p:sp>
      <p:sp>
        <p:nvSpPr>
          <p:cNvPr id="30" name="Text 23"/>
          <p:cNvSpPr txBox="1"/>
          <p:nvPr/>
        </p:nvSpPr>
        <p:spPr>
          <a:xfrm>
            <a:off x="5213909" y="3447288"/>
            <a:ext cx="1761134" cy="548640"/>
          </a:xfrm>
          <a:prstGeom prst="rect">
            <a:avLst/>
          </a:prstGeom>
          <a:noFill/>
          <a:ln/>
        </p:spPr>
        <p:txBody>
          <a:bodyPr wrap="square" lIns="0" tIns="0" rIns="0" bIns="0" rtlCol="0" anchor="t"/>
          <a:lstStyle/>
          <a:p>
            <a:pPr indent="0" marL="0">
              <a:buNone/>
            </a:pPr>
            <a:r>
              <a:rPr lang="en-US" sz="1300" dirty="0">
                <a:solidFill>
                  <a:srgbClr val="5B4B8A"/>
                </a:solidFill>
              </a:rPr>
              <a:t>Sau mở khóa Trạm · 02 khối</a:t>
            </a:r>
            <a:endParaRPr lang="en-US" sz="1300" dirty="0"/>
          </a:p>
        </p:txBody>
      </p:sp>
      <p:sp>
        <p:nvSpPr>
          <p:cNvPr id="31" name="Text 24"/>
          <p:cNvSpPr txBox="1"/>
          <p:nvPr/>
        </p:nvSpPr>
        <p:spPr>
          <a:xfrm>
            <a:off x="5213909" y="4297680"/>
            <a:ext cx="1761134" cy="548640"/>
          </a:xfrm>
          <a:prstGeom prst="rect">
            <a:avLst/>
          </a:prstGeom>
          <a:noFill/>
          <a:ln/>
        </p:spPr>
        <p:txBody>
          <a:bodyPr wrap="square" lIns="0" tIns="0" rIns="0" bIns="0" rtlCol="0" anchor="ctr"/>
          <a:lstStyle/>
          <a:p>
            <a:pPr indent="0" marL="0">
              <a:buNone/>
            </a:pPr>
            <a:r>
              <a:rPr lang="en-US" sz="3000" b="1" dirty="0">
                <a:solidFill>
                  <a:srgbClr val="A16207"/>
                </a:solidFill>
              </a:rPr>
              <a:t>10</a:t>
            </a:r>
            <a:pPr indent="0" marL="0">
              <a:buNone/>
            </a:pPr>
            <a:r>
              <a:rPr lang="en-US" sz="1300" dirty="0">
                <a:solidFill>
                  <a:srgbClr val="2E1065"/>
                </a:solidFill>
              </a:rPr>
              <a:t>  điểm/khối</a:t>
            </a:r>
            <a:endParaRPr lang="en-US" sz="1600" dirty="0"/>
          </a:p>
        </p:txBody>
      </p:sp>
      <p:sp>
        <p:nvSpPr>
          <p:cNvPr id="32" name="Shape 25"/>
          <p:cNvSpPr/>
          <p:nvPr/>
        </p:nvSpPr>
        <p:spPr>
          <a:xfrm>
            <a:off x="7340803" y="2240280"/>
            <a:ext cx="2035454" cy="274320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33" name="Shape 26"/>
          <p:cNvSpPr/>
          <p:nvPr/>
        </p:nvSpPr>
        <p:spPr>
          <a:xfrm>
            <a:off x="7477963" y="2377440"/>
            <a:ext cx="685800" cy="329184"/>
          </a:xfrm>
          <a:prstGeom prst="roundRect">
            <a:avLst>
              <a:gd name="adj" fmla="val 50000"/>
            </a:avLst>
          </a:prstGeom>
          <a:solidFill>
            <a:srgbClr val="15803D"/>
          </a:solidFill>
          <a:ln/>
        </p:spPr>
      </p:sp>
      <p:sp>
        <p:nvSpPr>
          <p:cNvPr id="34" name="Text 27"/>
          <p:cNvSpPr txBox="1"/>
          <p:nvPr/>
        </p:nvSpPr>
        <p:spPr>
          <a:xfrm>
            <a:off x="7477963" y="23774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NV4</a:t>
            </a:r>
            <a:endParaRPr lang="en-US" sz="1300" dirty="0"/>
          </a:p>
        </p:txBody>
      </p:sp>
      <p:sp>
        <p:nvSpPr>
          <p:cNvPr id="35" name="Shape 28"/>
          <p:cNvSpPr/>
          <p:nvPr/>
        </p:nvSpPr>
        <p:spPr>
          <a:xfrm>
            <a:off x="8507578" y="2350008"/>
            <a:ext cx="731520" cy="731520"/>
          </a:xfrm>
          <a:prstGeom prst="ellipse">
            <a:avLst/>
          </a:prstGeom>
          <a:solidFill>
            <a:srgbClr val="DCFCE7"/>
          </a:solidFill>
          <a:ln/>
        </p:spPr>
      </p:sp>
      <p:pic>
        <p:nvPicPr>
          <p:cNvPr id="36" name="Image 4" descr="Biểu tượng minh họa">    </p:cNvPr>
          <p:cNvPicPr>
            <a:picLocks noChangeAspect="1"/>
          </p:cNvPicPr>
          <p:nvPr/>
        </p:nvPicPr>
        <p:blipFill>
          <a:blip r:embed="rId5"/>
          <a:stretch>
            <a:fillRect/>
          </a:stretch>
        </p:blipFill>
        <p:spPr>
          <a:xfrm>
            <a:off x="8639251" y="2481682"/>
            <a:ext cx="468173" cy="468173"/>
          </a:xfrm>
          <a:prstGeom prst="rect">
            <a:avLst/>
          </a:prstGeom>
        </p:spPr>
      </p:pic>
      <p:sp>
        <p:nvSpPr>
          <p:cNvPr id="37" name="Text 29"/>
          <p:cNvSpPr txBox="1"/>
          <p:nvPr/>
        </p:nvSpPr>
        <p:spPr>
          <a:xfrm>
            <a:off x="7477963" y="3081528"/>
            <a:ext cx="1761134" cy="384048"/>
          </a:xfrm>
          <a:prstGeom prst="rect">
            <a:avLst/>
          </a:prstGeom>
          <a:noFill/>
          <a:ln/>
        </p:spPr>
        <p:txBody>
          <a:bodyPr wrap="square" lIns="0" tIns="0" rIns="0" bIns="0" rtlCol="0" anchor="t"/>
          <a:lstStyle/>
          <a:p>
            <a:pPr indent="0" marL="0">
              <a:buNone/>
            </a:pPr>
            <a:r>
              <a:rPr lang="en-US" sz="1600" b="1" dirty="0">
                <a:solidFill>
                  <a:srgbClr val="15803D"/>
                </a:solidFill>
              </a:rPr>
              <a:t>Thu gom khối Lá</a:t>
            </a:r>
            <a:endParaRPr lang="en-US" sz="1600" dirty="0"/>
          </a:p>
        </p:txBody>
      </p:sp>
      <p:sp>
        <p:nvSpPr>
          <p:cNvPr id="38" name="Text 30"/>
          <p:cNvSpPr txBox="1"/>
          <p:nvPr/>
        </p:nvSpPr>
        <p:spPr>
          <a:xfrm>
            <a:off x="7477963" y="3447288"/>
            <a:ext cx="1761134" cy="548640"/>
          </a:xfrm>
          <a:prstGeom prst="rect">
            <a:avLst/>
          </a:prstGeom>
          <a:noFill/>
          <a:ln/>
        </p:spPr>
        <p:txBody>
          <a:bodyPr wrap="square" lIns="0" tIns="0" rIns="0" bIns="0" rtlCol="0" anchor="t"/>
          <a:lstStyle/>
          <a:p>
            <a:pPr indent="0" marL="0">
              <a:buNone/>
            </a:pPr>
            <a:r>
              <a:rPr lang="en-US" sz="1300" dirty="0">
                <a:solidFill>
                  <a:srgbClr val="5B4B8A"/>
                </a:solidFill>
              </a:rPr>
              <a:t>Sau mở khóa Trạm · 01 khối</a:t>
            </a:r>
            <a:endParaRPr lang="en-US" sz="1300" dirty="0"/>
          </a:p>
        </p:txBody>
      </p:sp>
      <p:sp>
        <p:nvSpPr>
          <p:cNvPr id="39" name="Text 31"/>
          <p:cNvSpPr txBox="1"/>
          <p:nvPr/>
        </p:nvSpPr>
        <p:spPr>
          <a:xfrm>
            <a:off x="7477963" y="4297680"/>
            <a:ext cx="1761134" cy="548640"/>
          </a:xfrm>
          <a:prstGeom prst="rect">
            <a:avLst/>
          </a:prstGeom>
          <a:noFill/>
          <a:ln/>
        </p:spPr>
        <p:txBody>
          <a:bodyPr wrap="square" lIns="0" tIns="0" rIns="0" bIns="0" rtlCol="0" anchor="ctr"/>
          <a:lstStyle/>
          <a:p>
            <a:pPr indent="0" marL="0">
              <a:buNone/>
            </a:pPr>
            <a:r>
              <a:rPr lang="en-US" sz="3000" b="1" dirty="0">
                <a:solidFill>
                  <a:srgbClr val="15803D"/>
                </a:solidFill>
              </a:rPr>
              <a:t>20</a:t>
            </a:r>
            <a:pPr indent="0" marL="0">
              <a:buNone/>
            </a:pPr>
            <a:r>
              <a:rPr lang="en-US" sz="1300" dirty="0">
                <a:solidFill>
                  <a:srgbClr val="2E1065"/>
                </a:solidFill>
              </a:rPr>
              <a:t>  điểm</a:t>
            </a:r>
            <a:endParaRPr lang="en-US" sz="1600" dirty="0"/>
          </a:p>
        </p:txBody>
      </p:sp>
      <p:sp>
        <p:nvSpPr>
          <p:cNvPr id="40" name="Shape 32"/>
          <p:cNvSpPr/>
          <p:nvPr/>
        </p:nvSpPr>
        <p:spPr>
          <a:xfrm>
            <a:off x="9604858" y="2240280"/>
            <a:ext cx="2035454" cy="274320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41" name="Shape 33"/>
          <p:cNvSpPr/>
          <p:nvPr/>
        </p:nvSpPr>
        <p:spPr>
          <a:xfrm>
            <a:off x="9742018" y="2377440"/>
            <a:ext cx="685800" cy="329184"/>
          </a:xfrm>
          <a:prstGeom prst="roundRect">
            <a:avLst>
              <a:gd name="adj" fmla="val 50000"/>
            </a:avLst>
          </a:prstGeom>
          <a:solidFill>
            <a:srgbClr val="7C3AED"/>
          </a:solidFill>
          <a:ln/>
        </p:spPr>
      </p:sp>
      <p:sp>
        <p:nvSpPr>
          <p:cNvPr id="42" name="Text 34"/>
          <p:cNvSpPr txBox="1"/>
          <p:nvPr/>
        </p:nvSpPr>
        <p:spPr>
          <a:xfrm>
            <a:off x="9742018" y="23774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NV5</a:t>
            </a:r>
            <a:endParaRPr lang="en-US" sz="1300" dirty="0"/>
          </a:p>
        </p:txBody>
      </p:sp>
      <p:sp>
        <p:nvSpPr>
          <p:cNvPr id="43" name="Shape 35"/>
          <p:cNvSpPr/>
          <p:nvPr/>
        </p:nvSpPr>
        <p:spPr>
          <a:xfrm>
            <a:off x="10771632" y="2350008"/>
            <a:ext cx="731520" cy="731520"/>
          </a:xfrm>
          <a:prstGeom prst="ellipse">
            <a:avLst/>
          </a:prstGeom>
          <a:solidFill>
            <a:srgbClr val="EDE4FF"/>
          </a:solidFill>
          <a:ln/>
        </p:spPr>
      </p:sp>
      <p:pic>
        <p:nvPicPr>
          <p:cNvPr id="44" name="Image 5" descr="Biểu tượng minh họa">    </p:cNvPr>
          <p:cNvPicPr>
            <a:picLocks noChangeAspect="1"/>
          </p:cNvPicPr>
          <p:nvPr/>
        </p:nvPicPr>
        <p:blipFill>
          <a:blip r:embed="rId6"/>
          <a:stretch>
            <a:fillRect/>
          </a:stretch>
        </p:blipFill>
        <p:spPr>
          <a:xfrm>
            <a:off x="10903306" y="2481682"/>
            <a:ext cx="468173" cy="468173"/>
          </a:xfrm>
          <a:prstGeom prst="rect">
            <a:avLst/>
          </a:prstGeom>
        </p:spPr>
      </p:pic>
      <p:sp>
        <p:nvSpPr>
          <p:cNvPr id="45" name="Text 36"/>
          <p:cNvSpPr txBox="1"/>
          <p:nvPr/>
        </p:nvSpPr>
        <p:spPr>
          <a:xfrm>
            <a:off x="9742018" y="3081528"/>
            <a:ext cx="1761134" cy="384048"/>
          </a:xfrm>
          <a:prstGeom prst="rect">
            <a:avLst/>
          </a:prstGeom>
          <a:noFill/>
          <a:ln/>
        </p:spPr>
        <p:txBody>
          <a:bodyPr wrap="square" lIns="0" tIns="0" rIns="0" bIns="0" rtlCol="0" anchor="t"/>
          <a:lstStyle/>
          <a:p>
            <a:pPr indent="0" marL="0">
              <a:buNone/>
            </a:pPr>
            <a:r>
              <a:rPr lang="en-US" sz="1600" b="1" dirty="0">
                <a:solidFill>
                  <a:srgbClr val="7C3AED"/>
                </a:solidFill>
              </a:rPr>
              <a:t>Hồi căn cứ</a:t>
            </a:r>
            <a:endParaRPr lang="en-US" sz="1600" dirty="0"/>
          </a:p>
        </p:txBody>
      </p:sp>
      <p:sp>
        <p:nvSpPr>
          <p:cNvPr id="46" name="Text 37"/>
          <p:cNvSpPr txBox="1"/>
          <p:nvPr/>
        </p:nvSpPr>
        <p:spPr>
          <a:xfrm>
            <a:off x="9742018" y="3447288"/>
            <a:ext cx="1761134" cy="548640"/>
          </a:xfrm>
          <a:prstGeom prst="rect">
            <a:avLst/>
          </a:prstGeom>
          <a:noFill/>
          <a:ln/>
        </p:spPr>
        <p:txBody>
          <a:bodyPr wrap="square" lIns="0" tIns="0" rIns="0" bIns="0" rtlCol="0" anchor="t"/>
          <a:lstStyle/>
          <a:p>
            <a:pPr indent="0" marL="0">
              <a:buNone/>
            </a:pPr>
            <a:r>
              <a:rPr lang="en-US" sz="1300" dirty="0">
                <a:solidFill>
                  <a:srgbClr val="5B4B8A"/>
                </a:solidFill>
              </a:rPr>
              <a:t>Kết thúc chủ động, hợp lệ</a:t>
            </a:r>
            <a:endParaRPr lang="en-US" sz="1300" dirty="0"/>
          </a:p>
        </p:txBody>
      </p:sp>
      <p:sp>
        <p:nvSpPr>
          <p:cNvPr id="47" name="Text 38"/>
          <p:cNvSpPr txBox="1"/>
          <p:nvPr/>
        </p:nvSpPr>
        <p:spPr>
          <a:xfrm>
            <a:off x="9742018" y="4297680"/>
            <a:ext cx="1761134" cy="548640"/>
          </a:xfrm>
          <a:prstGeom prst="rect">
            <a:avLst/>
          </a:prstGeom>
          <a:noFill/>
          <a:ln/>
        </p:spPr>
        <p:txBody>
          <a:bodyPr wrap="square" lIns="0" tIns="0" rIns="0" bIns="0" rtlCol="0" anchor="ctr"/>
          <a:lstStyle/>
          <a:p>
            <a:pPr indent="0" marL="0">
              <a:buNone/>
            </a:pPr>
            <a:r>
              <a:rPr lang="en-US" sz="3000" b="1" dirty="0">
                <a:solidFill>
                  <a:srgbClr val="7C3AED"/>
                </a:solidFill>
              </a:rPr>
              <a:t>5</a:t>
            </a:r>
            <a:pPr indent="0" marL="0">
              <a:buNone/>
            </a:pPr>
            <a:r>
              <a:rPr lang="en-US" sz="1300" dirty="0">
                <a:solidFill>
                  <a:srgbClr val="2E1065"/>
                </a:solidFill>
              </a:rPr>
              <a:t>  điểm</a:t>
            </a:r>
            <a:endParaRPr lang="en-US" sz="1600" dirty="0"/>
          </a:p>
        </p:txBody>
      </p:sp>
      <p:sp>
        <p:nvSpPr>
          <p:cNvPr id="48" name="Shape 39"/>
          <p:cNvSpPr/>
          <p:nvPr/>
        </p:nvSpPr>
        <p:spPr>
          <a:xfrm>
            <a:off x="548640" y="5257800"/>
            <a:ext cx="11091672" cy="1005840"/>
          </a:xfrm>
          <a:prstGeom prst="roundRect">
            <a:avLst>
              <a:gd name="adj" fmla="val 10909"/>
            </a:avLst>
          </a:prstGeom>
          <a:solidFill>
            <a:srgbClr val="FFFFFF"/>
          </a:solidFill>
          <a:ln/>
          <a:effectLst>
            <a:outerShdw sx="100000" sy="100000" kx="0" ky="0" algn="bl" rotWithShape="0" blurRad="127000" dist="38100" dir="5400000">
              <a:srgbClr val="4C1D95">
                <a:alpha val="16000"/>
              </a:srgbClr>
            </a:outerShdw>
          </a:effectLst>
        </p:spPr>
      </p:sp>
      <p:pic>
        <p:nvPicPr>
          <p:cNvPr id="49" name="Image 6" descr="Biểu tượng minh họa">    </p:cNvPr>
          <p:cNvPicPr>
            <a:picLocks noChangeAspect="1"/>
          </p:cNvPicPr>
          <p:nvPr/>
        </p:nvPicPr>
        <p:blipFill>
          <a:blip r:embed="rId7"/>
          <a:stretch>
            <a:fillRect/>
          </a:stretch>
        </p:blipFill>
        <p:spPr>
          <a:xfrm>
            <a:off x="731520" y="5440680"/>
            <a:ext cx="640080" cy="640080"/>
          </a:xfrm>
          <a:prstGeom prst="rect">
            <a:avLst/>
          </a:prstGeom>
        </p:spPr>
      </p:pic>
      <p:sp>
        <p:nvSpPr>
          <p:cNvPr id="50" name="Text 40"/>
          <p:cNvSpPr txBox="1"/>
          <p:nvPr/>
        </p:nvSpPr>
        <p:spPr>
          <a:xfrm>
            <a:off x="1554480" y="5303520"/>
            <a:ext cx="9966960" cy="914400"/>
          </a:xfrm>
          <a:prstGeom prst="rect">
            <a:avLst/>
          </a:prstGeom>
          <a:noFill/>
          <a:ln/>
        </p:spPr>
        <p:txBody>
          <a:bodyPr wrap="square" lIns="0" tIns="0" rIns="0" bIns="0" rtlCol="0" anchor="ctr"/>
          <a:lstStyle/>
          <a:p>
            <a:pPr indent="0" marL="0">
              <a:buNone/>
            </a:pPr>
            <a:r>
              <a:rPr lang="en-US" sz="1500" b="1" dirty="0">
                <a:solidFill>
                  <a:srgbClr val="2E1065"/>
                </a:solidFill>
              </a:rPr>
              <a:t>Bảng Tiểu học không sử dụng khối Nham thạch và không có điểm thưởng vòng núi lửa. </a:t>
            </a:r>
            <a:pPr indent="0" marL="0">
              <a:buNone/>
            </a:pPr>
            <a:r>
              <a:rPr lang="en-US" sz="1500" dirty="0">
                <a:solidFill>
                  <a:srgbClr val="2E1065"/>
                </a:solidFill>
              </a:rPr>
              <a:t>Hai núi lửa lớn, hai núi lửa nhỏ chỉ là chi tiết địa hình của sa bàn.</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ĐIỀU KIỆN MỞ KHÓA</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Mở khóa Trạm Tài nguyên Trung tâm</a:t>
            </a:r>
            <a:endParaRPr lang="en-US" sz="3000" dirty="0"/>
          </a:p>
        </p:txBody>
      </p:sp>
      <p:sp>
        <p:nvSpPr>
          <p:cNvPr id="5" name="Shape 2"/>
          <p:cNvSpPr/>
          <p:nvPr/>
        </p:nvSpPr>
        <p:spPr>
          <a:xfrm>
            <a:off x="548640" y="1371600"/>
            <a:ext cx="2926080" cy="2240280"/>
          </a:xfrm>
          <a:prstGeom prst="roundRect">
            <a:avLst>
              <a:gd name="adj" fmla="val 4898"/>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1508760" y="1481328"/>
            <a:ext cx="1005840" cy="1005840"/>
          </a:xfrm>
          <a:prstGeom prst="ellipse">
            <a:avLst/>
          </a:prstGeom>
          <a:solidFill>
            <a:srgbClr val="FFEDD5"/>
          </a:solidFill>
          <a:ln/>
        </p:spPr>
      </p:sp>
      <p:pic>
        <p:nvPicPr>
          <p:cNvPr id="7" name="Image 0" descr="Biểu tượng minh họa">    </p:cNvPr>
          <p:cNvPicPr>
            <a:picLocks noChangeAspect="1"/>
          </p:cNvPicPr>
          <p:nvPr/>
        </p:nvPicPr>
        <p:blipFill>
          <a:blip r:embed="rId1"/>
          <a:stretch>
            <a:fillRect/>
          </a:stretch>
        </p:blipFill>
        <p:spPr>
          <a:xfrm>
            <a:off x="1689811" y="1662379"/>
            <a:ext cx="643738" cy="643738"/>
          </a:xfrm>
          <a:prstGeom prst="rect">
            <a:avLst/>
          </a:prstGeom>
        </p:spPr>
      </p:pic>
      <p:sp>
        <p:nvSpPr>
          <p:cNvPr id="8" name="Text 4"/>
          <p:cNvSpPr txBox="1"/>
          <p:nvPr/>
        </p:nvSpPr>
        <p:spPr>
          <a:xfrm>
            <a:off x="640080" y="2560320"/>
            <a:ext cx="2743200" cy="411480"/>
          </a:xfrm>
          <a:prstGeom prst="rect">
            <a:avLst/>
          </a:prstGeom>
          <a:noFill/>
          <a:ln/>
        </p:spPr>
        <p:txBody>
          <a:bodyPr wrap="square" lIns="0" tIns="0" rIns="0" bIns="0" rtlCol="0" anchor="t"/>
          <a:lstStyle/>
          <a:p>
            <a:pPr algn="ctr" indent="0" marL="0">
              <a:buNone/>
            </a:pPr>
            <a:r>
              <a:rPr lang="en-US" sz="1800" b="1" dirty="0">
                <a:solidFill>
                  <a:srgbClr val="7C3AED"/>
                </a:solidFill>
              </a:rPr>
              <a:t>Đưa ≥ 01 khối Dầu</a:t>
            </a:r>
            <a:endParaRPr lang="en-US" sz="1800" dirty="0"/>
          </a:p>
        </p:txBody>
      </p:sp>
      <p:sp>
        <p:nvSpPr>
          <p:cNvPr id="9" name="Text 5"/>
          <p:cNvSpPr txBox="1"/>
          <p:nvPr/>
        </p:nvSpPr>
        <p:spPr>
          <a:xfrm>
            <a:off x="685800" y="2971800"/>
            <a:ext cx="2651760" cy="594360"/>
          </a:xfrm>
          <a:prstGeom prst="rect">
            <a:avLst/>
          </a:prstGeom>
          <a:noFill/>
          <a:ln/>
        </p:spPr>
        <p:txBody>
          <a:bodyPr wrap="square" lIns="0" tIns="0" rIns="0" bIns="0" rtlCol="0" anchor="t"/>
          <a:lstStyle/>
          <a:p>
            <a:pPr algn="ctr" indent="0" marL="0">
              <a:buNone/>
            </a:pPr>
            <a:r>
              <a:rPr lang="en-US" sz="1400" dirty="0">
                <a:solidFill>
                  <a:srgbClr val="2E1065"/>
                </a:solidFill>
              </a:rPr>
              <a:t>hợp lệ về Khu Căn cứ của đội mình</a:t>
            </a:r>
            <a:endParaRPr lang="en-US" sz="1400" dirty="0"/>
          </a:p>
        </p:txBody>
      </p:sp>
      <p:sp>
        <p:nvSpPr>
          <p:cNvPr id="10" name="Shape 6"/>
          <p:cNvSpPr/>
          <p:nvPr/>
        </p:nvSpPr>
        <p:spPr>
          <a:xfrm>
            <a:off x="3520440" y="2286000"/>
            <a:ext cx="274320" cy="384048"/>
          </a:xfrm>
          <a:prstGeom prst="rightArrow">
            <a:avLst/>
          </a:prstGeom>
          <a:solidFill>
            <a:srgbClr val="8B5CF6"/>
          </a:solidFill>
          <a:ln/>
        </p:spPr>
      </p:sp>
      <p:sp>
        <p:nvSpPr>
          <p:cNvPr id="11" name="Shape 7"/>
          <p:cNvSpPr/>
          <p:nvPr/>
        </p:nvSpPr>
        <p:spPr>
          <a:xfrm>
            <a:off x="3840480" y="1371600"/>
            <a:ext cx="2926080" cy="2240280"/>
          </a:xfrm>
          <a:prstGeom prst="roundRect">
            <a:avLst>
              <a:gd name="adj" fmla="val 4898"/>
            </a:avLst>
          </a:prstGeom>
          <a:solidFill>
            <a:srgbClr val="FFFFFF"/>
          </a:solidFill>
          <a:ln/>
          <a:effectLst>
            <a:outerShdw sx="100000" sy="100000" kx="0" ky="0" algn="bl" rotWithShape="0" blurRad="127000" dist="38100" dir="5400000">
              <a:srgbClr val="4C1D95">
                <a:alpha val="16000"/>
              </a:srgbClr>
            </a:outerShdw>
          </a:effectLst>
        </p:spPr>
      </p:sp>
      <p:sp>
        <p:nvSpPr>
          <p:cNvPr id="12" name="Shape 8"/>
          <p:cNvSpPr/>
          <p:nvPr/>
        </p:nvSpPr>
        <p:spPr>
          <a:xfrm>
            <a:off x="4800600" y="1481328"/>
            <a:ext cx="1005840" cy="1005840"/>
          </a:xfrm>
          <a:prstGeom prst="ellipse">
            <a:avLst/>
          </a:prstGeom>
          <a:solidFill>
            <a:srgbClr val="EDE4FF"/>
          </a:solidFill>
          <a:ln/>
        </p:spPr>
      </p:sp>
      <p:pic>
        <p:nvPicPr>
          <p:cNvPr id="13" name="Image 1" descr="Biểu tượng minh họa">    </p:cNvPr>
          <p:cNvPicPr>
            <a:picLocks noChangeAspect="1"/>
          </p:cNvPicPr>
          <p:nvPr/>
        </p:nvPicPr>
        <p:blipFill>
          <a:blip r:embed="rId2"/>
          <a:stretch>
            <a:fillRect/>
          </a:stretch>
        </p:blipFill>
        <p:spPr>
          <a:xfrm>
            <a:off x="4981651" y="1662379"/>
            <a:ext cx="643738" cy="643738"/>
          </a:xfrm>
          <a:prstGeom prst="rect">
            <a:avLst/>
          </a:prstGeom>
        </p:spPr>
      </p:pic>
      <p:sp>
        <p:nvSpPr>
          <p:cNvPr id="14" name="Text 9"/>
          <p:cNvSpPr txBox="1"/>
          <p:nvPr/>
        </p:nvSpPr>
        <p:spPr>
          <a:xfrm>
            <a:off x="3931920" y="2560320"/>
            <a:ext cx="2743200" cy="411480"/>
          </a:xfrm>
          <a:prstGeom prst="rect">
            <a:avLst/>
          </a:prstGeom>
          <a:noFill/>
          <a:ln/>
        </p:spPr>
        <p:txBody>
          <a:bodyPr wrap="square" lIns="0" tIns="0" rIns="0" bIns="0" rtlCol="0" anchor="t"/>
          <a:lstStyle/>
          <a:p>
            <a:pPr algn="ctr" indent="0" marL="0">
              <a:buNone/>
            </a:pPr>
            <a:r>
              <a:rPr lang="en-US" sz="1800" b="1" dirty="0">
                <a:solidFill>
                  <a:srgbClr val="7C3AED"/>
                </a:solidFill>
              </a:rPr>
              <a:t>“MỞ KHÓA – ĐỘI …!”</a:t>
            </a:r>
            <a:endParaRPr lang="en-US" sz="1800" dirty="0"/>
          </a:p>
        </p:txBody>
      </p:sp>
      <p:sp>
        <p:nvSpPr>
          <p:cNvPr id="15" name="Text 10"/>
          <p:cNvSpPr txBox="1"/>
          <p:nvPr/>
        </p:nvSpPr>
        <p:spPr>
          <a:xfrm>
            <a:off x="3977640" y="2971800"/>
            <a:ext cx="2651760" cy="594360"/>
          </a:xfrm>
          <a:prstGeom prst="rect">
            <a:avLst/>
          </a:prstGeom>
          <a:noFill/>
          <a:ln/>
        </p:spPr>
        <p:txBody>
          <a:bodyPr wrap="square" lIns="0" tIns="0" rIns="0" bIns="0" rtlCol="0" anchor="t"/>
          <a:lstStyle/>
          <a:p>
            <a:pPr algn="ctr" indent="0" marL="0">
              <a:buNone/>
            </a:pPr>
            <a:r>
              <a:rPr lang="en-US" sz="1400" dirty="0">
                <a:solidFill>
                  <a:srgbClr val="2E1065"/>
                </a:solidFill>
              </a:rPr>
              <a:t>Trợ lý trọng tài hô to hoặc giơ cờ xác nhận</a:t>
            </a:r>
            <a:endParaRPr lang="en-US" sz="1400" dirty="0"/>
          </a:p>
        </p:txBody>
      </p:sp>
      <p:sp>
        <p:nvSpPr>
          <p:cNvPr id="16" name="Shape 11"/>
          <p:cNvSpPr/>
          <p:nvPr/>
        </p:nvSpPr>
        <p:spPr>
          <a:xfrm>
            <a:off x="6812280" y="2286000"/>
            <a:ext cx="274320" cy="384048"/>
          </a:xfrm>
          <a:prstGeom prst="rightArrow">
            <a:avLst/>
          </a:prstGeom>
          <a:solidFill>
            <a:srgbClr val="8B5CF6"/>
          </a:solidFill>
          <a:ln/>
        </p:spPr>
      </p:sp>
      <p:sp>
        <p:nvSpPr>
          <p:cNvPr id="17" name="Shape 12"/>
          <p:cNvSpPr/>
          <p:nvPr/>
        </p:nvSpPr>
        <p:spPr>
          <a:xfrm>
            <a:off x="7132320" y="1371600"/>
            <a:ext cx="2926080" cy="2240280"/>
          </a:xfrm>
          <a:prstGeom prst="roundRect">
            <a:avLst>
              <a:gd name="adj" fmla="val 4898"/>
            </a:avLst>
          </a:prstGeom>
          <a:solidFill>
            <a:srgbClr val="FFFFFF"/>
          </a:solidFill>
          <a:ln/>
          <a:effectLst>
            <a:outerShdw sx="100000" sy="100000" kx="0" ky="0" algn="bl" rotWithShape="0" blurRad="127000" dist="38100" dir="5400000">
              <a:srgbClr val="4C1D95">
                <a:alpha val="16000"/>
              </a:srgbClr>
            </a:outerShdw>
          </a:effectLst>
        </p:spPr>
      </p:sp>
      <p:sp>
        <p:nvSpPr>
          <p:cNvPr id="18" name="Shape 13"/>
          <p:cNvSpPr/>
          <p:nvPr/>
        </p:nvSpPr>
        <p:spPr>
          <a:xfrm>
            <a:off x="8092440" y="1481328"/>
            <a:ext cx="1005840" cy="1005840"/>
          </a:xfrm>
          <a:prstGeom prst="ellipse">
            <a:avLst/>
          </a:prstGeom>
          <a:solidFill>
            <a:srgbClr val="DCFCE7"/>
          </a:solidFill>
          <a:ln/>
        </p:spPr>
      </p:sp>
      <p:pic>
        <p:nvPicPr>
          <p:cNvPr id="19" name="Image 2" descr="Biểu tượng minh họa">    </p:cNvPr>
          <p:cNvPicPr>
            <a:picLocks noChangeAspect="1"/>
          </p:cNvPicPr>
          <p:nvPr/>
        </p:nvPicPr>
        <p:blipFill>
          <a:blip r:embed="rId3"/>
          <a:stretch>
            <a:fillRect/>
          </a:stretch>
        </p:blipFill>
        <p:spPr>
          <a:xfrm>
            <a:off x="8273491" y="1662379"/>
            <a:ext cx="643738" cy="643738"/>
          </a:xfrm>
          <a:prstGeom prst="rect">
            <a:avLst/>
          </a:prstGeom>
        </p:spPr>
      </p:pic>
      <p:sp>
        <p:nvSpPr>
          <p:cNvPr id="20" name="Text 14"/>
          <p:cNvSpPr txBox="1"/>
          <p:nvPr/>
        </p:nvSpPr>
        <p:spPr>
          <a:xfrm>
            <a:off x="7223760" y="2560320"/>
            <a:ext cx="2743200" cy="411480"/>
          </a:xfrm>
          <a:prstGeom prst="rect">
            <a:avLst/>
          </a:prstGeom>
          <a:noFill/>
          <a:ln/>
        </p:spPr>
        <p:txBody>
          <a:bodyPr wrap="square" lIns="0" tIns="0" rIns="0" bIns="0" rtlCol="0" anchor="t"/>
          <a:lstStyle/>
          <a:p>
            <a:pPr algn="ctr" indent="0" marL="0">
              <a:buNone/>
            </a:pPr>
            <a:r>
              <a:rPr lang="en-US" sz="1800" b="1" dirty="0">
                <a:solidFill>
                  <a:srgbClr val="7C3AED"/>
                </a:solidFill>
              </a:rPr>
              <a:t>Được lấy khối tại Trạm</a:t>
            </a:r>
            <a:endParaRPr lang="en-US" sz="1800" dirty="0"/>
          </a:p>
        </p:txBody>
      </p:sp>
      <p:sp>
        <p:nvSpPr>
          <p:cNvPr id="21" name="Text 15"/>
          <p:cNvSpPr txBox="1"/>
          <p:nvPr/>
        </p:nvSpPr>
        <p:spPr>
          <a:xfrm>
            <a:off x="7269480" y="2971800"/>
            <a:ext cx="2651760" cy="594360"/>
          </a:xfrm>
          <a:prstGeom prst="rect">
            <a:avLst/>
          </a:prstGeom>
          <a:noFill/>
          <a:ln/>
        </p:spPr>
        <p:txBody>
          <a:bodyPr wrap="square" lIns="0" tIns="0" rIns="0" bIns="0" rtlCol="0" anchor="t"/>
          <a:lstStyle/>
          <a:p>
            <a:pPr algn="ctr" indent="0" marL="0">
              <a:buNone/>
            </a:pPr>
            <a:r>
              <a:rPr lang="en-US" sz="1400" dirty="0">
                <a:solidFill>
                  <a:srgbClr val="2E1065"/>
                </a:solidFill>
              </a:rPr>
              <a:t>Nước, Đất, Lá – tự do, đến hết lượt</a:t>
            </a:r>
            <a:endParaRPr lang="en-US" sz="1400" dirty="0"/>
          </a:p>
        </p:txBody>
      </p:sp>
      <p:pic>
        <p:nvPicPr>
          <p:cNvPr id="22" name="RR_tram_jpg" descr="Trạm Tài nguyên Trung tâm với khối Lá, Đất, Nước">    </p:cNvPr>
          <p:cNvPicPr>
            <a:picLocks noChangeAspect="1"/>
          </p:cNvPicPr>
          <p:nvPr/>
        </p:nvPicPr>
        <p:blipFill>
          <a:blip r:embed="rId4"/>
          <a:stretch>
            <a:fillRect/>
          </a:stretch>
        </p:blipFill>
        <p:spPr>
          <a:xfrm>
            <a:off x="10378440" y="1371600"/>
            <a:ext cx="1261872" cy="23774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3" name="Shape 16"/>
          <p:cNvSpPr/>
          <p:nvPr/>
        </p:nvSpPr>
        <p:spPr>
          <a:xfrm>
            <a:off x="548640" y="3886200"/>
            <a:ext cx="5486400" cy="2377440"/>
          </a:xfrm>
          <a:prstGeom prst="roundRect">
            <a:avLst>
              <a:gd name="adj" fmla="val 4615"/>
            </a:avLst>
          </a:prstGeom>
          <a:solidFill>
            <a:srgbClr val="F0FDF4"/>
          </a:solidFill>
          <a:ln/>
          <a:effectLst>
            <a:outerShdw sx="100000" sy="100000" kx="0" ky="0" algn="bl" rotWithShape="0" blurRad="127000" dist="38100" dir="5400000">
              <a:srgbClr val="4C1D95">
                <a:alpha val="16000"/>
              </a:srgbClr>
            </a:outerShdw>
          </a:effectLst>
        </p:spPr>
      </p:sp>
      <p:pic>
        <p:nvPicPr>
          <p:cNvPr id="24" name="Image 4" descr="Biểu tượng minh họa">    </p:cNvPr>
          <p:cNvPicPr>
            <a:picLocks noChangeAspect="1"/>
          </p:cNvPicPr>
          <p:nvPr/>
        </p:nvPicPr>
        <p:blipFill>
          <a:blip r:embed="rId5"/>
          <a:stretch>
            <a:fillRect/>
          </a:stretch>
        </p:blipFill>
        <p:spPr>
          <a:xfrm>
            <a:off x="731520" y="4023360"/>
            <a:ext cx="502920" cy="502920"/>
          </a:xfrm>
          <a:prstGeom prst="rect">
            <a:avLst/>
          </a:prstGeom>
        </p:spPr>
      </p:pic>
      <p:sp>
        <p:nvSpPr>
          <p:cNvPr id="25" name="Text 17"/>
          <p:cNvSpPr txBox="1"/>
          <p:nvPr/>
        </p:nvSpPr>
        <p:spPr>
          <a:xfrm>
            <a:off x="1325880" y="4023360"/>
            <a:ext cx="4572000" cy="502920"/>
          </a:xfrm>
          <a:prstGeom prst="rect">
            <a:avLst/>
          </a:prstGeom>
          <a:noFill/>
          <a:ln/>
        </p:spPr>
        <p:txBody>
          <a:bodyPr wrap="square" lIns="0" tIns="0" rIns="0" bIns="0" rtlCol="0" anchor="ctr"/>
          <a:lstStyle/>
          <a:p>
            <a:pPr indent="0" marL="0">
              <a:buNone/>
            </a:pPr>
            <a:r>
              <a:rPr lang="en-US" sz="1800" b="1" dirty="0">
                <a:solidFill>
                  <a:srgbClr val="15803D"/>
                </a:solidFill>
              </a:rPr>
              <a:t>Cần nhớ</a:t>
            </a:r>
            <a:endParaRPr lang="en-US" sz="1800" dirty="0"/>
          </a:p>
        </p:txBody>
      </p:sp>
      <p:sp>
        <p:nvSpPr>
          <p:cNvPr id="26" name="Text 18"/>
          <p:cNvSpPr txBox="1"/>
          <p:nvPr/>
        </p:nvSpPr>
        <p:spPr>
          <a:xfrm>
            <a:off x="731520" y="4572000"/>
            <a:ext cx="5166360" cy="16459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Quyền mở khóa giữ đến hết lượt, kể cả khi khối Dầu đó sau đó bị dịch chuyển</a:t>
            </a:r>
            <a:endParaRPr lang="en-US" sz="1400" dirty="0"/>
          </a:p>
          <a:p>
            <a:pPr marL="203200" indent="-203200">
              <a:spcAft>
                <a:spcPts val="600"/>
              </a:spcAft>
              <a:buSzPct val="100000"/>
              <a:buChar char="•"/>
            </a:pPr>
            <a:r>
              <a:rPr lang="en-US" sz="1400" dirty="0">
                <a:solidFill>
                  <a:srgbClr val="2E1065"/>
                </a:solidFill>
              </a:rPr>
              <a:t>Hai đội mở khóa độc lập, không phụ thuộc đội bạn</a:t>
            </a:r>
            <a:endParaRPr lang="en-US" sz="1400" dirty="0"/>
          </a:p>
          <a:p>
            <a:pPr marL="203200" indent="-203200">
              <a:spcAft>
                <a:spcPts val="600"/>
              </a:spcAft>
              <a:buSzPct val="100000"/>
              <a:buChar char="•"/>
            </a:pPr>
            <a:r>
              <a:rPr lang="en-US" sz="1400" dirty="0">
                <a:solidFill>
                  <a:srgbClr val="2E1065"/>
                </a:solidFill>
              </a:rPr>
              <a:t>08 khối Dầu không cần mở khóa – tranh chấp chung, ai đưa về Căn cứ mình thì được tính</a:t>
            </a:r>
            <a:endParaRPr lang="en-US" sz="1400" dirty="0"/>
          </a:p>
        </p:txBody>
      </p:sp>
      <p:sp>
        <p:nvSpPr>
          <p:cNvPr id="27" name="Shape 19"/>
          <p:cNvSpPr/>
          <p:nvPr/>
        </p:nvSpPr>
        <p:spPr>
          <a:xfrm>
            <a:off x="6263640" y="3886200"/>
            <a:ext cx="5376672" cy="2377440"/>
          </a:xfrm>
          <a:prstGeom prst="roundRect">
            <a:avLst>
              <a:gd name="adj" fmla="val 4615"/>
            </a:avLst>
          </a:prstGeom>
          <a:solidFill>
            <a:srgbClr val="FEF2F2"/>
          </a:solidFill>
          <a:ln/>
          <a:effectLst>
            <a:outerShdw sx="100000" sy="100000" kx="0" ky="0" algn="bl" rotWithShape="0" blurRad="127000" dist="38100" dir="5400000">
              <a:srgbClr val="4C1D95">
                <a:alpha val="16000"/>
              </a:srgbClr>
            </a:outerShdw>
          </a:effectLst>
        </p:spPr>
      </p:sp>
      <p:pic>
        <p:nvPicPr>
          <p:cNvPr id="28" name="Image 5" descr="Biểu tượng minh họa">    </p:cNvPr>
          <p:cNvPicPr>
            <a:picLocks noChangeAspect="1"/>
          </p:cNvPicPr>
          <p:nvPr/>
        </p:nvPicPr>
        <p:blipFill>
          <a:blip r:embed="rId6"/>
          <a:stretch>
            <a:fillRect/>
          </a:stretch>
        </p:blipFill>
        <p:spPr>
          <a:xfrm>
            <a:off x="6446520" y="4023360"/>
            <a:ext cx="502920" cy="502920"/>
          </a:xfrm>
          <a:prstGeom prst="rect">
            <a:avLst/>
          </a:prstGeom>
        </p:spPr>
      </p:pic>
      <p:sp>
        <p:nvSpPr>
          <p:cNvPr id="29" name="Text 20"/>
          <p:cNvSpPr txBox="1"/>
          <p:nvPr/>
        </p:nvSpPr>
        <p:spPr>
          <a:xfrm>
            <a:off x="7040880" y="4023360"/>
            <a:ext cx="4480560" cy="502920"/>
          </a:xfrm>
          <a:prstGeom prst="rect">
            <a:avLst/>
          </a:prstGeom>
          <a:noFill/>
          <a:ln/>
        </p:spPr>
        <p:txBody>
          <a:bodyPr wrap="square" lIns="0" tIns="0" rIns="0" bIns="0" rtlCol="0" anchor="ctr"/>
          <a:lstStyle/>
          <a:p>
            <a:pPr indent="0" marL="0">
              <a:buNone/>
            </a:pPr>
            <a:r>
              <a:rPr lang="en-US" sz="1800" b="1" dirty="0">
                <a:solidFill>
                  <a:srgbClr val="DC2626"/>
                </a:solidFill>
              </a:rPr>
              <a:t>Chưa mở khóa</a:t>
            </a:r>
            <a:endParaRPr lang="en-US" sz="1800" dirty="0"/>
          </a:p>
        </p:txBody>
      </p:sp>
      <p:sp>
        <p:nvSpPr>
          <p:cNvPr id="30" name="Text 21"/>
          <p:cNvSpPr txBox="1"/>
          <p:nvPr/>
        </p:nvSpPr>
        <p:spPr>
          <a:xfrm>
            <a:off x="6446520" y="4572000"/>
            <a:ext cx="5074920" cy="164592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rgbClr val="2E1065"/>
                </a:solidFill>
              </a:rPr>
              <a:t>Lấy, gắp, đẩy hoặc kéo khối ra khỏi Trạm</a:t>
            </a:r>
            <a:pPr indent="0" marL="0">
              <a:buNone/>
            </a:pPr>
            <a:r>
              <a:rPr lang="en-US" sz="1500" dirty="0">
                <a:solidFill>
                  <a:srgbClr val="2E1065"/>
                </a:solidFill>
              </a:rPr>
              <a:t> → −5 điểm/lần, trọng tài đặt lại khối về Trạm</a:t>
            </a:r>
            <a:endParaRPr lang="en-US" sz="1500" dirty="0"/>
          </a:p>
          <a:p>
            <a:pPr marL="203200" indent="-203200">
              <a:spcAft>
                <a:spcPts val="600"/>
              </a:spcAft>
              <a:buSzPct val="100000"/>
              <a:buChar char="•"/>
            </a:pPr>
            <a:r>
              <a:rPr lang="en-US" sz="1500" b="1" dirty="0">
                <a:solidFill>
                  <a:srgbClr val="2E1065"/>
                </a:solidFill>
              </a:rPr>
              <a:t>Đi ngang qua, chạm nhẹ</a:t>
            </a:r>
            <a:pPr indent="0" marL="0">
              <a:buNone/>
            </a:pPr>
            <a:r>
              <a:rPr lang="en-US" sz="1500" dirty="0">
                <a:solidFill>
                  <a:srgbClr val="2E1065"/>
                </a:solidFill>
              </a:rPr>
              <a:t> vào Trạm mà khối không rời Trạm → không bị xử lý</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NGUYÊN TẮC TỰ DO THAO TÁC</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Đưa khối về bằng cách nào cũng được</a:t>
            </a:r>
            <a:endParaRPr lang="en-US" sz="3000" dirty="0"/>
          </a:p>
        </p:txBody>
      </p:sp>
      <p:pic>
        <p:nvPicPr>
          <p:cNvPr id="5" name="RR_ph_thidau2_jpg" descr="Học sinh điều khiển robot UGOT trên sa bàn thi đấu">    </p:cNvPr>
          <p:cNvPicPr>
            <a:picLocks noChangeAspect="1"/>
          </p:cNvPicPr>
          <p:nvPr/>
        </p:nvPicPr>
        <p:blipFill>
          <a:blip r:embed="rId1"/>
          <a:stretch>
            <a:fillRect/>
          </a:stretch>
        </p:blipFill>
        <p:spPr>
          <a:xfrm>
            <a:off x="548640" y="1371600"/>
            <a:ext cx="5120640" cy="3410712"/>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6" name="Text 2"/>
          <p:cNvSpPr txBox="1"/>
          <p:nvPr/>
        </p:nvSpPr>
        <p:spPr>
          <a:xfrm>
            <a:off x="548640" y="4846320"/>
            <a:ext cx="5120640" cy="274320"/>
          </a:xfrm>
          <a:prstGeom prst="rect">
            <a:avLst/>
          </a:prstGeom>
          <a:noFill/>
          <a:ln/>
        </p:spPr>
        <p:txBody>
          <a:bodyPr wrap="square" lIns="0" tIns="0" rIns="0" bIns="0" rtlCol="0" anchor="t"/>
          <a:lstStyle/>
          <a:p>
            <a:pPr indent="0" marL="0">
              <a:buNone/>
            </a:pPr>
            <a:r>
              <a:rPr lang="en-US" sz="1100" i="1" dirty="0">
                <a:solidFill>
                  <a:srgbClr val="5B4B8A"/>
                </a:solidFill>
              </a:rPr>
              <a:t>Robot gắp, đẩy, dồn khối trên sa bàn</a:t>
            </a:r>
            <a:endParaRPr lang="en-US" sz="1100" dirty="0"/>
          </a:p>
        </p:txBody>
      </p:sp>
      <p:sp>
        <p:nvSpPr>
          <p:cNvPr id="7" name="Shape 3"/>
          <p:cNvSpPr/>
          <p:nvPr/>
        </p:nvSpPr>
        <p:spPr>
          <a:xfrm>
            <a:off x="5989320" y="1371600"/>
            <a:ext cx="1298448" cy="512064"/>
          </a:xfrm>
          <a:prstGeom prst="roundRect">
            <a:avLst>
              <a:gd name="adj" fmla="val 50000"/>
            </a:avLst>
          </a:prstGeom>
          <a:solidFill>
            <a:srgbClr val="8B5CF6"/>
          </a:solidFill>
          <a:ln/>
        </p:spPr>
      </p:sp>
      <p:sp>
        <p:nvSpPr>
          <p:cNvPr id="8" name="Text 4"/>
          <p:cNvSpPr txBox="1"/>
          <p:nvPr/>
        </p:nvSpPr>
        <p:spPr>
          <a:xfrm>
            <a:off x="5989320" y="1371600"/>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Gắp</a:t>
            </a:r>
            <a:endParaRPr lang="en-US" sz="1700" dirty="0"/>
          </a:p>
        </p:txBody>
      </p:sp>
      <p:sp>
        <p:nvSpPr>
          <p:cNvPr id="9" name="Shape 5"/>
          <p:cNvSpPr/>
          <p:nvPr/>
        </p:nvSpPr>
        <p:spPr>
          <a:xfrm>
            <a:off x="7415784" y="1371600"/>
            <a:ext cx="1298448" cy="512064"/>
          </a:xfrm>
          <a:prstGeom prst="roundRect">
            <a:avLst>
              <a:gd name="adj" fmla="val 50000"/>
            </a:avLst>
          </a:prstGeom>
          <a:solidFill>
            <a:srgbClr val="7C3AED"/>
          </a:solidFill>
          <a:ln/>
        </p:spPr>
      </p:sp>
      <p:sp>
        <p:nvSpPr>
          <p:cNvPr id="10" name="Text 6"/>
          <p:cNvSpPr txBox="1"/>
          <p:nvPr/>
        </p:nvSpPr>
        <p:spPr>
          <a:xfrm>
            <a:off x="7415784" y="1371600"/>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Kẹp</a:t>
            </a:r>
            <a:endParaRPr lang="en-US" sz="1700" dirty="0"/>
          </a:p>
        </p:txBody>
      </p:sp>
      <p:sp>
        <p:nvSpPr>
          <p:cNvPr id="11" name="Shape 7"/>
          <p:cNvSpPr/>
          <p:nvPr/>
        </p:nvSpPr>
        <p:spPr>
          <a:xfrm>
            <a:off x="8842248" y="1371600"/>
            <a:ext cx="1298448" cy="512064"/>
          </a:xfrm>
          <a:prstGeom prst="roundRect">
            <a:avLst>
              <a:gd name="adj" fmla="val 50000"/>
            </a:avLst>
          </a:prstGeom>
          <a:solidFill>
            <a:srgbClr val="8B5CF6"/>
          </a:solidFill>
          <a:ln/>
        </p:spPr>
      </p:sp>
      <p:sp>
        <p:nvSpPr>
          <p:cNvPr id="12" name="Text 8"/>
          <p:cNvSpPr txBox="1"/>
          <p:nvPr/>
        </p:nvSpPr>
        <p:spPr>
          <a:xfrm>
            <a:off x="8842248" y="1371600"/>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Nâng</a:t>
            </a:r>
            <a:endParaRPr lang="en-US" sz="1700" dirty="0"/>
          </a:p>
        </p:txBody>
      </p:sp>
      <p:sp>
        <p:nvSpPr>
          <p:cNvPr id="13" name="Shape 9"/>
          <p:cNvSpPr/>
          <p:nvPr/>
        </p:nvSpPr>
        <p:spPr>
          <a:xfrm>
            <a:off x="10268712" y="1371600"/>
            <a:ext cx="1298448" cy="512064"/>
          </a:xfrm>
          <a:prstGeom prst="roundRect">
            <a:avLst>
              <a:gd name="adj" fmla="val 50000"/>
            </a:avLst>
          </a:prstGeom>
          <a:solidFill>
            <a:srgbClr val="7C3AED"/>
          </a:solidFill>
          <a:ln/>
        </p:spPr>
      </p:sp>
      <p:sp>
        <p:nvSpPr>
          <p:cNvPr id="14" name="Text 10"/>
          <p:cNvSpPr txBox="1"/>
          <p:nvPr/>
        </p:nvSpPr>
        <p:spPr>
          <a:xfrm>
            <a:off x="10268712" y="1371600"/>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Đẩy</a:t>
            </a:r>
            <a:endParaRPr lang="en-US" sz="1700" dirty="0"/>
          </a:p>
        </p:txBody>
      </p:sp>
      <p:sp>
        <p:nvSpPr>
          <p:cNvPr id="15" name="Shape 11"/>
          <p:cNvSpPr/>
          <p:nvPr/>
        </p:nvSpPr>
        <p:spPr>
          <a:xfrm>
            <a:off x="5989320" y="2029968"/>
            <a:ext cx="1298448" cy="512064"/>
          </a:xfrm>
          <a:prstGeom prst="roundRect">
            <a:avLst>
              <a:gd name="adj" fmla="val 50000"/>
            </a:avLst>
          </a:prstGeom>
          <a:solidFill>
            <a:srgbClr val="8B5CF6"/>
          </a:solidFill>
          <a:ln/>
        </p:spPr>
      </p:sp>
      <p:sp>
        <p:nvSpPr>
          <p:cNvPr id="16" name="Text 12"/>
          <p:cNvSpPr txBox="1"/>
          <p:nvPr/>
        </p:nvSpPr>
        <p:spPr>
          <a:xfrm>
            <a:off x="5989320" y="2029968"/>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Gạt</a:t>
            </a:r>
            <a:endParaRPr lang="en-US" sz="1700" dirty="0"/>
          </a:p>
        </p:txBody>
      </p:sp>
      <p:sp>
        <p:nvSpPr>
          <p:cNvPr id="17" name="Shape 13"/>
          <p:cNvSpPr/>
          <p:nvPr/>
        </p:nvSpPr>
        <p:spPr>
          <a:xfrm>
            <a:off x="7415784" y="2029968"/>
            <a:ext cx="1298448" cy="512064"/>
          </a:xfrm>
          <a:prstGeom prst="roundRect">
            <a:avLst>
              <a:gd name="adj" fmla="val 50000"/>
            </a:avLst>
          </a:prstGeom>
          <a:solidFill>
            <a:srgbClr val="7C3AED"/>
          </a:solidFill>
          <a:ln/>
        </p:spPr>
      </p:sp>
      <p:sp>
        <p:nvSpPr>
          <p:cNvPr id="18" name="Text 14"/>
          <p:cNvSpPr txBox="1"/>
          <p:nvPr/>
        </p:nvSpPr>
        <p:spPr>
          <a:xfrm>
            <a:off x="7415784" y="2029968"/>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Ủi</a:t>
            </a:r>
            <a:endParaRPr lang="en-US" sz="1700" dirty="0"/>
          </a:p>
        </p:txBody>
      </p:sp>
      <p:sp>
        <p:nvSpPr>
          <p:cNvPr id="19" name="Shape 15"/>
          <p:cNvSpPr/>
          <p:nvPr/>
        </p:nvSpPr>
        <p:spPr>
          <a:xfrm>
            <a:off x="8842248" y="2029968"/>
            <a:ext cx="1298448" cy="512064"/>
          </a:xfrm>
          <a:prstGeom prst="roundRect">
            <a:avLst>
              <a:gd name="adj" fmla="val 50000"/>
            </a:avLst>
          </a:prstGeom>
          <a:solidFill>
            <a:srgbClr val="8B5CF6"/>
          </a:solidFill>
          <a:ln/>
        </p:spPr>
      </p:sp>
      <p:sp>
        <p:nvSpPr>
          <p:cNvPr id="20" name="Text 16"/>
          <p:cNvSpPr txBox="1"/>
          <p:nvPr/>
        </p:nvSpPr>
        <p:spPr>
          <a:xfrm>
            <a:off x="8842248" y="2029968"/>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Kéo</a:t>
            </a:r>
            <a:endParaRPr lang="en-US" sz="1700" dirty="0"/>
          </a:p>
        </p:txBody>
      </p:sp>
      <p:sp>
        <p:nvSpPr>
          <p:cNvPr id="21" name="Shape 17"/>
          <p:cNvSpPr/>
          <p:nvPr/>
        </p:nvSpPr>
        <p:spPr>
          <a:xfrm>
            <a:off x="10268712" y="2029968"/>
            <a:ext cx="1371600" cy="512064"/>
          </a:xfrm>
          <a:prstGeom prst="roundRect">
            <a:avLst>
              <a:gd name="adj" fmla="val 50000"/>
            </a:avLst>
          </a:prstGeom>
          <a:solidFill>
            <a:srgbClr val="7C3AED"/>
          </a:solidFill>
          <a:ln/>
        </p:spPr>
      </p:sp>
      <p:sp>
        <p:nvSpPr>
          <p:cNvPr id="22" name="Text 18"/>
          <p:cNvSpPr txBox="1"/>
          <p:nvPr/>
        </p:nvSpPr>
        <p:spPr>
          <a:xfrm>
            <a:off x="10268712" y="2029968"/>
            <a:ext cx="1371600" cy="512064"/>
          </a:xfrm>
          <a:prstGeom prst="rect">
            <a:avLst/>
          </a:prstGeom>
          <a:noFill/>
          <a:ln/>
        </p:spPr>
        <p:txBody>
          <a:bodyPr wrap="square" lIns="0" tIns="0" rIns="0" bIns="0" rtlCol="0" anchor="ctr"/>
          <a:lstStyle/>
          <a:p>
            <a:pPr algn="ctr" indent="0" marL="0">
              <a:buNone/>
            </a:pPr>
            <a:r>
              <a:rPr lang="en-US" sz="1300" b="1" dirty="0">
                <a:solidFill>
                  <a:srgbClr val="FFFFFF"/>
                </a:solidFill>
              </a:rPr>
              <a:t>Dồn nhiều khối</a:t>
            </a:r>
            <a:endParaRPr lang="en-US" sz="1300" dirty="0"/>
          </a:p>
        </p:txBody>
      </p:sp>
      <p:sp>
        <p:nvSpPr>
          <p:cNvPr id="23" name="Shape 19"/>
          <p:cNvSpPr/>
          <p:nvPr/>
        </p:nvSpPr>
        <p:spPr>
          <a:xfrm>
            <a:off x="5989320" y="2880360"/>
            <a:ext cx="5650992" cy="1371600"/>
          </a:xfrm>
          <a:prstGeom prst="roundRect">
            <a:avLst>
              <a:gd name="adj" fmla="val 8000"/>
            </a:avLst>
          </a:prstGeom>
          <a:solidFill>
            <a:srgbClr val="DCFCE7"/>
          </a:solidFill>
          <a:ln/>
          <a:effectLst>
            <a:outerShdw sx="100000" sy="100000" kx="0" ky="0" algn="bl" rotWithShape="0" blurRad="127000" dist="38100" dir="5400000">
              <a:srgbClr val="4C1D95">
                <a:alpha val="16000"/>
              </a:srgbClr>
            </a:outerShdw>
          </a:effectLst>
        </p:spPr>
      </p:sp>
      <p:pic>
        <p:nvPicPr>
          <p:cNvPr id="24" name="Image 1" descr="Biểu tượng minh họa">    </p:cNvPr>
          <p:cNvPicPr>
            <a:picLocks noChangeAspect="1"/>
          </p:cNvPicPr>
          <p:nvPr/>
        </p:nvPicPr>
        <p:blipFill>
          <a:blip r:embed="rId2"/>
          <a:stretch>
            <a:fillRect/>
          </a:stretch>
        </p:blipFill>
        <p:spPr>
          <a:xfrm>
            <a:off x="6172200" y="3063240"/>
            <a:ext cx="594360" cy="594360"/>
          </a:xfrm>
          <a:prstGeom prst="rect">
            <a:avLst/>
          </a:prstGeom>
        </p:spPr>
      </p:pic>
      <p:sp>
        <p:nvSpPr>
          <p:cNvPr id="25" name="Text 20"/>
          <p:cNvSpPr txBox="1"/>
          <p:nvPr/>
        </p:nvSpPr>
        <p:spPr>
          <a:xfrm>
            <a:off x="6903720" y="2926080"/>
            <a:ext cx="4617720" cy="1280160"/>
          </a:xfrm>
          <a:prstGeom prst="rect">
            <a:avLst/>
          </a:prstGeom>
          <a:noFill/>
          <a:ln/>
        </p:spPr>
        <p:txBody>
          <a:bodyPr wrap="square" lIns="0" tIns="0" rIns="0" bIns="0" rtlCol="0" anchor="ctr"/>
          <a:lstStyle/>
          <a:p>
            <a:pPr indent="0" marL="0">
              <a:buNone/>
            </a:pPr>
            <a:r>
              <a:rPr lang="en-US" sz="1700" b="1" dirty="0">
                <a:solidFill>
                  <a:srgbClr val="15803D"/>
                </a:solidFill>
              </a:rPr>
              <a:t>Khối được tính điểm miễn là nằm trong Khu vực tham chiếu của Khu Căn cứ đội mình.</a:t>
            </a:r>
            <a:endParaRPr lang="en-US" sz="1700" dirty="0"/>
          </a:p>
        </p:txBody>
      </p:sp>
      <p:sp>
        <p:nvSpPr>
          <p:cNvPr id="26" name="Shape 21"/>
          <p:cNvSpPr/>
          <p:nvPr/>
        </p:nvSpPr>
        <p:spPr>
          <a:xfrm>
            <a:off x="5989320" y="4434840"/>
            <a:ext cx="5650992" cy="1828800"/>
          </a:xfrm>
          <a:prstGeom prst="roundRect">
            <a:avLst>
              <a:gd name="adj" fmla="val 6000"/>
            </a:avLst>
          </a:prstGeom>
          <a:solidFill>
            <a:srgbClr val="FEE2E2"/>
          </a:solidFill>
          <a:ln/>
          <a:effectLst>
            <a:outerShdw sx="100000" sy="100000" kx="0" ky="0" algn="bl" rotWithShape="0" blurRad="127000" dist="38100" dir="5400000">
              <a:srgbClr val="4C1D95">
                <a:alpha val="16000"/>
              </a:srgbClr>
            </a:outerShdw>
          </a:effectLst>
        </p:spPr>
      </p:sp>
      <p:pic>
        <p:nvPicPr>
          <p:cNvPr id="27" name="Image 2" descr="Biểu tượng minh họa">    </p:cNvPr>
          <p:cNvPicPr>
            <a:picLocks noChangeAspect="1"/>
          </p:cNvPicPr>
          <p:nvPr/>
        </p:nvPicPr>
        <p:blipFill>
          <a:blip r:embed="rId3"/>
          <a:stretch>
            <a:fillRect/>
          </a:stretch>
        </p:blipFill>
        <p:spPr>
          <a:xfrm>
            <a:off x="6172200" y="4572000"/>
            <a:ext cx="548640" cy="548640"/>
          </a:xfrm>
          <a:prstGeom prst="rect">
            <a:avLst/>
          </a:prstGeom>
        </p:spPr>
      </p:pic>
      <p:sp>
        <p:nvSpPr>
          <p:cNvPr id="28" name="Text 22"/>
          <p:cNvSpPr txBox="1"/>
          <p:nvPr/>
        </p:nvSpPr>
        <p:spPr>
          <a:xfrm>
            <a:off x="6858000" y="4572000"/>
            <a:ext cx="3657600" cy="548640"/>
          </a:xfrm>
          <a:prstGeom prst="rect">
            <a:avLst/>
          </a:prstGeom>
          <a:noFill/>
          <a:ln/>
        </p:spPr>
        <p:txBody>
          <a:bodyPr wrap="square" lIns="0" tIns="0" rIns="0" bIns="0" rtlCol="0" anchor="ctr"/>
          <a:lstStyle/>
          <a:p>
            <a:pPr indent="0" marL="0">
              <a:buNone/>
            </a:pPr>
            <a:r>
              <a:rPr lang="en-US" sz="1800" b="1" dirty="0">
                <a:solidFill>
                  <a:srgbClr val="DC2626"/>
                </a:solidFill>
              </a:rPr>
              <a:t>Ngoại lệ</a:t>
            </a:r>
            <a:endParaRPr lang="en-US" sz="1800" dirty="0"/>
          </a:p>
        </p:txBody>
      </p:sp>
      <p:sp>
        <p:nvSpPr>
          <p:cNvPr id="29" name="Text 23"/>
          <p:cNvSpPr txBox="1"/>
          <p:nvPr/>
        </p:nvSpPr>
        <p:spPr>
          <a:xfrm>
            <a:off x="6172200" y="5120640"/>
            <a:ext cx="5349240" cy="10972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Lấy khối tại Trạm Trung tâm khi chưa mở khóa</a:t>
            </a:r>
            <a:endParaRPr lang="en-US" sz="1400" dirty="0"/>
          </a:p>
          <a:p>
            <a:pPr marL="203200" indent="-203200">
              <a:spcAft>
                <a:spcPts val="600"/>
              </a:spcAft>
              <a:buSzPct val="100000"/>
              <a:buChar char="•"/>
            </a:pPr>
            <a:r>
              <a:rPr lang="en-US" sz="1400" dirty="0">
                <a:solidFill>
                  <a:srgbClr val="2E1065"/>
                </a:solidFill>
              </a:rPr>
              <a:t>Các hành vi bị xử lý: đâm trực tiếp, tác động từ bên ngoài…</a:t>
            </a:r>
            <a:endParaRPr lang="en-US" sz="1400" dirty="0"/>
          </a:p>
        </p:txBody>
      </p:sp>
      <p:sp>
        <p:nvSpPr>
          <p:cNvPr id="30" name="Shape 24"/>
          <p:cNvSpPr/>
          <p:nvPr/>
        </p:nvSpPr>
        <p:spPr>
          <a:xfrm>
            <a:off x="548640" y="5257800"/>
            <a:ext cx="5120640" cy="1005840"/>
          </a:xfrm>
          <a:prstGeom prst="roundRect">
            <a:avLst>
              <a:gd name="adj" fmla="val 10909"/>
            </a:avLst>
          </a:prstGeom>
          <a:solidFill>
            <a:srgbClr val="FFFFFF"/>
          </a:solidFill>
          <a:ln/>
          <a:effectLst>
            <a:outerShdw sx="100000" sy="100000" kx="0" ky="0" algn="bl" rotWithShape="0" blurRad="127000" dist="38100" dir="5400000">
              <a:srgbClr val="4C1D95">
                <a:alpha val="16000"/>
              </a:srgbClr>
            </a:outerShdw>
          </a:effectLst>
        </p:spPr>
      </p:sp>
      <p:pic>
        <p:nvPicPr>
          <p:cNvPr id="31" name="Image 3" descr="Biểu tượng minh họa">    </p:cNvPr>
          <p:cNvPicPr>
            <a:picLocks noChangeAspect="1"/>
          </p:cNvPicPr>
          <p:nvPr/>
        </p:nvPicPr>
        <p:blipFill>
          <a:blip r:embed="rId4"/>
          <a:stretch>
            <a:fillRect/>
          </a:stretch>
        </p:blipFill>
        <p:spPr>
          <a:xfrm>
            <a:off x="731520" y="5413248"/>
            <a:ext cx="685800" cy="685800"/>
          </a:xfrm>
          <a:prstGeom prst="rect">
            <a:avLst/>
          </a:prstGeom>
        </p:spPr>
      </p:pic>
      <p:sp>
        <p:nvSpPr>
          <p:cNvPr id="32" name="Text 25"/>
          <p:cNvSpPr txBox="1"/>
          <p:nvPr/>
        </p:nvSpPr>
        <p:spPr>
          <a:xfrm>
            <a:off x="1600200" y="5257800"/>
            <a:ext cx="3977640" cy="1005840"/>
          </a:xfrm>
          <a:prstGeom prst="rect">
            <a:avLst/>
          </a:prstGeom>
          <a:noFill/>
          <a:ln/>
        </p:spPr>
        <p:txBody>
          <a:bodyPr wrap="square" lIns="0" tIns="0" rIns="0" bIns="0" rtlCol="0" anchor="ctr"/>
          <a:lstStyle/>
          <a:p>
            <a:pPr indent="0" marL="0">
              <a:buNone/>
            </a:pPr>
            <a:r>
              <a:rPr lang="en-US" sz="1500" dirty="0">
                <a:solidFill>
                  <a:srgbClr val="2E1065"/>
                </a:solidFill>
              </a:rPr>
              <a:t>Robot được đi khắp sa bàn, kể cả sang phần sân đội bạn, để thu gom khối.</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ĐIỀU KIỆN TÍNH ĐIỂM</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Khối thế nào thì được tính điểm?</a:t>
            </a:r>
            <a:endParaRPr lang="en-US" sz="3000" dirty="0"/>
          </a:p>
        </p:txBody>
      </p:sp>
      <p:sp>
        <p:nvSpPr>
          <p:cNvPr id="5" name="Shape 2"/>
          <p:cNvSpPr/>
          <p:nvPr/>
        </p:nvSpPr>
        <p:spPr>
          <a:xfrm>
            <a:off x="548640" y="1371600"/>
            <a:ext cx="6400800" cy="4892040"/>
          </a:xfrm>
          <a:prstGeom prst="roundRect">
            <a:avLst>
              <a:gd name="adj" fmla="val 2243"/>
            </a:avLst>
          </a:prstGeom>
          <a:solidFill>
            <a:srgbClr val="4B4463"/>
          </a:solidFill>
          <a:ln/>
          <a:effectLst>
            <a:outerShdw sx="100000" sy="100000" kx="0" ky="0" algn="bl" rotWithShape="0" blurRad="127000" dist="38100" dir="5400000">
              <a:srgbClr val="4C1D95">
                <a:alpha val="20000"/>
              </a:srgbClr>
            </a:outerShdw>
          </a:effectLst>
        </p:spPr>
      </p:sp>
      <p:sp>
        <p:nvSpPr>
          <p:cNvPr id="6" name="Shape 3"/>
          <p:cNvSpPr/>
          <p:nvPr/>
        </p:nvSpPr>
        <p:spPr>
          <a:xfrm>
            <a:off x="868680" y="1783080"/>
            <a:ext cx="2743200" cy="3931920"/>
          </a:xfrm>
          <a:prstGeom prst="rect">
            <a:avLst/>
          </a:prstGeom>
          <a:solidFill>
            <a:srgbClr val="D6B98F"/>
          </a:solidFill>
          <a:ln w="76200">
            <a:solidFill>
              <a:srgbClr val="EA580C"/>
            </a:solidFill>
            <a:prstDash val="solid"/>
          </a:ln>
        </p:spPr>
      </p:sp>
      <p:sp>
        <p:nvSpPr>
          <p:cNvPr id="7" name="Text 4"/>
          <p:cNvSpPr txBox="1"/>
          <p:nvPr/>
        </p:nvSpPr>
        <p:spPr>
          <a:xfrm>
            <a:off x="868680" y="1828800"/>
            <a:ext cx="2743200" cy="365760"/>
          </a:xfrm>
          <a:prstGeom prst="rect">
            <a:avLst/>
          </a:prstGeom>
          <a:noFill/>
          <a:ln/>
        </p:spPr>
        <p:txBody>
          <a:bodyPr wrap="square" lIns="0" tIns="0" rIns="0" bIns="0" rtlCol="0" anchor="t"/>
          <a:lstStyle/>
          <a:p>
            <a:pPr algn="ctr" indent="0" marL="0">
              <a:buNone/>
            </a:pPr>
            <a:r>
              <a:rPr lang="en-US" sz="1400" b="1" dirty="0">
                <a:solidFill>
                  <a:srgbClr val="7C2D12"/>
                </a:solidFill>
              </a:rPr>
              <a:t>KHU CĂN CỨ</a:t>
            </a:r>
            <a:endParaRPr lang="en-US" sz="1400" dirty="0"/>
          </a:p>
        </p:txBody>
      </p:sp>
      <p:pic>
        <p:nvPicPr>
          <p:cNvPr id="8" name="Image 0" descr="Biểu tượng minh họa">    </p:cNvPr>
          <p:cNvPicPr>
            <a:picLocks noChangeAspect="1"/>
          </p:cNvPicPr>
          <p:nvPr/>
        </p:nvPicPr>
        <p:blipFill>
          <a:blip r:embed="rId1"/>
          <a:stretch>
            <a:fillRect/>
          </a:stretch>
        </p:blipFill>
        <p:spPr>
          <a:xfrm>
            <a:off x="1005840" y="5074920"/>
            <a:ext cx="502920" cy="502920"/>
          </a:xfrm>
          <a:prstGeom prst="rect">
            <a:avLst/>
          </a:prstGeom>
        </p:spPr>
      </p:pic>
      <p:sp>
        <p:nvSpPr>
          <p:cNvPr id="9" name="Shape 5"/>
          <p:cNvSpPr/>
          <p:nvPr/>
        </p:nvSpPr>
        <p:spPr>
          <a:xfrm>
            <a:off x="1463040" y="2423160"/>
            <a:ext cx="457200" cy="457200"/>
          </a:xfrm>
          <a:prstGeom prst="roundRect">
            <a:avLst>
              <a:gd name="adj" fmla="val 8000"/>
            </a:avLst>
          </a:prstGeom>
          <a:solidFill>
            <a:srgbClr val="EA580C"/>
          </a:solidFill>
          <a:ln w="15875">
            <a:solidFill>
              <a:srgbClr val="FFFFFF"/>
            </a:solidFill>
            <a:prstDash val="solid"/>
          </a:ln>
          <a:effectLst>
            <a:outerShdw sx="100000" sy="100000" kx="0" ky="0" algn="bl" rotWithShape="0" blurRad="38100" dist="19050" dir="5400000">
              <a:srgbClr val="000000">
                <a:alpha val="25000"/>
              </a:srgbClr>
            </a:outerShdw>
          </a:effectLst>
        </p:spPr>
      </p:sp>
      <p:sp>
        <p:nvSpPr>
          <p:cNvPr id="10" name="Text 6"/>
          <p:cNvSpPr txBox="1"/>
          <p:nvPr/>
        </p:nvSpPr>
        <p:spPr>
          <a:xfrm>
            <a:off x="1463040" y="2423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1" name="Shape 7"/>
          <p:cNvSpPr/>
          <p:nvPr/>
        </p:nvSpPr>
        <p:spPr>
          <a:xfrm>
            <a:off x="3383280" y="3200400"/>
            <a:ext cx="457200" cy="457200"/>
          </a:xfrm>
          <a:prstGeom prst="roundRect">
            <a:avLst>
              <a:gd name="adj" fmla="val 8000"/>
            </a:avLst>
          </a:prstGeom>
          <a:solidFill>
            <a:srgbClr val="EA580C"/>
          </a:solidFill>
          <a:ln w="15875">
            <a:solidFill>
              <a:srgbClr val="FFFFFF"/>
            </a:solidFill>
            <a:prstDash val="solid"/>
          </a:ln>
          <a:effectLst>
            <a:outerShdw sx="100000" sy="100000" kx="0" ky="0" algn="bl" rotWithShape="0" blurRad="38100" dist="19050" dir="5400000">
              <a:srgbClr val="000000">
                <a:alpha val="25000"/>
              </a:srgbClr>
            </a:outerShdw>
          </a:effectLst>
        </p:spPr>
      </p:sp>
      <p:sp>
        <p:nvSpPr>
          <p:cNvPr id="12" name="Text 8"/>
          <p:cNvSpPr txBox="1"/>
          <p:nvPr/>
        </p:nvSpPr>
        <p:spPr>
          <a:xfrm>
            <a:off x="3383280" y="3200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3" name="Shape 9"/>
          <p:cNvSpPr/>
          <p:nvPr/>
        </p:nvSpPr>
        <p:spPr>
          <a:xfrm>
            <a:off x="4572000" y="2240280"/>
            <a:ext cx="457200" cy="457200"/>
          </a:xfrm>
          <a:prstGeom prst="roundRect">
            <a:avLst>
              <a:gd name="adj" fmla="val 8000"/>
            </a:avLst>
          </a:prstGeom>
          <a:solidFill>
            <a:srgbClr val="EA580C"/>
          </a:solidFill>
          <a:ln w="15875">
            <a:solidFill>
              <a:srgbClr val="FFFFFF"/>
            </a:solidFill>
            <a:prstDash val="solid"/>
          </a:ln>
          <a:effectLst>
            <a:outerShdw sx="100000" sy="100000" kx="0" ky="0" algn="bl" rotWithShape="0" blurRad="38100" dist="19050" dir="5400000">
              <a:srgbClr val="000000">
                <a:alpha val="25000"/>
              </a:srgbClr>
            </a:outerShdw>
          </a:effectLst>
        </p:spPr>
      </p:sp>
      <p:sp>
        <p:nvSpPr>
          <p:cNvPr id="14" name="Text 10"/>
          <p:cNvSpPr txBox="1"/>
          <p:nvPr/>
        </p:nvSpPr>
        <p:spPr>
          <a:xfrm>
            <a:off x="4572000" y="2240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5" name="Shape 11"/>
          <p:cNvSpPr/>
          <p:nvPr/>
        </p:nvSpPr>
        <p:spPr>
          <a:xfrm>
            <a:off x="4037990" y="4218127"/>
            <a:ext cx="219456" cy="307238"/>
          </a:xfrm>
          <a:prstGeom prst="roundRect">
            <a:avLst>
              <a:gd name="adj" fmla="val 12500"/>
            </a:avLst>
          </a:prstGeom>
          <a:solidFill>
            <a:srgbClr val="111827"/>
          </a:solidFill>
          <a:ln/>
        </p:spPr>
      </p:sp>
      <p:sp>
        <p:nvSpPr>
          <p:cNvPr id="16" name="Shape 12"/>
          <p:cNvSpPr/>
          <p:nvPr/>
        </p:nvSpPr>
        <p:spPr>
          <a:xfrm>
            <a:off x="5343754" y="4218127"/>
            <a:ext cx="219456" cy="307238"/>
          </a:xfrm>
          <a:prstGeom prst="roundRect">
            <a:avLst>
              <a:gd name="adj" fmla="val 12500"/>
            </a:avLst>
          </a:prstGeom>
          <a:solidFill>
            <a:srgbClr val="111827"/>
          </a:solidFill>
          <a:ln/>
        </p:spPr>
      </p:sp>
      <p:sp>
        <p:nvSpPr>
          <p:cNvPr id="17" name="Shape 13"/>
          <p:cNvSpPr/>
          <p:nvPr/>
        </p:nvSpPr>
        <p:spPr>
          <a:xfrm>
            <a:off x="4037990" y="4755794"/>
            <a:ext cx="219456" cy="307238"/>
          </a:xfrm>
          <a:prstGeom prst="roundRect">
            <a:avLst>
              <a:gd name="adj" fmla="val 12500"/>
            </a:avLst>
          </a:prstGeom>
          <a:solidFill>
            <a:srgbClr val="111827"/>
          </a:solidFill>
          <a:ln/>
        </p:spPr>
      </p:sp>
      <p:sp>
        <p:nvSpPr>
          <p:cNvPr id="18" name="Shape 14"/>
          <p:cNvSpPr/>
          <p:nvPr/>
        </p:nvSpPr>
        <p:spPr>
          <a:xfrm>
            <a:off x="5343754" y="4755794"/>
            <a:ext cx="219456" cy="307238"/>
          </a:xfrm>
          <a:prstGeom prst="roundRect">
            <a:avLst>
              <a:gd name="adj" fmla="val 12500"/>
            </a:avLst>
          </a:prstGeom>
          <a:solidFill>
            <a:srgbClr val="111827"/>
          </a:solidFill>
          <a:ln/>
        </p:spPr>
      </p:sp>
      <p:sp>
        <p:nvSpPr>
          <p:cNvPr id="19" name="Shape 15"/>
          <p:cNvSpPr/>
          <p:nvPr/>
        </p:nvSpPr>
        <p:spPr>
          <a:xfrm>
            <a:off x="4213555" y="4160520"/>
            <a:ext cx="1174090" cy="960120"/>
          </a:xfrm>
          <a:prstGeom prst="roundRect">
            <a:avLst>
              <a:gd name="adj" fmla="val 5714"/>
            </a:avLst>
          </a:prstGeom>
          <a:solidFill>
            <a:srgbClr val="334155"/>
          </a:solidFill>
          <a:ln w="12700">
            <a:solidFill>
              <a:srgbClr val="0F172A"/>
            </a:solidFill>
            <a:prstDash val="solid"/>
          </a:ln>
        </p:spPr>
      </p:sp>
      <p:sp>
        <p:nvSpPr>
          <p:cNvPr id="20" name="Shape 16"/>
          <p:cNvSpPr/>
          <p:nvPr/>
        </p:nvSpPr>
        <p:spPr>
          <a:xfrm>
            <a:off x="4553712" y="4448556"/>
            <a:ext cx="493776" cy="288036"/>
          </a:xfrm>
          <a:prstGeom prst="roundRect">
            <a:avLst>
              <a:gd name="adj" fmla="val 9524"/>
            </a:avLst>
          </a:prstGeom>
          <a:solidFill>
            <a:srgbClr val="22D3EE"/>
          </a:solidFill>
          <a:ln/>
        </p:spPr>
      </p:sp>
      <p:sp>
        <p:nvSpPr>
          <p:cNvPr id="21" name="Shape 17"/>
          <p:cNvSpPr/>
          <p:nvPr/>
        </p:nvSpPr>
        <p:spPr>
          <a:xfrm>
            <a:off x="5442509" y="4429354"/>
            <a:ext cx="301752" cy="76810"/>
          </a:xfrm>
          <a:prstGeom prst="rect">
            <a:avLst/>
          </a:prstGeom>
          <a:solidFill>
            <a:srgbClr val="F59E0B"/>
          </a:solidFill>
          <a:ln/>
        </p:spPr>
      </p:sp>
      <p:sp>
        <p:nvSpPr>
          <p:cNvPr id="22" name="Shape 18"/>
          <p:cNvSpPr/>
          <p:nvPr/>
        </p:nvSpPr>
        <p:spPr>
          <a:xfrm>
            <a:off x="5442509" y="4774997"/>
            <a:ext cx="301752" cy="76810"/>
          </a:xfrm>
          <a:prstGeom prst="rect">
            <a:avLst/>
          </a:prstGeom>
          <a:solidFill>
            <a:srgbClr val="F59E0B"/>
          </a:solidFill>
          <a:ln/>
        </p:spPr>
      </p:sp>
      <p:sp>
        <p:nvSpPr>
          <p:cNvPr id="23" name="Shape 19"/>
          <p:cNvSpPr/>
          <p:nvPr/>
        </p:nvSpPr>
        <p:spPr>
          <a:xfrm>
            <a:off x="5596128" y="4434840"/>
            <a:ext cx="384048" cy="384048"/>
          </a:xfrm>
          <a:prstGeom prst="roundRect">
            <a:avLst>
              <a:gd name="adj" fmla="val 9524"/>
            </a:avLst>
          </a:prstGeom>
          <a:solidFill>
            <a:srgbClr val="EA580C"/>
          </a:solidFill>
          <a:ln w="15875">
            <a:solidFill>
              <a:srgbClr val="FFFFFF"/>
            </a:solidFill>
            <a:prstDash val="solid"/>
          </a:ln>
          <a:effectLst>
            <a:outerShdw sx="100000" sy="100000" kx="0" ky="0" algn="bl" rotWithShape="0" blurRad="38100" dist="19050" dir="5400000">
              <a:srgbClr val="000000">
                <a:alpha val="25000"/>
              </a:srgbClr>
            </a:outerShdw>
          </a:effectLst>
        </p:spPr>
      </p:sp>
      <p:sp>
        <p:nvSpPr>
          <p:cNvPr id="24" name="Text 20"/>
          <p:cNvSpPr txBox="1"/>
          <p:nvPr/>
        </p:nvSpPr>
        <p:spPr>
          <a:xfrm>
            <a:off x="5596128" y="4434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D</a:t>
            </a:r>
            <a:endParaRPr lang="en-US" sz="1200" dirty="0"/>
          </a:p>
        </p:txBody>
      </p:sp>
      <p:sp>
        <p:nvSpPr>
          <p:cNvPr id="25" name="Shape 21"/>
          <p:cNvSpPr/>
          <p:nvPr/>
        </p:nvSpPr>
        <p:spPr>
          <a:xfrm>
            <a:off x="960120" y="2999232"/>
            <a:ext cx="1783080" cy="420624"/>
          </a:xfrm>
          <a:prstGeom prst="roundRect">
            <a:avLst>
              <a:gd name="adj" fmla="val 50000"/>
            </a:avLst>
          </a:prstGeom>
          <a:solidFill>
            <a:srgbClr val="1E1B2E">
              <a:alpha val="90000"/>
            </a:srgbClr>
          </a:solidFill>
          <a:ln/>
        </p:spPr>
      </p:sp>
      <p:sp>
        <p:nvSpPr>
          <p:cNvPr id="26" name="Text 22"/>
          <p:cNvSpPr txBox="1"/>
          <p:nvPr/>
        </p:nvSpPr>
        <p:spPr>
          <a:xfrm>
            <a:off x="960120" y="2999232"/>
            <a:ext cx="1783080" cy="420624"/>
          </a:xfrm>
          <a:prstGeom prst="rect">
            <a:avLst/>
          </a:prstGeom>
          <a:noFill/>
          <a:ln/>
        </p:spPr>
        <p:txBody>
          <a:bodyPr wrap="square" lIns="0" tIns="0" rIns="0" bIns="0" rtlCol="0" anchor="ctr"/>
          <a:lstStyle/>
          <a:p>
            <a:pPr algn="ctr" indent="0" marL="0">
              <a:buNone/>
            </a:pPr>
            <a:r>
              <a:rPr lang="en-US" sz="1300" b="1" dirty="0">
                <a:solidFill>
                  <a:srgbClr val="FFFFFF"/>
                </a:solidFill>
              </a:rPr>
              <a:t>   A: nằm trong</a:t>
            </a:r>
            <a:endParaRPr lang="en-US" sz="1300" dirty="0"/>
          </a:p>
        </p:txBody>
      </p:sp>
      <p:pic>
        <p:nvPicPr>
          <p:cNvPr id="27" name="Image 1" descr="Biểu tượng minh họa">    </p:cNvPr>
          <p:cNvPicPr>
            <a:picLocks noChangeAspect="1"/>
          </p:cNvPicPr>
          <p:nvPr/>
        </p:nvPicPr>
        <p:blipFill>
          <a:blip r:embed="rId2"/>
          <a:stretch>
            <a:fillRect/>
          </a:stretch>
        </p:blipFill>
        <p:spPr>
          <a:xfrm>
            <a:off x="996696" y="3035808"/>
            <a:ext cx="347472" cy="347472"/>
          </a:xfrm>
          <a:prstGeom prst="rect">
            <a:avLst/>
          </a:prstGeom>
        </p:spPr>
      </p:pic>
      <p:sp>
        <p:nvSpPr>
          <p:cNvPr id="28" name="Shape 23"/>
          <p:cNvSpPr/>
          <p:nvPr/>
        </p:nvSpPr>
        <p:spPr>
          <a:xfrm>
            <a:off x="4206240" y="3227832"/>
            <a:ext cx="1783080" cy="420624"/>
          </a:xfrm>
          <a:prstGeom prst="roundRect">
            <a:avLst>
              <a:gd name="adj" fmla="val 50000"/>
            </a:avLst>
          </a:prstGeom>
          <a:solidFill>
            <a:srgbClr val="1E1B2E">
              <a:alpha val="90000"/>
            </a:srgbClr>
          </a:solidFill>
          <a:ln/>
        </p:spPr>
      </p:sp>
      <p:sp>
        <p:nvSpPr>
          <p:cNvPr id="29" name="Text 24"/>
          <p:cNvSpPr txBox="1"/>
          <p:nvPr/>
        </p:nvSpPr>
        <p:spPr>
          <a:xfrm>
            <a:off x="4206240" y="3227832"/>
            <a:ext cx="1783080" cy="420624"/>
          </a:xfrm>
          <a:prstGeom prst="rect">
            <a:avLst/>
          </a:prstGeom>
          <a:noFill/>
          <a:ln/>
        </p:spPr>
        <p:txBody>
          <a:bodyPr wrap="square" lIns="0" tIns="0" rIns="0" bIns="0" rtlCol="0" anchor="ctr"/>
          <a:lstStyle/>
          <a:p>
            <a:pPr algn="ctr" indent="0" marL="0">
              <a:buNone/>
            </a:pPr>
            <a:r>
              <a:rPr lang="en-US" sz="1300" b="1" dirty="0">
                <a:solidFill>
                  <a:srgbClr val="FFFFFF"/>
                </a:solidFill>
              </a:rPr>
              <a:t>   B: đè vạch</a:t>
            </a:r>
            <a:endParaRPr lang="en-US" sz="1300" dirty="0"/>
          </a:p>
        </p:txBody>
      </p:sp>
      <p:pic>
        <p:nvPicPr>
          <p:cNvPr id="30" name="Image 2" descr="Biểu tượng minh họa">    </p:cNvPr>
          <p:cNvPicPr>
            <a:picLocks noChangeAspect="1"/>
          </p:cNvPicPr>
          <p:nvPr/>
        </p:nvPicPr>
        <p:blipFill>
          <a:blip r:embed="rId3"/>
          <a:stretch>
            <a:fillRect/>
          </a:stretch>
        </p:blipFill>
        <p:spPr>
          <a:xfrm>
            <a:off x="4242816" y="3264408"/>
            <a:ext cx="347472" cy="347472"/>
          </a:xfrm>
          <a:prstGeom prst="rect">
            <a:avLst/>
          </a:prstGeom>
        </p:spPr>
      </p:pic>
      <p:sp>
        <p:nvSpPr>
          <p:cNvPr id="31" name="Shape 25"/>
          <p:cNvSpPr/>
          <p:nvPr/>
        </p:nvSpPr>
        <p:spPr>
          <a:xfrm>
            <a:off x="5074920" y="2240280"/>
            <a:ext cx="1783080" cy="420624"/>
          </a:xfrm>
          <a:prstGeom prst="roundRect">
            <a:avLst>
              <a:gd name="adj" fmla="val 50000"/>
            </a:avLst>
          </a:prstGeom>
          <a:solidFill>
            <a:srgbClr val="1E1B2E">
              <a:alpha val="90000"/>
            </a:srgbClr>
          </a:solidFill>
          <a:ln/>
        </p:spPr>
      </p:sp>
      <p:sp>
        <p:nvSpPr>
          <p:cNvPr id="32" name="Text 26"/>
          <p:cNvSpPr txBox="1"/>
          <p:nvPr/>
        </p:nvSpPr>
        <p:spPr>
          <a:xfrm>
            <a:off x="5074920" y="2240280"/>
            <a:ext cx="1783080" cy="420624"/>
          </a:xfrm>
          <a:prstGeom prst="rect">
            <a:avLst/>
          </a:prstGeom>
          <a:noFill/>
          <a:ln/>
        </p:spPr>
        <p:txBody>
          <a:bodyPr wrap="square" lIns="0" tIns="0" rIns="0" bIns="0" rtlCol="0" anchor="ctr"/>
          <a:lstStyle/>
          <a:p>
            <a:pPr algn="ctr" indent="0" marL="0">
              <a:buNone/>
            </a:pPr>
            <a:r>
              <a:rPr lang="en-US" sz="1300" b="1" dirty="0">
                <a:solidFill>
                  <a:srgbClr val="FFFFFF"/>
                </a:solidFill>
              </a:rPr>
              <a:t>   C: ngoài vạch</a:t>
            </a:r>
            <a:endParaRPr lang="en-US" sz="1300" dirty="0"/>
          </a:p>
        </p:txBody>
      </p:sp>
      <p:pic>
        <p:nvPicPr>
          <p:cNvPr id="33" name="Image 3" descr="Biểu tượng minh họa">    </p:cNvPr>
          <p:cNvPicPr>
            <a:picLocks noChangeAspect="1"/>
          </p:cNvPicPr>
          <p:nvPr/>
        </p:nvPicPr>
        <p:blipFill>
          <a:blip r:embed="rId4"/>
          <a:stretch>
            <a:fillRect/>
          </a:stretch>
        </p:blipFill>
        <p:spPr>
          <a:xfrm>
            <a:off x="5111496" y="2276856"/>
            <a:ext cx="347472" cy="347472"/>
          </a:xfrm>
          <a:prstGeom prst="rect">
            <a:avLst/>
          </a:prstGeom>
        </p:spPr>
      </p:pic>
      <p:sp>
        <p:nvSpPr>
          <p:cNvPr id="34" name="Shape 27"/>
          <p:cNvSpPr/>
          <p:nvPr/>
        </p:nvSpPr>
        <p:spPr>
          <a:xfrm>
            <a:off x="4572000" y="5330952"/>
            <a:ext cx="1783080" cy="420624"/>
          </a:xfrm>
          <a:prstGeom prst="roundRect">
            <a:avLst>
              <a:gd name="adj" fmla="val 50000"/>
            </a:avLst>
          </a:prstGeom>
          <a:solidFill>
            <a:srgbClr val="1E1B2E">
              <a:alpha val="90000"/>
            </a:srgbClr>
          </a:solidFill>
          <a:ln/>
        </p:spPr>
      </p:sp>
      <p:sp>
        <p:nvSpPr>
          <p:cNvPr id="35" name="Text 28"/>
          <p:cNvSpPr txBox="1"/>
          <p:nvPr/>
        </p:nvSpPr>
        <p:spPr>
          <a:xfrm>
            <a:off x="4572000" y="5330952"/>
            <a:ext cx="1783080" cy="420624"/>
          </a:xfrm>
          <a:prstGeom prst="rect">
            <a:avLst/>
          </a:prstGeom>
          <a:noFill/>
          <a:ln/>
        </p:spPr>
        <p:txBody>
          <a:bodyPr wrap="square" lIns="0" tIns="0" rIns="0" bIns="0" rtlCol="0" anchor="ctr"/>
          <a:lstStyle/>
          <a:p>
            <a:pPr algn="ctr" indent="0" marL="0">
              <a:buNone/>
            </a:pPr>
            <a:r>
              <a:rPr lang="en-US" sz="1300" b="1" dirty="0">
                <a:solidFill>
                  <a:srgbClr val="FFFFFF"/>
                </a:solidFill>
              </a:rPr>
              <a:t>   D: đang bị kẹp</a:t>
            </a:r>
            <a:endParaRPr lang="en-US" sz="1300" dirty="0"/>
          </a:p>
        </p:txBody>
      </p:sp>
      <p:pic>
        <p:nvPicPr>
          <p:cNvPr id="36" name="Image 4" descr="Biểu tượng minh họa">    </p:cNvPr>
          <p:cNvPicPr>
            <a:picLocks noChangeAspect="1"/>
          </p:cNvPicPr>
          <p:nvPr/>
        </p:nvPicPr>
        <p:blipFill>
          <a:blip r:embed="rId5"/>
          <a:stretch>
            <a:fillRect/>
          </a:stretch>
        </p:blipFill>
        <p:spPr>
          <a:xfrm>
            <a:off x="4608576" y="5367528"/>
            <a:ext cx="347472" cy="347472"/>
          </a:xfrm>
          <a:prstGeom prst="rect">
            <a:avLst/>
          </a:prstGeom>
        </p:spPr>
      </p:pic>
      <p:sp>
        <p:nvSpPr>
          <p:cNvPr id="37" name="Shape 29"/>
          <p:cNvSpPr/>
          <p:nvPr/>
        </p:nvSpPr>
        <p:spPr>
          <a:xfrm>
            <a:off x="7223760" y="1371600"/>
            <a:ext cx="4416552" cy="658368"/>
          </a:xfrm>
          <a:prstGeom prst="roundRect">
            <a:avLst>
              <a:gd name="adj" fmla="val 16667"/>
            </a:avLst>
          </a:prstGeom>
          <a:solidFill>
            <a:srgbClr val="F0FDF4"/>
          </a:solidFill>
          <a:ln/>
        </p:spPr>
      </p:sp>
      <p:pic>
        <p:nvPicPr>
          <p:cNvPr id="38" name="Image 5" descr="Biểu tượng minh họa">    </p:cNvPr>
          <p:cNvPicPr>
            <a:picLocks noChangeAspect="1"/>
          </p:cNvPicPr>
          <p:nvPr/>
        </p:nvPicPr>
        <p:blipFill>
          <a:blip r:embed="rId6"/>
          <a:stretch>
            <a:fillRect/>
          </a:stretch>
        </p:blipFill>
        <p:spPr>
          <a:xfrm>
            <a:off x="7333488" y="1499616"/>
            <a:ext cx="402336" cy="402336"/>
          </a:xfrm>
          <a:prstGeom prst="rect">
            <a:avLst/>
          </a:prstGeom>
        </p:spPr>
      </p:pic>
      <p:sp>
        <p:nvSpPr>
          <p:cNvPr id="39" name="Text 30"/>
          <p:cNvSpPr txBox="1"/>
          <p:nvPr/>
        </p:nvSpPr>
        <p:spPr>
          <a:xfrm>
            <a:off x="7863840" y="1371600"/>
            <a:ext cx="3703320" cy="658368"/>
          </a:xfrm>
          <a:prstGeom prst="rect">
            <a:avLst/>
          </a:prstGeom>
          <a:noFill/>
          <a:ln/>
        </p:spPr>
        <p:txBody>
          <a:bodyPr wrap="square" lIns="0" tIns="0" rIns="0" bIns="0" rtlCol="0" anchor="ctr"/>
          <a:lstStyle/>
          <a:p>
            <a:pPr indent="0" marL="0">
              <a:buNone/>
            </a:pPr>
            <a:r>
              <a:rPr lang="en-US" sz="1300" dirty="0">
                <a:solidFill>
                  <a:srgbClr val="2E1065"/>
                </a:solidFill>
              </a:rPr>
              <a:t>Nằm trong vạch biên Khu Căn cứ</a:t>
            </a:r>
            <a:endParaRPr lang="en-US" sz="1300" dirty="0"/>
          </a:p>
        </p:txBody>
      </p:sp>
      <p:sp>
        <p:nvSpPr>
          <p:cNvPr id="40" name="Shape 31"/>
          <p:cNvSpPr/>
          <p:nvPr/>
        </p:nvSpPr>
        <p:spPr>
          <a:xfrm>
            <a:off x="7223760" y="2121408"/>
            <a:ext cx="4416552" cy="658368"/>
          </a:xfrm>
          <a:prstGeom prst="roundRect">
            <a:avLst>
              <a:gd name="adj" fmla="val 16667"/>
            </a:avLst>
          </a:prstGeom>
          <a:solidFill>
            <a:srgbClr val="F0FDF4"/>
          </a:solidFill>
          <a:ln/>
        </p:spPr>
      </p:sp>
      <p:pic>
        <p:nvPicPr>
          <p:cNvPr id="41" name="Image 6" descr="Biểu tượng minh họa">    </p:cNvPr>
          <p:cNvPicPr>
            <a:picLocks noChangeAspect="1"/>
          </p:cNvPicPr>
          <p:nvPr/>
        </p:nvPicPr>
        <p:blipFill>
          <a:blip r:embed="rId7"/>
          <a:stretch>
            <a:fillRect/>
          </a:stretch>
        </p:blipFill>
        <p:spPr>
          <a:xfrm>
            <a:off x="7333488" y="2249424"/>
            <a:ext cx="402336" cy="402336"/>
          </a:xfrm>
          <a:prstGeom prst="rect">
            <a:avLst/>
          </a:prstGeom>
        </p:spPr>
      </p:pic>
      <p:sp>
        <p:nvSpPr>
          <p:cNvPr id="42" name="Text 32"/>
          <p:cNvSpPr txBox="1"/>
          <p:nvPr/>
        </p:nvSpPr>
        <p:spPr>
          <a:xfrm>
            <a:off x="7863840" y="2121408"/>
            <a:ext cx="3703320" cy="658368"/>
          </a:xfrm>
          <a:prstGeom prst="rect">
            <a:avLst/>
          </a:prstGeom>
          <a:noFill/>
          <a:ln/>
        </p:spPr>
        <p:txBody>
          <a:bodyPr wrap="square" lIns="0" tIns="0" rIns="0" bIns="0" rtlCol="0" anchor="ctr"/>
          <a:lstStyle/>
          <a:p>
            <a:pPr indent="0" marL="0">
              <a:buNone/>
            </a:pPr>
            <a:r>
              <a:rPr lang="en-US" sz="1300" dirty="0">
                <a:solidFill>
                  <a:srgbClr val="2E1065"/>
                </a:solidFill>
              </a:rPr>
              <a:t>Chạm hoặc đè lên vạch biên (Khu vực tham chiếu tính cả vạch biên)</a:t>
            </a:r>
            <a:endParaRPr lang="en-US" sz="1300" dirty="0"/>
          </a:p>
        </p:txBody>
      </p:sp>
      <p:sp>
        <p:nvSpPr>
          <p:cNvPr id="43" name="Shape 33"/>
          <p:cNvSpPr/>
          <p:nvPr/>
        </p:nvSpPr>
        <p:spPr>
          <a:xfrm>
            <a:off x="7223760" y="2871216"/>
            <a:ext cx="4416552" cy="658368"/>
          </a:xfrm>
          <a:prstGeom prst="roundRect">
            <a:avLst>
              <a:gd name="adj" fmla="val 16667"/>
            </a:avLst>
          </a:prstGeom>
          <a:solidFill>
            <a:srgbClr val="FEF2F2"/>
          </a:solidFill>
          <a:ln/>
        </p:spPr>
      </p:sp>
      <p:pic>
        <p:nvPicPr>
          <p:cNvPr id="44" name="Image 7" descr="Biểu tượng minh họa">    </p:cNvPr>
          <p:cNvPicPr>
            <a:picLocks noChangeAspect="1"/>
          </p:cNvPicPr>
          <p:nvPr/>
        </p:nvPicPr>
        <p:blipFill>
          <a:blip r:embed="rId8"/>
          <a:stretch>
            <a:fillRect/>
          </a:stretch>
        </p:blipFill>
        <p:spPr>
          <a:xfrm>
            <a:off x="7333488" y="2999232"/>
            <a:ext cx="402336" cy="402336"/>
          </a:xfrm>
          <a:prstGeom prst="rect">
            <a:avLst/>
          </a:prstGeom>
        </p:spPr>
      </p:pic>
      <p:sp>
        <p:nvSpPr>
          <p:cNvPr id="45" name="Text 34"/>
          <p:cNvSpPr txBox="1"/>
          <p:nvPr/>
        </p:nvSpPr>
        <p:spPr>
          <a:xfrm>
            <a:off x="7863840" y="2871216"/>
            <a:ext cx="3703320" cy="658368"/>
          </a:xfrm>
          <a:prstGeom prst="rect">
            <a:avLst/>
          </a:prstGeom>
          <a:noFill/>
          <a:ln/>
        </p:spPr>
        <p:txBody>
          <a:bodyPr wrap="square" lIns="0" tIns="0" rIns="0" bIns="0" rtlCol="0" anchor="ctr"/>
          <a:lstStyle/>
          <a:p>
            <a:pPr indent="0" marL="0">
              <a:buNone/>
            </a:pPr>
            <a:r>
              <a:rPr lang="en-US" sz="1300" dirty="0">
                <a:solidFill>
                  <a:srgbClr val="2E1065"/>
                </a:solidFill>
              </a:rPr>
              <a:t>Nằm hoàn toàn bên ngoài vạch biên</a:t>
            </a:r>
            <a:endParaRPr lang="en-US" sz="1300" dirty="0"/>
          </a:p>
        </p:txBody>
      </p:sp>
      <p:sp>
        <p:nvSpPr>
          <p:cNvPr id="46" name="Shape 35"/>
          <p:cNvSpPr/>
          <p:nvPr/>
        </p:nvSpPr>
        <p:spPr>
          <a:xfrm>
            <a:off x="7223760" y="3621024"/>
            <a:ext cx="4416552" cy="658368"/>
          </a:xfrm>
          <a:prstGeom prst="roundRect">
            <a:avLst>
              <a:gd name="adj" fmla="val 16667"/>
            </a:avLst>
          </a:prstGeom>
          <a:solidFill>
            <a:srgbClr val="FEF2F2"/>
          </a:solidFill>
          <a:ln/>
        </p:spPr>
      </p:sp>
      <p:pic>
        <p:nvPicPr>
          <p:cNvPr id="47" name="Image 8" descr="Biểu tượng minh họa">    </p:cNvPr>
          <p:cNvPicPr>
            <a:picLocks noChangeAspect="1"/>
          </p:cNvPicPr>
          <p:nvPr/>
        </p:nvPicPr>
        <p:blipFill>
          <a:blip r:embed="rId9"/>
          <a:stretch>
            <a:fillRect/>
          </a:stretch>
        </p:blipFill>
        <p:spPr>
          <a:xfrm>
            <a:off x="7333488" y="3749040"/>
            <a:ext cx="402336" cy="402336"/>
          </a:xfrm>
          <a:prstGeom prst="rect">
            <a:avLst/>
          </a:prstGeom>
        </p:spPr>
      </p:pic>
      <p:sp>
        <p:nvSpPr>
          <p:cNvPr id="48" name="Text 36"/>
          <p:cNvSpPr txBox="1"/>
          <p:nvPr/>
        </p:nvSpPr>
        <p:spPr>
          <a:xfrm>
            <a:off x="7863840" y="3621024"/>
            <a:ext cx="3703320" cy="658368"/>
          </a:xfrm>
          <a:prstGeom prst="rect">
            <a:avLst/>
          </a:prstGeom>
          <a:noFill/>
          <a:ln/>
        </p:spPr>
        <p:txBody>
          <a:bodyPr wrap="square" lIns="0" tIns="0" rIns="0" bIns="0" rtlCol="0" anchor="ctr"/>
          <a:lstStyle/>
          <a:p>
            <a:pPr indent="0" marL="0">
              <a:buNone/>
            </a:pPr>
            <a:r>
              <a:rPr lang="en-US" sz="1300" dirty="0">
                <a:solidFill>
                  <a:srgbClr val="2E1065"/>
                </a:solidFill>
              </a:rPr>
              <a:t>Đang bị cơ cấu gắp kẹp giữ, chưa tiếp xúc ổn định với mặt sa bàn hoặc khối khác</a:t>
            </a:r>
            <a:endParaRPr lang="en-US" sz="1300" dirty="0"/>
          </a:p>
        </p:txBody>
      </p:sp>
      <p:sp>
        <p:nvSpPr>
          <p:cNvPr id="49" name="Shape 37"/>
          <p:cNvSpPr/>
          <p:nvPr/>
        </p:nvSpPr>
        <p:spPr>
          <a:xfrm>
            <a:off x="7223760" y="4434840"/>
            <a:ext cx="4416552" cy="1828800"/>
          </a:xfrm>
          <a:prstGeom prst="roundRect">
            <a:avLst>
              <a:gd name="adj" fmla="val 6000"/>
            </a:avLst>
          </a:prstGeom>
          <a:solidFill>
            <a:srgbClr val="FFFFFF"/>
          </a:solidFill>
          <a:ln/>
          <a:effectLst>
            <a:outerShdw sx="100000" sy="100000" kx="0" ky="0" algn="bl" rotWithShape="0" blurRad="127000" dist="38100" dir="5400000">
              <a:srgbClr val="4C1D95">
                <a:alpha val="16000"/>
              </a:srgbClr>
            </a:outerShdw>
          </a:effectLst>
        </p:spPr>
      </p:sp>
      <p:sp>
        <p:nvSpPr>
          <p:cNvPr id="50" name="Text 38"/>
          <p:cNvSpPr txBox="1"/>
          <p:nvPr/>
        </p:nvSpPr>
        <p:spPr>
          <a:xfrm>
            <a:off x="7360920" y="4498848"/>
            <a:ext cx="4206240" cy="1719072"/>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rgbClr val="2E1065"/>
                </a:solidFill>
              </a:rPr>
              <a:t>Xét khi lượt đấu kết thúc (hoặc khi chốt khối lúc Hồi căn cứ)</a:t>
            </a:r>
            <a:endParaRPr lang="en-US" sz="1300" dirty="0"/>
          </a:p>
          <a:p>
            <a:pPr marL="203200" indent="-203200">
              <a:spcAft>
                <a:spcPts val="400"/>
              </a:spcAft>
              <a:buSzPct val="100000"/>
              <a:buChar char="•"/>
            </a:pPr>
            <a:r>
              <a:rPr lang="en-US" sz="1300" dirty="0">
                <a:solidFill>
                  <a:srgbClr val="2E1065"/>
                </a:solidFill>
              </a:rPr>
              <a:t>Khối bị chính robot mình đẩy ra trước khi kết thúc → không tính</a:t>
            </a:r>
            <a:endParaRPr lang="en-US" sz="1300" dirty="0"/>
          </a:p>
          <a:p>
            <a:pPr marL="203200" indent="-203200">
              <a:spcAft>
                <a:spcPts val="400"/>
              </a:spcAft>
              <a:buSzPct val="100000"/>
              <a:buChar char="•"/>
            </a:pPr>
            <a:r>
              <a:rPr lang="en-US" sz="1300" dirty="0">
                <a:solidFill>
                  <a:srgbClr val="2E1065"/>
                </a:solidFill>
              </a:rPr>
              <a:t>Đối phương lấy lại, đưa về Căn cứ của họ → tính cho đối phương (trừ khối đã chốt)</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NHIỆM VỤ 5 · +5 ĐIỂM</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Hồi căn cứ – chủ động kết thúc phần thi</a:t>
            </a:r>
            <a:endParaRPr lang="en-US" sz="3000" dirty="0"/>
          </a:p>
        </p:txBody>
      </p:sp>
      <p:sp>
        <p:nvSpPr>
          <p:cNvPr id="5" name="Shape 2"/>
          <p:cNvSpPr/>
          <p:nvPr/>
        </p:nvSpPr>
        <p:spPr>
          <a:xfrm>
            <a:off x="548640" y="1371600"/>
            <a:ext cx="5760720" cy="1600200"/>
          </a:xfrm>
          <a:prstGeom prst="roundRect">
            <a:avLst>
              <a:gd name="adj" fmla="val 6857"/>
            </a:avLst>
          </a:prstGeom>
          <a:solidFill>
            <a:srgbClr val="7C3AED"/>
          </a:solidFill>
          <a:ln/>
        </p:spPr>
      </p:sp>
      <p:pic>
        <p:nvPicPr>
          <p:cNvPr id="6" name="Image 0" descr="Biểu tượng minh họa">    </p:cNvPr>
          <p:cNvPicPr>
            <a:picLocks noChangeAspect="1"/>
          </p:cNvPicPr>
          <p:nvPr/>
        </p:nvPicPr>
        <p:blipFill>
          <a:blip r:embed="rId1"/>
          <a:stretch>
            <a:fillRect/>
          </a:stretch>
        </p:blipFill>
        <p:spPr>
          <a:xfrm>
            <a:off x="777240" y="1600200"/>
            <a:ext cx="1051560" cy="1051560"/>
          </a:xfrm>
          <a:prstGeom prst="rect">
            <a:avLst/>
          </a:prstGeom>
        </p:spPr>
      </p:pic>
      <p:sp>
        <p:nvSpPr>
          <p:cNvPr id="7" name="Text 3"/>
          <p:cNvSpPr txBox="1"/>
          <p:nvPr/>
        </p:nvSpPr>
        <p:spPr>
          <a:xfrm>
            <a:off x="1965960" y="1463040"/>
            <a:ext cx="4206240" cy="777240"/>
          </a:xfrm>
          <a:prstGeom prst="rect">
            <a:avLst/>
          </a:prstGeom>
          <a:noFill/>
          <a:ln/>
        </p:spPr>
        <p:txBody>
          <a:bodyPr wrap="square" lIns="0" tIns="0" rIns="0" bIns="0" rtlCol="0" anchor="ctr"/>
          <a:lstStyle/>
          <a:p>
            <a:pPr indent="0" marL="0">
              <a:buNone/>
            </a:pPr>
            <a:r>
              <a:rPr lang="en-US" sz="2800" b="1" dirty="0">
                <a:solidFill>
                  <a:srgbClr val="FDE68A"/>
                </a:solidFill>
              </a:rPr>
              <a:t>“HỒI CĂN CỨ – KẾT THÚC!”</a:t>
            </a:r>
            <a:endParaRPr lang="en-US" sz="2800" dirty="0"/>
          </a:p>
        </p:txBody>
      </p:sp>
      <p:sp>
        <p:nvSpPr>
          <p:cNvPr id="8" name="Text 4"/>
          <p:cNvSpPr txBox="1"/>
          <p:nvPr/>
        </p:nvSpPr>
        <p:spPr>
          <a:xfrm>
            <a:off x="1965960" y="2240280"/>
            <a:ext cx="4206240" cy="548640"/>
          </a:xfrm>
          <a:prstGeom prst="rect">
            <a:avLst/>
          </a:prstGeom>
          <a:noFill/>
          <a:ln/>
        </p:spPr>
        <p:txBody>
          <a:bodyPr wrap="square" lIns="0" tIns="0" rIns="0" bIns="0" rtlCol="0" anchor="ctr"/>
          <a:lstStyle/>
          <a:p>
            <a:pPr indent="0" marL="0">
              <a:buNone/>
            </a:pPr>
            <a:r>
              <a:rPr lang="en-US" sz="1500" dirty="0">
                <a:solidFill>
                  <a:srgbClr val="FFFFFF"/>
                </a:solidFill>
              </a:rPr>
              <a:t>Đội trưởng hoặc thí sinh Vận hành hô to, rõ ràng</a:t>
            </a:r>
            <a:endParaRPr lang="en-US" sz="1500" dirty="0"/>
          </a:p>
        </p:txBody>
      </p:sp>
      <p:sp>
        <p:nvSpPr>
          <p:cNvPr id="9" name="Text 5"/>
          <p:cNvSpPr txBox="1"/>
          <p:nvPr/>
        </p:nvSpPr>
        <p:spPr>
          <a:xfrm>
            <a:off x="548640" y="3154680"/>
            <a:ext cx="5486400" cy="365760"/>
          </a:xfrm>
          <a:prstGeom prst="rect">
            <a:avLst/>
          </a:prstGeom>
          <a:noFill/>
          <a:ln/>
        </p:spPr>
        <p:txBody>
          <a:bodyPr wrap="square" lIns="0" tIns="0" rIns="0" bIns="0" rtlCol="0" anchor="t"/>
          <a:lstStyle/>
          <a:p>
            <a:pPr indent="0" marL="0">
              <a:buNone/>
            </a:pPr>
            <a:r>
              <a:rPr lang="en-US" sz="1600" b="1" dirty="0">
                <a:solidFill>
                  <a:srgbClr val="7C3AED"/>
                </a:solidFill>
              </a:rPr>
              <a:t>Hồi căn cứ hợp lệ khi đồng thời:</a:t>
            </a:r>
            <a:endParaRPr lang="en-US" sz="1600" dirty="0"/>
          </a:p>
        </p:txBody>
      </p:sp>
      <p:pic>
        <p:nvPicPr>
          <p:cNvPr id="10" name="Image 1" descr="Biểu tượng minh họa">    </p:cNvPr>
          <p:cNvPicPr>
            <a:picLocks noChangeAspect="1"/>
          </p:cNvPicPr>
          <p:nvPr/>
        </p:nvPicPr>
        <p:blipFill>
          <a:blip r:embed="rId2"/>
          <a:stretch>
            <a:fillRect/>
          </a:stretch>
        </p:blipFill>
        <p:spPr>
          <a:xfrm>
            <a:off x="548640" y="3685032"/>
            <a:ext cx="411480" cy="411480"/>
          </a:xfrm>
          <a:prstGeom prst="rect">
            <a:avLst/>
          </a:prstGeom>
        </p:spPr>
      </p:pic>
      <p:sp>
        <p:nvSpPr>
          <p:cNvPr id="11" name="Text 6"/>
          <p:cNvSpPr txBox="1"/>
          <p:nvPr/>
        </p:nvSpPr>
        <p:spPr>
          <a:xfrm>
            <a:off x="1051560" y="3611880"/>
            <a:ext cx="3108960" cy="594360"/>
          </a:xfrm>
          <a:prstGeom prst="rect">
            <a:avLst/>
          </a:prstGeom>
          <a:noFill/>
          <a:ln/>
        </p:spPr>
        <p:txBody>
          <a:bodyPr wrap="square" lIns="0" tIns="0" rIns="0" bIns="0" rtlCol="0" anchor="ctr"/>
          <a:lstStyle/>
          <a:p>
            <a:pPr indent="0" marL="0">
              <a:buNone/>
            </a:pPr>
            <a:r>
              <a:rPr lang="en-US" sz="1300" dirty="0">
                <a:solidFill>
                  <a:srgbClr val="2E1065"/>
                </a:solidFill>
              </a:rPr>
              <a:t>Robot đã dừng hoàn toàn</a:t>
            </a:r>
            <a:endParaRPr lang="en-US" sz="1300" dirty="0"/>
          </a:p>
        </p:txBody>
      </p:sp>
      <p:pic>
        <p:nvPicPr>
          <p:cNvPr id="12" name="Image 2" descr="Biểu tượng minh họa">    </p:cNvPr>
          <p:cNvPicPr>
            <a:picLocks noChangeAspect="1"/>
          </p:cNvPicPr>
          <p:nvPr/>
        </p:nvPicPr>
        <p:blipFill>
          <a:blip r:embed="rId3"/>
          <a:stretch>
            <a:fillRect/>
          </a:stretch>
        </p:blipFill>
        <p:spPr>
          <a:xfrm>
            <a:off x="548640" y="4370832"/>
            <a:ext cx="411480" cy="411480"/>
          </a:xfrm>
          <a:prstGeom prst="rect">
            <a:avLst/>
          </a:prstGeom>
        </p:spPr>
      </p:pic>
      <p:sp>
        <p:nvSpPr>
          <p:cNvPr id="13" name="Text 7"/>
          <p:cNvSpPr txBox="1"/>
          <p:nvPr/>
        </p:nvSpPr>
        <p:spPr>
          <a:xfrm>
            <a:off x="1051560" y="4297680"/>
            <a:ext cx="3108960" cy="594360"/>
          </a:xfrm>
          <a:prstGeom prst="rect">
            <a:avLst/>
          </a:prstGeom>
          <a:noFill/>
          <a:ln/>
        </p:spPr>
        <p:txBody>
          <a:bodyPr wrap="square" lIns="0" tIns="0" rIns="0" bIns="0" rtlCol="0" anchor="ctr"/>
          <a:lstStyle/>
          <a:p>
            <a:pPr indent="0" marL="0">
              <a:buNone/>
            </a:pPr>
            <a:r>
              <a:rPr lang="en-US" sz="1300" dirty="0">
                <a:solidFill>
                  <a:srgbClr val="2E1065"/>
                </a:solidFill>
              </a:rPr>
              <a:t>Ít nhất một phần thân robot nằm trong hoặc chạm vạch biên Khu Căn cứ (không bắt buộc nằm trọn)</a:t>
            </a:r>
            <a:endParaRPr lang="en-US" sz="1300" dirty="0"/>
          </a:p>
        </p:txBody>
      </p:sp>
      <p:pic>
        <p:nvPicPr>
          <p:cNvPr id="14" name="Image 3" descr="Biểu tượng minh họa">    </p:cNvPr>
          <p:cNvPicPr>
            <a:picLocks noChangeAspect="1"/>
          </p:cNvPicPr>
          <p:nvPr/>
        </p:nvPicPr>
        <p:blipFill>
          <a:blip r:embed="rId4"/>
          <a:stretch>
            <a:fillRect/>
          </a:stretch>
        </p:blipFill>
        <p:spPr>
          <a:xfrm>
            <a:off x="548640" y="5056632"/>
            <a:ext cx="411480" cy="411480"/>
          </a:xfrm>
          <a:prstGeom prst="rect">
            <a:avLst/>
          </a:prstGeom>
        </p:spPr>
      </p:pic>
      <p:sp>
        <p:nvSpPr>
          <p:cNvPr id="15" name="Text 8"/>
          <p:cNvSpPr txBox="1"/>
          <p:nvPr/>
        </p:nvSpPr>
        <p:spPr>
          <a:xfrm>
            <a:off x="1051560" y="4983480"/>
            <a:ext cx="3108960" cy="594360"/>
          </a:xfrm>
          <a:prstGeom prst="rect">
            <a:avLst/>
          </a:prstGeom>
          <a:noFill/>
          <a:ln/>
        </p:spPr>
        <p:txBody>
          <a:bodyPr wrap="square" lIns="0" tIns="0" rIns="0" bIns="0" rtlCol="0" anchor="ctr"/>
          <a:lstStyle/>
          <a:p>
            <a:pPr indent="0" marL="0">
              <a:buNone/>
            </a:pPr>
            <a:r>
              <a:rPr lang="en-US" sz="1300" dirty="0">
                <a:solidFill>
                  <a:srgbClr val="2E1065"/>
                </a:solidFill>
              </a:rPr>
              <a:t>Hiệu lệnh hô rõ ràng để trọng tài nghe và xác nhận</a:t>
            </a:r>
            <a:endParaRPr lang="en-US" sz="1300" dirty="0"/>
          </a:p>
        </p:txBody>
      </p:sp>
      <p:sp>
        <p:nvSpPr>
          <p:cNvPr id="16" name="Shape 9"/>
          <p:cNvSpPr/>
          <p:nvPr/>
        </p:nvSpPr>
        <p:spPr>
          <a:xfrm>
            <a:off x="4343400" y="3611880"/>
            <a:ext cx="1554480" cy="1920240"/>
          </a:xfrm>
          <a:prstGeom prst="rect">
            <a:avLst/>
          </a:prstGeom>
          <a:solidFill>
            <a:srgbClr val="D6B98F"/>
          </a:solidFill>
          <a:ln w="50800">
            <a:solidFill>
              <a:srgbClr val="EA580C"/>
            </a:solidFill>
            <a:prstDash val="solid"/>
          </a:ln>
        </p:spPr>
      </p:sp>
      <p:sp>
        <p:nvSpPr>
          <p:cNvPr id="17" name="Shape 10"/>
          <p:cNvSpPr/>
          <p:nvPr/>
        </p:nvSpPr>
        <p:spPr>
          <a:xfrm>
            <a:off x="5201473" y="4250131"/>
            <a:ext cx="160934" cy="234086"/>
          </a:xfrm>
          <a:prstGeom prst="roundRect">
            <a:avLst>
              <a:gd name="adj" fmla="val 17045"/>
            </a:avLst>
          </a:prstGeom>
          <a:solidFill>
            <a:srgbClr val="111827"/>
          </a:solidFill>
          <a:ln/>
        </p:spPr>
      </p:sp>
      <p:sp>
        <p:nvSpPr>
          <p:cNvPr id="18" name="Shape 11"/>
          <p:cNvSpPr/>
          <p:nvPr/>
        </p:nvSpPr>
        <p:spPr>
          <a:xfrm>
            <a:off x="6159033" y="4250131"/>
            <a:ext cx="160934" cy="234086"/>
          </a:xfrm>
          <a:prstGeom prst="roundRect">
            <a:avLst>
              <a:gd name="adj" fmla="val 17045"/>
            </a:avLst>
          </a:prstGeom>
          <a:solidFill>
            <a:srgbClr val="111827"/>
          </a:solidFill>
          <a:ln/>
        </p:spPr>
      </p:sp>
      <p:sp>
        <p:nvSpPr>
          <p:cNvPr id="19" name="Shape 12"/>
          <p:cNvSpPr/>
          <p:nvPr/>
        </p:nvSpPr>
        <p:spPr>
          <a:xfrm>
            <a:off x="5201473" y="4659782"/>
            <a:ext cx="160934" cy="234086"/>
          </a:xfrm>
          <a:prstGeom prst="roundRect">
            <a:avLst>
              <a:gd name="adj" fmla="val 17045"/>
            </a:avLst>
          </a:prstGeom>
          <a:solidFill>
            <a:srgbClr val="111827"/>
          </a:solidFill>
          <a:ln/>
        </p:spPr>
      </p:sp>
      <p:sp>
        <p:nvSpPr>
          <p:cNvPr id="20" name="Shape 13"/>
          <p:cNvSpPr/>
          <p:nvPr/>
        </p:nvSpPr>
        <p:spPr>
          <a:xfrm>
            <a:off x="6159033" y="4659782"/>
            <a:ext cx="160934" cy="234086"/>
          </a:xfrm>
          <a:prstGeom prst="roundRect">
            <a:avLst>
              <a:gd name="adj" fmla="val 17045"/>
            </a:avLst>
          </a:prstGeom>
          <a:solidFill>
            <a:srgbClr val="111827"/>
          </a:solidFill>
          <a:ln/>
        </p:spPr>
      </p:sp>
      <p:sp>
        <p:nvSpPr>
          <p:cNvPr id="21" name="Shape 14"/>
          <p:cNvSpPr/>
          <p:nvPr/>
        </p:nvSpPr>
        <p:spPr>
          <a:xfrm>
            <a:off x="5330220" y="4206240"/>
            <a:ext cx="860999" cy="731520"/>
          </a:xfrm>
          <a:prstGeom prst="roundRect">
            <a:avLst>
              <a:gd name="adj" fmla="val 7500"/>
            </a:avLst>
          </a:prstGeom>
          <a:solidFill>
            <a:srgbClr val="334155"/>
          </a:solidFill>
          <a:ln w="12700">
            <a:solidFill>
              <a:srgbClr val="0F172A"/>
            </a:solidFill>
            <a:prstDash val="solid"/>
          </a:ln>
        </p:spPr>
      </p:sp>
      <p:sp>
        <p:nvSpPr>
          <p:cNvPr id="22" name="Shape 15"/>
          <p:cNvSpPr/>
          <p:nvPr/>
        </p:nvSpPr>
        <p:spPr>
          <a:xfrm>
            <a:off x="5579669" y="4425696"/>
            <a:ext cx="362102" cy="219456"/>
          </a:xfrm>
          <a:prstGeom prst="roundRect">
            <a:avLst>
              <a:gd name="adj" fmla="val 12500"/>
            </a:avLst>
          </a:prstGeom>
          <a:solidFill>
            <a:srgbClr val="22D3EE"/>
          </a:solidFill>
          <a:ln/>
        </p:spPr>
      </p:sp>
      <p:sp>
        <p:nvSpPr>
          <p:cNvPr id="23" name="Text 16"/>
          <p:cNvSpPr txBox="1"/>
          <p:nvPr/>
        </p:nvSpPr>
        <p:spPr>
          <a:xfrm>
            <a:off x="4206240" y="5577840"/>
            <a:ext cx="2103120" cy="457200"/>
          </a:xfrm>
          <a:prstGeom prst="rect">
            <a:avLst/>
          </a:prstGeom>
          <a:noFill/>
          <a:ln/>
        </p:spPr>
        <p:txBody>
          <a:bodyPr wrap="square" lIns="0" tIns="0" rIns="0" bIns="0" rtlCol="0" anchor="t"/>
          <a:lstStyle/>
          <a:p>
            <a:pPr algn="ctr" indent="0" marL="0">
              <a:buNone/>
            </a:pPr>
            <a:r>
              <a:rPr lang="en-US" sz="1100" i="1" dirty="0">
                <a:solidFill>
                  <a:srgbClr val="5B4B8A"/>
                </a:solidFill>
              </a:rPr>
              <a:t>Một phần thân trong Căn cứ: hợp lệ</a:t>
            </a:r>
            <a:endParaRPr lang="en-US" sz="1100" dirty="0"/>
          </a:p>
        </p:txBody>
      </p:sp>
      <p:sp>
        <p:nvSpPr>
          <p:cNvPr id="24" name="Shape 17"/>
          <p:cNvSpPr/>
          <p:nvPr/>
        </p:nvSpPr>
        <p:spPr>
          <a:xfrm>
            <a:off x="6537960" y="1371600"/>
            <a:ext cx="5102352" cy="2423160"/>
          </a:xfrm>
          <a:prstGeom prst="roundRect">
            <a:avLst>
              <a:gd name="adj" fmla="val 4528"/>
            </a:avLst>
          </a:prstGeom>
          <a:solidFill>
            <a:srgbClr val="F0FDF4"/>
          </a:solidFill>
          <a:ln/>
          <a:effectLst>
            <a:outerShdw sx="100000" sy="100000" kx="0" ky="0" algn="bl" rotWithShape="0" blurRad="127000" dist="38100" dir="5400000">
              <a:srgbClr val="4C1D95">
                <a:alpha val="16000"/>
              </a:srgbClr>
            </a:outerShdw>
          </a:effectLst>
        </p:spPr>
      </p:sp>
      <p:sp>
        <p:nvSpPr>
          <p:cNvPr id="25" name="Text 18"/>
          <p:cNvSpPr txBox="1"/>
          <p:nvPr/>
        </p:nvSpPr>
        <p:spPr>
          <a:xfrm>
            <a:off x="6720840" y="1463040"/>
            <a:ext cx="4572000" cy="411480"/>
          </a:xfrm>
          <a:prstGeom prst="rect">
            <a:avLst/>
          </a:prstGeom>
          <a:noFill/>
          <a:ln/>
        </p:spPr>
        <p:txBody>
          <a:bodyPr wrap="square" lIns="0" tIns="0" rIns="0" bIns="0" rtlCol="0" anchor="t"/>
          <a:lstStyle/>
          <a:p>
            <a:pPr indent="0" marL="0">
              <a:buNone/>
            </a:pPr>
            <a:r>
              <a:rPr lang="en-US" sz="1800" b="1" dirty="0">
                <a:solidFill>
                  <a:srgbClr val="15803D"/>
                </a:solidFill>
              </a:rPr>
              <a:t>Sau khi Hồi căn cứ</a:t>
            </a:r>
            <a:endParaRPr lang="en-US" sz="1800" dirty="0"/>
          </a:p>
        </p:txBody>
      </p:sp>
      <p:sp>
        <p:nvSpPr>
          <p:cNvPr id="26" name="Text 19"/>
          <p:cNvSpPr txBox="1"/>
          <p:nvPr/>
        </p:nvSpPr>
        <p:spPr>
          <a:xfrm>
            <a:off x="6720840" y="1874520"/>
            <a:ext cx="4800600" cy="1874520"/>
          </a:xfrm>
          <a:prstGeom prst="rect">
            <a:avLst/>
          </a:prstGeom>
          <a:noFill/>
          <a:ln/>
        </p:spPr>
        <p:txBody>
          <a:bodyPr wrap="square" lIns="0" tIns="0" rIns="0" bIns="0" rtlCol="0" anchor="t"/>
          <a:lstStyle/>
          <a:p>
            <a:pPr marL="203200" indent="-203200">
              <a:spcAft>
                <a:spcPts val="300"/>
              </a:spcAft>
              <a:buSzPct val="100000"/>
              <a:buChar char="•"/>
            </a:pPr>
            <a:r>
              <a:rPr lang="en-US" sz="1300" dirty="0">
                <a:solidFill>
                  <a:srgbClr val="2E1065"/>
                </a:solidFill>
              </a:rPr>
              <a:t>Trọng tài xác nhận; người bấm giờ ghi Thời gian hoàn thành</a:t>
            </a:r>
            <a:endParaRPr lang="en-US" sz="1300" dirty="0"/>
          </a:p>
          <a:p>
            <a:pPr marL="203200" indent="-203200">
              <a:spcAft>
                <a:spcPts val="300"/>
              </a:spcAft>
              <a:buSzPct val="100000"/>
              <a:buChar char="•"/>
            </a:pPr>
            <a:r>
              <a:rPr lang="en-US" sz="1300" dirty="0">
                <a:solidFill>
                  <a:srgbClr val="2E1065"/>
                </a:solidFill>
              </a:rPr>
              <a:t>Robot không di chuyển; thí sinh đặt bộ điều khiển xuống bàn</a:t>
            </a:r>
            <a:endParaRPr lang="en-US" sz="1300" dirty="0"/>
          </a:p>
          <a:p>
            <a:pPr marL="203200" indent="-203200">
              <a:spcAft>
                <a:spcPts val="300"/>
              </a:spcAft>
              <a:buSzPct val="100000"/>
              <a:buChar char="•"/>
            </a:pPr>
            <a:r>
              <a:rPr lang="en-US" sz="1300" dirty="0">
                <a:solidFill>
                  <a:srgbClr val="2E1065"/>
                </a:solidFill>
              </a:rPr>
              <a:t>Khối hợp lệ trong Căn cứ được CHỐT và bảo toàn đến hết lượt</a:t>
            </a:r>
            <a:endParaRPr lang="en-US" sz="1300" dirty="0"/>
          </a:p>
          <a:p>
            <a:pPr marL="203200" indent="-203200">
              <a:spcAft>
                <a:spcPts val="300"/>
              </a:spcAft>
              <a:buSzPct val="100000"/>
              <a:buChar char="•"/>
            </a:pPr>
            <a:r>
              <a:rPr lang="en-US" sz="1300" dirty="0">
                <a:solidFill>
                  <a:srgbClr val="2E1065"/>
                </a:solidFill>
              </a:rPr>
              <a:t>Đội bạn không được tác động vào khối đã chốt và robot đã Hồi căn cứ (cố ý = xử lý như đâm trực tiếp)</a:t>
            </a:r>
            <a:endParaRPr lang="en-US" sz="1300" dirty="0"/>
          </a:p>
        </p:txBody>
      </p:sp>
      <p:sp>
        <p:nvSpPr>
          <p:cNvPr id="27" name="Shape 20"/>
          <p:cNvSpPr/>
          <p:nvPr/>
        </p:nvSpPr>
        <p:spPr>
          <a:xfrm>
            <a:off x="6537960" y="3977640"/>
            <a:ext cx="5102352" cy="2286000"/>
          </a:xfrm>
          <a:prstGeom prst="roundRect">
            <a:avLst>
              <a:gd name="adj" fmla="val 4800"/>
            </a:avLst>
          </a:prstGeom>
          <a:solidFill>
            <a:srgbClr val="FEF2F2"/>
          </a:solidFill>
          <a:ln/>
          <a:effectLst>
            <a:outerShdw sx="100000" sy="100000" kx="0" ky="0" algn="bl" rotWithShape="0" blurRad="127000" dist="38100" dir="5400000">
              <a:srgbClr val="4C1D95">
                <a:alpha val="16000"/>
              </a:srgbClr>
            </a:outerShdw>
          </a:effectLst>
        </p:spPr>
      </p:sp>
      <p:sp>
        <p:nvSpPr>
          <p:cNvPr id="28" name="Text 21"/>
          <p:cNvSpPr txBox="1"/>
          <p:nvPr/>
        </p:nvSpPr>
        <p:spPr>
          <a:xfrm>
            <a:off x="6720840" y="4069080"/>
            <a:ext cx="4572000" cy="411480"/>
          </a:xfrm>
          <a:prstGeom prst="rect">
            <a:avLst/>
          </a:prstGeom>
          <a:noFill/>
          <a:ln/>
        </p:spPr>
        <p:txBody>
          <a:bodyPr wrap="square" lIns="0" tIns="0" rIns="0" bIns="0" rtlCol="0" anchor="t"/>
          <a:lstStyle/>
          <a:p>
            <a:pPr indent="0" marL="0">
              <a:buNone/>
            </a:pPr>
            <a:r>
              <a:rPr lang="en-US" sz="1800" b="1" dirty="0">
                <a:solidFill>
                  <a:srgbClr val="DC2626"/>
                </a:solidFill>
              </a:rPr>
              <a:t>Mất điểm Hồi căn cứ khi</a:t>
            </a:r>
            <a:endParaRPr lang="en-US" sz="1800" dirty="0"/>
          </a:p>
        </p:txBody>
      </p:sp>
      <p:sp>
        <p:nvSpPr>
          <p:cNvPr id="29" name="Text 22"/>
          <p:cNvSpPr txBox="1"/>
          <p:nvPr/>
        </p:nvSpPr>
        <p:spPr>
          <a:xfrm>
            <a:off x="6720840" y="4498848"/>
            <a:ext cx="4800600" cy="1719072"/>
          </a:xfrm>
          <a:prstGeom prst="rect">
            <a:avLst/>
          </a:prstGeom>
          <a:noFill/>
          <a:ln/>
        </p:spPr>
        <p:txBody>
          <a:bodyPr wrap="square" lIns="0" tIns="0" rIns="0" bIns="0" rtlCol="0" anchor="t"/>
          <a:lstStyle/>
          <a:p>
            <a:pPr marL="203200" indent="-203200">
              <a:spcAft>
                <a:spcPts val="600"/>
              </a:spcAft>
              <a:buSzPct val="100000"/>
              <a:buChar char="•"/>
            </a:pPr>
            <a:r>
              <a:rPr lang="en-US" sz="1300" b="1" dirty="0">
                <a:solidFill>
                  <a:srgbClr val="2E1065"/>
                </a:solidFill>
              </a:rPr>
              <a:t>Robot tiếp tục di chuyển</a:t>
            </a:r>
            <a:pPr indent="0" marL="0">
              <a:buNone/>
            </a:pPr>
            <a:r>
              <a:rPr lang="en-US" sz="1300" dirty="0">
                <a:solidFill>
                  <a:srgbClr val="2E1065"/>
                </a:solidFill>
              </a:rPr>
              <a:t> → hủy Hồi căn cứ: không có điểm Nhiệm vụ 5, Thời gian hoàn thành ghi 03:00, khối đếm khi lượt kết thúc</a:t>
            </a:r>
            <a:endParaRPr lang="en-US" sz="1300" dirty="0"/>
          </a:p>
          <a:p>
            <a:pPr marL="203200" indent="-203200">
              <a:spcAft>
                <a:spcPts val="600"/>
              </a:spcAft>
              <a:buSzPct val="100000"/>
              <a:buChar char="•"/>
            </a:pPr>
            <a:r>
              <a:rPr lang="en-US" sz="1300" b="1" dirty="0">
                <a:solidFill>
                  <a:srgbClr val="2E1065"/>
                </a:solidFill>
              </a:rPr>
              <a:t>Không Hồi căn cứ trước khi hết 03 phút</a:t>
            </a:r>
            <a:pPr indent="0" marL="0">
              <a:buNone/>
            </a:pPr>
            <a:r>
              <a:rPr lang="en-US" sz="1300" dirty="0">
                <a:solidFill>
                  <a:srgbClr val="2E1065"/>
                </a:solidFill>
              </a:rPr>
              <a:t> → không có điểm Nhiệm vụ 5, Thời gian hoàn thành ghi 03:00</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TÌNH HUỐNG</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Khối rơi ra ngoài sa bàn</a:t>
            </a:r>
            <a:endParaRPr lang="en-US" sz="3000" dirty="0"/>
          </a:p>
        </p:txBody>
      </p:sp>
      <p:pic>
        <p:nvPicPr>
          <p:cNvPr id="5" name="RR_field_th_jpg" descr="Sa bàn thi đấu Chinh phục Vũ trụ">    </p:cNvPr>
          <p:cNvPicPr>
            <a:picLocks noChangeAspect="1"/>
          </p:cNvPicPr>
          <p:nvPr/>
        </p:nvPicPr>
        <p:blipFill>
          <a:blip r:embed="rId1"/>
          <a:stretch>
            <a:fillRect/>
          </a:stretch>
        </p:blipFill>
        <p:spPr>
          <a:xfrm>
            <a:off x="548640" y="1463040"/>
            <a:ext cx="5852160" cy="292608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6" name="Shape 2"/>
          <p:cNvSpPr/>
          <p:nvPr/>
        </p:nvSpPr>
        <p:spPr>
          <a:xfrm>
            <a:off x="3142976" y="1634581"/>
            <a:ext cx="640080" cy="640080"/>
          </a:xfrm>
          <a:prstGeom prst="ellipse">
            <a:avLst/>
          </a:prstGeom>
          <a:solidFill>
            <a:srgbClr val="FDE68A">
              <a:alpha val="0"/>
            </a:srgbClr>
          </a:solidFill>
          <a:ln w="50800">
            <a:solidFill>
              <a:srgbClr val="FDE68A"/>
            </a:solidFill>
            <a:prstDash val="solid"/>
          </a:ln>
        </p:spPr>
      </p:sp>
      <p:sp>
        <p:nvSpPr>
          <p:cNvPr id="7" name="Shape 3"/>
          <p:cNvSpPr/>
          <p:nvPr/>
        </p:nvSpPr>
        <p:spPr>
          <a:xfrm>
            <a:off x="3828776" y="1771741"/>
            <a:ext cx="548640" cy="365760"/>
          </a:xfrm>
          <a:prstGeom prst="roundRect">
            <a:avLst>
              <a:gd name="adj" fmla="val 50000"/>
            </a:avLst>
          </a:prstGeom>
          <a:solidFill>
            <a:srgbClr val="FDE68A"/>
          </a:solidFill>
          <a:ln/>
        </p:spPr>
      </p:sp>
      <p:sp>
        <p:nvSpPr>
          <p:cNvPr id="8" name="Text 4"/>
          <p:cNvSpPr txBox="1"/>
          <p:nvPr/>
        </p:nvSpPr>
        <p:spPr>
          <a:xfrm>
            <a:off x="3828776" y="1771741"/>
            <a:ext cx="548640" cy="365760"/>
          </a:xfrm>
          <a:prstGeom prst="rect">
            <a:avLst/>
          </a:prstGeom>
          <a:noFill/>
          <a:ln/>
        </p:spPr>
        <p:txBody>
          <a:bodyPr wrap="square" lIns="0" tIns="0" rIns="0" bIns="0" rtlCol="0" anchor="ctr"/>
          <a:lstStyle/>
          <a:p>
            <a:pPr algn="ctr" indent="0" marL="0">
              <a:buNone/>
            </a:pPr>
            <a:r>
              <a:rPr lang="en-US" sz="1400" b="1" dirty="0">
                <a:solidFill>
                  <a:srgbClr val="2E1065"/>
                </a:solidFill>
              </a:rPr>
              <a:t>R1</a:t>
            </a:r>
            <a:endParaRPr lang="en-US" sz="1400" dirty="0"/>
          </a:p>
        </p:txBody>
      </p:sp>
      <p:sp>
        <p:nvSpPr>
          <p:cNvPr id="9" name="Shape 5"/>
          <p:cNvSpPr/>
          <p:nvPr/>
        </p:nvSpPr>
        <p:spPr>
          <a:xfrm>
            <a:off x="3142976" y="3776472"/>
            <a:ext cx="640080" cy="640080"/>
          </a:xfrm>
          <a:prstGeom prst="ellipse">
            <a:avLst/>
          </a:prstGeom>
          <a:solidFill>
            <a:srgbClr val="FDE68A">
              <a:alpha val="0"/>
            </a:srgbClr>
          </a:solidFill>
          <a:ln w="50800">
            <a:solidFill>
              <a:srgbClr val="FDE68A"/>
            </a:solidFill>
            <a:prstDash val="solid"/>
          </a:ln>
        </p:spPr>
      </p:sp>
      <p:sp>
        <p:nvSpPr>
          <p:cNvPr id="10" name="Shape 6"/>
          <p:cNvSpPr/>
          <p:nvPr/>
        </p:nvSpPr>
        <p:spPr>
          <a:xfrm>
            <a:off x="3828776" y="3913632"/>
            <a:ext cx="548640" cy="365760"/>
          </a:xfrm>
          <a:prstGeom prst="roundRect">
            <a:avLst>
              <a:gd name="adj" fmla="val 50000"/>
            </a:avLst>
          </a:prstGeom>
          <a:solidFill>
            <a:srgbClr val="FDE68A"/>
          </a:solidFill>
          <a:ln/>
        </p:spPr>
      </p:sp>
      <p:sp>
        <p:nvSpPr>
          <p:cNvPr id="11" name="Text 7"/>
          <p:cNvSpPr txBox="1"/>
          <p:nvPr/>
        </p:nvSpPr>
        <p:spPr>
          <a:xfrm>
            <a:off x="3828776" y="3913632"/>
            <a:ext cx="548640" cy="365760"/>
          </a:xfrm>
          <a:prstGeom prst="rect">
            <a:avLst/>
          </a:prstGeom>
          <a:noFill/>
          <a:ln/>
        </p:spPr>
        <p:txBody>
          <a:bodyPr wrap="square" lIns="0" tIns="0" rIns="0" bIns="0" rtlCol="0" anchor="ctr"/>
          <a:lstStyle/>
          <a:p>
            <a:pPr algn="ctr" indent="0" marL="0">
              <a:buNone/>
            </a:pPr>
            <a:r>
              <a:rPr lang="en-US" sz="1400" b="1" dirty="0">
                <a:solidFill>
                  <a:srgbClr val="2E1065"/>
                </a:solidFill>
              </a:rPr>
              <a:t>R2</a:t>
            </a:r>
            <a:endParaRPr lang="en-US" sz="1400" dirty="0"/>
          </a:p>
        </p:txBody>
      </p:sp>
      <p:sp>
        <p:nvSpPr>
          <p:cNvPr id="12" name="Text 8"/>
          <p:cNvSpPr txBox="1"/>
          <p:nvPr/>
        </p:nvSpPr>
        <p:spPr>
          <a:xfrm>
            <a:off x="548640" y="4526280"/>
            <a:ext cx="5852160" cy="594360"/>
          </a:xfrm>
          <a:prstGeom prst="rect">
            <a:avLst/>
          </a:prstGeom>
          <a:noFill/>
          <a:ln/>
        </p:spPr>
        <p:txBody>
          <a:bodyPr wrap="square" lIns="0" tIns="0" rIns="0" bIns="0" rtlCol="0" anchor="t"/>
          <a:lstStyle/>
          <a:p>
            <a:pPr indent="0" marL="0">
              <a:buNone/>
            </a:pPr>
            <a:r>
              <a:rPr lang="en-US" sz="1400" i="1" dirty="0">
                <a:solidFill>
                  <a:srgbClr val="5B4B8A"/>
                </a:solidFill>
              </a:rPr>
              <a:t>Hai Điểm đặt lại khối R1, R2 nằm trên Đường trung tâm, phía trên và phía dưới Trạm Trung tâm.</a:t>
            </a:r>
            <a:endParaRPr lang="en-US" sz="1400" dirty="0"/>
          </a:p>
        </p:txBody>
      </p:sp>
      <p:sp>
        <p:nvSpPr>
          <p:cNvPr id="13" name="Shape 9"/>
          <p:cNvSpPr/>
          <p:nvPr/>
        </p:nvSpPr>
        <p:spPr>
          <a:xfrm>
            <a:off x="548640" y="5257800"/>
            <a:ext cx="5852160" cy="1005840"/>
          </a:xfrm>
          <a:prstGeom prst="roundRect">
            <a:avLst>
              <a:gd name="adj" fmla="val 10909"/>
            </a:avLst>
          </a:prstGeom>
          <a:solidFill>
            <a:srgbClr val="FEE2E2"/>
          </a:solidFill>
          <a:ln/>
          <a:effectLst>
            <a:outerShdw sx="100000" sy="100000" kx="0" ky="0" algn="bl" rotWithShape="0" blurRad="127000" dist="38100" dir="5400000">
              <a:srgbClr val="4C1D95">
                <a:alpha val="16000"/>
              </a:srgbClr>
            </a:outerShdw>
          </a:effectLst>
        </p:spPr>
      </p:sp>
      <p:pic>
        <p:nvPicPr>
          <p:cNvPr id="14" name="Image 1" descr="Biểu tượng minh họa">    </p:cNvPr>
          <p:cNvPicPr>
            <a:picLocks noChangeAspect="1"/>
          </p:cNvPicPr>
          <p:nvPr/>
        </p:nvPicPr>
        <p:blipFill>
          <a:blip r:embed="rId2"/>
          <a:stretch>
            <a:fillRect/>
          </a:stretch>
        </p:blipFill>
        <p:spPr>
          <a:xfrm>
            <a:off x="731520" y="5413248"/>
            <a:ext cx="685800" cy="685800"/>
          </a:xfrm>
          <a:prstGeom prst="rect">
            <a:avLst/>
          </a:prstGeom>
        </p:spPr>
      </p:pic>
      <p:sp>
        <p:nvSpPr>
          <p:cNvPr id="15" name="Text 10"/>
          <p:cNvSpPr txBox="1"/>
          <p:nvPr/>
        </p:nvSpPr>
        <p:spPr>
          <a:xfrm>
            <a:off x="1600200" y="5257800"/>
            <a:ext cx="4663440" cy="1005840"/>
          </a:xfrm>
          <a:prstGeom prst="rect">
            <a:avLst/>
          </a:prstGeom>
          <a:noFill/>
          <a:ln/>
        </p:spPr>
        <p:txBody>
          <a:bodyPr wrap="square" lIns="0" tIns="0" rIns="0" bIns="0" rtlCol="0" anchor="ctr"/>
          <a:lstStyle/>
          <a:p>
            <a:pPr indent="0" marL="0">
              <a:buNone/>
            </a:pPr>
            <a:r>
              <a:rPr lang="en-US" sz="1500" b="1" dirty="0">
                <a:solidFill>
                  <a:srgbClr val="DC2626"/>
                </a:solidFill>
              </a:rPr>
              <a:t>Thí sinh, HLV, người ngoài đội KHÔNG được dùng tay hoặc vật dụng đưa khối trở lại sân.</a:t>
            </a:r>
            <a:endParaRPr lang="en-US" sz="1500" dirty="0"/>
          </a:p>
        </p:txBody>
      </p:sp>
      <p:sp>
        <p:nvSpPr>
          <p:cNvPr id="16" name="Shape 11"/>
          <p:cNvSpPr/>
          <p:nvPr/>
        </p:nvSpPr>
        <p:spPr>
          <a:xfrm>
            <a:off x="6675120" y="1371600"/>
            <a:ext cx="4965192" cy="896112"/>
          </a:xfrm>
          <a:prstGeom prst="roundRect">
            <a:avLst>
              <a:gd name="adj" fmla="val 12245"/>
            </a:avLst>
          </a:prstGeom>
          <a:solidFill>
            <a:srgbClr val="FFFFFF"/>
          </a:solidFill>
          <a:ln/>
          <a:effectLst>
            <a:outerShdw sx="100000" sy="100000" kx="0" ky="0" algn="bl" rotWithShape="0" blurRad="127000" dist="38100" dir="5400000">
              <a:srgbClr val="4C1D95">
                <a:alpha val="16000"/>
              </a:srgbClr>
            </a:outerShdw>
          </a:effectLst>
        </p:spPr>
      </p:sp>
      <p:sp>
        <p:nvSpPr>
          <p:cNvPr id="17" name="Shape 12"/>
          <p:cNvSpPr/>
          <p:nvPr/>
        </p:nvSpPr>
        <p:spPr>
          <a:xfrm>
            <a:off x="6812280" y="1613916"/>
            <a:ext cx="411480" cy="411480"/>
          </a:xfrm>
          <a:prstGeom prst="ellipse">
            <a:avLst/>
          </a:prstGeom>
          <a:solidFill>
            <a:srgbClr val="7C3AED"/>
          </a:solidFill>
          <a:ln/>
        </p:spPr>
      </p:sp>
      <p:sp>
        <p:nvSpPr>
          <p:cNvPr id="18" name="Text 13"/>
          <p:cNvSpPr txBox="1"/>
          <p:nvPr/>
        </p:nvSpPr>
        <p:spPr>
          <a:xfrm>
            <a:off x="6812280" y="1613916"/>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pic>
        <p:nvPicPr>
          <p:cNvPr id="19" name="Image 2" descr="Biểu tượng minh họa">    </p:cNvPr>
          <p:cNvPicPr>
            <a:picLocks noChangeAspect="1"/>
          </p:cNvPicPr>
          <p:nvPr/>
        </p:nvPicPr>
        <p:blipFill>
          <a:blip r:embed="rId3"/>
          <a:stretch>
            <a:fillRect/>
          </a:stretch>
        </p:blipFill>
        <p:spPr>
          <a:xfrm>
            <a:off x="7360920" y="1568196"/>
            <a:ext cx="502920" cy="502920"/>
          </a:xfrm>
          <a:prstGeom prst="rect">
            <a:avLst/>
          </a:prstGeom>
        </p:spPr>
      </p:pic>
      <p:sp>
        <p:nvSpPr>
          <p:cNvPr id="20" name="Text 14"/>
          <p:cNvSpPr txBox="1"/>
          <p:nvPr/>
        </p:nvSpPr>
        <p:spPr>
          <a:xfrm>
            <a:off x="8001000" y="1371600"/>
            <a:ext cx="3566160" cy="896112"/>
          </a:xfrm>
          <a:prstGeom prst="rect">
            <a:avLst/>
          </a:prstGeom>
          <a:noFill/>
          <a:ln/>
        </p:spPr>
        <p:txBody>
          <a:bodyPr wrap="square" lIns="0" tIns="0" rIns="0" bIns="0" rtlCol="0" anchor="ctr"/>
          <a:lstStyle/>
          <a:p>
            <a:pPr indent="0" marL="0">
              <a:buNone/>
            </a:pPr>
            <a:r>
              <a:rPr lang="en-US" sz="1500" dirty="0">
                <a:solidFill>
                  <a:srgbClr val="2E1065"/>
                </a:solidFill>
              </a:rPr>
              <a:t>Chỉ trọng tài (hoặc trợ lý) nhặt khối</a:t>
            </a:r>
            <a:endParaRPr lang="en-US" sz="1500" dirty="0"/>
          </a:p>
        </p:txBody>
      </p:sp>
      <p:sp>
        <p:nvSpPr>
          <p:cNvPr id="21" name="Shape 15"/>
          <p:cNvSpPr/>
          <p:nvPr/>
        </p:nvSpPr>
        <p:spPr>
          <a:xfrm>
            <a:off x="6675120" y="2331720"/>
            <a:ext cx="4965192" cy="896112"/>
          </a:xfrm>
          <a:prstGeom prst="roundRect">
            <a:avLst>
              <a:gd name="adj" fmla="val 12245"/>
            </a:avLst>
          </a:prstGeom>
          <a:solidFill>
            <a:srgbClr val="FFFFFF"/>
          </a:solidFill>
          <a:ln/>
          <a:effectLst>
            <a:outerShdw sx="100000" sy="100000" kx="0" ky="0" algn="bl" rotWithShape="0" blurRad="127000" dist="38100" dir="5400000">
              <a:srgbClr val="4C1D95">
                <a:alpha val="16000"/>
              </a:srgbClr>
            </a:outerShdw>
          </a:effectLst>
        </p:spPr>
      </p:sp>
      <p:sp>
        <p:nvSpPr>
          <p:cNvPr id="22" name="Shape 16"/>
          <p:cNvSpPr/>
          <p:nvPr/>
        </p:nvSpPr>
        <p:spPr>
          <a:xfrm>
            <a:off x="6812280" y="2574036"/>
            <a:ext cx="411480" cy="411480"/>
          </a:xfrm>
          <a:prstGeom prst="ellipse">
            <a:avLst/>
          </a:prstGeom>
          <a:solidFill>
            <a:srgbClr val="7C3AED"/>
          </a:solidFill>
          <a:ln/>
        </p:spPr>
      </p:sp>
      <p:sp>
        <p:nvSpPr>
          <p:cNvPr id="23" name="Text 17"/>
          <p:cNvSpPr txBox="1"/>
          <p:nvPr/>
        </p:nvSpPr>
        <p:spPr>
          <a:xfrm>
            <a:off x="6812280" y="2574036"/>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pic>
        <p:nvPicPr>
          <p:cNvPr id="24" name="Image 3" descr="Biểu tượng minh họa">    </p:cNvPr>
          <p:cNvPicPr>
            <a:picLocks noChangeAspect="1"/>
          </p:cNvPicPr>
          <p:nvPr/>
        </p:nvPicPr>
        <p:blipFill>
          <a:blip r:embed="rId4"/>
          <a:stretch>
            <a:fillRect/>
          </a:stretch>
        </p:blipFill>
        <p:spPr>
          <a:xfrm>
            <a:off x="7360920" y="2528316"/>
            <a:ext cx="502920" cy="502920"/>
          </a:xfrm>
          <a:prstGeom prst="rect">
            <a:avLst/>
          </a:prstGeom>
        </p:spPr>
      </p:pic>
      <p:sp>
        <p:nvSpPr>
          <p:cNvPr id="25" name="Text 18"/>
          <p:cNvSpPr txBox="1"/>
          <p:nvPr/>
        </p:nvSpPr>
        <p:spPr>
          <a:xfrm>
            <a:off x="8001000" y="2331720"/>
            <a:ext cx="3566160" cy="896112"/>
          </a:xfrm>
          <a:prstGeom prst="rect">
            <a:avLst/>
          </a:prstGeom>
          <a:noFill/>
          <a:ln/>
        </p:spPr>
        <p:txBody>
          <a:bodyPr wrap="square" lIns="0" tIns="0" rIns="0" bIns="0" rtlCol="0" anchor="ctr"/>
          <a:lstStyle/>
          <a:p>
            <a:pPr indent="0" marL="0">
              <a:buNone/>
            </a:pPr>
            <a:r>
              <a:rPr lang="en-US" sz="1500" dirty="0">
                <a:solidFill>
                  <a:srgbClr val="2E1065"/>
                </a:solidFill>
              </a:rPr>
              <a:t>Đặt tại 01 trong 02 Điểm đặt lại khối (R1, R2)</a:t>
            </a:r>
            <a:endParaRPr lang="en-US" sz="1500" dirty="0"/>
          </a:p>
        </p:txBody>
      </p:sp>
      <p:sp>
        <p:nvSpPr>
          <p:cNvPr id="26" name="Shape 19"/>
          <p:cNvSpPr/>
          <p:nvPr/>
        </p:nvSpPr>
        <p:spPr>
          <a:xfrm>
            <a:off x="6675120" y="3291840"/>
            <a:ext cx="4965192" cy="896112"/>
          </a:xfrm>
          <a:prstGeom prst="roundRect">
            <a:avLst>
              <a:gd name="adj" fmla="val 12245"/>
            </a:avLst>
          </a:prstGeom>
          <a:solidFill>
            <a:srgbClr val="FFFFFF"/>
          </a:solidFill>
          <a:ln/>
          <a:effectLst>
            <a:outerShdw sx="100000" sy="100000" kx="0" ky="0" algn="bl" rotWithShape="0" blurRad="127000" dist="38100" dir="5400000">
              <a:srgbClr val="4C1D95">
                <a:alpha val="16000"/>
              </a:srgbClr>
            </a:outerShdw>
          </a:effectLst>
        </p:spPr>
      </p:sp>
      <p:sp>
        <p:nvSpPr>
          <p:cNvPr id="27" name="Shape 20"/>
          <p:cNvSpPr/>
          <p:nvPr/>
        </p:nvSpPr>
        <p:spPr>
          <a:xfrm>
            <a:off x="6812280" y="3534156"/>
            <a:ext cx="411480" cy="411480"/>
          </a:xfrm>
          <a:prstGeom prst="ellipse">
            <a:avLst/>
          </a:prstGeom>
          <a:solidFill>
            <a:srgbClr val="7C3AED"/>
          </a:solidFill>
          <a:ln/>
        </p:spPr>
      </p:sp>
      <p:sp>
        <p:nvSpPr>
          <p:cNvPr id="28" name="Text 21"/>
          <p:cNvSpPr txBox="1"/>
          <p:nvPr/>
        </p:nvSpPr>
        <p:spPr>
          <a:xfrm>
            <a:off x="6812280" y="3534156"/>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pic>
        <p:nvPicPr>
          <p:cNvPr id="29" name="Image 4" descr="Biểu tượng minh họa">    </p:cNvPr>
          <p:cNvPicPr>
            <a:picLocks noChangeAspect="1"/>
          </p:cNvPicPr>
          <p:nvPr/>
        </p:nvPicPr>
        <p:blipFill>
          <a:blip r:embed="rId5"/>
          <a:stretch>
            <a:fillRect/>
          </a:stretch>
        </p:blipFill>
        <p:spPr>
          <a:xfrm>
            <a:off x="7360920" y="3488436"/>
            <a:ext cx="502920" cy="502920"/>
          </a:xfrm>
          <a:prstGeom prst="rect">
            <a:avLst/>
          </a:prstGeom>
        </p:spPr>
      </p:pic>
      <p:sp>
        <p:nvSpPr>
          <p:cNvPr id="30" name="Text 22"/>
          <p:cNvSpPr txBox="1"/>
          <p:nvPr/>
        </p:nvSpPr>
        <p:spPr>
          <a:xfrm>
            <a:off x="8001000" y="3291840"/>
            <a:ext cx="3566160" cy="896112"/>
          </a:xfrm>
          <a:prstGeom prst="rect">
            <a:avLst/>
          </a:prstGeom>
          <a:noFill/>
          <a:ln/>
        </p:spPr>
        <p:txBody>
          <a:bodyPr wrap="square" lIns="0" tIns="0" rIns="0" bIns="0" rtlCol="0" anchor="ctr"/>
          <a:lstStyle/>
          <a:p>
            <a:pPr indent="0" marL="0">
              <a:buNone/>
            </a:pPr>
            <a:r>
              <a:rPr lang="en-US" sz="1500" dirty="0">
                <a:solidFill>
                  <a:srgbClr val="2E1065"/>
                </a:solidFill>
              </a:rPr>
              <a:t>Đồng hồ thi đấu KHÔNG dừng – hai đội thi đấu tiếp</a:t>
            </a:r>
            <a:endParaRPr lang="en-US" sz="1500" dirty="0"/>
          </a:p>
        </p:txBody>
      </p:sp>
      <p:sp>
        <p:nvSpPr>
          <p:cNvPr id="31" name="Shape 23"/>
          <p:cNvSpPr/>
          <p:nvPr/>
        </p:nvSpPr>
        <p:spPr>
          <a:xfrm>
            <a:off x="6675120" y="4251960"/>
            <a:ext cx="4965192" cy="896112"/>
          </a:xfrm>
          <a:prstGeom prst="roundRect">
            <a:avLst>
              <a:gd name="adj" fmla="val 12245"/>
            </a:avLst>
          </a:prstGeom>
          <a:solidFill>
            <a:srgbClr val="FFFFFF"/>
          </a:solidFill>
          <a:ln/>
          <a:effectLst>
            <a:outerShdw sx="100000" sy="100000" kx="0" ky="0" algn="bl" rotWithShape="0" blurRad="127000" dist="38100" dir="5400000">
              <a:srgbClr val="4C1D95">
                <a:alpha val="16000"/>
              </a:srgbClr>
            </a:outerShdw>
          </a:effectLst>
        </p:spPr>
      </p:sp>
      <p:sp>
        <p:nvSpPr>
          <p:cNvPr id="32" name="Shape 24"/>
          <p:cNvSpPr/>
          <p:nvPr/>
        </p:nvSpPr>
        <p:spPr>
          <a:xfrm>
            <a:off x="6812280" y="4494276"/>
            <a:ext cx="411480" cy="411480"/>
          </a:xfrm>
          <a:prstGeom prst="ellipse">
            <a:avLst/>
          </a:prstGeom>
          <a:solidFill>
            <a:srgbClr val="7C3AED"/>
          </a:solidFill>
          <a:ln/>
        </p:spPr>
      </p:sp>
      <p:sp>
        <p:nvSpPr>
          <p:cNvPr id="33" name="Text 25"/>
          <p:cNvSpPr txBox="1"/>
          <p:nvPr/>
        </p:nvSpPr>
        <p:spPr>
          <a:xfrm>
            <a:off x="6812280" y="4494276"/>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pic>
        <p:nvPicPr>
          <p:cNvPr id="34" name="Image 5" descr="Biểu tượng minh họa">    </p:cNvPr>
          <p:cNvPicPr>
            <a:picLocks noChangeAspect="1"/>
          </p:cNvPicPr>
          <p:nvPr/>
        </p:nvPicPr>
        <p:blipFill>
          <a:blip r:embed="rId6"/>
          <a:stretch>
            <a:fillRect/>
          </a:stretch>
        </p:blipFill>
        <p:spPr>
          <a:xfrm>
            <a:off x="7360920" y="4448556"/>
            <a:ext cx="502920" cy="502920"/>
          </a:xfrm>
          <a:prstGeom prst="rect">
            <a:avLst/>
          </a:prstGeom>
        </p:spPr>
      </p:pic>
      <p:sp>
        <p:nvSpPr>
          <p:cNvPr id="35" name="Text 26"/>
          <p:cNvSpPr txBox="1"/>
          <p:nvPr/>
        </p:nvSpPr>
        <p:spPr>
          <a:xfrm>
            <a:off x="8001000" y="4251960"/>
            <a:ext cx="3566160" cy="896112"/>
          </a:xfrm>
          <a:prstGeom prst="rect">
            <a:avLst/>
          </a:prstGeom>
          <a:noFill/>
          <a:ln/>
        </p:spPr>
        <p:txBody>
          <a:bodyPr wrap="square" lIns="0" tIns="0" rIns="0" bIns="0" rtlCol="0" anchor="ctr"/>
          <a:lstStyle/>
          <a:p>
            <a:pPr indent="0" marL="0">
              <a:buNone/>
            </a:pPr>
            <a:r>
              <a:rPr lang="en-US" sz="1500" dirty="0">
                <a:solidFill>
                  <a:srgbClr val="2E1065"/>
                </a:solidFill>
              </a:rPr>
              <a:t>Khối đặt lại tiếp tục là đối tượng tranh chấp chung</a:t>
            </a:r>
            <a:endParaRPr lang="en-US" sz="1500" dirty="0"/>
          </a:p>
        </p:txBody>
      </p:sp>
      <p:sp>
        <p:nvSpPr>
          <p:cNvPr id="36" name="Shape 27"/>
          <p:cNvSpPr/>
          <p:nvPr/>
        </p:nvSpPr>
        <p:spPr>
          <a:xfrm>
            <a:off x="6675120" y="5212080"/>
            <a:ext cx="4965192" cy="896112"/>
          </a:xfrm>
          <a:prstGeom prst="roundRect">
            <a:avLst>
              <a:gd name="adj" fmla="val 12245"/>
            </a:avLst>
          </a:prstGeom>
          <a:solidFill>
            <a:srgbClr val="FFFFFF"/>
          </a:solidFill>
          <a:ln/>
          <a:effectLst>
            <a:outerShdw sx="100000" sy="100000" kx="0" ky="0" algn="bl" rotWithShape="0" blurRad="127000" dist="38100" dir="5400000">
              <a:srgbClr val="4C1D95">
                <a:alpha val="16000"/>
              </a:srgbClr>
            </a:outerShdw>
          </a:effectLst>
        </p:spPr>
      </p:sp>
      <p:sp>
        <p:nvSpPr>
          <p:cNvPr id="37" name="Shape 28"/>
          <p:cNvSpPr/>
          <p:nvPr/>
        </p:nvSpPr>
        <p:spPr>
          <a:xfrm>
            <a:off x="6812280" y="5454396"/>
            <a:ext cx="411480" cy="411480"/>
          </a:xfrm>
          <a:prstGeom prst="ellipse">
            <a:avLst/>
          </a:prstGeom>
          <a:solidFill>
            <a:srgbClr val="7C3AED"/>
          </a:solidFill>
          <a:ln/>
        </p:spPr>
      </p:sp>
      <p:sp>
        <p:nvSpPr>
          <p:cNvPr id="38" name="Text 29"/>
          <p:cNvSpPr txBox="1"/>
          <p:nvPr/>
        </p:nvSpPr>
        <p:spPr>
          <a:xfrm>
            <a:off x="6812280" y="5454396"/>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pic>
        <p:nvPicPr>
          <p:cNvPr id="39" name="Image 6" descr="Biểu tượng minh họa">    </p:cNvPr>
          <p:cNvPicPr>
            <a:picLocks noChangeAspect="1"/>
          </p:cNvPicPr>
          <p:nvPr/>
        </p:nvPicPr>
        <p:blipFill>
          <a:blip r:embed="rId7"/>
          <a:stretch>
            <a:fillRect/>
          </a:stretch>
        </p:blipFill>
        <p:spPr>
          <a:xfrm>
            <a:off x="7360920" y="5408676"/>
            <a:ext cx="502920" cy="502920"/>
          </a:xfrm>
          <a:prstGeom prst="rect">
            <a:avLst/>
          </a:prstGeom>
        </p:spPr>
      </p:pic>
      <p:sp>
        <p:nvSpPr>
          <p:cNvPr id="40" name="Text 30"/>
          <p:cNvSpPr txBox="1"/>
          <p:nvPr/>
        </p:nvSpPr>
        <p:spPr>
          <a:xfrm>
            <a:off x="8001000" y="5212080"/>
            <a:ext cx="3566160" cy="896112"/>
          </a:xfrm>
          <a:prstGeom prst="rect">
            <a:avLst/>
          </a:prstGeom>
          <a:noFill/>
          <a:ln/>
        </p:spPr>
        <p:txBody>
          <a:bodyPr wrap="square" lIns="0" tIns="0" rIns="0" bIns="0" rtlCol="0" anchor="ctr"/>
          <a:lstStyle/>
          <a:p>
            <a:pPr indent="0" marL="0">
              <a:buNone/>
            </a:pPr>
            <a:r>
              <a:rPr lang="en-US" sz="1500" dirty="0">
                <a:solidFill>
                  <a:srgbClr val="2E1065"/>
                </a:solidFill>
              </a:rPr>
              <a:t>Khối Nước, Đất, Lá đặt lại vẫn áp dụng điều kiện mở khóa</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BẢNG ĐIỂM</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Bảng điểm cộng</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3200400"/>
                <a:gridCol w="1371600"/>
                <a:gridCol w="1097280"/>
                <a:gridCol w="1280160"/>
              </a:tblGrid>
              <a:tr h="530352">
                <a:tc>
                  <a:txBody>
                    <a:bodyPr/>
                    <a:lstStyle/>
                    <a:p>
                      <a:pPr algn="ctr" indent="0" marL="0">
                        <a:buNone/>
                      </a:pPr>
                      <a:r>
                        <a:rPr lang="en-US" sz="1400" b="1" dirty="0">
                          <a:solidFill>
                            <a:srgbClr val="FFFFFF"/>
                          </a:solidFill>
                        </a:rPr>
                        <a:t>Nội dung ghi điểm</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Đơn giá</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Số lượng</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Tổng khả dụng</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530352">
                <a:tc>
                  <a:txBody>
                    <a:bodyPr/>
                    <a:lstStyle/>
                    <a:p>
                      <a:pPr indent="0" marL="0">
                        <a:buNone/>
                      </a:pPr>
                      <a:r>
                        <a:rPr lang="en-US" sz="1400" b="1" dirty="0">
                          <a:solidFill>
                            <a:srgbClr val="EA580C"/>
                          </a:solidFill>
                        </a:rPr>
                        <a:t>NV1 – Khối Dầu về Căn cứ</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05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08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40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2563EB"/>
                          </a:solidFill>
                        </a:rPr>
                        <a:t>NV2 – Khối Nước (sau mở khóa Trạm)</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10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02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20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A16207"/>
                          </a:solidFill>
                        </a:rPr>
                        <a:t>NV3 – Khối Đất (sau mở khóa Trạm)</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10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02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20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5803D"/>
                          </a:solidFill>
                        </a:rPr>
                        <a:t>NV4 – Khối Lá (sau mở khóa Trạm)</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20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01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20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FFFFFF"/>
                          </a:solidFill>
                        </a:rPr>
                        <a:t>TỔNG ĐIỂM KHỐI TRÊN SA BÀN</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8B5CF6"/>
                    </a:solidFill>
                  </a:tcPr>
                </a:tc>
                <a:tc>
                  <a:txBody>
                    <a:bodyPr/>
                    <a:lstStyle/>
                    <a:p>
                      <a:pPr algn="ctr" indent="0" marL="0">
                        <a:buNone/>
                      </a:pP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8B5CF6"/>
                    </a:solidFill>
                  </a:tcPr>
                </a:tc>
                <a:tc>
                  <a:txBody>
                    <a:bodyPr/>
                    <a:lstStyle/>
                    <a:p>
                      <a:pPr algn="ctr" indent="0" marL="0">
                        <a:buNone/>
                      </a:pPr>
                      <a:r>
                        <a:rPr lang="en-US" sz="1400" b="1" dirty="0">
                          <a:solidFill>
                            <a:srgbClr val="2E1065"/>
                          </a:solidFill>
                        </a:rPr>
                        <a:t>13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8B5CF6"/>
                    </a:solidFill>
                  </a:tcPr>
                </a:tc>
                <a:tc>
                  <a:txBody>
                    <a:bodyPr/>
                    <a:lstStyle/>
                    <a:p>
                      <a:pPr algn="ctr" indent="0" marL="0">
                        <a:buNone/>
                      </a:pPr>
                      <a:r>
                        <a:rPr lang="en-US" sz="1400" b="1" dirty="0">
                          <a:solidFill>
                            <a:srgbClr val="FFFFFF"/>
                          </a:solidFill>
                        </a:rPr>
                        <a:t>100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8B5CF6"/>
                    </a:solidFill>
                  </a:tcPr>
                </a:tc>
              </a:tr>
              <a:tr h="530352">
                <a:tc>
                  <a:txBody>
                    <a:bodyPr/>
                    <a:lstStyle/>
                    <a:p>
                      <a:pPr indent="0" marL="0">
                        <a:buNone/>
                      </a:pPr>
                      <a:r>
                        <a:rPr lang="en-US" sz="1400" b="1" dirty="0">
                          <a:solidFill>
                            <a:srgbClr val="7C3AED"/>
                          </a:solidFill>
                        </a:rPr>
                        <a:t>NV5 – Hồi căn cứ hợp lệ</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05 điểm</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mỗi đội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5</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6" name="Shape 2"/>
          <p:cNvSpPr/>
          <p:nvPr/>
        </p:nvSpPr>
        <p:spPr>
          <a:xfrm>
            <a:off x="7772400" y="1371600"/>
            <a:ext cx="3867912" cy="4892040"/>
          </a:xfrm>
          <a:prstGeom prst="roundRect">
            <a:avLst>
              <a:gd name="adj" fmla="val 2837"/>
            </a:avLst>
          </a:prstGeom>
          <a:solidFill>
            <a:srgbClr val="FFFFFF"/>
          </a:solidFill>
          <a:ln/>
          <a:effectLst>
            <a:outerShdw sx="100000" sy="100000" kx="0" ky="0" algn="bl" rotWithShape="0" blurRad="127000" dist="38100" dir="5400000">
              <a:srgbClr val="4C1D95">
                <a:alpha val="16000"/>
              </a:srgbClr>
            </a:outerShdw>
          </a:effectLst>
        </p:spPr>
      </p:sp>
      <p:graphicFrame>
        <p:nvGraphicFramePr>
          <p:cNvPr id="7" name="Chart 0" descr=""/>
          <p:cNvGraphicFramePr/>
          <p:nvPr/>
        </p:nvGraphicFramePr>
        <p:xfrm>
          <a:off x="7863840" y="1463040"/>
          <a:ext cx="3685032" cy="3931920"/>
        </p:xfrm>
        <a:graphic xmlns:a="http://schemas.openxmlformats.org/drawingml/2006/main">
          <a:graphicData uri="http://schemas.openxmlformats.org/drawingml/2006/chart">
            <c:chart xmlns:c="http://schemas.openxmlformats.org/drawingml/2006/chart" r:id="rId1"/>
          </a:graphicData>
        </a:graphic>
      </p:graphicFrame>
      <p:sp>
        <p:nvSpPr>
          <p:cNvPr id="8" name="Text 3"/>
          <p:cNvSpPr txBox="1"/>
          <p:nvPr/>
        </p:nvSpPr>
        <p:spPr>
          <a:xfrm>
            <a:off x="7955280" y="5440680"/>
            <a:ext cx="3520440" cy="731520"/>
          </a:xfrm>
          <a:prstGeom prst="rect">
            <a:avLst/>
          </a:prstGeom>
          <a:noFill/>
          <a:ln/>
        </p:spPr>
        <p:txBody>
          <a:bodyPr wrap="square" lIns="0" tIns="0" rIns="0" bIns="0" rtlCol="0" anchor="t"/>
          <a:lstStyle/>
          <a:p>
            <a:pPr algn="ctr" indent="0" marL="0">
              <a:buNone/>
            </a:pPr>
            <a:r>
              <a:rPr lang="en-US" sz="1300" i="1" dirty="0">
                <a:solidFill>
                  <a:srgbClr val="5B4B8A"/>
                </a:solidFill>
              </a:rPr>
              <a:t>Điểm khối là của toàn sa bàn – hai đội cùng tranh chấp</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BẢNG ĐIỂM</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Bảng điểm trừ</a:t>
            </a:r>
            <a:endParaRPr lang="en-US" sz="3000" dirty="0"/>
          </a:p>
        </p:txBody>
      </p:sp>
      <p:sp>
        <p:nvSpPr>
          <p:cNvPr id="5" name="Shape 2"/>
          <p:cNvSpPr/>
          <p:nvPr/>
        </p:nvSpPr>
        <p:spPr>
          <a:xfrm>
            <a:off x="548640" y="1371600"/>
            <a:ext cx="11091672" cy="713232"/>
          </a:xfrm>
          <a:prstGeom prst="roundRect">
            <a:avLst>
              <a:gd name="adj" fmla="val 15385"/>
            </a:avLst>
          </a:prstGeom>
          <a:solidFill>
            <a:srgbClr val="FFFFFF"/>
          </a:solidFill>
          <a:ln/>
          <a:effectLst>
            <a:outerShdw sx="100000" sy="100000" kx="0" ky="0" algn="bl" rotWithShape="0" blurRad="127000" dist="38100" dir="5400000">
              <a:srgbClr val="4C1D95">
                <a:alpha val="16000"/>
              </a:srgbClr>
            </a:outerShdw>
          </a:effectLst>
        </p:spPr>
      </p:sp>
      <p:pic>
        <p:nvPicPr>
          <p:cNvPr id="6" name="Image 0" descr="Biểu tượng minh họa">    </p:cNvPr>
          <p:cNvPicPr>
            <a:picLocks noChangeAspect="1"/>
          </p:cNvPicPr>
          <p:nvPr/>
        </p:nvPicPr>
        <p:blipFill>
          <a:blip r:embed="rId1"/>
          <a:stretch>
            <a:fillRect/>
          </a:stretch>
        </p:blipFill>
        <p:spPr>
          <a:xfrm>
            <a:off x="685800" y="1499616"/>
            <a:ext cx="457200" cy="457200"/>
          </a:xfrm>
          <a:prstGeom prst="rect">
            <a:avLst/>
          </a:prstGeom>
        </p:spPr>
      </p:pic>
      <p:sp>
        <p:nvSpPr>
          <p:cNvPr id="7" name="Text 3"/>
          <p:cNvSpPr txBox="1"/>
          <p:nvPr/>
        </p:nvSpPr>
        <p:spPr>
          <a:xfrm>
            <a:off x="1325880" y="1371600"/>
            <a:ext cx="5669280" cy="713232"/>
          </a:xfrm>
          <a:prstGeom prst="rect">
            <a:avLst/>
          </a:prstGeom>
          <a:noFill/>
          <a:ln/>
        </p:spPr>
        <p:txBody>
          <a:bodyPr wrap="square" lIns="0" tIns="0" rIns="0" bIns="0" rtlCol="0" anchor="ctr"/>
          <a:lstStyle/>
          <a:p>
            <a:pPr indent="0" marL="0">
              <a:buNone/>
            </a:pPr>
            <a:r>
              <a:rPr lang="en-US" sz="1500" dirty="0">
                <a:solidFill>
                  <a:srgbClr val="2E1065"/>
                </a:solidFill>
              </a:rPr>
              <a:t>Robot vượt ra ngoài sa bàn (từ 02 bánh xe trở lên ra ngoài khung sân)</a:t>
            </a:r>
            <a:endParaRPr lang="en-US" sz="1500" dirty="0"/>
          </a:p>
        </p:txBody>
      </p:sp>
      <p:sp>
        <p:nvSpPr>
          <p:cNvPr id="8" name="Shape 4"/>
          <p:cNvSpPr/>
          <p:nvPr/>
        </p:nvSpPr>
        <p:spPr>
          <a:xfrm>
            <a:off x="7132320" y="1517904"/>
            <a:ext cx="1691640" cy="420624"/>
          </a:xfrm>
          <a:prstGeom prst="roundRect">
            <a:avLst>
              <a:gd name="adj" fmla="val 50000"/>
            </a:avLst>
          </a:prstGeom>
          <a:solidFill>
            <a:srgbClr val="DC2626"/>
          </a:solidFill>
          <a:ln/>
        </p:spPr>
      </p:sp>
      <p:sp>
        <p:nvSpPr>
          <p:cNvPr id="9" name="Text 5"/>
          <p:cNvSpPr txBox="1"/>
          <p:nvPr/>
        </p:nvSpPr>
        <p:spPr>
          <a:xfrm>
            <a:off x="7132320" y="1517904"/>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−5 điểm/lần</a:t>
            </a:r>
            <a:endParaRPr lang="en-US" sz="1500" dirty="0"/>
          </a:p>
        </p:txBody>
      </p:sp>
      <p:sp>
        <p:nvSpPr>
          <p:cNvPr id="10" name="Text 6"/>
          <p:cNvSpPr txBox="1"/>
          <p:nvPr/>
        </p:nvSpPr>
        <p:spPr>
          <a:xfrm>
            <a:off x="9006840" y="1371600"/>
            <a:ext cx="2560320" cy="713232"/>
          </a:xfrm>
          <a:prstGeom prst="rect">
            <a:avLst/>
          </a:prstGeom>
          <a:noFill/>
          <a:ln/>
        </p:spPr>
        <p:txBody>
          <a:bodyPr wrap="square" lIns="0" tIns="0" rIns="0" bIns="0" rtlCol="0" anchor="ctr"/>
          <a:lstStyle/>
          <a:p>
            <a:pPr indent="0" marL="0">
              <a:buNone/>
            </a:pPr>
            <a:r>
              <a:rPr lang="en-US" sz="1300" i="1" dirty="0">
                <a:solidFill>
                  <a:srgbClr val="5B4B8A"/>
                </a:solidFill>
              </a:rPr>
              <a:t>Trọng tài đặt lại robot tại Khu Căn cứ</a:t>
            </a:r>
            <a:endParaRPr lang="en-US" sz="1300" dirty="0"/>
          </a:p>
        </p:txBody>
      </p:sp>
      <p:sp>
        <p:nvSpPr>
          <p:cNvPr id="11" name="Shape 7"/>
          <p:cNvSpPr/>
          <p:nvPr/>
        </p:nvSpPr>
        <p:spPr>
          <a:xfrm>
            <a:off x="548640" y="2194560"/>
            <a:ext cx="11091672" cy="713232"/>
          </a:xfrm>
          <a:prstGeom prst="roundRect">
            <a:avLst>
              <a:gd name="adj" fmla="val 15385"/>
            </a:avLst>
          </a:prstGeom>
          <a:solidFill>
            <a:srgbClr val="FFFFFF"/>
          </a:solidFill>
          <a:ln/>
          <a:effectLst>
            <a:outerShdw sx="100000" sy="100000" kx="0" ky="0" algn="bl" rotWithShape="0" blurRad="127000" dist="38100" dir="5400000">
              <a:srgbClr val="4C1D95">
                <a:alpha val="16000"/>
              </a:srgbClr>
            </a:outerShdw>
          </a:effectLst>
        </p:spPr>
      </p:sp>
      <p:pic>
        <p:nvPicPr>
          <p:cNvPr id="12" name="Image 1" descr="Biểu tượng minh họa">    </p:cNvPr>
          <p:cNvPicPr>
            <a:picLocks noChangeAspect="1"/>
          </p:cNvPicPr>
          <p:nvPr/>
        </p:nvPicPr>
        <p:blipFill>
          <a:blip r:embed="rId2"/>
          <a:stretch>
            <a:fillRect/>
          </a:stretch>
        </p:blipFill>
        <p:spPr>
          <a:xfrm>
            <a:off x="685800" y="2322576"/>
            <a:ext cx="457200" cy="457200"/>
          </a:xfrm>
          <a:prstGeom prst="rect">
            <a:avLst/>
          </a:prstGeom>
        </p:spPr>
      </p:pic>
      <p:sp>
        <p:nvSpPr>
          <p:cNvPr id="13" name="Text 8"/>
          <p:cNvSpPr txBox="1"/>
          <p:nvPr/>
        </p:nvSpPr>
        <p:spPr>
          <a:xfrm>
            <a:off x="1325880" y="2194560"/>
            <a:ext cx="5669280" cy="713232"/>
          </a:xfrm>
          <a:prstGeom prst="rect">
            <a:avLst/>
          </a:prstGeom>
          <a:noFill/>
          <a:ln/>
        </p:spPr>
        <p:txBody>
          <a:bodyPr wrap="square" lIns="0" tIns="0" rIns="0" bIns="0" rtlCol="0" anchor="ctr"/>
          <a:lstStyle/>
          <a:p>
            <a:pPr indent="0" marL="0">
              <a:buNone/>
            </a:pPr>
            <a:r>
              <a:rPr lang="en-US" sz="1500" dirty="0">
                <a:solidFill>
                  <a:srgbClr val="2E1065"/>
                </a:solidFill>
              </a:rPr>
              <a:t>Đâm trực tiếp vào robot đội bạn</a:t>
            </a:r>
            <a:endParaRPr lang="en-US" sz="1500" dirty="0"/>
          </a:p>
        </p:txBody>
      </p:sp>
      <p:sp>
        <p:nvSpPr>
          <p:cNvPr id="14" name="Shape 9"/>
          <p:cNvSpPr/>
          <p:nvPr/>
        </p:nvSpPr>
        <p:spPr>
          <a:xfrm>
            <a:off x="7132320" y="2340864"/>
            <a:ext cx="1691640" cy="420624"/>
          </a:xfrm>
          <a:prstGeom prst="roundRect">
            <a:avLst>
              <a:gd name="adj" fmla="val 50000"/>
            </a:avLst>
          </a:prstGeom>
          <a:solidFill>
            <a:srgbClr val="DC2626"/>
          </a:solidFill>
          <a:ln/>
        </p:spPr>
      </p:sp>
      <p:sp>
        <p:nvSpPr>
          <p:cNvPr id="15" name="Text 10"/>
          <p:cNvSpPr txBox="1"/>
          <p:nvPr/>
        </p:nvSpPr>
        <p:spPr>
          <a:xfrm>
            <a:off x="7132320" y="2340864"/>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−10 điểm/lần</a:t>
            </a:r>
            <a:endParaRPr lang="en-US" sz="1500" dirty="0"/>
          </a:p>
        </p:txBody>
      </p:sp>
      <p:sp>
        <p:nvSpPr>
          <p:cNvPr id="16" name="Text 11"/>
          <p:cNvSpPr txBox="1"/>
          <p:nvPr/>
        </p:nvSpPr>
        <p:spPr>
          <a:xfrm>
            <a:off x="9006840" y="2194560"/>
            <a:ext cx="2560320" cy="713232"/>
          </a:xfrm>
          <a:prstGeom prst="rect">
            <a:avLst/>
          </a:prstGeom>
          <a:noFill/>
          <a:ln/>
        </p:spPr>
        <p:txBody>
          <a:bodyPr wrap="square" lIns="0" tIns="0" rIns="0" bIns="0" rtlCol="0" anchor="ctr"/>
          <a:lstStyle/>
          <a:p>
            <a:pPr indent="0" marL="0">
              <a:buNone/>
            </a:pPr>
            <a:r>
              <a:rPr lang="en-US" sz="1300" i="1" dirty="0">
                <a:solidFill>
                  <a:srgbClr val="5B4B8A"/>
                </a:solidFill>
              </a:rPr>
              <a:t>Trọng tài quyết định theo thực tế</a:t>
            </a:r>
            <a:endParaRPr lang="en-US" sz="1300" dirty="0"/>
          </a:p>
        </p:txBody>
      </p:sp>
      <p:sp>
        <p:nvSpPr>
          <p:cNvPr id="17" name="Shape 12"/>
          <p:cNvSpPr/>
          <p:nvPr/>
        </p:nvSpPr>
        <p:spPr>
          <a:xfrm>
            <a:off x="548640" y="3017520"/>
            <a:ext cx="11091672" cy="713232"/>
          </a:xfrm>
          <a:prstGeom prst="roundRect">
            <a:avLst>
              <a:gd name="adj" fmla="val 15385"/>
            </a:avLst>
          </a:prstGeom>
          <a:solidFill>
            <a:srgbClr val="FFFFFF"/>
          </a:solidFill>
          <a:ln/>
          <a:effectLst>
            <a:outerShdw sx="100000" sy="100000" kx="0" ky="0" algn="bl" rotWithShape="0" blurRad="127000" dist="38100" dir="5400000">
              <a:srgbClr val="4C1D95">
                <a:alpha val="16000"/>
              </a:srgbClr>
            </a:outerShdw>
          </a:effectLst>
        </p:spPr>
      </p:sp>
      <p:pic>
        <p:nvPicPr>
          <p:cNvPr id="18" name="Image 2" descr="Biểu tượng minh họa">    </p:cNvPr>
          <p:cNvPicPr>
            <a:picLocks noChangeAspect="1"/>
          </p:cNvPicPr>
          <p:nvPr/>
        </p:nvPicPr>
        <p:blipFill>
          <a:blip r:embed="rId3"/>
          <a:stretch>
            <a:fillRect/>
          </a:stretch>
        </p:blipFill>
        <p:spPr>
          <a:xfrm>
            <a:off x="685800" y="3145536"/>
            <a:ext cx="457200" cy="457200"/>
          </a:xfrm>
          <a:prstGeom prst="rect">
            <a:avLst/>
          </a:prstGeom>
        </p:spPr>
      </p:pic>
      <p:sp>
        <p:nvSpPr>
          <p:cNvPr id="19" name="Text 13"/>
          <p:cNvSpPr txBox="1"/>
          <p:nvPr/>
        </p:nvSpPr>
        <p:spPr>
          <a:xfrm>
            <a:off x="1325880" y="3017520"/>
            <a:ext cx="5669280" cy="713232"/>
          </a:xfrm>
          <a:prstGeom prst="rect">
            <a:avLst/>
          </a:prstGeom>
          <a:noFill/>
          <a:ln/>
        </p:spPr>
        <p:txBody>
          <a:bodyPr wrap="square" lIns="0" tIns="0" rIns="0" bIns="0" rtlCol="0" anchor="ctr"/>
          <a:lstStyle/>
          <a:p>
            <a:pPr indent="0" marL="0">
              <a:buNone/>
            </a:pPr>
            <a:r>
              <a:rPr lang="en-US" sz="1500" dirty="0">
                <a:solidFill>
                  <a:srgbClr val="2E1065"/>
                </a:solidFill>
              </a:rPr>
              <a:t>Tác động từ bên ngoài của thí sinh vào robot hoặc khối</a:t>
            </a:r>
            <a:endParaRPr lang="en-US" sz="1500" dirty="0"/>
          </a:p>
        </p:txBody>
      </p:sp>
      <p:sp>
        <p:nvSpPr>
          <p:cNvPr id="20" name="Shape 14"/>
          <p:cNvSpPr/>
          <p:nvPr/>
        </p:nvSpPr>
        <p:spPr>
          <a:xfrm>
            <a:off x="7132320" y="3163824"/>
            <a:ext cx="1691640" cy="420624"/>
          </a:xfrm>
          <a:prstGeom prst="roundRect">
            <a:avLst>
              <a:gd name="adj" fmla="val 50000"/>
            </a:avLst>
          </a:prstGeom>
          <a:solidFill>
            <a:srgbClr val="DC2626"/>
          </a:solidFill>
          <a:ln/>
        </p:spPr>
      </p:sp>
      <p:sp>
        <p:nvSpPr>
          <p:cNvPr id="21" name="Text 15"/>
          <p:cNvSpPr txBox="1"/>
          <p:nvPr/>
        </p:nvSpPr>
        <p:spPr>
          <a:xfrm>
            <a:off x="7132320" y="3163824"/>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−5 điểm/lần</a:t>
            </a:r>
            <a:endParaRPr lang="en-US" sz="1500" dirty="0"/>
          </a:p>
        </p:txBody>
      </p:sp>
      <p:sp>
        <p:nvSpPr>
          <p:cNvPr id="22" name="Text 16"/>
          <p:cNvSpPr txBox="1"/>
          <p:nvPr/>
        </p:nvSpPr>
        <p:spPr>
          <a:xfrm>
            <a:off x="9006840" y="3017520"/>
            <a:ext cx="2560320" cy="713232"/>
          </a:xfrm>
          <a:prstGeom prst="rect">
            <a:avLst/>
          </a:prstGeom>
          <a:noFill/>
          <a:ln/>
        </p:spPr>
        <p:txBody>
          <a:bodyPr wrap="square" lIns="0" tIns="0" rIns="0" bIns="0" rtlCol="0" anchor="ctr"/>
          <a:lstStyle/>
          <a:p>
            <a:pPr indent="0" marL="0">
              <a:buNone/>
            </a:pPr>
            <a:r>
              <a:rPr lang="en-US" sz="1300" i="1" dirty="0">
                <a:solidFill>
                  <a:srgbClr val="5B4B8A"/>
                </a:solidFill>
              </a:rPr>
              <a:t>Khối bị tác động không được tính</a:t>
            </a:r>
            <a:endParaRPr lang="en-US" sz="1300" dirty="0"/>
          </a:p>
        </p:txBody>
      </p:sp>
      <p:sp>
        <p:nvSpPr>
          <p:cNvPr id="23" name="Shape 17"/>
          <p:cNvSpPr/>
          <p:nvPr/>
        </p:nvSpPr>
        <p:spPr>
          <a:xfrm>
            <a:off x="548640" y="3840480"/>
            <a:ext cx="11091672" cy="713232"/>
          </a:xfrm>
          <a:prstGeom prst="roundRect">
            <a:avLst>
              <a:gd name="adj" fmla="val 15385"/>
            </a:avLst>
          </a:prstGeom>
          <a:solidFill>
            <a:srgbClr val="FFFFFF"/>
          </a:solidFill>
          <a:ln/>
          <a:effectLst>
            <a:outerShdw sx="100000" sy="100000" kx="0" ky="0" algn="bl" rotWithShape="0" blurRad="127000" dist="38100" dir="5400000">
              <a:srgbClr val="4C1D95">
                <a:alpha val="16000"/>
              </a:srgbClr>
            </a:outerShdw>
          </a:effectLst>
        </p:spPr>
      </p:sp>
      <p:pic>
        <p:nvPicPr>
          <p:cNvPr id="24" name="Image 3" descr="Biểu tượng minh họa">    </p:cNvPr>
          <p:cNvPicPr>
            <a:picLocks noChangeAspect="1"/>
          </p:cNvPicPr>
          <p:nvPr/>
        </p:nvPicPr>
        <p:blipFill>
          <a:blip r:embed="rId4"/>
          <a:stretch>
            <a:fillRect/>
          </a:stretch>
        </p:blipFill>
        <p:spPr>
          <a:xfrm>
            <a:off x="685800" y="3968496"/>
            <a:ext cx="457200" cy="457200"/>
          </a:xfrm>
          <a:prstGeom prst="rect">
            <a:avLst/>
          </a:prstGeom>
        </p:spPr>
      </p:pic>
      <p:sp>
        <p:nvSpPr>
          <p:cNvPr id="25" name="Text 18"/>
          <p:cNvSpPr txBox="1"/>
          <p:nvPr/>
        </p:nvSpPr>
        <p:spPr>
          <a:xfrm>
            <a:off x="1325880" y="3840480"/>
            <a:ext cx="5669280" cy="713232"/>
          </a:xfrm>
          <a:prstGeom prst="rect">
            <a:avLst/>
          </a:prstGeom>
          <a:noFill/>
          <a:ln/>
        </p:spPr>
        <p:txBody>
          <a:bodyPr wrap="square" lIns="0" tIns="0" rIns="0" bIns="0" rtlCol="0" anchor="ctr"/>
          <a:lstStyle/>
          <a:p>
            <a:pPr indent="0" marL="0">
              <a:buNone/>
            </a:pPr>
            <a:r>
              <a:rPr lang="en-US" sz="1500" dirty="0">
                <a:solidFill>
                  <a:srgbClr val="2E1065"/>
                </a:solidFill>
              </a:rPr>
              <a:t>Tác động từ bên ngoài của HLV, phụ huynh, cổ động viên</a:t>
            </a:r>
            <a:endParaRPr lang="en-US" sz="1500" dirty="0"/>
          </a:p>
        </p:txBody>
      </p:sp>
      <p:sp>
        <p:nvSpPr>
          <p:cNvPr id="26" name="Shape 19"/>
          <p:cNvSpPr/>
          <p:nvPr/>
        </p:nvSpPr>
        <p:spPr>
          <a:xfrm>
            <a:off x="7132320" y="3986784"/>
            <a:ext cx="1691640" cy="420624"/>
          </a:xfrm>
          <a:prstGeom prst="roundRect">
            <a:avLst>
              <a:gd name="adj" fmla="val 50000"/>
            </a:avLst>
          </a:prstGeom>
          <a:solidFill>
            <a:srgbClr val="DC2626"/>
          </a:solidFill>
          <a:ln/>
        </p:spPr>
      </p:sp>
      <p:sp>
        <p:nvSpPr>
          <p:cNvPr id="27" name="Text 20"/>
          <p:cNvSpPr txBox="1"/>
          <p:nvPr/>
        </p:nvSpPr>
        <p:spPr>
          <a:xfrm>
            <a:off x="7132320" y="3986784"/>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−10 điểm/lần</a:t>
            </a:r>
            <a:endParaRPr lang="en-US" sz="1500" dirty="0"/>
          </a:p>
        </p:txBody>
      </p:sp>
      <p:sp>
        <p:nvSpPr>
          <p:cNvPr id="28" name="Text 21"/>
          <p:cNvSpPr txBox="1"/>
          <p:nvPr/>
        </p:nvSpPr>
        <p:spPr>
          <a:xfrm>
            <a:off x="9006840" y="3840480"/>
            <a:ext cx="2560320" cy="713232"/>
          </a:xfrm>
          <a:prstGeom prst="rect">
            <a:avLst/>
          </a:prstGeom>
          <a:noFill/>
          <a:ln/>
        </p:spPr>
        <p:txBody>
          <a:bodyPr wrap="square" lIns="0" tIns="0" rIns="0" bIns="0" rtlCol="0" anchor="ctr"/>
          <a:lstStyle/>
          <a:p>
            <a:pPr indent="0" marL="0">
              <a:buNone/>
            </a:pPr>
            <a:r>
              <a:rPr lang="en-US" sz="1300" i="1" dirty="0">
                <a:solidFill>
                  <a:srgbClr val="5B4B8A"/>
                </a:solidFill>
              </a:rPr>
              <a:t>Nhắc nhở Đội trưởng, GV phụ trách</a:t>
            </a:r>
            <a:endParaRPr lang="en-US" sz="1300" dirty="0"/>
          </a:p>
        </p:txBody>
      </p:sp>
      <p:sp>
        <p:nvSpPr>
          <p:cNvPr id="29" name="Shape 22"/>
          <p:cNvSpPr/>
          <p:nvPr/>
        </p:nvSpPr>
        <p:spPr>
          <a:xfrm>
            <a:off x="548640" y="4663440"/>
            <a:ext cx="11091672" cy="713232"/>
          </a:xfrm>
          <a:prstGeom prst="roundRect">
            <a:avLst>
              <a:gd name="adj" fmla="val 15385"/>
            </a:avLst>
          </a:prstGeom>
          <a:solidFill>
            <a:srgbClr val="FFFFFF"/>
          </a:solidFill>
          <a:ln/>
          <a:effectLst>
            <a:outerShdw sx="100000" sy="100000" kx="0" ky="0" algn="bl" rotWithShape="0" blurRad="127000" dist="38100" dir="5400000">
              <a:srgbClr val="4C1D95">
                <a:alpha val="16000"/>
              </a:srgbClr>
            </a:outerShdw>
          </a:effectLst>
        </p:spPr>
      </p:sp>
      <p:pic>
        <p:nvPicPr>
          <p:cNvPr id="30" name="Image 4" descr="Biểu tượng minh họa">    </p:cNvPr>
          <p:cNvPicPr>
            <a:picLocks noChangeAspect="1"/>
          </p:cNvPicPr>
          <p:nvPr/>
        </p:nvPicPr>
        <p:blipFill>
          <a:blip r:embed="rId5"/>
          <a:stretch>
            <a:fillRect/>
          </a:stretch>
        </p:blipFill>
        <p:spPr>
          <a:xfrm>
            <a:off x="685800" y="4791456"/>
            <a:ext cx="457200" cy="457200"/>
          </a:xfrm>
          <a:prstGeom prst="rect">
            <a:avLst/>
          </a:prstGeom>
        </p:spPr>
      </p:pic>
      <p:sp>
        <p:nvSpPr>
          <p:cNvPr id="31" name="Text 23"/>
          <p:cNvSpPr txBox="1"/>
          <p:nvPr/>
        </p:nvSpPr>
        <p:spPr>
          <a:xfrm>
            <a:off x="1325880" y="4663440"/>
            <a:ext cx="5669280" cy="713232"/>
          </a:xfrm>
          <a:prstGeom prst="rect">
            <a:avLst/>
          </a:prstGeom>
          <a:noFill/>
          <a:ln/>
        </p:spPr>
        <p:txBody>
          <a:bodyPr wrap="square" lIns="0" tIns="0" rIns="0" bIns="0" rtlCol="0" anchor="ctr"/>
          <a:lstStyle/>
          <a:p>
            <a:pPr indent="0" marL="0">
              <a:buNone/>
            </a:pPr>
            <a:r>
              <a:rPr lang="en-US" sz="1500" dirty="0">
                <a:solidFill>
                  <a:srgbClr val="2E1065"/>
                </a:solidFill>
              </a:rPr>
              <a:t>Di chuyển khối trong thời gian làm quen 90 giây</a:t>
            </a:r>
            <a:endParaRPr lang="en-US" sz="1500" dirty="0"/>
          </a:p>
        </p:txBody>
      </p:sp>
      <p:sp>
        <p:nvSpPr>
          <p:cNvPr id="32" name="Shape 24"/>
          <p:cNvSpPr/>
          <p:nvPr/>
        </p:nvSpPr>
        <p:spPr>
          <a:xfrm>
            <a:off x="7132320" y="4809744"/>
            <a:ext cx="1691640" cy="420624"/>
          </a:xfrm>
          <a:prstGeom prst="roundRect">
            <a:avLst>
              <a:gd name="adj" fmla="val 50000"/>
            </a:avLst>
          </a:prstGeom>
          <a:solidFill>
            <a:srgbClr val="DC2626"/>
          </a:solidFill>
          <a:ln/>
        </p:spPr>
      </p:sp>
      <p:sp>
        <p:nvSpPr>
          <p:cNvPr id="33" name="Text 25"/>
          <p:cNvSpPr txBox="1"/>
          <p:nvPr/>
        </p:nvSpPr>
        <p:spPr>
          <a:xfrm>
            <a:off x="7132320" y="4809744"/>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−5 điểm/lần</a:t>
            </a:r>
            <a:endParaRPr lang="en-US" sz="1500" dirty="0"/>
          </a:p>
        </p:txBody>
      </p:sp>
      <p:sp>
        <p:nvSpPr>
          <p:cNvPr id="34" name="Text 26"/>
          <p:cNvSpPr txBox="1"/>
          <p:nvPr/>
        </p:nvSpPr>
        <p:spPr>
          <a:xfrm>
            <a:off x="9006840" y="4663440"/>
            <a:ext cx="2560320" cy="713232"/>
          </a:xfrm>
          <a:prstGeom prst="rect">
            <a:avLst/>
          </a:prstGeom>
          <a:noFill/>
          <a:ln/>
        </p:spPr>
        <p:txBody>
          <a:bodyPr wrap="square" lIns="0" tIns="0" rIns="0" bIns="0" rtlCol="0" anchor="ctr"/>
          <a:lstStyle/>
          <a:p>
            <a:pPr indent="0" marL="0">
              <a:buNone/>
            </a:pPr>
            <a:r>
              <a:rPr lang="en-US" sz="1300" i="1" dirty="0">
                <a:solidFill>
                  <a:srgbClr val="5B4B8A"/>
                </a:solidFill>
              </a:rPr>
              <a:t>Trừ vào lượt đấu chính thức</a:t>
            </a:r>
            <a:endParaRPr lang="en-US" sz="1300" dirty="0"/>
          </a:p>
        </p:txBody>
      </p:sp>
      <p:sp>
        <p:nvSpPr>
          <p:cNvPr id="35" name="Shape 27"/>
          <p:cNvSpPr/>
          <p:nvPr/>
        </p:nvSpPr>
        <p:spPr>
          <a:xfrm>
            <a:off x="548640" y="5486400"/>
            <a:ext cx="11091672" cy="713232"/>
          </a:xfrm>
          <a:prstGeom prst="roundRect">
            <a:avLst>
              <a:gd name="adj" fmla="val 15385"/>
            </a:avLst>
          </a:prstGeom>
          <a:solidFill>
            <a:srgbClr val="FFFFFF"/>
          </a:solidFill>
          <a:ln/>
          <a:effectLst>
            <a:outerShdw sx="100000" sy="100000" kx="0" ky="0" algn="bl" rotWithShape="0" blurRad="127000" dist="38100" dir="5400000">
              <a:srgbClr val="4C1D95">
                <a:alpha val="16000"/>
              </a:srgbClr>
            </a:outerShdw>
          </a:effectLst>
        </p:spPr>
      </p:sp>
      <p:pic>
        <p:nvPicPr>
          <p:cNvPr id="36" name="Image 5" descr="Biểu tượng minh họa">    </p:cNvPr>
          <p:cNvPicPr>
            <a:picLocks noChangeAspect="1"/>
          </p:cNvPicPr>
          <p:nvPr/>
        </p:nvPicPr>
        <p:blipFill>
          <a:blip r:embed="rId6"/>
          <a:stretch>
            <a:fillRect/>
          </a:stretch>
        </p:blipFill>
        <p:spPr>
          <a:xfrm>
            <a:off x="685800" y="5614416"/>
            <a:ext cx="457200" cy="457200"/>
          </a:xfrm>
          <a:prstGeom prst="rect">
            <a:avLst/>
          </a:prstGeom>
        </p:spPr>
      </p:pic>
      <p:sp>
        <p:nvSpPr>
          <p:cNvPr id="37" name="Text 28"/>
          <p:cNvSpPr txBox="1"/>
          <p:nvPr/>
        </p:nvSpPr>
        <p:spPr>
          <a:xfrm>
            <a:off x="1325880" y="5486400"/>
            <a:ext cx="5669280" cy="713232"/>
          </a:xfrm>
          <a:prstGeom prst="rect">
            <a:avLst/>
          </a:prstGeom>
          <a:noFill/>
          <a:ln/>
        </p:spPr>
        <p:txBody>
          <a:bodyPr wrap="square" lIns="0" tIns="0" rIns="0" bIns="0" rtlCol="0" anchor="ctr"/>
          <a:lstStyle/>
          <a:p>
            <a:pPr indent="0" marL="0">
              <a:buNone/>
            </a:pPr>
            <a:r>
              <a:rPr lang="en-US" sz="1500" dirty="0">
                <a:solidFill>
                  <a:srgbClr val="2E1065"/>
                </a:solidFill>
              </a:rPr>
              <a:t>Lấy, đẩy hoặc kéo khối ra khỏi Trạm Trung tâm khi chưa mở khóa</a:t>
            </a:r>
            <a:endParaRPr lang="en-US" sz="1500" dirty="0"/>
          </a:p>
        </p:txBody>
      </p:sp>
      <p:sp>
        <p:nvSpPr>
          <p:cNvPr id="38" name="Shape 29"/>
          <p:cNvSpPr/>
          <p:nvPr/>
        </p:nvSpPr>
        <p:spPr>
          <a:xfrm>
            <a:off x="7132320" y="5632704"/>
            <a:ext cx="1691640" cy="420624"/>
          </a:xfrm>
          <a:prstGeom prst="roundRect">
            <a:avLst>
              <a:gd name="adj" fmla="val 50000"/>
            </a:avLst>
          </a:prstGeom>
          <a:solidFill>
            <a:srgbClr val="DC2626"/>
          </a:solidFill>
          <a:ln/>
        </p:spPr>
      </p:sp>
      <p:sp>
        <p:nvSpPr>
          <p:cNvPr id="39" name="Text 30"/>
          <p:cNvSpPr txBox="1"/>
          <p:nvPr/>
        </p:nvSpPr>
        <p:spPr>
          <a:xfrm>
            <a:off x="7132320" y="5632704"/>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−5 điểm/lần</a:t>
            </a:r>
            <a:endParaRPr lang="en-US" sz="1500" dirty="0"/>
          </a:p>
        </p:txBody>
      </p:sp>
      <p:sp>
        <p:nvSpPr>
          <p:cNvPr id="40" name="Text 31"/>
          <p:cNvSpPr txBox="1"/>
          <p:nvPr/>
        </p:nvSpPr>
        <p:spPr>
          <a:xfrm>
            <a:off x="9006840" y="5486400"/>
            <a:ext cx="2560320" cy="713232"/>
          </a:xfrm>
          <a:prstGeom prst="rect">
            <a:avLst/>
          </a:prstGeom>
          <a:noFill/>
          <a:ln/>
        </p:spPr>
        <p:txBody>
          <a:bodyPr wrap="square" lIns="0" tIns="0" rIns="0" bIns="0" rtlCol="0" anchor="ctr"/>
          <a:lstStyle/>
          <a:p>
            <a:pPr indent="0" marL="0">
              <a:buNone/>
            </a:pPr>
            <a:r>
              <a:rPr lang="en-US" sz="1300" i="1" dirty="0">
                <a:solidFill>
                  <a:srgbClr val="5B4B8A"/>
                </a:solidFill>
              </a:rPr>
              <a:t>Trọng tài đặt lại khối về Trạm</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NGUYÊN TẮC TRANH CHẤP</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Tranh chấp hợp lệ khác với đâm trực tiếp</a:t>
            </a:r>
            <a:endParaRPr lang="en-US" sz="3000" dirty="0"/>
          </a:p>
        </p:txBody>
      </p:sp>
      <p:sp>
        <p:nvSpPr>
          <p:cNvPr id="5" name="Shape 2"/>
          <p:cNvSpPr/>
          <p:nvPr/>
        </p:nvSpPr>
        <p:spPr>
          <a:xfrm>
            <a:off x="548640" y="1371600"/>
            <a:ext cx="5440680" cy="3840480"/>
          </a:xfrm>
          <a:prstGeom prst="roundRect">
            <a:avLst>
              <a:gd name="adj" fmla="val 2857"/>
            </a:avLst>
          </a:prstGeom>
          <a:solidFill>
            <a:srgbClr val="F0FDF4"/>
          </a:solidFill>
          <a:ln/>
          <a:effectLst>
            <a:outerShdw sx="100000" sy="100000" kx="0" ky="0" algn="bl" rotWithShape="0" blurRad="127000" dist="38100" dir="5400000">
              <a:srgbClr val="4C1D95">
                <a:alpha val="16000"/>
              </a:srgbClr>
            </a:outerShdw>
          </a:effectLst>
        </p:spPr>
      </p:sp>
      <p:sp>
        <p:nvSpPr>
          <p:cNvPr id="6" name="Shape 3"/>
          <p:cNvSpPr/>
          <p:nvPr/>
        </p:nvSpPr>
        <p:spPr>
          <a:xfrm>
            <a:off x="777240" y="1554480"/>
            <a:ext cx="1005840" cy="1005840"/>
          </a:xfrm>
          <a:prstGeom prst="ellipse">
            <a:avLst/>
          </a:prstGeom>
          <a:solidFill>
            <a:srgbClr val="FFFFFF"/>
          </a:solidFill>
          <a:ln/>
        </p:spPr>
      </p:sp>
      <p:pic>
        <p:nvPicPr>
          <p:cNvPr id="7" name="Image 0" descr="Biểu tượng minh họa">    </p:cNvPr>
          <p:cNvPicPr>
            <a:picLocks noChangeAspect="1"/>
          </p:cNvPicPr>
          <p:nvPr/>
        </p:nvPicPr>
        <p:blipFill>
          <a:blip r:embed="rId1"/>
          <a:stretch>
            <a:fillRect/>
          </a:stretch>
        </p:blipFill>
        <p:spPr>
          <a:xfrm>
            <a:off x="958291" y="1735531"/>
            <a:ext cx="643738" cy="643738"/>
          </a:xfrm>
          <a:prstGeom prst="rect">
            <a:avLst/>
          </a:prstGeom>
        </p:spPr>
      </p:pic>
      <p:sp>
        <p:nvSpPr>
          <p:cNvPr id="8" name="Text 4"/>
          <p:cNvSpPr txBox="1"/>
          <p:nvPr/>
        </p:nvSpPr>
        <p:spPr>
          <a:xfrm>
            <a:off x="1965960" y="1554480"/>
            <a:ext cx="3840480" cy="457200"/>
          </a:xfrm>
          <a:prstGeom prst="rect">
            <a:avLst/>
          </a:prstGeom>
          <a:noFill/>
          <a:ln/>
        </p:spPr>
        <p:txBody>
          <a:bodyPr wrap="square" lIns="0" tIns="0" rIns="0" bIns="0" rtlCol="0" anchor="t"/>
          <a:lstStyle/>
          <a:p>
            <a:pPr indent="0" marL="0">
              <a:buNone/>
            </a:pPr>
            <a:r>
              <a:rPr lang="en-US" sz="2200" b="1" dirty="0">
                <a:solidFill>
                  <a:srgbClr val="15803D"/>
                </a:solidFill>
              </a:rPr>
              <a:t>ĐƯỢC PHÉP</a:t>
            </a:r>
            <a:endParaRPr lang="en-US" sz="2200" dirty="0"/>
          </a:p>
        </p:txBody>
      </p:sp>
      <p:sp>
        <p:nvSpPr>
          <p:cNvPr id="9" name="Text 5"/>
          <p:cNvSpPr txBox="1"/>
          <p:nvPr/>
        </p:nvSpPr>
        <p:spPr>
          <a:xfrm>
            <a:off x="1965960" y="2011680"/>
            <a:ext cx="3840480" cy="548640"/>
          </a:xfrm>
          <a:prstGeom prst="rect">
            <a:avLst/>
          </a:prstGeom>
          <a:noFill/>
          <a:ln/>
        </p:spPr>
        <p:txBody>
          <a:bodyPr wrap="square" lIns="0" tIns="0" rIns="0" bIns="0" rtlCol="0" anchor="t"/>
          <a:lstStyle/>
          <a:p>
            <a:pPr indent="0" marL="0">
              <a:buNone/>
            </a:pPr>
            <a:r>
              <a:rPr lang="en-US" sz="1400" dirty="0">
                <a:solidFill>
                  <a:srgbClr val="2E1065"/>
                </a:solidFill>
              </a:rPr>
              <a:t>Diễn biến bình thường của thi đấu đối kháng</a:t>
            </a:r>
            <a:endParaRPr lang="en-US" sz="1400" dirty="0"/>
          </a:p>
        </p:txBody>
      </p:sp>
      <p:sp>
        <p:nvSpPr>
          <p:cNvPr id="10" name="Shape 6"/>
          <p:cNvSpPr/>
          <p:nvPr/>
        </p:nvSpPr>
        <p:spPr>
          <a:xfrm>
            <a:off x="777240" y="2743200"/>
            <a:ext cx="1554480" cy="457200"/>
          </a:xfrm>
          <a:prstGeom prst="roundRect">
            <a:avLst>
              <a:gd name="adj" fmla="val 50000"/>
            </a:avLst>
          </a:prstGeom>
          <a:solidFill>
            <a:srgbClr val="FFFFFF"/>
          </a:solidFill>
          <a:ln w="12700">
            <a:solidFill>
              <a:srgbClr val="86EFAC"/>
            </a:solidFill>
            <a:prstDash val="solid"/>
          </a:ln>
        </p:spPr>
      </p:sp>
      <p:sp>
        <p:nvSpPr>
          <p:cNvPr id="11" name="Text 7"/>
          <p:cNvSpPr txBox="1"/>
          <p:nvPr/>
        </p:nvSpPr>
        <p:spPr>
          <a:xfrm>
            <a:off x="777240" y="2743200"/>
            <a:ext cx="1554480" cy="457200"/>
          </a:xfrm>
          <a:prstGeom prst="rect">
            <a:avLst/>
          </a:prstGeom>
          <a:noFill/>
          <a:ln/>
        </p:spPr>
        <p:txBody>
          <a:bodyPr wrap="square" lIns="0" tIns="0" rIns="0" bIns="0" rtlCol="0" anchor="ctr"/>
          <a:lstStyle/>
          <a:p>
            <a:pPr algn="ctr" indent="0" marL="0">
              <a:buNone/>
            </a:pPr>
            <a:r>
              <a:rPr lang="en-US" sz="1400" b="1" dirty="0">
                <a:solidFill>
                  <a:srgbClr val="15803D"/>
                </a:solidFill>
              </a:rPr>
              <a:t>Tranh chấp</a:t>
            </a:r>
            <a:endParaRPr lang="en-US" sz="1400" dirty="0"/>
          </a:p>
        </p:txBody>
      </p:sp>
      <p:sp>
        <p:nvSpPr>
          <p:cNvPr id="12" name="Shape 8"/>
          <p:cNvSpPr/>
          <p:nvPr/>
        </p:nvSpPr>
        <p:spPr>
          <a:xfrm>
            <a:off x="2468880" y="2743200"/>
            <a:ext cx="1554480" cy="457200"/>
          </a:xfrm>
          <a:prstGeom prst="roundRect">
            <a:avLst>
              <a:gd name="adj" fmla="val 50000"/>
            </a:avLst>
          </a:prstGeom>
          <a:solidFill>
            <a:srgbClr val="FFFFFF"/>
          </a:solidFill>
          <a:ln w="12700">
            <a:solidFill>
              <a:srgbClr val="86EFAC"/>
            </a:solidFill>
            <a:prstDash val="solid"/>
          </a:ln>
        </p:spPr>
      </p:sp>
      <p:sp>
        <p:nvSpPr>
          <p:cNvPr id="13" name="Text 9"/>
          <p:cNvSpPr txBox="1"/>
          <p:nvPr/>
        </p:nvSpPr>
        <p:spPr>
          <a:xfrm>
            <a:off x="2468880" y="2743200"/>
            <a:ext cx="1554480" cy="457200"/>
          </a:xfrm>
          <a:prstGeom prst="rect">
            <a:avLst/>
          </a:prstGeom>
          <a:noFill/>
          <a:ln/>
        </p:spPr>
        <p:txBody>
          <a:bodyPr wrap="square" lIns="0" tIns="0" rIns="0" bIns="0" rtlCol="0" anchor="ctr"/>
          <a:lstStyle/>
          <a:p>
            <a:pPr algn="ctr" indent="0" marL="0">
              <a:buNone/>
            </a:pPr>
            <a:r>
              <a:rPr lang="en-US" sz="1400" b="1" dirty="0">
                <a:solidFill>
                  <a:srgbClr val="15803D"/>
                </a:solidFill>
              </a:rPr>
              <a:t>Giành khối</a:t>
            </a:r>
            <a:endParaRPr lang="en-US" sz="1400" dirty="0"/>
          </a:p>
        </p:txBody>
      </p:sp>
      <p:sp>
        <p:nvSpPr>
          <p:cNvPr id="14" name="Shape 10"/>
          <p:cNvSpPr/>
          <p:nvPr/>
        </p:nvSpPr>
        <p:spPr>
          <a:xfrm>
            <a:off x="4160520" y="2743200"/>
            <a:ext cx="1554480" cy="457200"/>
          </a:xfrm>
          <a:prstGeom prst="roundRect">
            <a:avLst>
              <a:gd name="adj" fmla="val 50000"/>
            </a:avLst>
          </a:prstGeom>
          <a:solidFill>
            <a:srgbClr val="FFFFFF"/>
          </a:solidFill>
          <a:ln w="12700">
            <a:solidFill>
              <a:srgbClr val="86EFAC"/>
            </a:solidFill>
            <a:prstDash val="solid"/>
          </a:ln>
        </p:spPr>
      </p:sp>
      <p:sp>
        <p:nvSpPr>
          <p:cNvPr id="15" name="Text 11"/>
          <p:cNvSpPr txBox="1"/>
          <p:nvPr/>
        </p:nvSpPr>
        <p:spPr>
          <a:xfrm>
            <a:off x="4160520" y="2743200"/>
            <a:ext cx="1554480" cy="457200"/>
          </a:xfrm>
          <a:prstGeom prst="rect">
            <a:avLst/>
          </a:prstGeom>
          <a:noFill/>
          <a:ln/>
        </p:spPr>
        <p:txBody>
          <a:bodyPr wrap="square" lIns="0" tIns="0" rIns="0" bIns="0" rtlCol="0" anchor="ctr"/>
          <a:lstStyle/>
          <a:p>
            <a:pPr algn="ctr" indent="0" marL="0">
              <a:buNone/>
            </a:pPr>
            <a:r>
              <a:rPr lang="en-US" sz="1400" b="1" dirty="0">
                <a:solidFill>
                  <a:srgbClr val="15803D"/>
                </a:solidFill>
              </a:rPr>
              <a:t>Chặn đường</a:t>
            </a:r>
            <a:endParaRPr lang="en-US" sz="1400" dirty="0"/>
          </a:p>
        </p:txBody>
      </p:sp>
      <p:sp>
        <p:nvSpPr>
          <p:cNvPr id="16" name="Shape 12"/>
          <p:cNvSpPr/>
          <p:nvPr/>
        </p:nvSpPr>
        <p:spPr>
          <a:xfrm>
            <a:off x="777240" y="3337560"/>
            <a:ext cx="1554480" cy="457200"/>
          </a:xfrm>
          <a:prstGeom prst="roundRect">
            <a:avLst>
              <a:gd name="adj" fmla="val 50000"/>
            </a:avLst>
          </a:prstGeom>
          <a:solidFill>
            <a:srgbClr val="FFFFFF"/>
          </a:solidFill>
          <a:ln w="12700">
            <a:solidFill>
              <a:srgbClr val="86EFAC"/>
            </a:solidFill>
            <a:prstDash val="solid"/>
          </a:ln>
        </p:spPr>
      </p:sp>
      <p:sp>
        <p:nvSpPr>
          <p:cNvPr id="17" name="Text 13"/>
          <p:cNvSpPr txBox="1"/>
          <p:nvPr/>
        </p:nvSpPr>
        <p:spPr>
          <a:xfrm>
            <a:off x="777240" y="3337560"/>
            <a:ext cx="1554480" cy="457200"/>
          </a:xfrm>
          <a:prstGeom prst="rect">
            <a:avLst/>
          </a:prstGeom>
          <a:noFill/>
          <a:ln/>
        </p:spPr>
        <p:txBody>
          <a:bodyPr wrap="square" lIns="0" tIns="0" rIns="0" bIns="0" rtlCol="0" anchor="ctr"/>
          <a:lstStyle/>
          <a:p>
            <a:pPr algn="ctr" indent="0" marL="0">
              <a:buNone/>
            </a:pPr>
            <a:r>
              <a:rPr lang="en-US" sz="1400" b="1" dirty="0">
                <a:solidFill>
                  <a:srgbClr val="15803D"/>
                </a:solidFill>
              </a:rPr>
              <a:t>Che chắn</a:t>
            </a:r>
            <a:endParaRPr lang="en-US" sz="1400" dirty="0"/>
          </a:p>
        </p:txBody>
      </p:sp>
      <p:sp>
        <p:nvSpPr>
          <p:cNvPr id="18" name="Shape 14"/>
          <p:cNvSpPr/>
          <p:nvPr/>
        </p:nvSpPr>
        <p:spPr>
          <a:xfrm>
            <a:off x="2468880" y="3337560"/>
            <a:ext cx="1554480" cy="457200"/>
          </a:xfrm>
          <a:prstGeom prst="roundRect">
            <a:avLst>
              <a:gd name="adj" fmla="val 50000"/>
            </a:avLst>
          </a:prstGeom>
          <a:solidFill>
            <a:srgbClr val="FFFFFF"/>
          </a:solidFill>
          <a:ln w="12700">
            <a:solidFill>
              <a:srgbClr val="86EFAC"/>
            </a:solidFill>
            <a:prstDash val="solid"/>
          </a:ln>
        </p:spPr>
      </p:sp>
      <p:sp>
        <p:nvSpPr>
          <p:cNvPr id="19" name="Text 15"/>
          <p:cNvSpPr txBox="1"/>
          <p:nvPr/>
        </p:nvSpPr>
        <p:spPr>
          <a:xfrm>
            <a:off x="2468880" y="3337560"/>
            <a:ext cx="1554480" cy="457200"/>
          </a:xfrm>
          <a:prstGeom prst="rect">
            <a:avLst/>
          </a:prstGeom>
          <a:noFill/>
          <a:ln/>
        </p:spPr>
        <p:txBody>
          <a:bodyPr wrap="square" lIns="0" tIns="0" rIns="0" bIns="0" rtlCol="0" anchor="ctr"/>
          <a:lstStyle/>
          <a:p>
            <a:pPr algn="ctr" indent="0" marL="0">
              <a:buNone/>
            </a:pPr>
            <a:r>
              <a:rPr lang="en-US" sz="1400" b="1" dirty="0">
                <a:solidFill>
                  <a:srgbClr val="15803D"/>
                </a:solidFill>
              </a:rPr>
              <a:t>Áp sát</a:t>
            </a:r>
            <a:endParaRPr lang="en-US" sz="1400" dirty="0"/>
          </a:p>
        </p:txBody>
      </p:sp>
      <p:sp>
        <p:nvSpPr>
          <p:cNvPr id="20" name="Shape 16"/>
          <p:cNvSpPr/>
          <p:nvPr/>
        </p:nvSpPr>
        <p:spPr>
          <a:xfrm>
            <a:off x="777240" y="3337560"/>
            <a:ext cx="4983480" cy="457200"/>
          </a:xfrm>
          <a:prstGeom prst="roundRect">
            <a:avLst>
              <a:gd name="adj" fmla="val 50000"/>
            </a:avLst>
          </a:prstGeom>
          <a:solidFill>
            <a:srgbClr val="FFFFFF"/>
          </a:solidFill>
          <a:ln w="12700">
            <a:solidFill>
              <a:srgbClr val="86EFAC"/>
            </a:solidFill>
            <a:prstDash val="solid"/>
          </a:ln>
        </p:spPr>
      </p:sp>
      <p:sp>
        <p:nvSpPr>
          <p:cNvPr id="21" name="Text 17"/>
          <p:cNvSpPr txBox="1"/>
          <p:nvPr/>
        </p:nvSpPr>
        <p:spPr>
          <a:xfrm>
            <a:off x="777240" y="3337560"/>
            <a:ext cx="4983480" cy="457200"/>
          </a:xfrm>
          <a:prstGeom prst="rect">
            <a:avLst/>
          </a:prstGeom>
          <a:noFill/>
          <a:ln/>
        </p:spPr>
        <p:txBody>
          <a:bodyPr wrap="square" lIns="0" tIns="0" rIns="0" bIns="0" rtlCol="0" anchor="ctr"/>
          <a:lstStyle/>
          <a:p>
            <a:pPr algn="ctr" indent="0" marL="0">
              <a:buNone/>
            </a:pPr>
            <a:r>
              <a:rPr lang="en-US" sz="1400" b="1" dirty="0">
                <a:solidFill>
                  <a:srgbClr val="15803D"/>
                </a:solidFill>
              </a:rPr>
              <a:t>Va chạm khi cùng thu gom, giữ, bảo vệ khối</a:t>
            </a:r>
            <a:endParaRPr lang="en-US" sz="1400" dirty="0"/>
          </a:p>
        </p:txBody>
      </p:sp>
      <p:sp>
        <p:nvSpPr>
          <p:cNvPr id="22" name="Shape 18"/>
          <p:cNvSpPr/>
          <p:nvPr/>
        </p:nvSpPr>
        <p:spPr>
          <a:xfrm>
            <a:off x="1691640" y="4434840"/>
            <a:ext cx="3154680" cy="502920"/>
          </a:xfrm>
          <a:prstGeom prst="roundRect">
            <a:avLst>
              <a:gd name="adj" fmla="val 50000"/>
            </a:avLst>
          </a:prstGeom>
          <a:solidFill>
            <a:srgbClr val="15803D"/>
          </a:solidFill>
          <a:ln/>
        </p:spPr>
      </p:sp>
      <p:sp>
        <p:nvSpPr>
          <p:cNvPr id="23" name="Text 19"/>
          <p:cNvSpPr txBox="1"/>
          <p:nvPr/>
        </p:nvSpPr>
        <p:spPr>
          <a:xfrm>
            <a:off x="1691640" y="4434840"/>
            <a:ext cx="3154680" cy="502920"/>
          </a:xfrm>
          <a:prstGeom prst="rect">
            <a:avLst/>
          </a:prstGeom>
          <a:noFill/>
          <a:ln/>
        </p:spPr>
        <p:txBody>
          <a:bodyPr wrap="square" lIns="0" tIns="0" rIns="0" bIns="0" rtlCol="0" anchor="ctr"/>
          <a:lstStyle/>
          <a:p>
            <a:pPr algn="ctr" indent="0" marL="0">
              <a:buNone/>
            </a:pPr>
            <a:r>
              <a:rPr lang="en-US" sz="1800" b="1" dirty="0">
                <a:solidFill>
                  <a:srgbClr val="FFFFFF"/>
                </a:solidFill>
              </a:rPr>
              <a:t>KHÔNG bị trừ điểm</a:t>
            </a:r>
            <a:endParaRPr lang="en-US" sz="1800" dirty="0"/>
          </a:p>
        </p:txBody>
      </p:sp>
      <p:sp>
        <p:nvSpPr>
          <p:cNvPr id="24" name="Shape 20"/>
          <p:cNvSpPr/>
          <p:nvPr/>
        </p:nvSpPr>
        <p:spPr>
          <a:xfrm>
            <a:off x="6199632" y="1371600"/>
            <a:ext cx="5440680" cy="3840480"/>
          </a:xfrm>
          <a:prstGeom prst="roundRect">
            <a:avLst>
              <a:gd name="adj" fmla="val 2857"/>
            </a:avLst>
          </a:prstGeom>
          <a:solidFill>
            <a:srgbClr val="FEF2F2"/>
          </a:solidFill>
          <a:ln/>
          <a:effectLst>
            <a:outerShdw sx="100000" sy="100000" kx="0" ky="0" algn="bl" rotWithShape="0" blurRad="127000" dist="38100" dir="5400000">
              <a:srgbClr val="4C1D95">
                <a:alpha val="16000"/>
              </a:srgbClr>
            </a:outerShdw>
          </a:effectLst>
        </p:spPr>
      </p:sp>
      <p:sp>
        <p:nvSpPr>
          <p:cNvPr id="25" name="Shape 21"/>
          <p:cNvSpPr/>
          <p:nvPr/>
        </p:nvSpPr>
        <p:spPr>
          <a:xfrm>
            <a:off x="6428232" y="1554480"/>
            <a:ext cx="1005840" cy="1005840"/>
          </a:xfrm>
          <a:prstGeom prst="ellipse">
            <a:avLst/>
          </a:prstGeom>
          <a:solidFill>
            <a:srgbClr val="FFFFFF"/>
          </a:solidFill>
          <a:ln/>
        </p:spPr>
      </p:sp>
      <p:pic>
        <p:nvPicPr>
          <p:cNvPr id="26" name="Image 1" descr="Biểu tượng minh họa">    </p:cNvPr>
          <p:cNvPicPr>
            <a:picLocks noChangeAspect="1"/>
          </p:cNvPicPr>
          <p:nvPr/>
        </p:nvPicPr>
        <p:blipFill>
          <a:blip r:embed="rId2"/>
          <a:stretch>
            <a:fillRect/>
          </a:stretch>
        </p:blipFill>
        <p:spPr>
          <a:xfrm>
            <a:off x="6609283" y="1735531"/>
            <a:ext cx="643738" cy="643738"/>
          </a:xfrm>
          <a:prstGeom prst="rect">
            <a:avLst/>
          </a:prstGeom>
        </p:spPr>
      </p:pic>
      <p:sp>
        <p:nvSpPr>
          <p:cNvPr id="27" name="Text 22"/>
          <p:cNvSpPr txBox="1"/>
          <p:nvPr/>
        </p:nvSpPr>
        <p:spPr>
          <a:xfrm>
            <a:off x="7616952" y="1554480"/>
            <a:ext cx="3840480" cy="457200"/>
          </a:xfrm>
          <a:prstGeom prst="rect">
            <a:avLst/>
          </a:prstGeom>
          <a:noFill/>
          <a:ln/>
        </p:spPr>
        <p:txBody>
          <a:bodyPr wrap="square" lIns="0" tIns="0" rIns="0" bIns="0" rtlCol="0" anchor="t"/>
          <a:lstStyle/>
          <a:p>
            <a:pPr indent="0" marL="0">
              <a:buNone/>
            </a:pPr>
            <a:r>
              <a:rPr lang="en-US" sz="2200" b="1" dirty="0">
                <a:solidFill>
                  <a:srgbClr val="DC2626"/>
                </a:solidFill>
              </a:rPr>
              <a:t>ĐÂM TRỰC TIẾP</a:t>
            </a:r>
            <a:endParaRPr lang="en-US" sz="2200" dirty="0"/>
          </a:p>
        </p:txBody>
      </p:sp>
      <p:sp>
        <p:nvSpPr>
          <p:cNvPr id="28" name="Text 23"/>
          <p:cNvSpPr txBox="1"/>
          <p:nvPr/>
        </p:nvSpPr>
        <p:spPr>
          <a:xfrm>
            <a:off x="7616952" y="2011680"/>
            <a:ext cx="3840480" cy="548640"/>
          </a:xfrm>
          <a:prstGeom prst="rect">
            <a:avLst/>
          </a:prstGeom>
          <a:noFill/>
          <a:ln/>
        </p:spPr>
        <p:txBody>
          <a:bodyPr wrap="square" lIns="0" tIns="0" rIns="0" bIns="0" rtlCol="0" anchor="t"/>
          <a:lstStyle/>
          <a:p>
            <a:pPr indent="0" marL="0">
              <a:buNone/>
            </a:pPr>
            <a:r>
              <a:rPr lang="en-US" sz="1400" dirty="0">
                <a:solidFill>
                  <a:srgbClr val="2E1065"/>
                </a:solidFill>
              </a:rPr>
              <a:t>Hành vi bị xem xét, trừ điểm</a:t>
            </a:r>
            <a:endParaRPr lang="en-US" sz="1400" dirty="0"/>
          </a:p>
        </p:txBody>
      </p:sp>
      <p:sp>
        <p:nvSpPr>
          <p:cNvPr id="29" name="Text 24"/>
          <p:cNvSpPr txBox="1"/>
          <p:nvPr/>
        </p:nvSpPr>
        <p:spPr>
          <a:xfrm>
            <a:off x="6428232" y="2743200"/>
            <a:ext cx="4983480" cy="914400"/>
          </a:xfrm>
          <a:prstGeom prst="rect">
            <a:avLst/>
          </a:prstGeom>
          <a:noFill/>
          <a:ln/>
        </p:spPr>
        <p:txBody>
          <a:bodyPr wrap="square" lIns="0" tIns="0" rIns="0" bIns="0" rtlCol="0" anchor="t"/>
          <a:lstStyle/>
          <a:p>
            <a:pPr indent="0" marL="0">
              <a:buNone/>
            </a:pPr>
            <a:r>
              <a:rPr lang="en-US" sz="1600" b="1" dirty="0">
                <a:solidFill>
                  <a:srgbClr val="2E1065"/>
                </a:solidFill>
              </a:rPr>
              <a:t>Điều khiển robot lao thẳng, húc mạnh vào robot đối phương mà KHÔNG nhằm mục đích thu gom khối.</a:t>
            </a:r>
            <a:endParaRPr lang="en-US" sz="1600" dirty="0"/>
          </a:p>
        </p:txBody>
      </p:sp>
      <p:sp>
        <p:nvSpPr>
          <p:cNvPr id="30" name="Text 25"/>
          <p:cNvSpPr txBox="1"/>
          <p:nvPr/>
        </p:nvSpPr>
        <p:spPr>
          <a:xfrm>
            <a:off x="6428232" y="3657600"/>
            <a:ext cx="4983480" cy="640080"/>
          </a:xfrm>
          <a:prstGeom prst="rect">
            <a:avLst/>
          </a:prstGeom>
          <a:noFill/>
          <a:ln/>
        </p:spPr>
        <p:txBody>
          <a:bodyPr wrap="square" lIns="0" tIns="0" rIns="0" bIns="0" rtlCol="0" anchor="t"/>
          <a:lstStyle/>
          <a:p>
            <a:pPr indent="0" marL="0">
              <a:buNone/>
            </a:pPr>
            <a:r>
              <a:rPr lang="en-US" sz="1400" dirty="0">
                <a:solidFill>
                  <a:srgbClr val="5B4B8A"/>
                </a:solidFill>
              </a:rPr>
              <a:t>Trọng tài căn cứ tình hình thực tế trên sân để quyết định.</a:t>
            </a:r>
            <a:endParaRPr lang="en-US" sz="1400" dirty="0"/>
          </a:p>
        </p:txBody>
      </p:sp>
      <p:sp>
        <p:nvSpPr>
          <p:cNvPr id="31" name="Shape 26"/>
          <p:cNvSpPr/>
          <p:nvPr/>
        </p:nvSpPr>
        <p:spPr>
          <a:xfrm>
            <a:off x="7342632" y="4434840"/>
            <a:ext cx="3154680" cy="502920"/>
          </a:xfrm>
          <a:prstGeom prst="roundRect">
            <a:avLst>
              <a:gd name="adj" fmla="val 50000"/>
            </a:avLst>
          </a:prstGeom>
          <a:solidFill>
            <a:srgbClr val="DC2626"/>
          </a:solidFill>
          <a:ln/>
        </p:spPr>
      </p:sp>
      <p:sp>
        <p:nvSpPr>
          <p:cNvPr id="32" name="Text 27"/>
          <p:cNvSpPr txBox="1"/>
          <p:nvPr/>
        </p:nvSpPr>
        <p:spPr>
          <a:xfrm>
            <a:off x="7342632" y="4434840"/>
            <a:ext cx="3154680" cy="502920"/>
          </a:xfrm>
          <a:prstGeom prst="rect">
            <a:avLst/>
          </a:prstGeom>
          <a:noFill/>
          <a:ln/>
        </p:spPr>
        <p:txBody>
          <a:bodyPr wrap="square" lIns="0" tIns="0" rIns="0" bIns="0" rtlCol="0" anchor="ctr"/>
          <a:lstStyle/>
          <a:p>
            <a:pPr algn="ctr" indent="0" marL="0">
              <a:buNone/>
            </a:pPr>
            <a:r>
              <a:rPr lang="en-US" sz="1800" b="1" dirty="0">
                <a:solidFill>
                  <a:srgbClr val="FFFFFF"/>
                </a:solidFill>
              </a:rPr>
              <a:t>−10 điểm/lần</a:t>
            </a:r>
            <a:endParaRPr lang="en-US" sz="1800" dirty="0"/>
          </a:p>
        </p:txBody>
      </p:sp>
      <p:sp>
        <p:nvSpPr>
          <p:cNvPr id="33" name="Shape 28"/>
          <p:cNvSpPr/>
          <p:nvPr/>
        </p:nvSpPr>
        <p:spPr>
          <a:xfrm>
            <a:off x="548640" y="5440680"/>
            <a:ext cx="11091672" cy="822960"/>
          </a:xfrm>
          <a:prstGeom prst="roundRect">
            <a:avLst>
              <a:gd name="adj" fmla="val 13333"/>
            </a:avLst>
          </a:prstGeom>
          <a:solidFill>
            <a:srgbClr val="DC2626"/>
          </a:solidFill>
          <a:ln/>
        </p:spPr>
      </p:sp>
      <p:pic>
        <p:nvPicPr>
          <p:cNvPr id="34" name="Image 2" descr="Biểu tượng minh họa">    </p:cNvPr>
          <p:cNvPicPr>
            <a:picLocks noChangeAspect="1"/>
          </p:cNvPicPr>
          <p:nvPr/>
        </p:nvPicPr>
        <p:blipFill>
          <a:blip r:embed="rId3"/>
          <a:stretch>
            <a:fillRect/>
          </a:stretch>
        </p:blipFill>
        <p:spPr>
          <a:xfrm>
            <a:off x="731520" y="5550408"/>
            <a:ext cx="594360" cy="594360"/>
          </a:xfrm>
          <a:prstGeom prst="rect">
            <a:avLst/>
          </a:prstGeom>
        </p:spPr>
      </p:pic>
      <p:sp>
        <p:nvSpPr>
          <p:cNvPr id="35" name="Text 29"/>
          <p:cNvSpPr txBox="1"/>
          <p:nvPr/>
        </p:nvSpPr>
        <p:spPr>
          <a:xfrm>
            <a:off x="1463040" y="5440680"/>
            <a:ext cx="10058400" cy="822960"/>
          </a:xfrm>
          <a:prstGeom prst="rect">
            <a:avLst/>
          </a:prstGeom>
          <a:noFill/>
          <a:ln/>
        </p:spPr>
        <p:txBody>
          <a:bodyPr wrap="square" lIns="0" tIns="0" rIns="0" bIns="0" rtlCol="0" anchor="ctr"/>
          <a:lstStyle/>
          <a:p>
            <a:pPr indent="0" marL="0">
              <a:buNone/>
            </a:pPr>
            <a:r>
              <a:rPr lang="en-US" sz="1500" b="1" dirty="0">
                <a:solidFill>
                  <a:srgbClr val="FFFFFF"/>
                </a:solidFill>
              </a:rPr>
              <a:t>Liên tục đâm sau khi đã bị nhắc nhở/trừ điểm, cố tình đẩy robot đối phương ra ngoài sa bàn → XỬ THUA TRỰC TIẾP lượt đấu.</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XỬ THUA TRỰC TIẾP</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Những trường hợp bị xử thua trực tiếp lượt đấu</a:t>
            </a:r>
            <a:endParaRPr lang="en-US" sz="3000" dirty="0"/>
          </a:p>
        </p:txBody>
      </p:sp>
      <p:sp>
        <p:nvSpPr>
          <p:cNvPr id="5" name="Shape 2"/>
          <p:cNvSpPr/>
          <p:nvPr/>
        </p:nvSpPr>
        <p:spPr>
          <a:xfrm>
            <a:off x="548640" y="1371600"/>
            <a:ext cx="3749040" cy="2194560"/>
          </a:xfrm>
          <a:prstGeom prst="roundRect">
            <a:avLst>
              <a:gd name="adj" fmla="val 5000"/>
            </a:avLst>
          </a:prstGeom>
          <a:solidFill>
            <a:srgbClr val="FEE2E2"/>
          </a:solidFill>
          <a:ln/>
          <a:effectLst>
            <a:outerShdw sx="100000" sy="100000" kx="0" ky="0" algn="bl" rotWithShape="0" blurRad="127000" dist="38100" dir="5400000">
              <a:srgbClr val="4C1D95">
                <a:alpha val="16000"/>
              </a:srgbClr>
            </a:outerShdw>
          </a:effectLst>
        </p:spPr>
      </p:sp>
      <p:pic>
        <p:nvPicPr>
          <p:cNvPr id="6" name="Image 0" descr="Biểu tượng minh họa">    </p:cNvPr>
          <p:cNvPicPr>
            <a:picLocks noChangeAspect="1"/>
          </p:cNvPicPr>
          <p:nvPr/>
        </p:nvPicPr>
        <p:blipFill>
          <a:blip r:embed="rId1"/>
          <a:stretch>
            <a:fillRect/>
          </a:stretch>
        </p:blipFill>
        <p:spPr>
          <a:xfrm>
            <a:off x="731520" y="1554480"/>
            <a:ext cx="548640" cy="548640"/>
          </a:xfrm>
          <a:prstGeom prst="rect">
            <a:avLst/>
          </a:prstGeom>
        </p:spPr>
      </p:pic>
      <p:sp>
        <p:nvSpPr>
          <p:cNvPr id="7" name="Text 3"/>
          <p:cNvSpPr txBox="1"/>
          <p:nvPr/>
        </p:nvSpPr>
        <p:spPr>
          <a:xfrm>
            <a:off x="1371600" y="1554480"/>
            <a:ext cx="2743200" cy="548640"/>
          </a:xfrm>
          <a:prstGeom prst="rect">
            <a:avLst/>
          </a:prstGeom>
          <a:noFill/>
          <a:ln/>
        </p:spPr>
        <p:txBody>
          <a:bodyPr wrap="square" lIns="0" tIns="0" rIns="0" bIns="0" rtlCol="0" anchor="ctr"/>
          <a:lstStyle/>
          <a:p>
            <a:pPr indent="0" marL="0">
              <a:buNone/>
            </a:pPr>
            <a:r>
              <a:rPr lang="en-US" sz="1900" b="1" dirty="0">
                <a:solidFill>
                  <a:srgbClr val="DC2626"/>
                </a:solidFill>
              </a:rPr>
              <a:t>Đội vi phạm</a:t>
            </a:r>
            <a:endParaRPr lang="en-US" sz="1900" dirty="0"/>
          </a:p>
        </p:txBody>
      </p:sp>
      <p:sp>
        <p:nvSpPr>
          <p:cNvPr id="8" name="Text 4"/>
          <p:cNvSpPr txBox="1"/>
          <p:nvPr/>
        </p:nvSpPr>
        <p:spPr>
          <a:xfrm>
            <a:off x="731520" y="2240280"/>
            <a:ext cx="3383280" cy="1188720"/>
          </a:xfrm>
          <a:prstGeom prst="rect">
            <a:avLst/>
          </a:prstGeom>
          <a:noFill/>
          <a:ln/>
        </p:spPr>
        <p:txBody>
          <a:bodyPr wrap="square" lIns="0" tIns="0" rIns="0" bIns="0" rtlCol="0" anchor="t"/>
          <a:lstStyle/>
          <a:p>
            <a:pPr marL="203200" indent="-203200">
              <a:spcAft>
                <a:spcPts val="600"/>
              </a:spcAft>
              <a:buSzPct val="100000"/>
              <a:buChar char="•"/>
            </a:pPr>
            <a:r>
              <a:rPr lang="en-US" sz="1800" b="1" dirty="0">
                <a:solidFill>
                  <a:srgbClr val="2E1065"/>
                </a:solidFill>
              </a:rPr>
              <a:t>00 điểm nhiệm vụ</a:t>
            </a:r>
            <a:endParaRPr lang="en-US" sz="1800" dirty="0"/>
          </a:p>
          <a:p>
            <a:pPr marL="203200" indent="-203200">
              <a:spcAft>
                <a:spcPts val="600"/>
              </a:spcAft>
              <a:buSzPct val="100000"/>
              <a:buChar char="•"/>
            </a:pPr>
            <a:r>
              <a:rPr lang="en-US" sz="1800" b="1" dirty="0">
                <a:solidFill>
                  <a:srgbClr val="2E1065"/>
                </a:solidFill>
              </a:rPr>
              <a:t>00 điểm trận</a:t>
            </a:r>
            <a:endParaRPr lang="en-US" sz="1800" dirty="0"/>
          </a:p>
        </p:txBody>
      </p:sp>
      <p:sp>
        <p:nvSpPr>
          <p:cNvPr id="9" name="Shape 5"/>
          <p:cNvSpPr/>
          <p:nvPr/>
        </p:nvSpPr>
        <p:spPr>
          <a:xfrm>
            <a:off x="548640" y="3749040"/>
            <a:ext cx="3749040" cy="2514600"/>
          </a:xfrm>
          <a:prstGeom prst="roundRect">
            <a:avLst>
              <a:gd name="adj" fmla="val 4364"/>
            </a:avLst>
          </a:prstGeom>
          <a:solidFill>
            <a:srgbClr val="F0FDF4"/>
          </a:solidFill>
          <a:ln/>
          <a:effectLst>
            <a:outerShdw sx="100000" sy="100000" kx="0" ky="0" algn="bl" rotWithShape="0" blurRad="127000" dist="38100" dir="5400000">
              <a:srgbClr val="4C1D95">
                <a:alpha val="16000"/>
              </a:srgbClr>
            </a:outerShdw>
          </a:effectLst>
        </p:spPr>
      </p:sp>
      <p:pic>
        <p:nvPicPr>
          <p:cNvPr id="10" name="Image 1" descr="Biểu tượng minh họa">    </p:cNvPr>
          <p:cNvPicPr>
            <a:picLocks noChangeAspect="1"/>
          </p:cNvPicPr>
          <p:nvPr/>
        </p:nvPicPr>
        <p:blipFill>
          <a:blip r:embed="rId2"/>
          <a:stretch>
            <a:fillRect/>
          </a:stretch>
        </p:blipFill>
        <p:spPr>
          <a:xfrm>
            <a:off x="731520" y="3931920"/>
            <a:ext cx="548640" cy="548640"/>
          </a:xfrm>
          <a:prstGeom prst="rect">
            <a:avLst/>
          </a:prstGeom>
        </p:spPr>
      </p:pic>
      <p:sp>
        <p:nvSpPr>
          <p:cNvPr id="11" name="Text 6"/>
          <p:cNvSpPr txBox="1"/>
          <p:nvPr/>
        </p:nvSpPr>
        <p:spPr>
          <a:xfrm>
            <a:off x="1371600" y="3931920"/>
            <a:ext cx="2743200" cy="548640"/>
          </a:xfrm>
          <a:prstGeom prst="rect">
            <a:avLst/>
          </a:prstGeom>
          <a:noFill/>
          <a:ln/>
        </p:spPr>
        <p:txBody>
          <a:bodyPr wrap="square" lIns="0" tIns="0" rIns="0" bIns="0" rtlCol="0" anchor="ctr"/>
          <a:lstStyle/>
          <a:p>
            <a:pPr indent="0" marL="0">
              <a:buNone/>
            </a:pPr>
            <a:r>
              <a:rPr lang="en-US" sz="1900" b="1" dirty="0">
                <a:solidFill>
                  <a:srgbClr val="15803D"/>
                </a:solidFill>
              </a:rPr>
              <a:t>Đội còn lại</a:t>
            </a:r>
            <a:endParaRPr lang="en-US" sz="1900" dirty="0"/>
          </a:p>
        </p:txBody>
      </p:sp>
      <p:sp>
        <p:nvSpPr>
          <p:cNvPr id="12" name="Text 7"/>
          <p:cNvSpPr txBox="1"/>
          <p:nvPr/>
        </p:nvSpPr>
        <p:spPr>
          <a:xfrm>
            <a:off x="731520" y="4617720"/>
            <a:ext cx="3383280" cy="1554480"/>
          </a:xfrm>
          <a:prstGeom prst="rect">
            <a:avLst/>
          </a:prstGeom>
          <a:noFill/>
          <a:ln/>
        </p:spPr>
        <p:txBody>
          <a:bodyPr wrap="square" lIns="0" tIns="0" rIns="0" bIns="0" rtlCol="0" anchor="t"/>
          <a:lstStyle/>
          <a:p>
            <a:pPr marL="203200" indent="-203200">
              <a:spcAft>
                <a:spcPts val="600"/>
              </a:spcAft>
              <a:buSzPct val="100000"/>
              <a:buChar char="•"/>
            </a:pPr>
            <a:r>
              <a:rPr lang="en-US" sz="1700" b="1" dirty="0">
                <a:solidFill>
                  <a:srgbClr val="2E1065"/>
                </a:solidFill>
              </a:rPr>
              <a:t>Được tính THẮNG</a:t>
            </a:r>
            <a:endParaRPr lang="en-US" sz="1700" dirty="0"/>
          </a:p>
          <a:p>
            <a:pPr marL="203200" indent="-203200">
              <a:spcAft>
                <a:spcPts val="600"/>
              </a:spcAft>
              <a:buSzPct val="100000"/>
              <a:buChar char="•"/>
            </a:pPr>
            <a:r>
              <a:rPr lang="en-US" sz="1700" b="1" dirty="0">
                <a:solidFill>
                  <a:srgbClr val="2E1065"/>
                </a:solidFill>
              </a:rPr>
              <a:t>03 điểm trận</a:t>
            </a:r>
            <a:endParaRPr lang="en-US" sz="1700" dirty="0"/>
          </a:p>
          <a:p>
            <a:pPr marL="203200" indent="-203200">
              <a:spcAft>
                <a:spcPts val="600"/>
              </a:spcAft>
              <a:buSzPct val="100000"/>
              <a:buChar char="•"/>
            </a:pPr>
            <a:r>
              <a:rPr lang="en-US" sz="1700" b="1" dirty="0">
                <a:solidFill>
                  <a:srgbClr val="2E1065"/>
                </a:solidFill>
              </a:rPr>
              <a:t>Giữ nguyên điểm nhiệm vụ đã đạt</a:t>
            </a:r>
            <a:endParaRPr lang="en-US" sz="1700" dirty="0"/>
          </a:p>
        </p:txBody>
      </p:sp>
      <p:sp>
        <p:nvSpPr>
          <p:cNvPr id="13" name="Shape 8"/>
          <p:cNvSpPr/>
          <p:nvPr/>
        </p:nvSpPr>
        <p:spPr>
          <a:xfrm>
            <a:off x="4526280" y="1371600"/>
            <a:ext cx="7114032" cy="1005840"/>
          </a:xfrm>
          <a:prstGeom prst="roundRect">
            <a:avLst>
              <a:gd name="adj" fmla="val 10909"/>
            </a:avLst>
          </a:prstGeom>
          <a:solidFill>
            <a:srgbClr val="FFFFFF"/>
          </a:solidFill>
          <a:ln/>
          <a:effectLst>
            <a:outerShdw sx="100000" sy="100000" kx="0" ky="0" algn="bl" rotWithShape="0" blurRad="127000" dist="38100" dir="5400000">
              <a:srgbClr val="4C1D95">
                <a:alpha val="16000"/>
              </a:srgbClr>
            </a:outerShdw>
          </a:effectLst>
        </p:spPr>
      </p:sp>
      <p:sp>
        <p:nvSpPr>
          <p:cNvPr id="14" name="Shape 9"/>
          <p:cNvSpPr/>
          <p:nvPr/>
        </p:nvSpPr>
        <p:spPr>
          <a:xfrm>
            <a:off x="4636008" y="1682496"/>
            <a:ext cx="384048" cy="384048"/>
          </a:xfrm>
          <a:prstGeom prst="ellipse">
            <a:avLst/>
          </a:prstGeom>
          <a:solidFill>
            <a:srgbClr val="DC2626"/>
          </a:solidFill>
          <a:ln/>
        </p:spPr>
      </p:sp>
      <p:sp>
        <p:nvSpPr>
          <p:cNvPr id="15" name="Text 10"/>
          <p:cNvSpPr txBox="1"/>
          <p:nvPr/>
        </p:nvSpPr>
        <p:spPr>
          <a:xfrm>
            <a:off x="4636008" y="1682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6" name="Text 11"/>
          <p:cNvSpPr txBox="1"/>
          <p:nvPr/>
        </p:nvSpPr>
        <p:spPr>
          <a:xfrm>
            <a:off x="5120640" y="1371600"/>
            <a:ext cx="6446520" cy="1005840"/>
          </a:xfrm>
          <a:prstGeom prst="rect">
            <a:avLst/>
          </a:prstGeom>
          <a:noFill/>
          <a:ln/>
        </p:spPr>
        <p:txBody>
          <a:bodyPr wrap="square" lIns="0" tIns="0" rIns="0" bIns="0" rtlCol="0" anchor="ctr"/>
          <a:lstStyle/>
          <a:p>
            <a:pPr indent="0" marL="0">
              <a:buNone/>
            </a:pPr>
            <a:r>
              <a:rPr lang="en-US" sz="1400" b="1" dirty="0">
                <a:solidFill>
                  <a:srgbClr val="DC2626"/>
                </a:solidFill>
              </a:rPr>
              <a:t>Cố tình phá hoại trận đấu: </a:t>
            </a:r>
            <a:pPr indent="0" marL="0">
              <a:buNone/>
            </a:pPr>
            <a:r>
              <a:rPr lang="en-US" sz="1400" dirty="0">
                <a:solidFill>
                  <a:srgbClr val="2E1065"/>
                </a:solidFill>
              </a:rPr>
              <a:t>Liên tục đâm sau nhắc nhở; cố đẩy robot đối phương ra ngoài; cố ý húc đổ, làm văng, phá đạo cụ, Trạm, sa bàn; báo sự cố giả sau khi bị nhắc</a:t>
            </a:r>
            <a:endParaRPr lang="en-US" sz="1400" dirty="0"/>
          </a:p>
        </p:txBody>
      </p:sp>
      <p:sp>
        <p:nvSpPr>
          <p:cNvPr id="17" name="Shape 12"/>
          <p:cNvSpPr/>
          <p:nvPr/>
        </p:nvSpPr>
        <p:spPr>
          <a:xfrm>
            <a:off x="4526280" y="2514600"/>
            <a:ext cx="7114032" cy="566928"/>
          </a:xfrm>
          <a:prstGeom prst="roundRect">
            <a:avLst>
              <a:gd name="adj" fmla="val 19355"/>
            </a:avLst>
          </a:prstGeom>
          <a:solidFill>
            <a:srgbClr val="FFFFFF"/>
          </a:solidFill>
          <a:ln/>
          <a:effectLst>
            <a:outerShdw sx="100000" sy="100000" kx="0" ky="0" algn="bl" rotWithShape="0" blurRad="127000" dist="38100" dir="5400000">
              <a:srgbClr val="4C1D95">
                <a:alpha val="16000"/>
              </a:srgbClr>
            </a:outerShdw>
          </a:effectLst>
        </p:spPr>
      </p:sp>
      <p:sp>
        <p:nvSpPr>
          <p:cNvPr id="18" name="Shape 13"/>
          <p:cNvSpPr/>
          <p:nvPr/>
        </p:nvSpPr>
        <p:spPr>
          <a:xfrm>
            <a:off x="4636008" y="2606040"/>
            <a:ext cx="384048" cy="384048"/>
          </a:xfrm>
          <a:prstGeom prst="ellipse">
            <a:avLst/>
          </a:prstGeom>
          <a:solidFill>
            <a:srgbClr val="DC2626"/>
          </a:solidFill>
          <a:ln/>
        </p:spPr>
      </p:sp>
      <p:sp>
        <p:nvSpPr>
          <p:cNvPr id="19" name="Text 14"/>
          <p:cNvSpPr txBox="1"/>
          <p:nvPr/>
        </p:nvSpPr>
        <p:spPr>
          <a:xfrm>
            <a:off x="4636008" y="2606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0" name="Text 15"/>
          <p:cNvSpPr txBox="1"/>
          <p:nvPr/>
        </p:nvSpPr>
        <p:spPr>
          <a:xfrm>
            <a:off x="5120640" y="2514600"/>
            <a:ext cx="6446520" cy="566928"/>
          </a:xfrm>
          <a:prstGeom prst="rect">
            <a:avLst/>
          </a:prstGeom>
          <a:noFill/>
          <a:ln/>
        </p:spPr>
        <p:txBody>
          <a:bodyPr wrap="square" lIns="0" tIns="0" rIns="0" bIns="0" rtlCol="0" anchor="ctr"/>
          <a:lstStyle/>
          <a:p>
            <a:pPr indent="0" marL="0">
              <a:buNone/>
            </a:pPr>
            <a:r>
              <a:rPr lang="en-US" sz="1400" b="1" dirty="0">
                <a:solidFill>
                  <a:srgbClr val="DC2626"/>
                </a:solidFill>
              </a:rPr>
              <a:t>Không có mặt: </a:t>
            </a:r>
            <a:pPr indent="0" marL="0">
              <a:buNone/>
            </a:pPr>
            <a:r>
              <a:rPr lang="en-US" sz="1400" dirty="0">
                <a:solidFill>
                  <a:srgbClr val="2E1065"/>
                </a:solidFill>
              </a:rPr>
              <a:t>Được gọi trận sau 03 phút vẫn không có mặt tại vị trí thi đấu</a:t>
            </a:r>
            <a:endParaRPr lang="en-US" sz="1400" dirty="0"/>
          </a:p>
        </p:txBody>
      </p:sp>
      <p:sp>
        <p:nvSpPr>
          <p:cNvPr id="21" name="Shape 16"/>
          <p:cNvSpPr/>
          <p:nvPr/>
        </p:nvSpPr>
        <p:spPr>
          <a:xfrm>
            <a:off x="4526280" y="3172968"/>
            <a:ext cx="7114032" cy="566928"/>
          </a:xfrm>
          <a:prstGeom prst="roundRect">
            <a:avLst>
              <a:gd name="adj" fmla="val 19355"/>
            </a:avLst>
          </a:prstGeom>
          <a:solidFill>
            <a:srgbClr val="FFFFFF"/>
          </a:solidFill>
          <a:ln/>
          <a:effectLst>
            <a:outerShdw sx="100000" sy="100000" kx="0" ky="0" algn="bl" rotWithShape="0" blurRad="127000" dist="38100" dir="5400000">
              <a:srgbClr val="4C1D95">
                <a:alpha val="16000"/>
              </a:srgbClr>
            </a:outerShdw>
          </a:effectLst>
        </p:spPr>
      </p:sp>
      <p:sp>
        <p:nvSpPr>
          <p:cNvPr id="22" name="Shape 17"/>
          <p:cNvSpPr/>
          <p:nvPr/>
        </p:nvSpPr>
        <p:spPr>
          <a:xfrm>
            <a:off x="4636008" y="3264408"/>
            <a:ext cx="384048" cy="384048"/>
          </a:xfrm>
          <a:prstGeom prst="ellipse">
            <a:avLst/>
          </a:prstGeom>
          <a:solidFill>
            <a:srgbClr val="DC2626"/>
          </a:solidFill>
          <a:ln/>
        </p:spPr>
      </p:sp>
      <p:sp>
        <p:nvSpPr>
          <p:cNvPr id="23" name="Text 18"/>
          <p:cNvSpPr txBox="1"/>
          <p:nvPr/>
        </p:nvSpPr>
        <p:spPr>
          <a:xfrm>
            <a:off x="4636008" y="3264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4" name="Text 19"/>
          <p:cNvSpPr txBox="1"/>
          <p:nvPr/>
        </p:nvSpPr>
        <p:spPr>
          <a:xfrm>
            <a:off x="5120640" y="3172968"/>
            <a:ext cx="6446520" cy="566928"/>
          </a:xfrm>
          <a:prstGeom prst="rect">
            <a:avLst/>
          </a:prstGeom>
          <a:noFill/>
          <a:ln/>
        </p:spPr>
        <p:txBody>
          <a:bodyPr wrap="square" lIns="0" tIns="0" rIns="0" bIns="0" rtlCol="0" anchor="ctr"/>
          <a:lstStyle/>
          <a:p>
            <a:pPr indent="0" marL="0">
              <a:buNone/>
            </a:pPr>
            <a:r>
              <a:rPr lang="en-US" sz="1400" b="1" dirty="0">
                <a:solidFill>
                  <a:srgbClr val="DC2626"/>
                </a:solidFill>
              </a:rPr>
              <a:t>Thiết bị ngoài: </a:t>
            </a:r>
            <a:pPr indent="0" marL="0">
              <a:buNone/>
            </a:pPr>
            <a:r>
              <a:rPr lang="en-US" sz="1400" dirty="0">
                <a:solidFill>
                  <a:srgbClr val="2E1065"/>
                </a:solidFill>
              </a:rPr>
              <a:t>Dùng thiết bị, robot, bộ điều khiển không do BTC cung cấp</a:t>
            </a:r>
            <a:endParaRPr lang="en-US" sz="1400" dirty="0"/>
          </a:p>
        </p:txBody>
      </p:sp>
      <p:sp>
        <p:nvSpPr>
          <p:cNvPr id="25" name="Shape 20"/>
          <p:cNvSpPr/>
          <p:nvPr/>
        </p:nvSpPr>
        <p:spPr>
          <a:xfrm>
            <a:off x="4526280" y="3831336"/>
            <a:ext cx="7114032" cy="566928"/>
          </a:xfrm>
          <a:prstGeom prst="roundRect">
            <a:avLst>
              <a:gd name="adj" fmla="val 19355"/>
            </a:avLst>
          </a:prstGeom>
          <a:solidFill>
            <a:srgbClr val="FFFFFF"/>
          </a:solidFill>
          <a:ln/>
          <a:effectLst>
            <a:outerShdw sx="100000" sy="100000" kx="0" ky="0" algn="bl" rotWithShape="0" blurRad="127000" dist="38100" dir="5400000">
              <a:srgbClr val="4C1D95">
                <a:alpha val="16000"/>
              </a:srgbClr>
            </a:outerShdw>
          </a:effectLst>
        </p:spPr>
      </p:sp>
      <p:sp>
        <p:nvSpPr>
          <p:cNvPr id="26" name="Shape 21"/>
          <p:cNvSpPr/>
          <p:nvPr/>
        </p:nvSpPr>
        <p:spPr>
          <a:xfrm>
            <a:off x="4636008" y="3922776"/>
            <a:ext cx="384048" cy="384048"/>
          </a:xfrm>
          <a:prstGeom prst="ellipse">
            <a:avLst/>
          </a:prstGeom>
          <a:solidFill>
            <a:srgbClr val="DC2626"/>
          </a:solidFill>
          <a:ln/>
        </p:spPr>
      </p:sp>
      <p:sp>
        <p:nvSpPr>
          <p:cNvPr id="27" name="Text 22"/>
          <p:cNvSpPr txBox="1"/>
          <p:nvPr/>
        </p:nvSpPr>
        <p:spPr>
          <a:xfrm>
            <a:off x="4636008" y="39227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8" name="Text 23"/>
          <p:cNvSpPr txBox="1"/>
          <p:nvPr/>
        </p:nvSpPr>
        <p:spPr>
          <a:xfrm>
            <a:off x="5120640" y="3831336"/>
            <a:ext cx="6446520" cy="566928"/>
          </a:xfrm>
          <a:prstGeom prst="rect">
            <a:avLst/>
          </a:prstGeom>
          <a:noFill/>
          <a:ln/>
        </p:spPr>
        <p:txBody>
          <a:bodyPr wrap="square" lIns="0" tIns="0" rIns="0" bIns="0" rtlCol="0" anchor="ctr"/>
          <a:lstStyle/>
          <a:p>
            <a:pPr indent="0" marL="0">
              <a:buNone/>
            </a:pPr>
            <a:r>
              <a:rPr lang="en-US" sz="1400" b="1" dirty="0">
                <a:solidFill>
                  <a:srgbClr val="DC2626"/>
                </a:solidFill>
              </a:rPr>
              <a:t>Người ngoài danh sách: </a:t>
            </a:r>
            <a:pPr indent="0" marL="0">
              <a:buNone/>
            </a:pPr>
            <a:r>
              <a:rPr lang="en-US" sz="1400" dirty="0">
                <a:solidFill>
                  <a:srgbClr val="2E1065"/>
                </a:solidFill>
              </a:rPr>
              <a:t>Bố trí người không có tên trong danh sách được duyệt</a:t>
            </a:r>
            <a:endParaRPr lang="en-US" sz="1400" dirty="0"/>
          </a:p>
        </p:txBody>
      </p:sp>
      <p:sp>
        <p:nvSpPr>
          <p:cNvPr id="29" name="Shape 24"/>
          <p:cNvSpPr/>
          <p:nvPr/>
        </p:nvSpPr>
        <p:spPr>
          <a:xfrm>
            <a:off x="4526280" y="4489704"/>
            <a:ext cx="7114032" cy="566928"/>
          </a:xfrm>
          <a:prstGeom prst="roundRect">
            <a:avLst>
              <a:gd name="adj" fmla="val 19355"/>
            </a:avLst>
          </a:prstGeom>
          <a:solidFill>
            <a:srgbClr val="FFFFFF"/>
          </a:solidFill>
          <a:ln/>
          <a:effectLst>
            <a:outerShdw sx="100000" sy="100000" kx="0" ky="0" algn="bl" rotWithShape="0" blurRad="127000" dist="38100" dir="5400000">
              <a:srgbClr val="4C1D95">
                <a:alpha val="16000"/>
              </a:srgbClr>
            </a:outerShdw>
          </a:effectLst>
        </p:spPr>
      </p:sp>
      <p:sp>
        <p:nvSpPr>
          <p:cNvPr id="30" name="Shape 25"/>
          <p:cNvSpPr/>
          <p:nvPr/>
        </p:nvSpPr>
        <p:spPr>
          <a:xfrm>
            <a:off x="4636008" y="4581144"/>
            <a:ext cx="384048" cy="384048"/>
          </a:xfrm>
          <a:prstGeom prst="ellipse">
            <a:avLst/>
          </a:prstGeom>
          <a:solidFill>
            <a:srgbClr val="DC2626"/>
          </a:solidFill>
          <a:ln/>
        </p:spPr>
      </p:sp>
      <p:sp>
        <p:nvSpPr>
          <p:cNvPr id="31" name="Text 26"/>
          <p:cNvSpPr txBox="1"/>
          <p:nvPr/>
        </p:nvSpPr>
        <p:spPr>
          <a:xfrm>
            <a:off x="4636008" y="45811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2" name="Text 27"/>
          <p:cNvSpPr txBox="1"/>
          <p:nvPr/>
        </p:nvSpPr>
        <p:spPr>
          <a:xfrm>
            <a:off x="5120640" y="4489704"/>
            <a:ext cx="6446520" cy="566928"/>
          </a:xfrm>
          <a:prstGeom prst="rect">
            <a:avLst/>
          </a:prstGeom>
          <a:noFill/>
          <a:ln/>
        </p:spPr>
        <p:txBody>
          <a:bodyPr wrap="square" lIns="0" tIns="0" rIns="0" bIns="0" rtlCol="0" anchor="ctr"/>
          <a:lstStyle/>
          <a:p>
            <a:pPr indent="0" marL="0">
              <a:buNone/>
            </a:pPr>
            <a:r>
              <a:rPr lang="en-US" sz="1400" b="1" dirty="0">
                <a:solidFill>
                  <a:srgbClr val="DC2626"/>
                </a:solidFill>
              </a:rPr>
              <a:t>Không chấp hành trọng tài: </a:t>
            </a:r>
            <a:pPr indent="0" marL="0">
              <a:buNone/>
            </a:pPr>
            <a:r>
              <a:rPr lang="en-US" sz="1400" dirty="0">
                <a:solidFill>
                  <a:srgbClr val="2E1065"/>
                </a:solidFill>
              </a:rPr>
              <a:t>Sau khi đã được nhắc nhở 02 lần trong cùng một lượt</a:t>
            </a:r>
            <a:endParaRPr lang="en-US" sz="1400" dirty="0"/>
          </a:p>
        </p:txBody>
      </p:sp>
      <p:sp>
        <p:nvSpPr>
          <p:cNvPr id="33" name="Shape 28"/>
          <p:cNvSpPr/>
          <p:nvPr/>
        </p:nvSpPr>
        <p:spPr>
          <a:xfrm>
            <a:off x="4526280" y="5148072"/>
            <a:ext cx="7114032" cy="566928"/>
          </a:xfrm>
          <a:prstGeom prst="roundRect">
            <a:avLst>
              <a:gd name="adj" fmla="val 19355"/>
            </a:avLst>
          </a:prstGeom>
          <a:solidFill>
            <a:srgbClr val="FFFFFF"/>
          </a:solidFill>
          <a:ln/>
          <a:effectLst>
            <a:outerShdw sx="100000" sy="100000" kx="0" ky="0" algn="bl" rotWithShape="0" blurRad="127000" dist="38100" dir="5400000">
              <a:srgbClr val="4C1D95">
                <a:alpha val="16000"/>
              </a:srgbClr>
            </a:outerShdw>
          </a:effectLst>
        </p:spPr>
      </p:sp>
      <p:sp>
        <p:nvSpPr>
          <p:cNvPr id="34" name="Shape 29"/>
          <p:cNvSpPr/>
          <p:nvPr/>
        </p:nvSpPr>
        <p:spPr>
          <a:xfrm>
            <a:off x="4636008" y="5239512"/>
            <a:ext cx="384048" cy="384048"/>
          </a:xfrm>
          <a:prstGeom prst="ellipse">
            <a:avLst/>
          </a:prstGeom>
          <a:solidFill>
            <a:srgbClr val="DC2626"/>
          </a:solidFill>
          <a:ln/>
        </p:spPr>
      </p:sp>
      <p:sp>
        <p:nvSpPr>
          <p:cNvPr id="35" name="Text 30"/>
          <p:cNvSpPr txBox="1"/>
          <p:nvPr/>
        </p:nvSpPr>
        <p:spPr>
          <a:xfrm>
            <a:off x="4636008" y="5239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6" name="Text 31"/>
          <p:cNvSpPr txBox="1"/>
          <p:nvPr/>
        </p:nvSpPr>
        <p:spPr>
          <a:xfrm>
            <a:off x="5120640" y="5148072"/>
            <a:ext cx="6446520" cy="566928"/>
          </a:xfrm>
          <a:prstGeom prst="rect">
            <a:avLst/>
          </a:prstGeom>
          <a:noFill/>
          <a:ln/>
        </p:spPr>
        <p:txBody>
          <a:bodyPr wrap="square" lIns="0" tIns="0" rIns="0" bIns="0" rtlCol="0" anchor="ctr"/>
          <a:lstStyle/>
          <a:p>
            <a:pPr indent="0" marL="0">
              <a:buNone/>
            </a:pPr>
            <a:r>
              <a:rPr lang="en-US" sz="1400" b="1" dirty="0">
                <a:solidFill>
                  <a:srgbClr val="DC2626"/>
                </a:solidFill>
              </a:rPr>
              <a:t>Tác động có chủ ý: </a:t>
            </a:r>
            <a:pPr indent="0" marL="0">
              <a:buNone/>
            </a:pPr>
            <a:r>
              <a:rPr lang="en-US" sz="1400" dirty="0">
                <a:solidFill>
                  <a:srgbClr val="2E1065"/>
                </a:solidFill>
              </a:rPr>
              <a:t>Tác động từ bên ngoài nhằm thay đổi kết quả lượt đấu</a:t>
            </a:r>
            <a:endParaRPr lang="en-US" sz="1400" dirty="0"/>
          </a:p>
        </p:txBody>
      </p:sp>
      <p:sp>
        <p:nvSpPr>
          <p:cNvPr id="37" name="Text 32"/>
          <p:cNvSpPr txBox="1"/>
          <p:nvPr/>
        </p:nvSpPr>
        <p:spPr>
          <a:xfrm>
            <a:off x="4526280" y="5833872"/>
            <a:ext cx="7114032" cy="429768"/>
          </a:xfrm>
          <a:prstGeom prst="rect">
            <a:avLst/>
          </a:prstGeom>
          <a:noFill/>
          <a:ln/>
        </p:spPr>
        <p:txBody>
          <a:bodyPr wrap="square" lIns="0" tIns="0" rIns="0" bIns="0" rtlCol="0" anchor="ctr"/>
          <a:lstStyle/>
          <a:p>
            <a:pPr indent="0" marL="0">
              <a:buNone/>
            </a:pPr>
            <a:r>
              <a:rPr lang="en-US" sz="1400" b="1" dirty="0">
                <a:solidFill>
                  <a:srgbClr val="DC2626"/>
                </a:solidFill>
              </a:rPr>
              <a:t>Vi phạm nghiêm trọng hoặc tái diễn ở nhiều lượt → BTC có quyền loại đội khỏi giải và hủy toàn bộ kết quả.</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CÁCH TÍNH</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Tổng điểm nhiệm vụ của một lượt đấu</a:t>
            </a:r>
            <a:endParaRPr lang="en-US" sz="3000" dirty="0"/>
          </a:p>
        </p:txBody>
      </p:sp>
      <p:sp>
        <p:nvSpPr>
          <p:cNvPr id="5" name="Shape 2"/>
          <p:cNvSpPr/>
          <p:nvPr/>
        </p:nvSpPr>
        <p:spPr>
          <a:xfrm>
            <a:off x="548640" y="1371600"/>
            <a:ext cx="3108960" cy="1234440"/>
          </a:xfrm>
          <a:prstGeom prst="roundRect">
            <a:avLst>
              <a:gd name="adj" fmla="val 8889"/>
            </a:avLst>
          </a:prstGeom>
          <a:solidFill>
            <a:srgbClr val="F0FDF4"/>
          </a:solidFill>
          <a:ln/>
          <a:effectLst>
            <a:outerShdw sx="100000" sy="100000" kx="0" ky="0" algn="bl" rotWithShape="0" blurRad="127000" dist="38100" dir="5400000">
              <a:srgbClr val="4C1D95">
                <a:alpha val="16000"/>
              </a:srgbClr>
            </a:outerShdw>
          </a:effectLst>
        </p:spPr>
      </p:sp>
      <p:sp>
        <p:nvSpPr>
          <p:cNvPr id="6" name="Text 3"/>
          <p:cNvSpPr txBox="1"/>
          <p:nvPr/>
        </p:nvSpPr>
        <p:spPr>
          <a:xfrm>
            <a:off x="548640" y="1417320"/>
            <a:ext cx="3108960" cy="685800"/>
          </a:xfrm>
          <a:prstGeom prst="rect">
            <a:avLst/>
          </a:prstGeom>
          <a:noFill/>
          <a:ln/>
        </p:spPr>
        <p:txBody>
          <a:bodyPr wrap="square" lIns="0" tIns="0" rIns="0" bIns="0" rtlCol="0" anchor="ctr"/>
          <a:lstStyle/>
          <a:p>
            <a:pPr algn="ctr" indent="0" marL="0">
              <a:buNone/>
            </a:pPr>
            <a:r>
              <a:rPr lang="en-US" sz="2200" b="1" dirty="0">
                <a:solidFill>
                  <a:srgbClr val="15803D"/>
                </a:solidFill>
              </a:rPr>
              <a:t>TỔNG ĐIỂM CỘNG</a:t>
            </a:r>
            <a:endParaRPr lang="en-US" sz="2200" dirty="0"/>
          </a:p>
        </p:txBody>
      </p:sp>
      <p:sp>
        <p:nvSpPr>
          <p:cNvPr id="7" name="Text 4"/>
          <p:cNvSpPr txBox="1"/>
          <p:nvPr/>
        </p:nvSpPr>
        <p:spPr>
          <a:xfrm>
            <a:off x="548640" y="2057400"/>
            <a:ext cx="3108960" cy="457200"/>
          </a:xfrm>
          <a:prstGeom prst="rect">
            <a:avLst/>
          </a:prstGeom>
          <a:noFill/>
          <a:ln/>
        </p:spPr>
        <p:txBody>
          <a:bodyPr wrap="square" lIns="0" tIns="0" rIns="0" bIns="0" rtlCol="0" anchor="t"/>
          <a:lstStyle/>
          <a:p>
            <a:pPr algn="ctr" indent="0" marL="0">
              <a:buNone/>
            </a:pPr>
            <a:r>
              <a:rPr lang="en-US" sz="1300" dirty="0">
                <a:solidFill>
                  <a:srgbClr val="15803D"/>
                </a:solidFill>
              </a:rPr>
              <a:t>khối hợp lệ + Hồi căn cứ</a:t>
            </a:r>
            <a:endParaRPr lang="en-US" sz="1300" dirty="0"/>
          </a:p>
        </p:txBody>
      </p:sp>
      <p:sp>
        <p:nvSpPr>
          <p:cNvPr id="8" name="Text 5"/>
          <p:cNvSpPr txBox="1"/>
          <p:nvPr/>
        </p:nvSpPr>
        <p:spPr>
          <a:xfrm>
            <a:off x="3657600" y="1371600"/>
            <a:ext cx="548640" cy="1234440"/>
          </a:xfrm>
          <a:prstGeom prst="rect">
            <a:avLst/>
          </a:prstGeom>
          <a:noFill/>
          <a:ln/>
        </p:spPr>
        <p:txBody>
          <a:bodyPr wrap="square" lIns="0" tIns="0" rIns="0" bIns="0" rtlCol="0" anchor="ctr"/>
          <a:lstStyle/>
          <a:p>
            <a:pPr algn="ctr" indent="0" marL="0">
              <a:buNone/>
            </a:pPr>
            <a:r>
              <a:rPr lang="en-US" sz="4400" b="1" dirty="0">
                <a:solidFill>
                  <a:srgbClr val="2E1065"/>
                </a:solidFill>
              </a:rPr>
              <a:t>−</a:t>
            </a:r>
            <a:endParaRPr lang="en-US" sz="4400" dirty="0"/>
          </a:p>
        </p:txBody>
      </p:sp>
      <p:sp>
        <p:nvSpPr>
          <p:cNvPr id="9" name="Shape 6"/>
          <p:cNvSpPr/>
          <p:nvPr/>
        </p:nvSpPr>
        <p:spPr>
          <a:xfrm>
            <a:off x="4206240" y="1371600"/>
            <a:ext cx="2926080" cy="1234440"/>
          </a:xfrm>
          <a:prstGeom prst="roundRect">
            <a:avLst>
              <a:gd name="adj" fmla="val 8889"/>
            </a:avLst>
          </a:prstGeom>
          <a:solidFill>
            <a:srgbClr val="FEF2F2"/>
          </a:solidFill>
          <a:ln/>
          <a:effectLst>
            <a:outerShdw sx="100000" sy="100000" kx="0" ky="0" algn="bl" rotWithShape="0" blurRad="127000" dist="38100" dir="5400000">
              <a:srgbClr val="4C1D95">
                <a:alpha val="16000"/>
              </a:srgbClr>
            </a:outerShdw>
          </a:effectLst>
        </p:spPr>
      </p:sp>
      <p:sp>
        <p:nvSpPr>
          <p:cNvPr id="10" name="Text 7"/>
          <p:cNvSpPr txBox="1"/>
          <p:nvPr/>
        </p:nvSpPr>
        <p:spPr>
          <a:xfrm>
            <a:off x="4206240" y="1417320"/>
            <a:ext cx="2926080" cy="685800"/>
          </a:xfrm>
          <a:prstGeom prst="rect">
            <a:avLst/>
          </a:prstGeom>
          <a:noFill/>
          <a:ln/>
        </p:spPr>
        <p:txBody>
          <a:bodyPr wrap="square" lIns="0" tIns="0" rIns="0" bIns="0" rtlCol="0" anchor="ctr"/>
          <a:lstStyle/>
          <a:p>
            <a:pPr algn="ctr" indent="0" marL="0">
              <a:buNone/>
            </a:pPr>
            <a:r>
              <a:rPr lang="en-US" sz="2200" b="1" dirty="0">
                <a:solidFill>
                  <a:srgbClr val="DC2626"/>
                </a:solidFill>
              </a:rPr>
              <a:t>TỔNG ĐIỂM TRỪ</a:t>
            </a:r>
            <a:endParaRPr lang="en-US" sz="2200" dirty="0"/>
          </a:p>
        </p:txBody>
      </p:sp>
      <p:sp>
        <p:nvSpPr>
          <p:cNvPr id="11" name="Text 8"/>
          <p:cNvSpPr txBox="1"/>
          <p:nvPr/>
        </p:nvSpPr>
        <p:spPr>
          <a:xfrm>
            <a:off x="4206240" y="2057400"/>
            <a:ext cx="2926080" cy="457200"/>
          </a:xfrm>
          <a:prstGeom prst="rect">
            <a:avLst/>
          </a:prstGeom>
          <a:noFill/>
          <a:ln/>
        </p:spPr>
        <p:txBody>
          <a:bodyPr wrap="square" lIns="0" tIns="0" rIns="0" bIns="0" rtlCol="0" anchor="t"/>
          <a:lstStyle/>
          <a:p>
            <a:pPr algn="ctr" indent="0" marL="0">
              <a:buNone/>
            </a:pPr>
            <a:r>
              <a:rPr lang="en-US" sz="1300" dirty="0">
                <a:solidFill>
                  <a:srgbClr val="DC2626"/>
                </a:solidFill>
              </a:rPr>
              <a:t>các lỗi vi phạm</a:t>
            </a:r>
            <a:endParaRPr lang="en-US" sz="1300" dirty="0"/>
          </a:p>
        </p:txBody>
      </p:sp>
      <p:sp>
        <p:nvSpPr>
          <p:cNvPr id="12" name="Text 9"/>
          <p:cNvSpPr txBox="1"/>
          <p:nvPr/>
        </p:nvSpPr>
        <p:spPr>
          <a:xfrm>
            <a:off x="7132320" y="1371600"/>
            <a:ext cx="548640" cy="1234440"/>
          </a:xfrm>
          <a:prstGeom prst="rect">
            <a:avLst/>
          </a:prstGeom>
          <a:noFill/>
          <a:ln/>
        </p:spPr>
        <p:txBody>
          <a:bodyPr wrap="square" lIns="0" tIns="0" rIns="0" bIns="0" rtlCol="0" anchor="ctr"/>
          <a:lstStyle/>
          <a:p>
            <a:pPr algn="ctr" indent="0" marL="0">
              <a:buNone/>
            </a:pPr>
            <a:r>
              <a:rPr lang="en-US" sz="4400" b="1" dirty="0">
                <a:solidFill>
                  <a:srgbClr val="2E1065"/>
                </a:solidFill>
              </a:rPr>
              <a:t>=</a:t>
            </a:r>
            <a:endParaRPr lang="en-US" sz="4400" dirty="0"/>
          </a:p>
        </p:txBody>
      </p:sp>
      <p:sp>
        <p:nvSpPr>
          <p:cNvPr id="13" name="Shape 10"/>
          <p:cNvSpPr/>
          <p:nvPr/>
        </p:nvSpPr>
        <p:spPr>
          <a:xfrm>
            <a:off x="7680960" y="1371600"/>
            <a:ext cx="3959352" cy="1234440"/>
          </a:xfrm>
          <a:prstGeom prst="roundRect">
            <a:avLst>
              <a:gd name="adj" fmla="val 8889"/>
            </a:avLst>
          </a:prstGeom>
          <a:solidFill>
            <a:srgbClr val="7C3AED"/>
          </a:solidFill>
          <a:ln/>
          <a:effectLst>
            <a:outerShdw sx="100000" sy="100000" kx="0" ky="0" algn="bl" rotWithShape="0" blurRad="127000" dist="38100" dir="5400000">
              <a:srgbClr val="4C1D95">
                <a:alpha val="16000"/>
              </a:srgbClr>
            </a:outerShdw>
          </a:effectLst>
        </p:spPr>
      </p:sp>
      <p:sp>
        <p:nvSpPr>
          <p:cNvPr id="14" name="Text 11"/>
          <p:cNvSpPr txBox="1"/>
          <p:nvPr/>
        </p:nvSpPr>
        <p:spPr>
          <a:xfrm>
            <a:off x="7680960" y="1417320"/>
            <a:ext cx="3959352" cy="685800"/>
          </a:xfrm>
          <a:prstGeom prst="rect">
            <a:avLst/>
          </a:prstGeom>
          <a:noFill/>
          <a:ln/>
        </p:spPr>
        <p:txBody>
          <a:bodyPr wrap="square" lIns="0" tIns="0" rIns="0" bIns="0" rtlCol="0" anchor="ctr"/>
          <a:lstStyle/>
          <a:p>
            <a:pPr algn="ctr" indent="0" marL="0">
              <a:buNone/>
            </a:pPr>
            <a:r>
              <a:rPr lang="en-US" sz="2200" b="1" dirty="0">
                <a:solidFill>
                  <a:srgbClr val="FFFFFF"/>
                </a:solidFill>
              </a:rPr>
              <a:t>TỔNG ĐIỂM NHIỆM VỤ</a:t>
            </a:r>
            <a:endParaRPr lang="en-US" sz="2200" dirty="0"/>
          </a:p>
        </p:txBody>
      </p:sp>
      <p:sp>
        <p:nvSpPr>
          <p:cNvPr id="15" name="Text 12"/>
          <p:cNvSpPr txBox="1"/>
          <p:nvPr/>
        </p:nvSpPr>
        <p:spPr>
          <a:xfrm>
            <a:off x="7680960" y="2057400"/>
            <a:ext cx="3959352" cy="457200"/>
          </a:xfrm>
          <a:prstGeom prst="rect">
            <a:avLst/>
          </a:prstGeom>
          <a:noFill/>
          <a:ln/>
        </p:spPr>
        <p:txBody>
          <a:bodyPr wrap="square" lIns="0" tIns="0" rIns="0" bIns="0" rtlCol="0" anchor="t"/>
          <a:lstStyle/>
          <a:p>
            <a:pPr algn="ctr" indent="0" marL="0">
              <a:buNone/>
            </a:pPr>
            <a:r>
              <a:rPr lang="en-US" sz="1300" dirty="0">
                <a:solidFill>
                  <a:srgbClr val="FFFFFF"/>
                </a:solidFill>
              </a:rPr>
              <a:t>tối thiểu 00 điểm</a:t>
            </a:r>
            <a:endParaRPr lang="en-US" sz="1300" dirty="0"/>
          </a:p>
        </p:txBody>
      </p:sp>
      <p:sp>
        <p:nvSpPr>
          <p:cNvPr id="16" name="Shape 13"/>
          <p:cNvSpPr/>
          <p:nvPr/>
        </p:nvSpPr>
        <p:spPr>
          <a:xfrm>
            <a:off x="548640" y="2834640"/>
            <a:ext cx="6949440" cy="3429000"/>
          </a:xfrm>
          <a:prstGeom prst="roundRect">
            <a:avLst>
              <a:gd name="adj" fmla="val 3200"/>
            </a:avLst>
          </a:prstGeom>
          <a:solidFill>
            <a:srgbClr val="FFFFFF"/>
          </a:solidFill>
          <a:ln/>
          <a:effectLst>
            <a:outerShdw sx="100000" sy="100000" kx="0" ky="0" algn="bl" rotWithShape="0" blurRad="127000" dist="38100" dir="5400000">
              <a:srgbClr val="4C1D95">
                <a:alpha val="16000"/>
              </a:srgbClr>
            </a:outerShdw>
          </a:effectLst>
        </p:spPr>
      </p:sp>
      <p:sp>
        <p:nvSpPr>
          <p:cNvPr id="17" name="Text 14"/>
          <p:cNvSpPr txBox="1"/>
          <p:nvPr/>
        </p:nvSpPr>
        <p:spPr>
          <a:xfrm>
            <a:off x="731520" y="2907792"/>
            <a:ext cx="6583680" cy="411480"/>
          </a:xfrm>
          <a:prstGeom prst="rect">
            <a:avLst/>
          </a:prstGeom>
          <a:noFill/>
          <a:ln/>
        </p:spPr>
        <p:txBody>
          <a:bodyPr wrap="square" lIns="0" tIns="0" rIns="0" bIns="0" rtlCol="0" anchor="t"/>
          <a:lstStyle/>
          <a:p>
            <a:pPr indent="0" marL="0">
              <a:buNone/>
            </a:pPr>
            <a:r>
              <a:rPr lang="en-US" sz="1700" b="1" dirty="0">
                <a:solidFill>
                  <a:srgbClr val="7C3AED"/>
                </a:solidFill>
              </a:rPr>
              <a:t>Ví dụ: Đội A1 trong một lượt đấu</a:t>
            </a:r>
            <a:endParaRPr lang="en-US" sz="17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31520" y="3364992"/>
          <a:ext cx="6583680" cy="914400"/>
        </p:xfrm>
        <a:graphic>
          <a:graphicData uri="http://schemas.openxmlformats.org/drawingml/2006/table">
            <a:tbl>
              <a:tblPr/>
              <a:tblGrid>
                <a:gridCol w="4023360"/>
                <a:gridCol w="1280160"/>
                <a:gridCol w="1280160"/>
              </a:tblGrid>
              <a:tr h="384048">
                <a:tc>
                  <a:txBody>
                    <a:bodyPr/>
                    <a:lstStyle/>
                    <a:p>
                      <a:pPr indent="0" marL="0">
                        <a:buNone/>
                      </a:pPr>
                      <a:r>
                        <a:rPr lang="en-US" sz="1400" dirty="0">
                          <a:solidFill>
                            <a:srgbClr val="2E1065"/>
                          </a:solidFill>
                        </a:rPr>
                        <a:t>Khối Dầu</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4B8A"/>
                          </a:solidFill>
                        </a:rPr>
                        <a:t>4 × 5</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5803D"/>
                          </a:solidFill>
                        </a:rPr>
                        <a:t>+20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2E1065"/>
                          </a:solidFill>
                        </a:rPr>
                        <a:t>Khối Nước</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4B8A"/>
                          </a:solidFill>
                        </a:rPr>
                        <a:t>1 × 10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5803D"/>
                          </a:solidFill>
                        </a:rPr>
                        <a:t>+10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2E1065"/>
                          </a:solidFill>
                        </a:rPr>
                        <a:t>Khối Đất</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4B8A"/>
                          </a:solidFill>
                        </a:rPr>
                        <a:t>1 × 10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5803D"/>
                          </a:solidFill>
                        </a:rPr>
                        <a:t>+10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2E1065"/>
                          </a:solidFill>
                        </a:rPr>
                        <a:t>Khối Lá</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4B8A"/>
                          </a:solidFill>
                        </a:rPr>
                        <a:t>1 × 20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5803D"/>
                          </a:solidFill>
                        </a:rPr>
                        <a:t>+20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2E1065"/>
                          </a:solidFill>
                        </a:rPr>
                        <a:t>Hồi căn cứ hợp lệ</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5803D"/>
                          </a:solidFill>
                        </a:rPr>
                        <a:t>+5</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2E1065"/>
                          </a:solidFill>
                        </a:rPr>
                        <a:t>Robot ra ngoài sa bàn 1 lần</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4B8A"/>
                          </a:solidFill>
                        </a:rPr>
                        <a:t>1 × 5</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DC2626"/>
                          </a:solidFill>
                        </a:rPr>
                        <a:t>−5</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FFFFFF"/>
                          </a:solidFill>
                        </a:rPr>
                        <a:t>TỔNG ĐIỂM NHIỆM VỤ</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7C3AED"/>
                    </a:solidFill>
                  </a:tcPr>
                </a:tc>
                <a:tc>
                  <a:txBody>
                    <a:bodyPr/>
                    <a:lstStyle/>
                    <a:p>
                      <a:pPr indent="0" marL="0">
                        <a:buNone/>
                      </a:pP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7C3AED"/>
                    </a:solidFill>
                  </a:tcPr>
                </a:tc>
                <a:tc>
                  <a:txBody>
                    <a:bodyPr/>
                    <a:lstStyle/>
                    <a:p>
                      <a:pPr algn="r" indent="0" marL="0">
                        <a:buNone/>
                      </a:pPr>
                      <a:r>
                        <a:rPr lang="en-US" sz="1800" b="1" dirty="0">
                          <a:solidFill>
                            <a:srgbClr val="FDE68A"/>
                          </a:solidFill>
                        </a:rPr>
                        <a:t>60</a:t>
                      </a:r>
                      <a:endParaRPr lang="en-US" sz="18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7C3AED"/>
                    </a:solidFill>
                  </a:tcPr>
                </a:tc>
              </a:tr>
            </a:tbl>
          </a:graphicData>
        </a:graphic>
      </p:graphicFrame>
      <p:sp>
        <p:nvSpPr>
          <p:cNvPr id="19" name="Shape 15"/>
          <p:cNvSpPr/>
          <p:nvPr/>
        </p:nvSpPr>
        <p:spPr>
          <a:xfrm>
            <a:off x="7726680" y="2834640"/>
            <a:ext cx="3913632" cy="3429000"/>
          </a:xfrm>
          <a:prstGeom prst="roundRect">
            <a:avLst>
              <a:gd name="adj" fmla="val 3200"/>
            </a:avLst>
          </a:prstGeom>
          <a:solidFill>
            <a:srgbClr val="FFFFFF"/>
          </a:solidFill>
          <a:ln/>
          <a:effectLst>
            <a:outerShdw sx="100000" sy="100000" kx="0" ky="0" algn="bl" rotWithShape="0" blurRad="127000" dist="38100" dir="5400000">
              <a:srgbClr val="4C1D95">
                <a:alpha val="16000"/>
              </a:srgbClr>
            </a:outerShdw>
          </a:effectLst>
        </p:spPr>
      </p:sp>
      <p:sp>
        <p:nvSpPr>
          <p:cNvPr id="20" name="Shape 16"/>
          <p:cNvSpPr/>
          <p:nvPr/>
        </p:nvSpPr>
        <p:spPr>
          <a:xfrm>
            <a:off x="7909560" y="3017520"/>
            <a:ext cx="868680" cy="868680"/>
          </a:xfrm>
          <a:prstGeom prst="ellipse">
            <a:avLst/>
          </a:prstGeom>
          <a:solidFill>
            <a:srgbClr val="EDE4FF"/>
          </a:solidFill>
          <a:ln/>
        </p:spPr>
      </p:sp>
      <p:pic>
        <p:nvPicPr>
          <p:cNvPr id="21" name="Image 0" descr="Biểu tượng minh họa">    </p:cNvPr>
          <p:cNvPicPr>
            <a:picLocks noChangeAspect="1"/>
          </p:cNvPicPr>
          <p:nvPr/>
        </p:nvPicPr>
        <p:blipFill>
          <a:blip r:embed="rId1"/>
          <a:stretch>
            <a:fillRect/>
          </a:stretch>
        </p:blipFill>
        <p:spPr>
          <a:xfrm>
            <a:off x="8065922" y="3173882"/>
            <a:ext cx="555955" cy="555955"/>
          </a:xfrm>
          <a:prstGeom prst="rect">
            <a:avLst/>
          </a:prstGeom>
        </p:spPr>
      </p:pic>
      <p:sp>
        <p:nvSpPr>
          <p:cNvPr id="22" name="Text 17"/>
          <p:cNvSpPr txBox="1"/>
          <p:nvPr/>
        </p:nvSpPr>
        <p:spPr>
          <a:xfrm>
            <a:off x="8915400" y="3017520"/>
            <a:ext cx="2560320" cy="868680"/>
          </a:xfrm>
          <a:prstGeom prst="rect">
            <a:avLst/>
          </a:prstGeom>
          <a:noFill/>
          <a:ln/>
        </p:spPr>
        <p:txBody>
          <a:bodyPr wrap="square" lIns="0" tIns="0" rIns="0" bIns="0" rtlCol="0" anchor="ctr"/>
          <a:lstStyle/>
          <a:p>
            <a:pPr indent="0" marL="0">
              <a:buNone/>
            </a:pPr>
            <a:r>
              <a:rPr lang="en-US" sz="2000" b="1" dirty="0">
                <a:solidFill>
                  <a:srgbClr val="7C3AED"/>
                </a:solidFill>
              </a:rPr>
              <a:t>Ghi nhớ</a:t>
            </a:r>
            <a:endParaRPr lang="en-US" sz="2000" dirty="0"/>
          </a:p>
        </p:txBody>
      </p:sp>
      <p:sp>
        <p:nvSpPr>
          <p:cNvPr id="23" name="Text 18"/>
          <p:cNvSpPr txBox="1"/>
          <p:nvPr/>
        </p:nvSpPr>
        <p:spPr>
          <a:xfrm>
            <a:off x="7909560" y="4023360"/>
            <a:ext cx="3611880" cy="21488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E1065"/>
                </a:solidFill>
              </a:rPr>
              <a:t>Tổng điểm trừ lớn hơn điểm cộng → ghi 00 điểm (không âm)</a:t>
            </a:r>
            <a:endParaRPr lang="en-US" sz="1500" dirty="0"/>
          </a:p>
          <a:p>
            <a:pPr marL="203200" indent="-203200">
              <a:spcAft>
                <a:spcPts val="800"/>
              </a:spcAft>
              <a:buSzPct val="100000"/>
              <a:buChar char="•"/>
            </a:pPr>
            <a:r>
              <a:rPr lang="en-US" sz="1500" dirty="0">
                <a:solidFill>
                  <a:srgbClr val="2E1065"/>
                </a:solidFill>
              </a:rPr>
              <a:t>Là căn cứ xác định kết quả lượt đấu</a:t>
            </a:r>
            <a:endParaRPr lang="en-US" sz="1500" dirty="0"/>
          </a:p>
          <a:p>
            <a:pPr marL="203200" indent="-203200">
              <a:spcAft>
                <a:spcPts val="800"/>
              </a:spcAft>
              <a:buSzPct val="100000"/>
              <a:buChar char="•"/>
            </a:pPr>
            <a:r>
              <a:rPr lang="en-US" sz="1500" dirty="0">
                <a:solidFill>
                  <a:srgbClr val="2E1065"/>
                </a:solidFill>
              </a:rPr>
              <a:t>Là tiêu chí phụ thứ nhất khi hai đội hòa sau 02 lượt</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06</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6</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Kết quả, sự cố &amp; kỷ luật</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Phân định thắng – hòa – thua, xử lý sự cố kỹ thuật, hành vi bị cấm, an toàn và khiếu nại</a:t>
            </a:r>
            <a:endParaRPr lang="en-US" sz="1800" dirty="0"/>
          </a:p>
        </p:txBody>
      </p:sp>
      <p:sp>
        <p:nvSpPr>
          <p:cNvPr id="6" name="Shape 4"/>
          <p:cNvSpPr/>
          <p:nvPr/>
        </p:nvSpPr>
        <p:spPr>
          <a:xfrm>
            <a:off x="7543800" y="1143000"/>
            <a:ext cx="4023360" cy="4023360"/>
          </a:xfrm>
          <a:prstGeom prst="ellipse">
            <a:avLst/>
          </a:prstGeom>
          <a:solidFill>
            <a:srgbClr val="FFFFFF">
              <a:alpha val="12000"/>
            </a:srgbClr>
          </a:solidFill>
          <a:ln/>
        </p:spPr>
      </p:sp>
      <p:sp>
        <p:nvSpPr>
          <p:cNvPr id="7" name="Shape 5"/>
          <p:cNvSpPr/>
          <p:nvPr/>
        </p:nvSpPr>
        <p:spPr>
          <a:xfrm>
            <a:off x="8001000" y="1600200"/>
            <a:ext cx="3108960" cy="3108960"/>
          </a:xfrm>
          <a:prstGeom prst="ellipse">
            <a:avLst/>
          </a:prstGeom>
          <a:solidFill>
            <a:srgbClr val="FFFFFF">
              <a:alpha val="20000"/>
            </a:srgbClr>
          </a:solidFill>
          <a:ln/>
        </p:spPr>
      </p:sp>
      <p:pic>
        <p:nvPicPr>
          <p:cNvPr id="8" name="Image 0" descr="Biểu tượng minh họa">    </p:cNvPr>
          <p:cNvPicPr>
            <a:picLocks noChangeAspect="1"/>
          </p:cNvPicPr>
          <p:nvPr/>
        </p:nvPicPr>
        <p:blipFill>
          <a:blip r:embed="rId1"/>
          <a:stretch>
            <a:fillRect/>
          </a:stretch>
        </p:blipFill>
        <p:spPr>
          <a:xfrm>
            <a:off x="8412480" y="2011680"/>
            <a:ext cx="2286000" cy="22860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KẾT QUẢ</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Kết quả một lượt đấu</a:t>
            </a:r>
            <a:endParaRPr lang="en-US" sz="3000" dirty="0"/>
          </a:p>
        </p:txBody>
      </p:sp>
      <p:sp>
        <p:nvSpPr>
          <p:cNvPr id="5" name="Shape 2"/>
          <p:cNvSpPr/>
          <p:nvPr/>
        </p:nvSpPr>
        <p:spPr>
          <a:xfrm>
            <a:off x="548640" y="1371600"/>
            <a:ext cx="4846320" cy="1325880"/>
          </a:xfrm>
          <a:prstGeom prst="roundRect">
            <a:avLst>
              <a:gd name="adj" fmla="val 8276"/>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13232" y="1737360"/>
            <a:ext cx="594360" cy="594360"/>
          </a:xfrm>
          <a:prstGeom prst="ellipse">
            <a:avLst/>
          </a:prstGeom>
          <a:solidFill>
            <a:srgbClr val="7C3AED"/>
          </a:solidFill>
          <a:ln/>
        </p:spPr>
      </p:sp>
      <p:sp>
        <p:nvSpPr>
          <p:cNvPr id="7" name="Text 4"/>
          <p:cNvSpPr txBox="1"/>
          <p:nvPr/>
        </p:nvSpPr>
        <p:spPr>
          <a:xfrm>
            <a:off x="713232" y="17373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8" name="Text 5"/>
          <p:cNvSpPr txBox="1"/>
          <p:nvPr/>
        </p:nvSpPr>
        <p:spPr>
          <a:xfrm>
            <a:off x="1463040" y="1481328"/>
            <a:ext cx="3840480" cy="502920"/>
          </a:xfrm>
          <a:prstGeom prst="rect">
            <a:avLst/>
          </a:prstGeom>
          <a:noFill/>
          <a:ln/>
        </p:spPr>
        <p:txBody>
          <a:bodyPr wrap="square" lIns="0" tIns="0" rIns="0" bIns="0" rtlCol="0" anchor="ctr"/>
          <a:lstStyle/>
          <a:p>
            <a:pPr indent="0" marL="0">
              <a:buNone/>
            </a:pPr>
            <a:r>
              <a:rPr lang="en-US" sz="1600" b="1" dirty="0">
                <a:solidFill>
                  <a:srgbClr val="7C3AED"/>
                </a:solidFill>
              </a:rPr>
              <a:t>So sánh Tổng điểm nhiệm vụ</a:t>
            </a:r>
            <a:endParaRPr lang="en-US" sz="1600" dirty="0"/>
          </a:p>
        </p:txBody>
      </p:sp>
      <p:sp>
        <p:nvSpPr>
          <p:cNvPr id="9" name="Text 6"/>
          <p:cNvSpPr txBox="1"/>
          <p:nvPr/>
        </p:nvSpPr>
        <p:spPr>
          <a:xfrm>
            <a:off x="1463040" y="1984248"/>
            <a:ext cx="3840480" cy="640080"/>
          </a:xfrm>
          <a:prstGeom prst="rect">
            <a:avLst/>
          </a:prstGeom>
          <a:noFill/>
          <a:ln/>
        </p:spPr>
        <p:txBody>
          <a:bodyPr wrap="square" lIns="0" tIns="0" rIns="0" bIns="0" rtlCol="0" anchor="t"/>
          <a:lstStyle/>
          <a:p>
            <a:pPr indent="0" marL="0">
              <a:buNone/>
            </a:pPr>
            <a:r>
              <a:rPr lang="en-US" sz="1400" dirty="0">
                <a:solidFill>
                  <a:srgbClr val="2E1065"/>
                </a:solidFill>
              </a:rPr>
              <a:t>Cao hơn: THẮNG (3 điểm trận) · Thấp hơn: THUA (0)</a:t>
            </a:r>
            <a:endParaRPr lang="en-US" sz="1400" dirty="0"/>
          </a:p>
        </p:txBody>
      </p:sp>
      <p:sp>
        <p:nvSpPr>
          <p:cNvPr id="10" name="Shape 7"/>
          <p:cNvSpPr/>
          <p:nvPr/>
        </p:nvSpPr>
        <p:spPr>
          <a:xfrm>
            <a:off x="2788920" y="2715768"/>
            <a:ext cx="365760" cy="237744"/>
          </a:xfrm>
          <a:prstGeom prst="downArrow">
            <a:avLst/>
          </a:prstGeom>
          <a:solidFill>
            <a:srgbClr val="8B5CF6"/>
          </a:solidFill>
          <a:ln/>
        </p:spPr>
      </p:sp>
      <p:sp>
        <p:nvSpPr>
          <p:cNvPr id="11" name="Shape 8"/>
          <p:cNvSpPr/>
          <p:nvPr/>
        </p:nvSpPr>
        <p:spPr>
          <a:xfrm>
            <a:off x="548640" y="2971800"/>
            <a:ext cx="4846320" cy="1325880"/>
          </a:xfrm>
          <a:prstGeom prst="roundRect">
            <a:avLst>
              <a:gd name="adj" fmla="val 8276"/>
            </a:avLst>
          </a:prstGeom>
          <a:solidFill>
            <a:srgbClr val="FFFFFF"/>
          </a:solidFill>
          <a:ln/>
          <a:effectLst>
            <a:outerShdw sx="100000" sy="100000" kx="0" ky="0" algn="bl" rotWithShape="0" blurRad="127000" dist="38100" dir="5400000">
              <a:srgbClr val="4C1D95">
                <a:alpha val="16000"/>
              </a:srgbClr>
            </a:outerShdw>
          </a:effectLst>
        </p:spPr>
      </p:sp>
      <p:sp>
        <p:nvSpPr>
          <p:cNvPr id="12" name="Shape 9"/>
          <p:cNvSpPr/>
          <p:nvPr/>
        </p:nvSpPr>
        <p:spPr>
          <a:xfrm>
            <a:off x="713232" y="3337560"/>
            <a:ext cx="594360" cy="594360"/>
          </a:xfrm>
          <a:prstGeom prst="ellipse">
            <a:avLst/>
          </a:prstGeom>
          <a:solidFill>
            <a:srgbClr val="8B5CF6"/>
          </a:solidFill>
          <a:ln/>
        </p:spPr>
      </p:sp>
      <p:sp>
        <p:nvSpPr>
          <p:cNvPr id="13" name="Text 10"/>
          <p:cNvSpPr txBox="1"/>
          <p:nvPr/>
        </p:nvSpPr>
        <p:spPr>
          <a:xfrm>
            <a:off x="713232" y="33375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4" name="Text 11"/>
          <p:cNvSpPr txBox="1"/>
          <p:nvPr/>
        </p:nvSpPr>
        <p:spPr>
          <a:xfrm>
            <a:off x="1463040" y="3081528"/>
            <a:ext cx="3840480" cy="502920"/>
          </a:xfrm>
          <a:prstGeom prst="rect">
            <a:avLst/>
          </a:prstGeom>
          <a:noFill/>
          <a:ln/>
        </p:spPr>
        <p:txBody>
          <a:bodyPr wrap="square" lIns="0" tIns="0" rIns="0" bIns="0" rtlCol="0" anchor="ctr"/>
          <a:lstStyle/>
          <a:p>
            <a:pPr indent="0" marL="0">
              <a:buNone/>
            </a:pPr>
            <a:r>
              <a:rPr lang="en-US" sz="1600" b="1" dirty="0">
                <a:solidFill>
                  <a:srgbClr val="8B5CF6"/>
                </a:solidFill>
              </a:rPr>
              <a:t>Bằng điểm → so Thời gian hoàn thành</a:t>
            </a:r>
            <a:endParaRPr lang="en-US" sz="1600" dirty="0"/>
          </a:p>
        </p:txBody>
      </p:sp>
      <p:sp>
        <p:nvSpPr>
          <p:cNvPr id="15" name="Text 12"/>
          <p:cNvSpPr txBox="1"/>
          <p:nvPr/>
        </p:nvSpPr>
        <p:spPr>
          <a:xfrm>
            <a:off x="1463040" y="3584448"/>
            <a:ext cx="3840480" cy="640080"/>
          </a:xfrm>
          <a:prstGeom prst="rect">
            <a:avLst/>
          </a:prstGeom>
          <a:noFill/>
          <a:ln/>
        </p:spPr>
        <p:txBody>
          <a:bodyPr wrap="square" lIns="0" tIns="0" rIns="0" bIns="0" rtlCol="0" anchor="t"/>
          <a:lstStyle/>
          <a:p>
            <a:pPr indent="0" marL="0">
              <a:buNone/>
            </a:pPr>
            <a:r>
              <a:rPr lang="en-US" sz="1400" dirty="0">
                <a:solidFill>
                  <a:srgbClr val="2E1065"/>
                </a:solidFill>
              </a:rPr>
              <a:t>Hồi căn cứ hợp lệ sớm hơn: THẮNG (3) · đội kia THUA (0)</a:t>
            </a:r>
            <a:endParaRPr lang="en-US" sz="1400" dirty="0"/>
          </a:p>
        </p:txBody>
      </p:sp>
      <p:sp>
        <p:nvSpPr>
          <p:cNvPr id="16" name="Shape 13"/>
          <p:cNvSpPr/>
          <p:nvPr/>
        </p:nvSpPr>
        <p:spPr>
          <a:xfrm>
            <a:off x="2788920" y="4315968"/>
            <a:ext cx="365760" cy="237744"/>
          </a:xfrm>
          <a:prstGeom prst="downArrow">
            <a:avLst/>
          </a:prstGeom>
          <a:solidFill>
            <a:srgbClr val="8B5CF6"/>
          </a:solidFill>
          <a:ln/>
        </p:spPr>
      </p:sp>
      <p:sp>
        <p:nvSpPr>
          <p:cNvPr id="17" name="Shape 14"/>
          <p:cNvSpPr/>
          <p:nvPr/>
        </p:nvSpPr>
        <p:spPr>
          <a:xfrm>
            <a:off x="548640" y="4572000"/>
            <a:ext cx="4846320" cy="1325880"/>
          </a:xfrm>
          <a:prstGeom prst="roundRect">
            <a:avLst>
              <a:gd name="adj" fmla="val 8276"/>
            </a:avLst>
          </a:prstGeom>
          <a:solidFill>
            <a:srgbClr val="FFFFFF"/>
          </a:solidFill>
          <a:ln/>
          <a:effectLst>
            <a:outerShdw sx="100000" sy="100000" kx="0" ky="0" algn="bl" rotWithShape="0" blurRad="127000" dist="38100" dir="5400000">
              <a:srgbClr val="4C1D95">
                <a:alpha val="16000"/>
              </a:srgbClr>
            </a:outerShdw>
          </a:effectLst>
        </p:spPr>
      </p:sp>
      <p:sp>
        <p:nvSpPr>
          <p:cNvPr id="18" name="Shape 15"/>
          <p:cNvSpPr/>
          <p:nvPr/>
        </p:nvSpPr>
        <p:spPr>
          <a:xfrm>
            <a:off x="713232" y="4937760"/>
            <a:ext cx="594360" cy="594360"/>
          </a:xfrm>
          <a:prstGeom prst="ellipse">
            <a:avLst/>
          </a:prstGeom>
          <a:solidFill>
            <a:srgbClr val="DB2777"/>
          </a:solidFill>
          <a:ln/>
        </p:spPr>
      </p:sp>
      <p:sp>
        <p:nvSpPr>
          <p:cNvPr id="19" name="Text 16"/>
          <p:cNvSpPr txBox="1"/>
          <p:nvPr/>
        </p:nvSpPr>
        <p:spPr>
          <a:xfrm>
            <a:off x="713232" y="49377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20" name="Text 17"/>
          <p:cNvSpPr txBox="1"/>
          <p:nvPr/>
        </p:nvSpPr>
        <p:spPr>
          <a:xfrm>
            <a:off x="1463040" y="4681728"/>
            <a:ext cx="3840480" cy="502920"/>
          </a:xfrm>
          <a:prstGeom prst="rect">
            <a:avLst/>
          </a:prstGeom>
          <a:noFill/>
          <a:ln/>
        </p:spPr>
        <p:txBody>
          <a:bodyPr wrap="square" lIns="0" tIns="0" rIns="0" bIns="0" rtlCol="0" anchor="ctr"/>
          <a:lstStyle/>
          <a:p>
            <a:pPr indent="0" marL="0">
              <a:buNone/>
            </a:pPr>
            <a:r>
              <a:rPr lang="en-US" sz="1600" b="1" dirty="0">
                <a:solidFill>
                  <a:srgbClr val="DB2777"/>
                </a:solidFill>
              </a:rPr>
              <a:t>Vẫn bằng nhau (kể cả cả hai không HCC)</a:t>
            </a:r>
            <a:endParaRPr lang="en-US" sz="1600" dirty="0"/>
          </a:p>
        </p:txBody>
      </p:sp>
      <p:sp>
        <p:nvSpPr>
          <p:cNvPr id="21" name="Text 18"/>
          <p:cNvSpPr txBox="1"/>
          <p:nvPr/>
        </p:nvSpPr>
        <p:spPr>
          <a:xfrm>
            <a:off x="1463040" y="5184648"/>
            <a:ext cx="3840480" cy="640080"/>
          </a:xfrm>
          <a:prstGeom prst="rect">
            <a:avLst/>
          </a:prstGeom>
          <a:noFill/>
          <a:ln/>
        </p:spPr>
        <p:txBody>
          <a:bodyPr wrap="square" lIns="0" tIns="0" rIns="0" bIns="0" rtlCol="0" anchor="t"/>
          <a:lstStyle/>
          <a:p>
            <a:pPr indent="0" marL="0">
              <a:buNone/>
            </a:pPr>
            <a:r>
              <a:rPr lang="en-US" sz="1400" dirty="0">
                <a:solidFill>
                  <a:srgbClr val="2E1065"/>
                </a:solidFill>
              </a:rPr>
              <a:t>HÒA – mỗi đội 01 điểm trận</a:t>
            </a:r>
            <a:endParaRPr lang="en-US" sz="1400" dirty="0"/>
          </a:p>
        </p:txBody>
      </p:sp>
      <p:sp>
        <p:nvSpPr>
          <p:cNvPr id="22" name="Text 19"/>
          <p:cNvSpPr txBox="1"/>
          <p:nvPr/>
        </p:nvSpPr>
        <p:spPr>
          <a:xfrm>
            <a:off x="5669280" y="1325880"/>
            <a:ext cx="5943600" cy="365760"/>
          </a:xfrm>
          <a:prstGeom prst="rect">
            <a:avLst/>
          </a:prstGeom>
          <a:noFill/>
          <a:ln/>
        </p:spPr>
        <p:txBody>
          <a:bodyPr wrap="square" lIns="0" tIns="0" rIns="0" bIns="0" rtlCol="0" anchor="t"/>
          <a:lstStyle/>
          <a:p>
            <a:pPr indent="0" marL="0">
              <a:buNone/>
            </a:pPr>
            <a:r>
              <a:rPr lang="en-US" sz="1600" b="1" dirty="0">
                <a:solidFill>
                  <a:srgbClr val="7C3AED"/>
                </a:solidFill>
              </a:rPr>
              <a:t>Ví dụ minh họa (HCC: Hồi căn cứ)</a:t>
            </a:r>
            <a:endParaRPr lang="en-US" sz="1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0" y="1737360"/>
          <a:ext cx="5971032" cy="914400"/>
        </p:xfrm>
        <a:graphic>
          <a:graphicData uri="http://schemas.openxmlformats.org/drawingml/2006/table">
            <a:tbl>
              <a:tblPr/>
              <a:tblGrid>
                <a:gridCol w="1828800"/>
                <a:gridCol w="1325880"/>
                <a:gridCol w="1490472"/>
                <a:gridCol w="1325880"/>
              </a:tblGrid>
              <a:tr h="384048">
                <a:tc>
                  <a:txBody>
                    <a:bodyPr/>
                    <a:lstStyle/>
                    <a:p>
                      <a:pPr algn="ctr" indent="0" marL="0">
                        <a:buNone/>
                      </a:pPr>
                      <a:r>
                        <a:rPr lang="en-US" sz="1400" b="1" dirty="0">
                          <a:solidFill>
                            <a:srgbClr val="FFFFFF"/>
                          </a:solidFill>
                        </a:rPr>
                        <a:t>Tình huống</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Đội A</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Đội B</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Kết quả</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731520">
                <a:tc>
                  <a:txBody>
                    <a:bodyPr/>
                    <a:lstStyle/>
                    <a:p>
                      <a:pPr algn="ctr" indent="0" marL="0">
                        <a:buNone/>
                      </a:pPr>
                      <a:r>
                        <a:rPr lang="en-US" sz="1400" dirty="0">
                          <a:solidFill>
                            <a:srgbClr val="2E1065"/>
                          </a:solidFill>
                        </a:rPr>
                        <a:t>Khác điểm</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65 điểm</a:t>
                      </a:r>
                      <a:endParaRPr lang="en-US" sz="1400" dirty="0"/>
                    </a:p>
                    <a:p>
                      <a:pPr algn="ctr" indent="0" marL="0">
                        <a:buNone/>
                      </a:pPr>
                      <a:r>
                        <a:rPr lang="en-US" sz="1400" dirty="0">
                          <a:solidFill>
                            <a:srgbClr val="2E1065"/>
                          </a:solidFill>
                        </a:rPr>
                        <a:t>HCC 02:40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70 điểm</a:t>
                      </a:r>
                      <a:endParaRPr lang="en-US" sz="1400" dirty="0"/>
                    </a:p>
                    <a:p>
                      <a:pPr algn="ctr" indent="0" marL="0">
                        <a:buNone/>
                      </a:pPr>
                      <a:r>
                        <a:rPr lang="en-US" sz="1400" dirty="0">
                          <a:solidFill>
                            <a:srgbClr val="2E1065"/>
                          </a:solidFill>
                        </a:rPr>
                        <a:t>HCC 02:55</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rPr>
                        <a:t>Đội B thắng</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731520">
                <a:tc>
                  <a:txBody>
                    <a:bodyPr/>
                    <a:lstStyle/>
                    <a:p>
                      <a:pPr algn="ctr" indent="0" marL="0">
                        <a:buNone/>
                      </a:pPr>
                      <a:r>
                        <a:rPr lang="en-US" sz="1400" dirty="0">
                          <a:solidFill>
                            <a:srgbClr val="2E1065"/>
                          </a:solidFill>
                        </a:rPr>
                        <a:t>Bằng điểm, cả hai HCC</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60 điểm</a:t>
                      </a:r>
                      <a:endParaRPr lang="en-US" sz="1400" dirty="0"/>
                    </a:p>
                    <a:p>
                      <a:pPr algn="ctr" indent="0" marL="0">
                        <a:buNone/>
                      </a:pPr>
                      <a:r>
                        <a:rPr lang="en-US" sz="1400" dirty="0">
                          <a:solidFill>
                            <a:srgbClr val="2E1065"/>
                          </a:solidFill>
                        </a:rPr>
                        <a:t>HCC 02:10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60 điểm</a:t>
                      </a:r>
                      <a:endParaRPr lang="en-US" sz="1400" dirty="0"/>
                    </a:p>
                    <a:p>
                      <a:pPr algn="ctr" indent="0" marL="0">
                        <a:buNone/>
                      </a:pPr>
                      <a:r>
                        <a:rPr lang="en-US" sz="1400" dirty="0">
                          <a:solidFill>
                            <a:srgbClr val="2E1065"/>
                          </a:solidFill>
                        </a:rPr>
                        <a:t>HCC 02:35</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rPr>
                        <a:t>Đội A thắng</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731520">
                <a:tc>
                  <a:txBody>
                    <a:bodyPr/>
                    <a:lstStyle/>
                    <a:p>
                      <a:pPr algn="ctr" indent="0" marL="0">
                        <a:buNone/>
                      </a:pPr>
                      <a:r>
                        <a:rPr lang="en-US" sz="1400" dirty="0">
                          <a:solidFill>
                            <a:srgbClr val="2E1065"/>
                          </a:solidFill>
                        </a:rPr>
                        <a:t>Bằng điểm, chỉ 1 đội HCC</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60 điểm</a:t>
                      </a:r>
                      <a:endParaRPr lang="en-US" sz="1400" dirty="0"/>
                    </a:p>
                    <a:p>
                      <a:pPr algn="ctr" indent="0" marL="0">
                        <a:buNone/>
                      </a:pPr>
                      <a:r>
                        <a:rPr lang="en-US" sz="1400" dirty="0">
                          <a:solidFill>
                            <a:srgbClr val="2E1065"/>
                          </a:solidFill>
                        </a:rPr>
                        <a:t>HCC 02:50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60 điểm</a:t>
                      </a:r>
                      <a:endParaRPr lang="en-US" sz="1400" dirty="0"/>
                    </a:p>
                    <a:p>
                      <a:pPr algn="ctr" indent="0" marL="0">
                        <a:buNone/>
                      </a:pPr>
                      <a:r>
                        <a:rPr lang="en-US" sz="1400" dirty="0">
                          <a:solidFill>
                            <a:srgbClr val="2E1065"/>
                          </a:solidFill>
                        </a:rPr>
                        <a:t>không HCC (03:00)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rPr>
                        <a:t>Đội A thắng</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731520">
                <a:tc>
                  <a:txBody>
                    <a:bodyPr/>
                    <a:lstStyle/>
                    <a:p>
                      <a:pPr algn="ctr" indent="0" marL="0">
                        <a:buNone/>
                      </a:pPr>
                      <a:r>
                        <a:rPr lang="en-US" sz="1400" dirty="0">
                          <a:solidFill>
                            <a:srgbClr val="2E1065"/>
                          </a:solidFill>
                        </a:rPr>
                        <a:t>Bằng điểm, cả hai không HCC</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55 điểm</a:t>
                      </a:r>
                      <a:endParaRPr lang="en-US" sz="1400" dirty="0"/>
                    </a:p>
                    <a:p>
                      <a:pPr algn="ctr" indent="0" marL="0">
                        <a:buNone/>
                      </a:pPr>
                      <a:r>
                        <a:rPr lang="en-US" sz="1400" dirty="0">
                          <a:solidFill>
                            <a:srgbClr val="2E1065"/>
                          </a:solidFill>
                        </a:rPr>
                        <a:t>(03:00)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55 điểm</a:t>
                      </a:r>
                      <a:endParaRPr lang="en-US" sz="1400" dirty="0"/>
                    </a:p>
                    <a:p>
                      <a:pPr algn="ctr" indent="0" marL="0">
                        <a:buNone/>
                      </a:pPr>
                      <a:r>
                        <a:rPr lang="en-US" sz="1400" dirty="0">
                          <a:solidFill>
                            <a:srgbClr val="2E1065"/>
                          </a:solidFill>
                        </a:rPr>
                        <a:t>(03:00)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B2777"/>
                          </a:solidFill>
                        </a:rPr>
                        <a:t>Hòa (1 – 1)</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24" name="Text 20"/>
          <p:cNvSpPr txBox="1"/>
          <p:nvPr/>
        </p:nvSpPr>
        <p:spPr>
          <a:xfrm>
            <a:off x="5669280" y="5440680"/>
            <a:ext cx="5971032" cy="640080"/>
          </a:xfrm>
          <a:prstGeom prst="rect">
            <a:avLst/>
          </a:prstGeom>
          <a:noFill/>
          <a:ln/>
        </p:spPr>
        <p:txBody>
          <a:bodyPr wrap="square" lIns="0" tIns="0" rIns="0" bIns="0" rtlCol="0" anchor="t"/>
          <a:lstStyle/>
          <a:p>
            <a:pPr indent="0" marL="0">
              <a:buNone/>
            </a:pPr>
            <a:r>
              <a:rPr lang="en-US" sz="1300" i="1" dirty="0">
                <a:solidFill>
                  <a:srgbClr val="5B4B8A"/>
                </a:solidFill>
              </a:rPr>
              <a:t>Kết quả công bố tại chỗ, ghi vào phiếu chấm điểm có chữ ký trọng tài và đại diện hai đội.</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KẾT QUẢ</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Kết quả một cặp đấu (02 lượt)</a:t>
            </a:r>
            <a:endParaRPr lang="en-US" sz="3000" dirty="0"/>
          </a:p>
        </p:txBody>
      </p:sp>
      <p:sp>
        <p:nvSpPr>
          <p:cNvPr id="5" name="Shape 2"/>
          <p:cNvSpPr/>
          <p:nvPr/>
        </p:nvSpPr>
        <p:spPr>
          <a:xfrm>
            <a:off x="548640" y="1417320"/>
            <a:ext cx="2377440" cy="1371600"/>
          </a:xfrm>
          <a:prstGeom prst="roundRect">
            <a:avLst>
              <a:gd name="adj" fmla="val 8000"/>
            </a:avLst>
          </a:prstGeom>
          <a:solidFill>
            <a:srgbClr val="FFFFFF"/>
          </a:solidFill>
          <a:ln/>
          <a:effectLst>
            <a:outerShdw sx="100000" sy="100000" kx="0" ky="0" algn="bl" rotWithShape="0" blurRad="127000" dist="38100" dir="5400000">
              <a:srgbClr val="4C1D95">
                <a:alpha val="16000"/>
              </a:srgbClr>
            </a:outerShdw>
          </a:effectLst>
        </p:spPr>
      </p:sp>
      <p:sp>
        <p:nvSpPr>
          <p:cNvPr id="6" name="Text 3"/>
          <p:cNvSpPr txBox="1"/>
          <p:nvPr/>
        </p:nvSpPr>
        <p:spPr>
          <a:xfrm>
            <a:off x="548640" y="1481328"/>
            <a:ext cx="2377440" cy="640080"/>
          </a:xfrm>
          <a:prstGeom prst="rect">
            <a:avLst/>
          </a:prstGeom>
          <a:noFill/>
          <a:ln/>
        </p:spPr>
        <p:txBody>
          <a:bodyPr wrap="square" lIns="0" tIns="0" rIns="0" bIns="0" rtlCol="0" anchor="ctr"/>
          <a:lstStyle/>
          <a:p>
            <a:pPr algn="ctr" indent="0" marL="0">
              <a:buNone/>
            </a:pPr>
            <a:r>
              <a:rPr lang="en-US" sz="2200" b="1" dirty="0">
                <a:solidFill>
                  <a:srgbClr val="7C3AED"/>
                </a:solidFill>
              </a:rPr>
              <a:t>LƯỢT 1</a:t>
            </a:r>
            <a:endParaRPr lang="en-US" sz="2200" dirty="0"/>
          </a:p>
        </p:txBody>
      </p:sp>
      <p:sp>
        <p:nvSpPr>
          <p:cNvPr id="7" name="Text 4"/>
          <p:cNvSpPr txBox="1"/>
          <p:nvPr/>
        </p:nvSpPr>
        <p:spPr>
          <a:xfrm>
            <a:off x="548640" y="2103120"/>
            <a:ext cx="2377440" cy="548640"/>
          </a:xfrm>
          <a:prstGeom prst="rect">
            <a:avLst/>
          </a:prstGeom>
          <a:noFill/>
          <a:ln/>
        </p:spPr>
        <p:txBody>
          <a:bodyPr wrap="square" lIns="0" tIns="0" rIns="0" bIns="0" rtlCol="0" anchor="t"/>
          <a:lstStyle/>
          <a:p>
            <a:pPr algn="ctr" indent="0" marL="0">
              <a:buNone/>
            </a:pPr>
            <a:r>
              <a:rPr lang="en-US" sz="1400" dirty="0">
                <a:solidFill>
                  <a:srgbClr val="7C3AED"/>
                </a:solidFill>
              </a:rPr>
              <a:t>03 phút · Phần sân 1</a:t>
            </a:r>
            <a:endParaRPr lang="en-US" sz="1400" dirty="0"/>
          </a:p>
        </p:txBody>
      </p:sp>
      <p:pic>
        <p:nvPicPr>
          <p:cNvPr id="8" name="Image 0" descr="Biểu tượng minh họa">    </p:cNvPr>
          <p:cNvPicPr>
            <a:picLocks noChangeAspect="1"/>
          </p:cNvPicPr>
          <p:nvPr/>
        </p:nvPicPr>
        <p:blipFill>
          <a:blip r:embed="rId1"/>
          <a:stretch>
            <a:fillRect/>
          </a:stretch>
        </p:blipFill>
        <p:spPr>
          <a:xfrm>
            <a:off x="3063240" y="1783080"/>
            <a:ext cx="640080" cy="640080"/>
          </a:xfrm>
          <a:prstGeom prst="rect">
            <a:avLst/>
          </a:prstGeom>
        </p:spPr>
      </p:pic>
      <p:sp>
        <p:nvSpPr>
          <p:cNvPr id="9" name="Text 5"/>
          <p:cNvSpPr txBox="1"/>
          <p:nvPr/>
        </p:nvSpPr>
        <p:spPr>
          <a:xfrm>
            <a:off x="2926080" y="2423160"/>
            <a:ext cx="914400" cy="274320"/>
          </a:xfrm>
          <a:prstGeom prst="rect">
            <a:avLst/>
          </a:prstGeom>
          <a:noFill/>
          <a:ln/>
        </p:spPr>
        <p:txBody>
          <a:bodyPr wrap="square" lIns="0" tIns="0" rIns="0" bIns="0" rtlCol="0" anchor="t"/>
          <a:lstStyle/>
          <a:p>
            <a:pPr algn="ctr" indent="0" marL="0">
              <a:buNone/>
            </a:pPr>
            <a:r>
              <a:rPr lang="en-US" sz="1200" dirty="0">
                <a:solidFill>
                  <a:srgbClr val="5B4B8A"/>
                </a:solidFill>
              </a:rPr>
              <a:t>đổi bên</a:t>
            </a:r>
            <a:endParaRPr lang="en-US" sz="1200" dirty="0"/>
          </a:p>
        </p:txBody>
      </p:sp>
      <p:sp>
        <p:nvSpPr>
          <p:cNvPr id="10" name="Shape 6"/>
          <p:cNvSpPr/>
          <p:nvPr/>
        </p:nvSpPr>
        <p:spPr>
          <a:xfrm>
            <a:off x="3840480" y="1417320"/>
            <a:ext cx="2377440" cy="1371600"/>
          </a:xfrm>
          <a:prstGeom prst="roundRect">
            <a:avLst>
              <a:gd name="adj" fmla="val 8000"/>
            </a:avLst>
          </a:prstGeom>
          <a:solidFill>
            <a:srgbClr val="FFFFFF"/>
          </a:solidFill>
          <a:ln/>
          <a:effectLst>
            <a:outerShdw sx="100000" sy="100000" kx="0" ky="0" algn="bl" rotWithShape="0" blurRad="127000" dist="38100" dir="5400000">
              <a:srgbClr val="4C1D95">
                <a:alpha val="16000"/>
              </a:srgbClr>
            </a:outerShdw>
          </a:effectLst>
        </p:spPr>
      </p:sp>
      <p:sp>
        <p:nvSpPr>
          <p:cNvPr id="11" name="Text 7"/>
          <p:cNvSpPr txBox="1"/>
          <p:nvPr/>
        </p:nvSpPr>
        <p:spPr>
          <a:xfrm>
            <a:off x="3840480" y="1481328"/>
            <a:ext cx="2377440" cy="640080"/>
          </a:xfrm>
          <a:prstGeom prst="rect">
            <a:avLst/>
          </a:prstGeom>
          <a:noFill/>
          <a:ln/>
        </p:spPr>
        <p:txBody>
          <a:bodyPr wrap="square" lIns="0" tIns="0" rIns="0" bIns="0" rtlCol="0" anchor="ctr"/>
          <a:lstStyle/>
          <a:p>
            <a:pPr algn="ctr" indent="0" marL="0">
              <a:buNone/>
            </a:pPr>
            <a:r>
              <a:rPr lang="en-US" sz="2200" b="1" dirty="0">
                <a:solidFill>
                  <a:srgbClr val="7C3AED"/>
                </a:solidFill>
              </a:rPr>
              <a:t>LƯỢT 2</a:t>
            </a:r>
            <a:endParaRPr lang="en-US" sz="2200" dirty="0"/>
          </a:p>
        </p:txBody>
      </p:sp>
      <p:sp>
        <p:nvSpPr>
          <p:cNvPr id="12" name="Text 8"/>
          <p:cNvSpPr txBox="1"/>
          <p:nvPr/>
        </p:nvSpPr>
        <p:spPr>
          <a:xfrm>
            <a:off x="3840480" y="2103120"/>
            <a:ext cx="2377440" cy="548640"/>
          </a:xfrm>
          <a:prstGeom prst="rect">
            <a:avLst/>
          </a:prstGeom>
          <a:noFill/>
          <a:ln/>
        </p:spPr>
        <p:txBody>
          <a:bodyPr wrap="square" lIns="0" tIns="0" rIns="0" bIns="0" rtlCol="0" anchor="t"/>
          <a:lstStyle/>
          <a:p>
            <a:pPr algn="ctr" indent="0" marL="0">
              <a:buNone/>
            </a:pPr>
            <a:r>
              <a:rPr lang="en-US" sz="1400" dirty="0">
                <a:solidFill>
                  <a:srgbClr val="7C3AED"/>
                </a:solidFill>
              </a:rPr>
              <a:t>03 phút · Phần sân 2</a:t>
            </a:r>
            <a:endParaRPr lang="en-US" sz="1400" dirty="0"/>
          </a:p>
        </p:txBody>
      </p:sp>
      <p:sp>
        <p:nvSpPr>
          <p:cNvPr id="13" name="Text 9"/>
          <p:cNvSpPr txBox="1"/>
          <p:nvPr/>
        </p:nvSpPr>
        <p:spPr>
          <a:xfrm>
            <a:off x="6263640" y="1417320"/>
            <a:ext cx="548640" cy="1371600"/>
          </a:xfrm>
          <a:prstGeom prst="rect">
            <a:avLst/>
          </a:prstGeom>
          <a:noFill/>
          <a:ln/>
        </p:spPr>
        <p:txBody>
          <a:bodyPr wrap="square" lIns="0" tIns="0" rIns="0" bIns="0" rtlCol="0" anchor="ctr"/>
          <a:lstStyle/>
          <a:p>
            <a:pPr algn="ctr" indent="0" marL="0">
              <a:buNone/>
            </a:pPr>
            <a:r>
              <a:rPr lang="en-US" sz="4000" b="1" dirty="0">
                <a:solidFill>
                  <a:srgbClr val="2E1065"/>
                </a:solidFill>
              </a:rPr>
              <a:t>=</a:t>
            </a:r>
            <a:endParaRPr lang="en-US" sz="4000" dirty="0"/>
          </a:p>
        </p:txBody>
      </p:sp>
      <p:sp>
        <p:nvSpPr>
          <p:cNvPr id="14" name="Shape 10"/>
          <p:cNvSpPr/>
          <p:nvPr/>
        </p:nvSpPr>
        <p:spPr>
          <a:xfrm>
            <a:off x="6858000" y="1417320"/>
            <a:ext cx="4782312" cy="1371600"/>
          </a:xfrm>
          <a:prstGeom prst="roundRect">
            <a:avLst>
              <a:gd name="adj" fmla="val 8000"/>
            </a:avLst>
          </a:prstGeom>
          <a:solidFill>
            <a:srgbClr val="7C3AED"/>
          </a:solidFill>
          <a:ln/>
          <a:effectLst>
            <a:outerShdw sx="100000" sy="100000" kx="0" ky="0" algn="bl" rotWithShape="0" blurRad="127000" dist="38100" dir="5400000">
              <a:srgbClr val="4C1D95">
                <a:alpha val="16000"/>
              </a:srgbClr>
            </a:outerShdw>
          </a:effectLst>
        </p:spPr>
      </p:sp>
      <p:sp>
        <p:nvSpPr>
          <p:cNvPr id="15" name="Text 11"/>
          <p:cNvSpPr txBox="1"/>
          <p:nvPr/>
        </p:nvSpPr>
        <p:spPr>
          <a:xfrm>
            <a:off x="6858000" y="1481328"/>
            <a:ext cx="4782312" cy="640080"/>
          </a:xfrm>
          <a:prstGeom prst="rect">
            <a:avLst/>
          </a:prstGeom>
          <a:noFill/>
          <a:ln/>
        </p:spPr>
        <p:txBody>
          <a:bodyPr wrap="square" lIns="0" tIns="0" rIns="0" bIns="0" rtlCol="0" anchor="ctr"/>
          <a:lstStyle/>
          <a:p>
            <a:pPr algn="ctr" indent="0" marL="0">
              <a:buNone/>
            </a:pPr>
            <a:r>
              <a:rPr lang="en-US" sz="2200" b="1" dirty="0">
                <a:solidFill>
                  <a:srgbClr val="FDE68A"/>
                </a:solidFill>
              </a:rPr>
              <a:t>TỔNG ĐIỂM TRẬN</a:t>
            </a:r>
            <a:endParaRPr lang="en-US" sz="2200" dirty="0"/>
          </a:p>
        </p:txBody>
      </p:sp>
      <p:sp>
        <p:nvSpPr>
          <p:cNvPr id="16" name="Text 12"/>
          <p:cNvSpPr txBox="1"/>
          <p:nvPr/>
        </p:nvSpPr>
        <p:spPr>
          <a:xfrm>
            <a:off x="6858000" y="2103120"/>
            <a:ext cx="4782312" cy="548640"/>
          </a:xfrm>
          <a:prstGeom prst="rect">
            <a:avLst/>
          </a:prstGeom>
          <a:noFill/>
          <a:ln/>
        </p:spPr>
        <p:txBody>
          <a:bodyPr wrap="square" lIns="0" tIns="0" rIns="0" bIns="0" rtlCol="0" anchor="t"/>
          <a:lstStyle/>
          <a:p>
            <a:pPr algn="ctr" indent="0" marL="0">
              <a:buNone/>
            </a:pPr>
            <a:r>
              <a:rPr lang="en-US" sz="1400" dirty="0">
                <a:solidFill>
                  <a:srgbClr val="FFFFFF"/>
                </a:solidFill>
              </a:rPr>
              <a:t>Đội cao hơn thắng cặp đấu, vào vòng trong</a:t>
            </a:r>
            <a:endParaRPr lang="en-US" sz="14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7863840" cy="914400"/>
        </p:xfrm>
        <a:graphic>
          <a:graphicData uri="http://schemas.openxmlformats.org/drawingml/2006/table">
            <a:tbl>
              <a:tblPr/>
              <a:tblGrid>
                <a:gridCol w="2743200"/>
                <a:gridCol w="1828800"/>
                <a:gridCol w="3291840"/>
              </a:tblGrid>
              <a:tr h="475488">
                <a:tc>
                  <a:txBody>
                    <a:bodyPr/>
                    <a:lstStyle/>
                    <a:p>
                      <a:pPr algn="ctr" indent="0" marL="0">
                        <a:buNone/>
                      </a:pPr>
                      <a:r>
                        <a:rPr lang="en-US" sz="1500" b="1" dirty="0">
                          <a:solidFill>
                            <a:srgbClr val="FFFFFF"/>
                          </a:solidFill>
                        </a:rPr>
                        <a:t>Kết quả 02 lượt (của một đội)</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500" b="1" dirty="0">
                          <a:solidFill>
                            <a:srgbClr val="FFFFFF"/>
                          </a:solidFill>
                        </a:rPr>
                        <a:t>Tổng điểm trận</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500" b="1" dirty="0">
                          <a:solidFill>
                            <a:srgbClr val="FFFFFF"/>
                          </a:solidFill>
                        </a:rPr>
                        <a:t>Xử lý</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475488">
                <a:tc>
                  <a:txBody>
                    <a:bodyPr/>
                    <a:lstStyle/>
                    <a:p>
                      <a:pPr algn="ctr" indent="0" marL="0">
                        <a:buNone/>
                      </a:pPr>
                      <a:r>
                        <a:rPr lang="en-US" sz="1500" dirty="0">
                          <a:solidFill>
                            <a:srgbClr val="2E1065"/>
                          </a:solidFill>
                        </a:rPr>
                        <a:t>Thắng – Thắng</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E1065"/>
                          </a:solidFill>
                        </a:rPr>
                        <a:t>6 – 0</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5803D"/>
                          </a:solidFill>
                        </a:rPr>
                        <a:t>Đội thắng cả 02 lượt đi tiếp</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2E1065"/>
                          </a:solidFill>
                        </a:rPr>
                        <a:t>Thắng – Hòa</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E1065"/>
                          </a:solidFill>
                        </a:rPr>
                        <a:t>4 – 1</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5803D"/>
                          </a:solidFill>
                        </a:rPr>
                        <a:t>Đội có 04 điểm đi tiếp</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2E1065"/>
                          </a:solidFill>
                        </a:rPr>
                        <a:t>Thắng – Thua</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E1065"/>
                          </a:solidFill>
                        </a:rPr>
                        <a:t>3 – 3</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B2777"/>
                          </a:solidFill>
                        </a:rPr>
                        <a:t>Hòa điểm trận → xét tiêu chí phân định</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2E1065"/>
                          </a:solidFill>
                        </a:rPr>
                        <a:t>Hòa – Hòa</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E1065"/>
                          </a:solidFill>
                        </a:rPr>
                        <a:t>2 – 2</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B2777"/>
                          </a:solidFill>
                        </a:rPr>
                        <a:t>Hòa điểm trận → xét tiêu chí phân định</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2E1065"/>
                          </a:solidFill>
                        </a:rPr>
                        <a:t>Hòa – Thua</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E1065"/>
                          </a:solidFill>
                        </a:rPr>
                        <a:t>1 – 4</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5803D"/>
                          </a:solidFill>
                        </a:rPr>
                        <a:t>Đội có 04 điểm đi tiếp</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18" name="Shape 13"/>
          <p:cNvSpPr/>
          <p:nvPr/>
        </p:nvSpPr>
        <p:spPr>
          <a:xfrm>
            <a:off x="8686800" y="3063240"/>
            <a:ext cx="2953512" cy="3200400"/>
          </a:xfrm>
          <a:prstGeom prst="roundRect">
            <a:avLst>
              <a:gd name="adj" fmla="val 3715"/>
            </a:avLst>
          </a:prstGeom>
          <a:solidFill>
            <a:srgbClr val="FFFFFF"/>
          </a:solidFill>
          <a:ln/>
          <a:effectLst>
            <a:outerShdw sx="100000" sy="100000" kx="0" ky="0" algn="bl" rotWithShape="0" blurRad="127000" dist="38100" dir="5400000">
              <a:srgbClr val="4C1D95">
                <a:alpha val="16000"/>
              </a:srgbClr>
            </a:outerShdw>
          </a:effectLst>
        </p:spPr>
      </p:sp>
      <p:sp>
        <p:nvSpPr>
          <p:cNvPr id="19" name="Shape 14"/>
          <p:cNvSpPr/>
          <p:nvPr/>
        </p:nvSpPr>
        <p:spPr>
          <a:xfrm>
            <a:off x="9692640" y="3246120"/>
            <a:ext cx="914400" cy="914400"/>
          </a:xfrm>
          <a:prstGeom prst="ellipse">
            <a:avLst/>
          </a:prstGeom>
          <a:solidFill>
            <a:srgbClr val="EDE4FF"/>
          </a:solidFill>
          <a:ln/>
        </p:spPr>
      </p:sp>
      <p:pic>
        <p:nvPicPr>
          <p:cNvPr id="20" name="Image 1" descr="Biểu tượng minh họa">    </p:cNvPr>
          <p:cNvPicPr>
            <a:picLocks noChangeAspect="1"/>
          </p:cNvPicPr>
          <p:nvPr/>
        </p:nvPicPr>
        <p:blipFill>
          <a:blip r:embed="rId2"/>
          <a:stretch>
            <a:fillRect/>
          </a:stretch>
        </p:blipFill>
        <p:spPr>
          <a:xfrm>
            <a:off x="9857232" y="3410712"/>
            <a:ext cx="585216" cy="585216"/>
          </a:xfrm>
          <a:prstGeom prst="rect">
            <a:avLst/>
          </a:prstGeom>
        </p:spPr>
      </p:pic>
      <p:sp>
        <p:nvSpPr>
          <p:cNvPr id="21" name="Text 15"/>
          <p:cNvSpPr txBox="1"/>
          <p:nvPr/>
        </p:nvSpPr>
        <p:spPr>
          <a:xfrm>
            <a:off x="8869680" y="4297680"/>
            <a:ext cx="2606040" cy="1874520"/>
          </a:xfrm>
          <a:prstGeom prst="rect">
            <a:avLst/>
          </a:prstGeom>
          <a:noFill/>
          <a:ln/>
        </p:spPr>
        <p:txBody>
          <a:bodyPr wrap="square" lIns="0" tIns="0" rIns="0" bIns="0" rtlCol="0" anchor="t"/>
          <a:lstStyle/>
          <a:p>
            <a:pPr algn="ctr" indent="0" marL="0">
              <a:buNone/>
            </a:pPr>
            <a:r>
              <a:rPr lang="en-US" sz="1400" dirty="0">
                <a:solidFill>
                  <a:srgbClr val="2E1065"/>
                </a:solidFill>
              </a:rPr>
              <a:t>Tổ Thư ký tổng hợp kết quả từng lượt, từng cặp vào Bảng tổng hợp (Phụ lục 04) và công bố công khai trước vòng tiếp theo.</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PHÂN ĐỊNH</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Khi hai đội hòa nhau sau 02 lượt</a:t>
            </a:r>
            <a:endParaRPr lang="en-US" sz="3000" dirty="0"/>
          </a:p>
        </p:txBody>
      </p:sp>
      <p:sp>
        <p:nvSpPr>
          <p:cNvPr id="5" name="Shape 2"/>
          <p:cNvSpPr/>
          <p:nvPr/>
        </p:nvSpPr>
        <p:spPr>
          <a:xfrm>
            <a:off x="548640" y="3703320"/>
            <a:ext cx="2075688" cy="2560320"/>
          </a:xfrm>
          <a:prstGeom prst="roundRect">
            <a:avLst>
              <a:gd name="adj" fmla="val 5286"/>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13232" y="3867912"/>
            <a:ext cx="502920" cy="502920"/>
          </a:xfrm>
          <a:prstGeom prst="ellipse">
            <a:avLst/>
          </a:prstGeom>
          <a:solidFill>
            <a:srgbClr val="7C3AED"/>
          </a:solidFill>
          <a:ln/>
        </p:spPr>
      </p:sp>
      <p:sp>
        <p:nvSpPr>
          <p:cNvPr id="7" name="Text 4"/>
          <p:cNvSpPr txBox="1"/>
          <p:nvPr/>
        </p:nvSpPr>
        <p:spPr>
          <a:xfrm>
            <a:off x="713232" y="38679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pic>
        <p:nvPicPr>
          <p:cNvPr id="8" name="Image 0" descr="Biểu tượng minh họa">    </p:cNvPr>
          <p:cNvPicPr>
            <a:picLocks noChangeAspect="1"/>
          </p:cNvPicPr>
          <p:nvPr/>
        </p:nvPicPr>
        <p:blipFill>
          <a:blip r:embed="rId1"/>
          <a:stretch>
            <a:fillRect/>
          </a:stretch>
        </p:blipFill>
        <p:spPr>
          <a:xfrm>
            <a:off x="1892808" y="3840480"/>
            <a:ext cx="566928" cy="566928"/>
          </a:xfrm>
          <a:prstGeom prst="rect">
            <a:avLst/>
          </a:prstGeom>
        </p:spPr>
      </p:pic>
      <p:sp>
        <p:nvSpPr>
          <p:cNvPr id="9" name="Text 5"/>
          <p:cNvSpPr txBox="1"/>
          <p:nvPr/>
        </p:nvSpPr>
        <p:spPr>
          <a:xfrm>
            <a:off x="685800" y="4480560"/>
            <a:ext cx="1801368" cy="640080"/>
          </a:xfrm>
          <a:prstGeom prst="rect">
            <a:avLst/>
          </a:prstGeom>
          <a:noFill/>
          <a:ln/>
        </p:spPr>
        <p:txBody>
          <a:bodyPr wrap="square" lIns="0" tIns="0" rIns="0" bIns="0" rtlCol="0" anchor="t"/>
          <a:lstStyle/>
          <a:p>
            <a:pPr indent="0" marL="0">
              <a:buNone/>
            </a:pPr>
            <a:r>
              <a:rPr lang="en-US" sz="1600" b="1" dirty="0">
                <a:solidFill>
                  <a:srgbClr val="7C3AED"/>
                </a:solidFill>
              </a:rPr>
              <a:t>Tổng điểm nhiệm vụ</a:t>
            </a:r>
            <a:endParaRPr lang="en-US" sz="1600" dirty="0"/>
          </a:p>
        </p:txBody>
      </p:sp>
      <p:sp>
        <p:nvSpPr>
          <p:cNvPr id="10" name="Text 6"/>
          <p:cNvSpPr txBox="1"/>
          <p:nvPr/>
        </p:nvSpPr>
        <p:spPr>
          <a:xfrm>
            <a:off x="685800" y="5120640"/>
            <a:ext cx="1801368" cy="914400"/>
          </a:xfrm>
          <a:prstGeom prst="rect">
            <a:avLst/>
          </a:prstGeom>
          <a:noFill/>
          <a:ln/>
        </p:spPr>
        <p:txBody>
          <a:bodyPr wrap="square" lIns="0" tIns="0" rIns="0" bIns="0" rtlCol="0" anchor="t"/>
          <a:lstStyle/>
          <a:p>
            <a:pPr indent="0" marL="0">
              <a:buNone/>
            </a:pPr>
            <a:r>
              <a:rPr lang="en-US" sz="1300" dirty="0">
                <a:solidFill>
                  <a:srgbClr val="2E1065"/>
                </a:solidFill>
              </a:rPr>
              <a:t>Của cả 02 lượt – đội cao hơn thắng</a:t>
            </a:r>
            <a:endParaRPr lang="en-US" sz="1300" dirty="0"/>
          </a:p>
        </p:txBody>
      </p:sp>
      <p:sp>
        <p:nvSpPr>
          <p:cNvPr id="11" name="Shape 7"/>
          <p:cNvSpPr/>
          <p:nvPr/>
        </p:nvSpPr>
        <p:spPr>
          <a:xfrm>
            <a:off x="2802636" y="3154680"/>
            <a:ext cx="2075688" cy="3108960"/>
          </a:xfrm>
          <a:prstGeom prst="roundRect">
            <a:avLst>
              <a:gd name="adj" fmla="val 5286"/>
            </a:avLst>
          </a:prstGeom>
          <a:solidFill>
            <a:srgbClr val="FFFFFF"/>
          </a:solidFill>
          <a:ln/>
          <a:effectLst>
            <a:outerShdw sx="100000" sy="100000" kx="0" ky="0" algn="bl" rotWithShape="0" blurRad="127000" dist="38100" dir="5400000">
              <a:srgbClr val="4C1D95">
                <a:alpha val="16000"/>
              </a:srgbClr>
            </a:outerShdw>
          </a:effectLst>
        </p:spPr>
      </p:sp>
      <p:sp>
        <p:nvSpPr>
          <p:cNvPr id="12" name="Shape 8"/>
          <p:cNvSpPr/>
          <p:nvPr/>
        </p:nvSpPr>
        <p:spPr>
          <a:xfrm>
            <a:off x="2967228" y="3319272"/>
            <a:ext cx="502920" cy="502920"/>
          </a:xfrm>
          <a:prstGeom prst="ellipse">
            <a:avLst/>
          </a:prstGeom>
          <a:solidFill>
            <a:srgbClr val="7C3AED"/>
          </a:solidFill>
          <a:ln/>
        </p:spPr>
      </p:sp>
      <p:sp>
        <p:nvSpPr>
          <p:cNvPr id="13" name="Text 9"/>
          <p:cNvSpPr txBox="1"/>
          <p:nvPr/>
        </p:nvSpPr>
        <p:spPr>
          <a:xfrm>
            <a:off x="2967228" y="33192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pic>
        <p:nvPicPr>
          <p:cNvPr id="14" name="Image 1" descr="Biểu tượng minh họa">    </p:cNvPr>
          <p:cNvPicPr>
            <a:picLocks noChangeAspect="1"/>
          </p:cNvPicPr>
          <p:nvPr/>
        </p:nvPicPr>
        <p:blipFill>
          <a:blip r:embed="rId2"/>
          <a:stretch>
            <a:fillRect/>
          </a:stretch>
        </p:blipFill>
        <p:spPr>
          <a:xfrm>
            <a:off x="4146804" y="3291840"/>
            <a:ext cx="566928" cy="566928"/>
          </a:xfrm>
          <a:prstGeom prst="rect">
            <a:avLst/>
          </a:prstGeom>
        </p:spPr>
      </p:pic>
      <p:sp>
        <p:nvSpPr>
          <p:cNvPr id="15" name="Text 10"/>
          <p:cNvSpPr txBox="1"/>
          <p:nvPr/>
        </p:nvSpPr>
        <p:spPr>
          <a:xfrm>
            <a:off x="2939796" y="3931920"/>
            <a:ext cx="1801368" cy="640080"/>
          </a:xfrm>
          <a:prstGeom prst="rect">
            <a:avLst/>
          </a:prstGeom>
          <a:noFill/>
          <a:ln/>
        </p:spPr>
        <p:txBody>
          <a:bodyPr wrap="square" lIns="0" tIns="0" rIns="0" bIns="0" rtlCol="0" anchor="t"/>
          <a:lstStyle/>
          <a:p>
            <a:pPr indent="0" marL="0">
              <a:buNone/>
            </a:pPr>
            <a:r>
              <a:rPr lang="en-US" sz="1600" b="1" dirty="0">
                <a:solidFill>
                  <a:srgbClr val="7C3AED"/>
                </a:solidFill>
              </a:rPr>
              <a:t>Tổng Thời gian hoàn thành</a:t>
            </a:r>
            <a:endParaRPr lang="en-US" sz="1600" dirty="0"/>
          </a:p>
        </p:txBody>
      </p:sp>
      <p:sp>
        <p:nvSpPr>
          <p:cNvPr id="16" name="Text 11"/>
          <p:cNvSpPr txBox="1"/>
          <p:nvPr/>
        </p:nvSpPr>
        <p:spPr>
          <a:xfrm>
            <a:off x="2939796" y="4572000"/>
            <a:ext cx="1801368" cy="914400"/>
          </a:xfrm>
          <a:prstGeom prst="rect">
            <a:avLst/>
          </a:prstGeom>
          <a:noFill/>
          <a:ln/>
        </p:spPr>
        <p:txBody>
          <a:bodyPr wrap="square" lIns="0" tIns="0" rIns="0" bIns="0" rtlCol="0" anchor="t"/>
          <a:lstStyle/>
          <a:p>
            <a:pPr indent="0" marL="0">
              <a:buNone/>
            </a:pPr>
            <a:r>
              <a:rPr lang="en-US" sz="1300" dirty="0">
                <a:solidFill>
                  <a:srgbClr val="2E1065"/>
                </a:solidFill>
              </a:rPr>
              <a:t>Của 02 lượt – đội ít thời gian hơn thắng</a:t>
            </a:r>
            <a:endParaRPr lang="en-US" sz="1300" dirty="0"/>
          </a:p>
        </p:txBody>
      </p:sp>
      <p:sp>
        <p:nvSpPr>
          <p:cNvPr id="17" name="Shape 12"/>
          <p:cNvSpPr/>
          <p:nvPr/>
        </p:nvSpPr>
        <p:spPr>
          <a:xfrm>
            <a:off x="5056632" y="2606040"/>
            <a:ext cx="2075688" cy="3657600"/>
          </a:xfrm>
          <a:prstGeom prst="roundRect">
            <a:avLst>
              <a:gd name="adj" fmla="val 5286"/>
            </a:avLst>
          </a:prstGeom>
          <a:solidFill>
            <a:srgbClr val="FFFFFF"/>
          </a:solidFill>
          <a:ln/>
          <a:effectLst>
            <a:outerShdw sx="100000" sy="100000" kx="0" ky="0" algn="bl" rotWithShape="0" blurRad="127000" dist="38100" dir="5400000">
              <a:srgbClr val="4C1D95">
                <a:alpha val="16000"/>
              </a:srgbClr>
            </a:outerShdw>
          </a:effectLst>
        </p:spPr>
      </p:sp>
      <p:sp>
        <p:nvSpPr>
          <p:cNvPr id="18" name="Shape 13"/>
          <p:cNvSpPr/>
          <p:nvPr/>
        </p:nvSpPr>
        <p:spPr>
          <a:xfrm>
            <a:off x="5221224" y="2770632"/>
            <a:ext cx="502920" cy="502920"/>
          </a:xfrm>
          <a:prstGeom prst="ellipse">
            <a:avLst/>
          </a:prstGeom>
          <a:solidFill>
            <a:srgbClr val="7C3AED"/>
          </a:solidFill>
          <a:ln/>
        </p:spPr>
      </p:sp>
      <p:sp>
        <p:nvSpPr>
          <p:cNvPr id="19" name="Text 14"/>
          <p:cNvSpPr txBox="1"/>
          <p:nvPr/>
        </p:nvSpPr>
        <p:spPr>
          <a:xfrm>
            <a:off x="5221224" y="27706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pic>
        <p:nvPicPr>
          <p:cNvPr id="20" name="Image 2" descr="Biểu tượng minh họa">    </p:cNvPr>
          <p:cNvPicPr>
            <a:picLocks noChangeAspect="1"/>
          </p:cNvPicPr>
          <p:nvPr/>
        </p:nvPicPr>
        <p:blipFill>
          <a:blip r:embed="rId3"/>
          <a:stretch>
            <a:fillRect/>
          </a:stretch>
        </p:blipFill>
        <p:spPr>
          <a:xfrm>
            <a:off x="6400800" y="2743200"/>
            <a:ext cx="566928" cy="566928"/>
          </a:xfrm>
          <a:prstGeom prst="rect">
            <a:avLst/>
          </a:prstGeom>
        </p:spPr>
      </p:pic>
      <p:sp>
        <p:nvSpPr>
          <p:cNvPr id="21" name="Text 15"/>
          <p:cNvSpPr txBox="1"/>
          <p:nvPr/>
        </p:nvSpPr>
        <p:spPr>
          <a:xfrm>
            <a:off x="5193792" y="3383280"/>
            <a:ext cx="1801368" cy="640080"/>
          </a:xfrm>
          <a:prstGeom prst="rect">
            <a:avLst/>
          </a:prstGeom>
          <a:noFill/>
          <a:ln/>
        </p:spPr>
        <p:txBody>
          <a:bodyPr wrap="square" lIns="0" tIns="0" rIns="0" bIns="0" rtlCol="0" anchor="t"/>
          <a:lstStyle/>
          <a:p>
            <a:pPr indent="0" marL="0">
              <a:buNone/>
            </a:pPr>
            <a:r>
              <a:rPr lang="en-US" sz="1600" b="1" dirty="0">
                <a:solidFill>
                  <a:srgbClr val="7C3AED"/>
                </a:solidFill>
              </a:rPr>
              <a:t>Lượt đấu phụ</a:t>
            </a:r>
            <a:endParaRPr lang="en-US" sz="1600" dirty="0"/>
          </a:p>
        </p:txBody>
      </p:sp>
      <p:sp>
        <p:nvSpPr>
          <p:cNvPr id="22" name="Text 16"/>
          <p:cNvSpPr txBox="1"/>
          <p:nvPr/>
        </p:nvSpPr>
        <p:spPr>
          <a:xfrm>
            <a:off x="5193792" y="4023360"/>
            <a:ext cx="1801368" cy="914400"/>
          </a:xfrm>
          <a:prstGeom prst="rect">
            <a:avLst/>
          </a:prstGeom>
          <a:noFill/>
          <a:ln/>
        </p:spPr>
        <p:txBody>
          <a:bodyPr wrap="square" lIns="0" tIns="0" rIns="0" bIns="0" rtlCol="0" anchor="t"/>
          <a:lstStyle/>
          <a:p>
            <a:pPr indent="0" marL="0">
              <a:buNone/>
            </a:pPr>
            <a:r>
              <a:rPr lang="en-US" sz="1300" dirty="0">
                <a:solidFill>
                  <a:srgbClr val="2E1065"/>
                </a:solidFill>
              </a:rPr>
              <a:t>01 lượt tối đa 03 phút; phần sân do bốc thăm</a:t>
            </a:r>
            <a:endParaRPr lang="en-US" sz="1300" dirty="0"/>
          </a:p>
        </p:txBody>
      </p:sp>
      <p:sp>
        <p:nvSpPr>
          <p:cNvPr id="23" name="Shape 17"/>
          <p:cNvSpPr/>
          <p:nvPr/>
        </p:nvSpPr>
        <p:spPr>
          <a:xfrm>
            <a:off x="7310628" y="2057400"/>
            <a:ext cx="2075688" cy="4206240"/>
          </a:xfrm>
          <a:prstGeom prst="roundRect">
            <a:avLst>
              <a:gd name="adj" fmla="val 5286"/>
            </a:avLst>
          </a:prstGeom>
          <a:solidFill>
            <a:srgbClr val="FFFFFF"/>
          </a:solidFill>
          <a:ln/>
          <a:effectLst>
            <a:outerShdw sx="100000" sy="100000" kx="0" ky="0" algn="bl" rotWithShape="0" blurRad="127000" dist="38100" dir="5400000">
              <a:srgbClr val="4C1D95">
                <a:alpha val="16000"/>
              </a:srgbClr>
            </a:outerShdw>
          </a:effectLst>
        </p:spPr>
      </p:sp>
      <p:sp>
        <p:nvSpPr>
          <p:cNvPr id="24" name="Shape 18"/>
          <p:cNvSpPr/>
          <p:nvPr/>
        </p:nvSpPr>
        <p:spPr>
          <a:xfrm>
            <a:off x="7475220" y="2221992"/>
            <a:ext cx="502920" cy="502920"/>
          </a:xfrm>
          <a:prstGeom prst="ellipse">
            <a:avLst/>
          </a:prstGeom>
          <a:solidFill>
            <a:srgbClr val="7C3AED"/>
          </a:solidFill>
          <a:ln/>
        </p:spPr>
      </p:sp>
      <p:sp>
        <p:nvSpPr>
          <p:cNvPr id="25" name="Text 19"/>
          <p:cNvSpPr txBox="1"/>
          <p:nvPr/>
        </p:nvSpPr>
        <p:spPr>
          <a:xfrm>
            <a:off x="7475220" y="22219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pic>
        <p:nvPicPr>
          <p:cNvPr id="26" name="Image 3" descr="Biểu tượng minh họa">    </p:cNvPr>
          <p:cNvPicPr>
            <a:picLocks noChangeAspect="1"/>
          </p:cNvPicPr>
          <p:nvPr/>
        </p:nvPicPr>
        <p:blipFill>
          <a:blip r:embed="rId4"/>
          <a:stretch>
            <a:fillRect/>
          </a:stretch>
        </p:blipFill>
        <p:spPr>
          <a:xfrm>
            <a:off x="8654796" y="2194560"/>
            <a:ext cx="566928" cy="566928"/>
          </a:xfrm>
          <a:prstGeom prst="rect">
            <a:avLst/>
          </a:prstGeom>
        </p:spPr>
      </p:pic>
      <p:sp>
        <p:nvSpPr>
          <p:cNvPr id="27" name="Text 20"/>
          <p:cNvSpPr txBox="1"/>
          <p:nvPr/>
        </p:nvSpPr>
        <p:spPr>
          <a:xfrm>
            <a:off x="7447788" y="2834640"/>
            <a:ext cx="1801368" cy="640080"/>
          </a:xfrm>
          <a:prstGeom prst="rect">
            <a:avLst/>
          </a:prstGeom>
          <a:noFill/>
          <a:ln/>
        </p:spPr>
        <p:txBody>
          <a:bodyPr wrap="square" lIns="0" tIns="0" rIns="0" bIns="0" rtlCol="0" anchor="t"/>
          <a:lstStyle/>
          <a:p>
            <a:pPr indent="0" marL="0">
              <a:buNone/>
            </a:pPr>
            <a:r>
              <a:rPr lang="en-US" sz="1600" b="1" dirty="0">
                <a:solidFill>
                  <a:srgbClr val="7C3AED"/>
                </a:solidFill>
              </a:rPr>
              <a:t>Số lỗi vi phạm</a:t>
            </a:r>
            <a:endParaRPr lang="en-US" sz="1600" dirty="0"/>
          </a:p>
        </p:txBody>
      </p:sp>
      <p:sp>
        <p:nvSpPr>
          <p:cNvPr id="28" name="Text 21"/>
          <p:cNvSpPr txBox="1"/>
          <p:nvPr/>
        </p:nvSpPr>
        <p:spPr>
          <a:xfrm>
            <a:off x="7447788" y="3474720"/>
            <a:ext cx="1801368" cy="914400"/>
          </a:xfrm>
          <a:prstGeom prst="rect">
            <a:avLst/>
          </a:prstGeom>
          <a:noFill/>
          <a:ln/>
        </p:spPr>
        <p:txBody>
          <a:bodyPr wrap="square" lIns="0" tIns="0" rIns="0" bIns="0" rtlCol="0" anchor="t"/>
          <a:lstStyle/>
          <a:p>
            <a:pPr indent="0" marL="0">
              <a:buNone/>
            </a:pPr>
            <a:r>
              <a:rPr lang="en-US" sz="1300" dirty="0">
                <a:solidFill>
                  <a:srgbClr val="2E1065"/>
                </a:solidFill>
              </a:rPr>
              <a:t>Đội ít lần bị trừ điểm hơn (tính cả 03 lượt)</a:t>
            </a:r>
            <a:endParaRPr lang="en-US" sz="1300" dirty="0"/>
          </a:p>
        </p:txBody>
      </p:sp>
      <p:sp>
        <p:nvSpPr>
          <p:cNvPr id="29" name="Shape 22"/>
          <p:cNvSpPr/>
          <p:nvPr/>
        </p:nvSpPr>
        <p:spPr>
          <a:xfrm>
            <a:off x="9564624" y="1508760"/>
            <a:ext cx="2075688" cy="4754880"/>
          </a:xfrm>
          <a:prstGeom prst="roundRect">
            <a:avLst>
              <a:gd name="adj" fmla="val 5286"/>
            </a:avLst>
          </a:prstGeom>
          <a:solidFill>
            <a:srgbClr val="7C3AED"/>
          </a:solidFill>
          <a:ln/>
          <a:effectLst>
            <a:outerShdw sx="100000" sy="100000" kx="0" ky="0" algn="bl" rotWithShape="0" blurRad="127000" dist="38100" dir="5400000">
              <a:srgbClr val="4C1D95">
                <a:alpha val="16000"/>
              </a:srgbClr>
            </a:outerShdw>
          </a:effectLst>
        </p:spPr>
      </p:sp>
      <p:sp>
        <p:nvSpPr>
          <p:cNvPr id="30" name="Shape 23"/>
          <p:cNvSpPr/>
          <p:nvPr/>
        </p:nvSpPr>
        <p:spPr>
          <a:xfrm>
            <a:off x="9729216" y="1673352"/>
            <a:ext cx="502920" cy="502920"/>
          </a:xfrm>
          <a:prstGeom prst="ellipse">
            <a:avLst/>
          </a:prstGeom>
          <a:solidFill>
            <a:srgbClr val="FDE68A"/>
          </a:solidFill>
          <a:ln/>
        </p:spPr>
      </p:sp>
      <p:sp>
        <p:nvSpPr>
          <p:cNvPr id="31" name="Text 24"/>
          <p:cNvSpPr txBox="1"/>
          <p:nvPr/>
        </p:nvSpPr>
        <p:spPr>
          <a:xfrm>
            <a:off x="9729216" y="1673352"/>
            <a:ext cx="502920" cy="502920"/>
          </a:xfrm>
          <a:prstGeom prst="rect">
            <a:avLst/>
          </a:prstGeom>
          <a:noFill/>
          <a:ln/>
        </p:spPr>
        <p:txBody>
          <a:bodyPr wrap="square" lIns="0" tIns="0" rIns="0" bIns="0" rtlCol="0" anchor="ctr"/>
          <a:lstStyle/>
          <a:p>
            <a:pPr algn="ctr" indent="0" marL="0">
              <a:buNone/>
            </a:pPr>
            <a:r>
              <a:rPr lang="en-US" sz="1800" b="1" dirty="0">
                <a:solidFill>
                  <a:srgbClr val="2E1065"/>
                </a:solidFill>
              </a:rPr>
              <a:t>5</a:t>
            </a:r>
            <a:endParaRPr lang="en-US" sz="1800" dirty="0"/>
          </a:p>
        </p:txBody>
      </p:sp>
      <p:pic>
        <p:nvPicPr>
          <p:cNvPr id="32" name="Image 4" descr="Biểu tượng minh họa">    </p:cNvPr>
          <p:cNvPicPr>
            <a:picLocks noChangeAspect="1"/>
          </p:cNvPicPr>
          <p:nvPr/>
        </p:nvPicPr>
        <p:blipFill>
          <a:blip r:embed="rId5"/>
          <a:stretch>
            <a:fillRect/>
          </a:stretch>
        </p:blipFill>
        <p:spPr>
          <a:xfrm>
            <a:off x="10908792" y="1645920"/>
            <a:ext cx="566928" cy="566928"/>
          </a:xfrm>
          <a:prstGeom prst="rect">
            <a:avLst/>
          </a:prstGeom>
        </p:spPr>
      </p:pic>
      <p:sp>
        <p:nvSpPr>
          <p:cNvPr id="33" name="Text 25"/>
          <p:cNvSpPr txBox="1"/>
          <p:nvPr/>
        </p:nvSpPr>
        <p:spPr>
          <a:xfrm>
            <a:off x="9701784" y="2286000"/>
            <a:ext cx="1801368" cy="640080"/>
          </a:xfrm>
          <a:prstGeom prst="rect">
            <a:avLst/>
          </a:prstGeom>
          <a:noFill/>
          <a:ln/>
        </p:spPr>
        <p:txBody>
          <a:bodyPr wrap="square" lIns="0" tIns="0" rIns="0" bIns="0" rtlCol="0" anchor="t"/>
          <a:lstStyle/>
          <a:p>
            <a:pPr indent="0" marL="0">
              <a:buNone/>
            </a:pPr>
            <a:r>
              <a:rPr lang="en-US" sz="1600" b="1" dirty="0">
                <a:solidFill>
                  <a:srgbClr val="FDE68A"/>
                </a:solidFill>
              </a:rPr>
              <a:t>Bốc thăm</a:t>
            </a:r>
            <a:endParaRPr lang="en-US" sz="1600" dirty="0"/>
          </a:p>
        </p:txBody>
      </p:sp>
      <p:sp>
        <p:nvSpPr>
          <p:cNvPr id="34" name="Text 26"/>
          <p:cNvSpPr txBox="1"/>
          <p:nvPr/>
        </p:nvSpPr>
        <p:spPr>
          <a:xfrm>
            <a:off x="9701784" y="2926080"/>
            <a:ext cx="1801368" cy="914400"/>
          </a:xfrm>
          <a:prstGeom prst="rect">
            <a:avLst/>
          </a:prstGeom>
          <a:noFill/>
          <a:ln/>
        </p:spPr>
        <p:txBody>
          <a:bodyPr wrap="square" lIns="0" tIns="0" rIns="0" bIns="0" rtlCol="0" anchor="t"/>
          <a:lstStyle/>
          <a:p>
            <a:pPr indent="0" marL="0">
              <a:buNone/>
            </a:pPr>
            <a:r>
              <a:rPr lang="en-US" sz="1300" dirty="0">
                <a:solidFill>
                  <a:srgbClr val="FFFFFF"/>
                </a:solidFill>
              </a:rPr>
              <a:t>Có chứng kiến, lập biên bản – kết quả cuối cùng</a:t>
            </a:r>
            <a:endParaRPr lang="en-US" sz="1300" dirty="0"/>
          </a:p>
        </p:txBody>
      </p:sp>
      <p:sp>
        <p:nvSpPr>
          <p:cNvPr id="35" name="Text 27"/>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600" b="1" dirty="0">
                <a:solidFill>
                  <a:srgbClr val="7C3AED"/>
                </a:solidFill>
              </a:rPr>
              <a:t>Thứ tự áp dụng: tiêu chí 1 → 5</a:t>
            </a:r>
            <a:endParaRPr lang="en-US" sz="1600" dirty="0"/>
          </a:p>
        </p:txBody>
      </p:sp>
      <p:sp>
        <p:nvSpPr>
          <p:cNvPr id="36" name="Text 28"/>
          <p:cNvSpPr txBox="1"/>
          <p:nvPr/>
        </p:nvSpPr>
        <p:spPr>
          <a:xfrm>
            <a:off x="548640" y="1691640"/>
            <a:ext cx="5486400" cy="365760"/>
          </a:xfrm>
          <a:prstGeom prst="rect">
            <a:avLst/>
          </a:prstGeom>
          <a:noFill/>
          <a:ln/>
        </p:spPr>
        <p:txBody>
          <a:bodyPr wrap="square" lIns="0" tIns="0" rIns="0" bIns="0" rtlCol="0" anchor="t"/>
          <a:lstStyle/>
          <a:p>
            <a:pPr indent="0" marL="0">
              <a:buNone/>
            </a:pPr>
            <a:r>
              <a:rPr lang="en-US" sz="1400" i="1" dirty="0">
                <a:solidFill>
                  <a:srgbClr val="5B4B8A"/>
                </a:solidFill>
              </a:rPr>
              <a:t>Dừng ngay khi đã phân định được đội thắng</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SỰ CỐ KỸ THUẬT</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Xử lý khi robot gặp sự cố</a:t>
            </a:r>
            <a:endParaRPr lang="en-US" sz="3000" dirty="0"/>
          </a:p>
        </p:txBody>
      </p:sp>
      <p:sp>
        <p:nvSpPr>
          <p:cNvPr id="5" name="Text 2"/>
          <p:cNvSpPr txBox="1"/>
          <p:nvPr/>
        </p:nvSpPr>
        <p:spPr>
          <a:xfrm>
            <a:off x="548640" y="1325880"/>
            <a:ext cx="1280160" cy="457200"/>
          </a:xfrm>
          <a:prstGeom prst="rect">
            <a:avLst/>
          </a:prstGeom>
          <a:noFill/>
          <a:ln/>
        </p:spPr>
        <p:txBody>
          <a:bodyPr wrap="square" lIns="0" tIns="0" rIns="0" bIns="0" rtlCol="0" anchor="ctr"/>
          <a:lstStyle/>
          <a:p>
            <a:pPr indent="0" marL="0">
              <a:buNone/>
            </a:pPr>
            <a:r>
              <a:rPr lang="en-US" sz="1600" b="1" dirty="0">
                <a:solidFill>
                  <a:srgbClr val="7C3AED"/>
                </a:solidFill>
              </a:rPr>
              <a:t>Sự cố là:</a:t>
            </a:r>
            <a:endParaRPr lang="en-US" sz="1600" dirty="0"/>
          </a:p>
        </p:txBody>
      </p:sp>
      <p:sp>
        <p:nvSpPr>
          <p:cNvPr id="6" name="Shape 3"/>
          <p:cNvSpPr/>
          <p:nvPr/>
        </p:nvSpPr>
        <p:spPr>
          <a:xfrm>
            <a:off x="1783080" y="1353312"/>
            <a:ext cx="1536192" cy="402336"/>
          </a:xfrm>
          <a:prstGeom prst="roundRect">
            <a:avLst>
              <a:gd name="adj" fmla="val 50000"/>
            </a:avLst>
          </a:prstGeom>
          <a:solidFill>
            <a:srgbClr val="FFFFFF"/>
          </a:solidFill>
          <a:ln w="12700">
            <a:solidFill>
              <a:srgbClr val="DDD0FF"/>
            </a:solidFill>
            <a:prstDash val="solid"/>
          </a:ln>
        </p:spPr>
      </p:sp>
      <p:sp>
        <p:nvSpPr>
          <p:cNvPr id="7" name="Text 4"/>
          <p:cNvSpPr txBox="1"/>
          <p:nvPr/>
        </p:nvSpPr>
        <p:spPr>
          <a:xfrm>
            <a:off x="178308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Kẹt cơ cấu gắp</a:t>
            </a:r>
            <a:endParaRPr lang="en-US" sz="1300" dirty="0"/>
          </a:p>
        </p:txBody>
      </p:sp>
      <p:sp>
        <p:nvSpPr>
          <p:cNvPr id="8" name="Shape 5"/>
          <p:cNvSpPr/>
          <p:nvPr/>
        </p:nvSpPr>
        <p:spPr>
          <a:xfrm>
            <a:off x="3429000" y="1353312"/>
            <a:ext cx="1536192" cy="402336"/>
          </a:xfrm>
          <a:prstGeom prst="roundRect">
            <a:avLst>
              <a:gd name="adj" fmla="val 50000"/>
            </a:avLst>
          </a:prstGeom>
          <a:solidFill>
            <a:srgbClr val="FFFFFF"/>
          </a:solidFill>
          <a:ln w="12700">
            <a:solidFill>
              <a:srgbClr val="DDD0FF"/>
            </a:solidFill>
            <a:prstDash val="solid"/>
          </a:ln>
        </p:spPr>
      </p:sp>
      <p:sp>
        <p:nvSpPr>
          <p:cNvPr id="9" name="Text 6"/>
          <p:cNvSpPr txBox="1"/>
          <p:nvPr/>
        </p:nvSpPr>
        <p:spPr>
          <a:xfrm>
            <a:off x="342900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Mất kết nối</a:t>
            </a:r>
            <a:endParaRPr lang="en-US" sz="1300" dirty="0"/>
          </a:p>
        </p:txBody>
      </p:sp>
      <p:sp>
        <p:nvSpPr>
          <p:cNvPr id="10" name="Shape 7"/>
          <p:cNvSpPr/>
          <p:nvPr/>
        </p:nvSpPr>
        <p:spPr>
          <a:xfrm>
            <a:off x="5074920" y="1353312"/>
            <a:ext cx="1536192" cy="402336"/>
          </a:xfrm>
          <a:prstGeom prst="roundRect">
            <a:avLst>
              <a:gd name="adj" fmla="val 50000"/>
            </a:avLst>
          </a:prstGeom>
          <a:solidFill>
            <a:srgbClr val="FFFFFF"/>
          </a:solidFill>
          <a:ln w="12700">
            <a:solidFill>
              <a:srgbClr val="DDD0FF"/>
            </a:solidFill>
            <a:prstDash val="solid"/>
          </a:ln>
        </p:spPr>
      </p:sp>
      <p:sp>
        <p:nvSpPr>
          <p:cNvPr id="11" name="Text 8"/>
          <p:cNvSpPr txBox="1"/>
          <p:nvPr/>
        </p:nvSpPr>
        <p:spPr>
          <a:xfrm>
            <a:off x="507492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Lật robot</a:t>
            </a:r>
            <a:endParaRPr lang="en-US" sz="1300" dirty="0"/>
          </a:p>
        </p:txBody>
      </p:sp>
      <p:sp>
        <p:nvSpPr>
          <p:cNvPr id="12" name="Shape 9"/>
          <p:cNvSpPr/>
          <p:nvPr/>
        </p:nvSpPr>
        <p:spPr>
          <a:xfrm>
            <a:off x="6720840" y="1353312"/>
            <a:ext cx="1536192" cy="402336"/>
          </a:xfrm>
          <a:prstGeom prst="roundRect">
            <a:avLst>
              <a:gd name="adj" fmla="val 50000"/>
            </a:avLst>
          </a:prstGeom>
          <a:solidFill>
            <a:srgbClr val="FFFFFF"/>
          </a:solidFill>
          <a:ln w="12700">
            <a:solidFill>
              <a:srgbClr val="DDD0FF"/>
            </a:solidFill>
            <a:prstDash val="solid"/>
          </a:ln>
        </p:spPr>
      </p:sp>
      <p:sp>
        <p:nvSpPr>
          <p:cNvPr id="13" name="Text 10"/>
          <p:cNvSpPr txBox="1"/>
          <p:nvPr/>
        </p:nvSpPr>
        <p:spPr>
          <a:xfrm>
            <a:off x="672084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Hỏng bánh</a:t>
            </a:r>
            <a:endParaRPr lang="en-US" sz="1300" dirty="0"/>
          </a:p>
        </p:txBody>
      </p:sp>
      <p:sp>
        <p:nvSpPr>
          <p:cNvPr id="14" name="Shape 11"/>
          <p:cNvSpPr/>
          <p:nvPr/>
        </p:nvSpPr>
        <p:spPr>
          <a:xfrm>
            <a:off x="8366760" y="1353312"/>
            <a:ext cx="1536192" cy="402336"/>
          </a:xfrm>
          <a:prstGeom prst="roundRect">
            <a:avLst>
              <a:gd name="adj" fmla="val 50000"/>
            </a:avLst>
          </a:prstGeom>
          <a:solidFill>
            <a:srgbClr val="FFFFFF"/>
          </a:solidFill>
          <a:ln w="12700">
            <a:solidFill>
              <a:srgbClr val="DDD0FF"/>
            </a:solidFill>
            <a:prstDash val="solid"/>
          </a:ln>
        </p:spPr>
      </p:sp>
      <p:sp>
        <p:nvSpPr>
          <p:cNvPr id="15" name="Text 12"/>
          <p:cNvSpPr txBox="1"/>
          <p:nvPr/>
        </p:nvSpPr>
        <p:spPr>
          <a:xfrm>
            <a:off x="836676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Hết pin</a:t>
            </a:r>
            <a:endParaRPr lang="en-US" sz="1300" dirty="0"/>
          </a:p>
        </p:txBody>
      </p:sp>
      <p:sp>
        <p:nvSpPr>
          <p:cNvPr id="16" name="Shape 13"/>
          <p:cNvSpPr/>
          <p:nvPr/>
        </p:nvSpPr>
        <p:spPr>
          <a:xfrm>
            <a:off x="10012680" y="1353312"/>
            <a:ext cx="1536192" cy="402336"/>
          </a:xfrm>
          <a:prstGeom prst="roundRect">
            <a:avLst>
              <a:gd name="adj" fmla="val 50000"/>
            </a:avLst>
          </a:prstGeom>
          <a:solidFill>
            <a:srgbClr val="FFFFFF"/>
          </a:solidFill>
          <a:ln w="12700">
            <a:solidFill>
              <a:srgbClr val="DDD0FF"/>
            </a:solidFill>
            <a:prstDash val="solid"/>
          </a:ln>
        </p:spPr>
      </p:sp>
      <p:sp>
        <p:nvSpPr>
          <p:cNvPr id="17" name="Text 14"/>
          <p:cNvSpPr txBox="1"/>
          <p:nvPr/>
        </p:nvSpPr>
        <p:spPr>
          <a:xfrm>
            <a:off x="1001268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Treo phần mềm</a:t>
            </a:r>
            <a:endParaRPr lang="en-US" sz="1300" dirty="0"/>
          </a:p>
        </p:txBody>
      </p:sp>
      <p:sp>
        <p:nvSpPr>
          <p:cNvPr id="18" name="Shape 15"/>
          <p:cNvSpPr/>
          <p:nvPr/>
        </p:nvSpPr>
        <p:spPr>
          <a:xfrm>
            <a:off x="548640" y="2011680"/>
            <a:ext cx="2487168"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19" name="Shape 16"/>
          <p:cNvSpPr/>
          <p:nvPr/>
        </p:nvSpPr>
        <p:spPr>
          <a:xfrm>
            <a:off x="731520" y="2148840"/>
            <a:ext cx="777240" cy="777240"/>
          </a:xfrm>
          <a:prstGeom prst="ellipse">
            <a:avLst/>
          </a:prstGeom>
          <a:solidFill>
            <a:srgbClr val="EDE4FF"/>
          </a:solidFill>
          <a:ln/>
        </p:spPr>
      </p:sp>
      <p:pic>
        <p:nvPicPr>
          <p:cNvPr id="20" name="Image 0" descr="Biểu tượng minh họa">    </p:cNvPr>
          <p:cNvPicPr>
            <a:picLocks noChangeAspect="1"/>
          </p:cNvPicPr>
          <p:nvPr/>
        </p:nvPicPr>
        <p:blipFill>
          <a:blip r:embed="rId1"/>
          <a:stretch>
            <a:fillRect/>
          </a:stretch>
        </p:blipFill>
        <p:spPr>
          <a:xfrm>
            <a:off x="871423" y="2288743"/>
            <a:ext cx="497434" cy="497434"/>
          </a:xfrm>
          <a:prstGeom prst="rect">
            <a:avLst/>
          </a:prstGeom>
        </p:spPr>
      </p:pic>
      <p:sp>
        <p:nvSpPr>
          <p:cNvPr id="21" name="Text 17"/>
          <p:cNvSpPr txBox="1"/>
          <p:nvPr/>
        </p:nvSpPr>
        <p:spPr>
          <a:xfrm>
            <a:off x="1600200" y="2148840"/>
            <a:ext cx="1344168" cy="777240"/>
          </a:xfrm>
          <a:prstGeom prst="rect">
            <a:avLst/>
          </a:prstGeom>
          <a:noFill/>
          <a:ln/>
        </p:spPr>
        <p:txBody>
          <a:bodyPr wrap="square" lIns="0" tIns="0" rIns="0" bIns="0" rtlCol="0" anchor="ctr"/>
          <a:lstStyle/>
          <a:p>
            <a:pPr indent="0" marL="0">
              <a:buNone/>
            </a:pPr>
            <a:r>
              <a:rPr lang="en-US" sz="1900" b="1" dirty="0">
                <a:solidFill>
                  <a:srgbClr val="7C3AED"/>
                </a:solidFill>
              </a:rPr>
              <a:t>BÁO</a:t>
            </a:r>
            <a:endParaRPr lang="en-US" sz="1900" dirty="0"/>
          </a:p>
        </p:txBody>
      </p:sp>
      <p:sp>
        <p:nvSpPr>
          <p:cNvPr id="22" name="Text 18"/>
          <p:cNvSpPr txBox="1"/>
          <p:nvPr/>
        </p:nvSpPr>
        <p:spPr>
          <a:xfrm>
            <a:off x="731520" y="3017520"/>
            <a:ext cx="2121408" cy="1097280"/>
          </a:xfrm>
          <a:prstGeom prst="rect">
            <a:avLst/>
          </a:prstGeom>
          <a:noFill/>
          <a:ln/>
        </p:spPr>
        <p:txBody>
          <a:bodyPr wrap="square" lIns="0" tIns="0" rIns="0" bIns="0" rtlCol="0" anchor="t"/>
          <a:lstStyle/>
          <a:p>
            <a:pPr indent="0" marL="0">
              <a:buNone/>
            </a:pPr>
            <a:r>
              <a:rPr lang="en-US" sz="1400" dirty="0">
                <a:solidFill>
                  <a:srgbClr val="2E1065"/>
                </a:solidFill>
              </a:rPr>
              <a:t>Hô to “SỰ CỐ!” hoặc bấm chuông tại Khu Điều khiển</a:t>
            </a:r>
            <a:endParaRPr lang="en-US" sz="1400" dirty="0"/>
          </a:p>
        </p:txBody>
      </p:sp>
      <p:sp>
        <p:nvSpPr>
          <p:cNvPr id="23" name="Shape 19"/>
          <p:cNvSpPr/>
          <p:nvPr/>
        </p:nvSpPr>
        <p:spPr>
          <a:xfrm>
            <a:off x="3099816" y="2926080"/>
            <a:ext cx="256032" cy="347472"/>
          </a:xfrm>
          <a:prstGeom prst="rightArrow">
            <a:avLst/>
          </a:prstGeom>
          <a:solidFill>
            <a:srgbClr val="8B5CF6"/>
          </a:solidFill>
          <a:ln/>
        </p:spPr>
      </p:sp>
      <p:sp>
        <p:nvSpPr>
          <p:cNvPr id="24" name="Shape 20"/>
          <p:cNvSpPr/>
          <p:nvPr/>
        </p:nvSpPr>
        <p:spPr>
          <a:xfrm>
            <a:off x="3415284" y="2011680"/>
            <a:ext cx="2487168"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25" name="Shape 21"/>
          <p:cNvSpPr/>
          <p:nvPr/>
        </p:nvSpPr>
        <p:spPr>
          <a:xfrm>
            <a:off x="3598164" y="2148840"/>
            <a:ext cx="777240" cy="777240"/>
          </a:xfrm>
          <a:prstGeom prst="ellipse">
            <a:avLst/>
          </a:prstGeom>
          <a:solidFill>
            <a:srgbClr val="EDE4FF"/>
          </a:solidFill>
          <a:ln/>
        </p:spPr>
      </p:sp>
      <p:pic>
        <p:nvPicPr>
          <p:cNvPr id="26" name="Image 1" descr="Biểu tượng minh họa">    </p:cNvPr>
          <p:cNvPicPr>
            <a:picLocks noChangeAspect="1"/>
          </p:cNvPicPr>
          <p:nvPr/>
        </p:nvPicPr>
        <p:blipFill>
          <a:blip r:embed="rId2"/>
          <a:stretch>
            <a:fillRect/>
          </a:stretch>
        </p:blipFill>
        <p:spPr>
          <a:xfrm>
            <a:off x="3738067" y="2288743"/>
            <a:ext cx="497434" cy="497434"/>
          </a:xfrm>
          <a:prstGeom prst="rect">
            <a:avLst/>
          </a:prstGeom>
        </p:spPr>
      </p:pic>
      <p:sp>
        <p:nvSpPr>
          <p:cNvPr id="27" name="Text 22"/>
          <p:cNvSpPr txBox="1"/>
          <p:nvPr/>
        </p:nvSpPr>
        <p:spPr>
          <a:xfrm>
            <a:off x="4466844" y="2148840"/>
            <a:ext cx="1344168" cy="777240"/>
          </a:xfrm>
          <a:prstGeom prst="rect">
            <a:avLst/>
          </a:prstGeom>
          <a:noFill/>
          <a:ln/>
        </p:spPr>
        <p:txBody>
          <a:bodyPr wrap="square" lIns="0" tIns="0" rIns="0" bIns="0" rtlCol="0" anchor="ctr"/>
          <a:lstStyle/>
          <a:p>
            <a:pPr indent="0" marL="0">
              <a:buNone/>
            </a:pPr>
            <a:r>
              <a:rPr lang="en-US" sz="1900" b="1" dirty="0">
                <a:solidFill>
                  <a:srgbClr val="7C3AED"/>
                </a:solidFill>
              </a:rPr>
              <a:t>TẠM DỪNG</a:t>
            </a:r>
            <a:endParaRPr lang="en-US" sz="1900" dirty="0"/>
          </a:p>
        </p:txBody>
      </p:sp>
      <p:sp>
        <p:nvSpPr>
          <p:cNvPr id="28" name="Text 23"/>
          <p:cNvSpPr txBox="1"/>
          <p:nvPr/>
        </p:nvSpPr>
        <p:spPr>
          <a:xfrm>
            <a:off x="3598164" y="3017520"/>
            <a:ext cx="2121408" cy="1097280"/>
          </a:xfrm>
          <a:prstGeom prst="rect">
            <a:avLst/>
          </a:prstGeom>
          <a:noFill/>
          <a:ln/>
        </p:spPr>
        <p:txBody>
          <a:bodyPr wrap="square" lIns="0" tIns="0" rIns="0" bIns="0" rtlCol="0" anchor="t"/>
          <a:lstStyle/>
          <a:p>
            <a:pPr indent="0" marL="0">
              <a:buNone/>
            </a:pPr>
            <a:r>
              <a:rPr lang="en-US" sz="1400" dirty="0">
                <a:solidFill>
                  <a:srgbClr val="2E1065"/>
                </a:solidFill>
              </a:rPr>
              <a:t>Còi; CẢ HAI đội buông tay, robot dừng tại chỗ, đồng hồ dừng</a:t>
            </a:r>
            <a:endParaRPr lang="en-US" sz="1400" dirty="0"/>
          </a:p>
        </p:txBody>
      </p:sp>
      <p:sp>
        <p:nvSpPr>
          <p:cNvPr id="29" name="Shape 24"/>
          <p:cNvSpPr/>
          <p:nvPr/>
        </p:nvSpPr>
        <p:spPr>
          <a:xfrm>
            <a:off x="5966460" y="2926080"/>
            <a:ext cx="256032" cy="347472"/>
          </a:xfrm>
          <a:prstGeom prst="rightArrow">
            <a:avLst/>
          </a:prstGeom>
          <a:solidFill>
            <a:srgbClr val="8B5CF6"/>
          </a:solidFill>
          <a:ln/>
        </p:spPr>
      </p:sp>
      <p:sp>
        <p:nvSpPr>
          <p:cNvPr id="30" name="Shape 25"/>
          <p:cNvSpPr/>
          <p:nvPr/>
        </p:nvSpPr>
        <p:spPr>
          <a:xfrm>
            <a:off x="6281928" y="2011680"/>
            <a:ext cx="2487168"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31" name="Shape 26"/>
          <p:cNvSpPr/>
          <p:nvPr/>
        </p:nvSpPr>
        <p:spPr>
          <a:xfrm>
            <a:off x="6464808" y="2148840"/>
            <a:ext cx="777240" cy="777240"/>
          </a:xfrm>
          <a:prstGeom prst="ellipse">
            <a:avLst/>
          </a:prstGeom>
          <a:solidFill>
            <a:srgbClr val="EDE4FF"/>
          </a:solidFill>
          <a:ln/>
        </p:spPr>
      </p:sp>
      <p:pic>
        <p:nvPicPr>
          <p:cNvPr id="32" name="Image 2" descr="Biểu tượng minh họa">    </p:cNvPr>
          <p:cNvPicPr>
            <a:picLocks noChangeAspect="1"/>
          </p:cNvPicPr>
          <p:nvPr/>
        </p:nvPicPr>
        <p:blipFill>
          <a:blip r:embed="rId3"/>
          <a:stretch>
            <a:fillRect/>
          </a:stretch>
        </p:blipFill>
        <p:spPr>
          <a:xfrm>
            <a:off x="6604711" y="2288743"/>
            <a:ext cx="497434" cy="497434"/>
          </a:xfrm>
          <a:prstGeom prst="rect">
            <a:avLst/>
          </a:prstGeom>
        </p:spPr>
      </p:pic>
      <p:sp>
        <p:nvSpPr>
          <p:cNvPr id="33" name="Text 27"/>
          <p:cNvSpPr txBox="1"/>
          <p:nvPr/>
        </p:nvSpPr>
        <p:spPr>
          <a:xfrm>
            <a:off x="7333488" y="2148840"/>
            <a:ext cx="1344168" cy="777240"/>
          </a:xfrm>
          <a:prstGeom prst="rect">
            <a:avLst/>
          </a:prstGeom>
          <a:noFill/>
          <a:ln/>
        </p:spPr>
        <p:txBody>
          <a:bodyPr wrap="square" lIns="0" tIns="0" rIns="0" bIns="0" rtlCol="0" anchor="ctr"/>
          <a:lstStyle/>
          <a:p>
            <a:pPr indent="0" marL="0">
              <a:buNone/>
            </a:pPr>
            <a:r>
              <a:rPr lang="en-US" sz="1900" b="1" dirty="0">
                <a:solidFill>
                  <a:srgbClr val="7C3AED"/>
                </a:solidFill>
              </a:rPr>
              <a:t>XỬ LÝ</a:t>
            </a:r>
            <a:endParaRPr lang="en-US" sz="1900" dirty="0"/>
          </a:p>
        </p:txBody>
      </p:sp>
      <p:sp>
        <p:nvSpPr>
          <p:cNvPr id="34" name="Text 28"/>
          <p:cNvSpPr txBox="1"/>
          <p:nvPr/>
        </p:nvSpPr>
        <p:spPr>
          <a:xfrm>
            <a:off x="6464808" y="3017520"/>
            <a:ext cx="2121408" cy="1097280"/>
          </a:xfrm>
          <a:prstGeom prst="rect">
            <a:avLst/>
          </a:prstGeom>
          <a:noFill/>
          <a:ln/>
        </p:spPr>
        <p:txBody>
          <a:bodyPr wrap="square" lIns="0" tIns="0" rIns="0" bIns="0" rtlCol="0" anchor="t"/>
          <a:lstStyle/>
          <a:p>
            <a:pPr indent="0" marL="0">
              <a:buNone/>
            </a:pPr>
            <a:r>
              <a:rPr lang="en-US" sz="1400" dirty="0">
                <a:solidFill>
                  <a:srgbClr val="2E1065"/>
                </a:solidFill>
              </a:rPr>
              <a:t>Chỉ nhân sự kỹ thuật BTC vào sân; khối robot đang giữ đặt tại chỗ</a:t>
            </a:r>
            <a:endParaRPr lang="en-US" sz="1400" dirty="0"/>
          </a:p>
        </p:txBody>
      </p:sp>
      <p:sp>
        <p:nvSpPr>
          <p:cNvPr id="35" name="Shape 29"/>
          <p:cNvSpPr/>
          <p:nvPr/>
        </p:nvSpPr>
        <p:spPr>
          <a:xfrm>
            <a:off x="8833104" y="2926080"/>
            <a:ext cx="256032" cy="347472"/>
          </a:xfrm>
          <a:prstGeom prst="rightArrow">
            <a:avLst/>
          </a:prstGeom>
          <a:solidFill>
            <a:srgbClr val="8B5CF6"/>
          </a:solidFill>
          <a:ln/>
        </p:spPr>
      </p:sp>
      <p:sp>
        <p:nvSpPr>
          <p:cNvPr id="36" name="Shape 30"/>
          <p:cNvSpPr/>
          <p:nvPr/>
        </p:nvSpPr>
        <p:spPr>
          <a:xfrm>
            <a:off x="9148572" y="2011680"/>
            <a:ext cx="2487168"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37" name="Shape 31"/>
          <p:cNvSpPr/>
          <p:nvPr/>
        </p:nvSpPr>
        <p:spPr>
          <a:xfrm>
            <a:off x="9331452" y="2148840"/>
            <a:ext cx="777240" cy="777240"/>
          </a:xfrm>
          <a:prstGeom prst="ellipse">
            <a:avLst/>
          </a:prstGeom>
          <a:solidFill>
            <a:srgbClr val="EDE4FF"/>
          </a:solidFill>
          <a:ln/>
        </p:spPr>
      </p:sp>
      <p:pic>
        <p:nvPicPr>
          <p:cNvPr id="38" name="Image 3" descr="Biểu tượng minh họa">    </p:cNvPr>
          <p:cNvPicPr>
            <a:picLocks noChangeAspect="1"/>
          </p:cNvPicPr>
          <p:nvPr/>
        </p:nvPicPr>
        <p:blipFill>
          <a:blip r:embed="rId4"/>
          <a:stretch>
            <a:fillRect/>
          </a:stretch>
        </p:blipFill>
        <p:spPr>
          <a:xfrm>
            <a:off x="9471355" y="2288743"/>
            <a:ext cx="497434" cy="497434"/>
          </a:xfrm>
          <a:prstGeom prst="rect">
            <a:avLst/>
          </a:prstGeom>
        </p:spPr>
      </p:pic>
      <p:sp>
        <p:nvSpPr>
          <p:cNvPr id="39" name="Text 32"/>
          <p:cNvSpPr txBox="1"/>
          <p:nvPr/>
        </p:nvSpPr>
        <p:spPr>
          <a:xfrm>
            <a:off x="10200132" y="2148840"/>
            <a:ext cx="1344168" cy="777240"/>
          </a:xfrm>
          <a:prstGeom prst="rect">
            <a:avLst/>
          </a:prstGeom>
          <a:noFill/>
          <a:ln/>
        </p:spPr>
        <p:txBody>
          <a:bodyPr wrap="square" lIns="0" tIns="0" rIns="0" bIns="0" rtlCol="0" anchor="ctr"/>
          <a:lstStyle/>
          <a:p>
            <a:pPr indent="0" marL="0">
              <a:buNone/>
            </a:pPr>
            <a:r>
              <a:rPr lang="en-US" sz="1900" b="1" dirty="0">
                <a:solidFill>
                  <a:srgbClr val="7C3AED"/>
                </a:solidFill>
              </a:rPr>
              <a:t>TIẾP TỤC</a:t>
            </a:r>
            <a:endParaRPr lang="en-US" sz="1900" dirty="0"/>
          </a:p>
        </p:txBody>
      </p:sp>
      <p:sp>
        <p:nvSpPr>
          <p:cNvPr id="40" name="Text 33"/>
          <p:cNvSpPr txBox="1"/>
          <p:nvPr/>
        </p:nvSpPr>
        <p:spPr>
          <a:xfrm>
            <a:off x="9331452" y="3017520"/>
            <a:ext cx="2121408" cy="1097280"/>
          </a:xfrm>
          <a:prstGeom prst="rect">
            <a:avLst/>
          </a:prstGeom>
          <a:noFill/>
          <a:ln/>
        </p:spPr>
        <p:txBody>
          <a:bodyPr wrap="square" lIns="0" tIns="0" rIns="0" bIns="0" rtlCol="0" anchor="t"/>
          <a:lstStyle/>
          <a:p>
            <a:pPr indent="0" marL="0">
              <a:buNone/>
            </a:pPr>
            <a:r>
              <a:rPr lang="en-US" sz="1400" dirty="0">
                <a:solidFill>
                  <a:srgbClr val="2E1065"/>
                </a:solidFill>
              </a:rPr>
              <a:t>Robot đặt lại đúng vị trí, hướng cũ; lệnh “Tiếp tục”, đồng hồ chạy tiếp</a:t>
            </a:r>
            <a:endParaRPr lang="en-US" sz="1400" dirty="0"/>
          </a:p>
        </p:txBody>
      </p:sp>
      <p:sp>
        <p:nvSpPr>
          <p:cNvPr id="41" name="Shape 34"/>
          <p:cNvSpPr/>
          <p:nvPr/>
        </p:nvSpPr>
        <p:spPr>
          <a:xfrm>
            <a:off x="548640" y="4389120"/>
            <a:ext cx="3575304" cy="1874520"/>
          </a:xfrm>
          <a:prstGeom prst="roundRect">
            <a:avLst>
              <a:gd name="adj" fmla="val 5854"/>
            </a:avLst>
          </a:prstGeom>
          <a:solidFill>
            <a:srgbClr val="FFFFFF"/>
          </a:solidFill>
          <a:ln/>
          <a:effectLst>
            <a:outerShdw sx="100000" sy="100000" kx="0" ky="0" algn="bl" rotWithShape="0" blurRad="127000" dist="38100" dir="5400000">
              <a:srgbClr val="4C1D95">
                <a:alpha val="16000"/>
              </a:srgbClr>
            </a:outerShdw>
          </a:effectLst>
        </p:spPr>
      </p:sp>
      <p:pic>
        <p:nvPicPr>
          <p:cNvPr id="42" name="Image 4" descr="Biểu tượng minh họa">    </p:cNvPr>
          <p:cNvPicPr>
            <a:picLocks noChangeAspect="1"/>
          </p:cNvPicPr>
          <p:nvPr/>
        </p:nvPicPr>
        <p:blipFill>
          <a:blip r:embed="rId5"/>
          <a:stretch>
            <a:fillRect/>
          </a:stretch>
        </p:blipFill>
        <p:spPr>
          <a:xfrm>
            <a:off x="713232" y="4526280"/>
            <a:ext cx="502920" cy="502920"/>
          </a:xfrm>
          <a:prstGeom prst="rect">
            <a:avLst/>
          </a:prstGeom>
        </p:spPr>
      </p:pic>
      <p:sp>
        <p:nvSpPr>
          <p:cNvPr id="43" name="Text 35"/>
          <p:cNvSpPr txBox="1"/>
          <p:nvPr/>
        </p:nvSpPr>
        <p:spPr>
          <a:xfrm>
            <a:off x="1325880" y="4526280"/>
            <a:ext cx="2651760" cy="502920"/>
          </a:xfrm>
          <a:prstGeom prst="rect">
            <a:avLst/>
          </a:prstGeom>
          <a:noFill/>
          <a:ln/>
        </p:spPr>
        <p:txBody>
          <a:bodyPr wrap="square" lIns="0" tIns="0" rIns="0" bIns="0" rtlCol="0" anchor="ctr"/>
          <a:lstStyle/>
          <a:p>
            <a:pPr indent="0" marL="0">
              <a:buNone/>
            </a:pPr>
            <a:r>
              <a:rPr lang="en-US" sz="1700" b="1" dirty="0">
                <a:solidFill>
                  <a:srgbClr val="7C3AED"/>
                </a:solidFill>
              </a:rPr>
              <a:t>Giới hạn</a:t>
            </a:r>
            <a:endParaRPr lang="en-US" sz="1700" dirty="0"/>
          </a:p>
        </p:txBody>
      </p:sp>
      <p:sp>
        <p:nvSpPr>
          <p:cNvPr id="44" name="Text 36"/>
          <p:cNvSpPr txBox="1"/>
          <p:nvPr/>
        </p:nvSpPr>
        <p:spPr>
          <a:xfrm>
            <a:off x="731520" y="5074920"/>
            <a:ext cx="3246120" cy="1143000"/>
          </a:xfrm>
          <a:prstGeom prst="rect">
            <a:avLst/>
          </a:prstGeom>
          <a:noFill/>
          <a:ln/>
        </p:spPr>
        <p:txBody>
          <a:bodyPr wrap="square" lIns="0" tIns="0" rIns="0" bIns="0" rtlCol="0" anchor="t"/>
          <a:lstStyle/>
          <a:p>
            <a:pPr indent="0" marL="0">
              <a:buNone/>
            </a:pPr>
            <a:r>
              <a:rPr lang="en-US" sz="1300" dirty="0">
                <a:solidFill>
                  <a:srgbClr val="2E1065"/>
                </a:solidFill>
              </a:rPr>
              <a:t>Tối đa 02 lần/lượt, mỗi lần ≤ 02 phút. Quá giới hạn hoặc không khắc phục được: Tổng trọng tài cho đổi robot dự phòng hoặc thi lại.</a:t>
            </a:r>
            <a:endParaRPr lang="en-US" sz="1300" dirty="0"/>
          </a:p>
        </p:txBody>
      </p:sp>
      <p:sp>
        <p:nvSpPr>
          <p:cNvPr id="45" name="Shape 37"/>
          <p:cNvSpPr/>
          <p:nvPr/>
        </p:nvSpPr>
        <p:spPr>
          <a:xfrm>
            <a:off x="4306824" y="4389120"/>
            <a:ext cx="3575304" cy="1874520"/>
          </a:xfrm>
          <a:prstGeom prst="roundRect">
            <a:avLst>
              <a:gd name="adj" fmla="val 5854"/>
            </a:avLst>
          </a:prstGeom>
          <a:solidFill>
            <a:srgbClr val="FFEDD5"/>
          </a:solidFill>
          <a:ln/>
          <a:effectLst>
            <a:outerShdw sx="100000" sy="100000" kx="0" ky="0" algn="bl" rotWithShape="0" blurRad="127000" dist="38100" dir="5400000">
              <a:srgbClr val="4C1D95">
                <a:alpha val="16000"/>
              </a:srgbClr>
            </a:outerShdw>
          </a:effectLst>
        </p:spPr>
      </p:sp>
      <p:pic>
        <p:nvPicPr>
          <p:cNvPr id="46" name="Image 5" descr="Biểu tượng minh họa">    </p:cNvPr>
          <p:cNvPicPr>
            <a:picLocks noChangeAspect="1"/>
          </p:cNvPicPr>
          <p:nvPr/>
        </p:nvPicPr>
        <p:blipFill>
          <a:blip r:embed="rId6"/>
          <a:stretch>
            <a:fillRect/>
          </a:stretch>
        </p:blipFill>
        <p:spPr>
          <a:xfrm>
            <a:off x="4471416" y="4526280"/>
            <a:ext cx="502920" cy="502920"/>
          </a:xfrm>
          <a:prstGeom prst="rect">
            <a:avLst/>
          </a:prstGeom>
        </p:spPr>
      </p:pic>
      <p:sp>
        <p:nvSpPr>
          <p:cNvPr id="47" name="Text 38"/>
          <p:cNvSpPr txBox="1"/>
          <p:nvPr/>
        </p:nvSpPr>
        <p:spPr>
          <a:xfrm>
            <a:off x="5084064" y="4526280"/>
            <a:ext cx="2651760" cy="502920"/>
          </a:xfrm>
          <a:prstGeom prst="rect">
            <a:avLst/>
          </a:prstGeom>
          <a:noFill/>
          <a:ln/>
        </p:spPr>
        <p:txBody>
          <a:bodyPr wrap="square" lIns="0" tIns="0" rIns="0" bIns="0" rtlCol="0" anchor="ctr"/>
          <a:lstStyle/>
          <a:p>
            <a:pPr indent="0" marL="0">
              <a:buNone/>
            </a:pPr>
            <a:r>
              <a:rPr lang="en-US" sz="1700" b="1" dirty="0">
                <a:solidFill>
                  <a:srgbClr val="EA580C"/>
                </a:solidFill>
              </a:rPr>
              <a:t>Báo sự cố giả</a:t>
            </a:r>
            <a:endParaRPr lang="en-US" sz="1700" dirty="0"/>
          </a:p>
        </p:txBody>
      </p:sp>
      <p:sp>
        <p:nvSpPr>
          <p:cNvPr id="48" name="Text 39"/>
          <p:cNvSpPr txBox="1"/>
          <p:nvPr/>
        </p:nvSpPr>
        <p:spPr>
          <a:xfrm>
            <a:off x="4489704" y="5074920"/>
            <a:ext cx="3246120" cy="1143000"/>
          </a:xfrm>
          <a:prstGeom prst="rect">
            <a:avLst/>
          </a:prstGeom>
          <a:noFill/>
          <a:ln/>
        </p:spPr>
        <p:txBody>
          <a:bodyPr wrap="square" lIns="0" tIns="0" rIns="0" bIns="0" rtlCol="0" anchor="t"/>
          <a:lstStyle/>
          <a:p>
            <a:pPr indent="0" marL="0">
              <a:buNone/>
            </a:pPr>
            <a:r>
              <a:rPr lang="en-US" sz="1300" dirty="0">
                <a:solidFill>
                  <a:srgbClr val="2E1065"/>
                </a:solidFill>
              </a:rPr>
              <a:t>Lần đầu: nhắc nhở. Tái phạm: xử thua trực tiếp lượt đấu.</a:t>
            </a:r>
            <a:endParaRPr lang="en-US" sz="1300" dirty="0"/>
          </a:p>
        </p:txBody>
      </p:sp>
      <p:sp>
        <p:nvSpPr>
          <p:cNvPr id="49" name="Shape 40"/>
          <p:cNvSpPr/>
          <p:nvPr/>
        </p:nvSpPr>
        <p:spPr>
          <a:xfrm>
            <a:off x="8065008" y="4389120"/>
            <a:ext cx="3575304" cy="1874520"/>
          </a:xfrm>
          <a:prstGeom prst="roundRect">
            <a:avLst>
              <a:gd name="adj" fmla="val 5854"/>
            </a:avLst>
          </a:prstGeom>
          <a:solidFill>
            <a:srgbClr val="FEE2E2"/>
          </a:solidFill>
          <a:ln/>
          <a:effectLst>
            <a:outerShdw sx="100000" sy="100000" kx="0" ky="0" algn="bl" rotWithShape="0" blurRad="127000" dist="38100" dir="5400000">
              <a:srgbClr val="4C1D95">
                <a:alpha val="16000"/>
              </a:srgbClr>
            </a:outerShdw>
          </a:effectLst>
        </p:spPr>
      </p:sp>
      <p:pic>
        <p:nvPicPr>
          <p:cNvPr id="50" name="Image 6" descr="Biểu tượng minh họa">    </p:cNvPr>
          <p:cNvPicPr>
            <a:picLocks noChangeAspect="1"/>
          </p:cNvPicPr>
          <p:nvPr/>
        </p:nvPicPr>
        <p:blipFill>
          <a:blip r:embed="rId7"/>
          <a:stretch>
            <a:fillRect/>
          </a:stretch>
        </p:blipFill>
        <p:spPr>
          <a:xfrm>
            <a:off x="8229600" y="4526280"/>
            <a:ext cx="502920" cy="502920"/>
          </a:xfrm>
          <a:prstGeom prst="rect">
            <a:avLst/>
          </a:prstGeom>
        </p:spPr>
      </p:pic>
      <p:sp>
        <p:nvSpPr>
          <p:cNvPr id="51" name="Text 41"/>
          <p:cNvSpPr txBox="1"/>
          <p:nvPr/>
        </p:nvSpPr>
        <p:spPr>
          <a:xfrm>
            <a:off x="8842248" y="4526280"/>
            <a:ext cx="2651760" cy="502920"/>
          </a:xfrm>
          <a:prstGeom prst="rect">
            <a:avLst/>
          </a:prstGeom>
          <a:noFill/>
          <a:ln/>
        </p:spPr>
        <p:txBody>
          <a:bodyPr wrap="square" lIns="0" tIns="0" rIns="0" bIns="0" rtlCol="0" anchor="ctr"/>
          <a:lstStyle/>
          <a:p>
            <a:pPr indent="0" marL="0">
              <a:buNone/>
            </a:pPr>
            <a:r>
              <a:rPr lang="en-US" sz="1700" b="1" dirty="0">
                <a:solidFill>
                  <a:srgbClr val="DC2626"/>
                </a:solidFill>
              </a:rPr>
              <a:t>Không phải sự cố</a:t>
            </a:r>
            <a:endParaRPr lang="en-US" sz="1700" dirty="0"/>
          </a:p>
        </p:txBody>
      </p:sp>
      <p:sp>
        <p:nvSpPr>
          <p:cNvPr id="52" name="Text 42"/>
          <p:cNvSpPr txBox="1"/>
          <p:nvPr/>
        </p:nvSpPr>
        <p:spPr>
          <a:xfrm>
            <a:off x="8247888" y="5074920"/>
            <a:ext cx="3246120" cy="1143000"/>
          </a:xfrm>
          <a:prstGeom prst="rect">
            <a:avLst/>
          </a:prstGeom>
          <a:noFill/>
          <a:ln/>
        </p:spPr>
        <p:txBody>
          <a:bodyPr wrap="square" lIns="0" tIns="0" rIns="0" bIns="0" rtlCol="0" anchor="t"/>
          <a:lstStyle/>
          <a:p>
            <a:pPr indent="0" marL="0">
              <a:buNone/>
            </a:pPr>
            <a:r>
              <a:rPr lang="en-US" sz="1300" dirty="0">
                <a:solidFill>
                  <a:srgbClr val="2E1065"/>
                </a:solidFill>
              </a:rPr>
              <a:t>Robot ra ngoài sa bàn (−5 điểm). Thí sinh không tự ý vào sân, cầm robot, sửa thiết bị.</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KỶ LUẬT</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10 hành vi bị nghiêm cấm</a:t>
            </a:r>
            <a:endParaRPr lang="en-US" sz="3000" dirty="0"/>
          </a:p>
        </p:txBody>
      </p:sp>
      <p:sp>
        <p:nvSpPr>
          <p:cNvPr id="5" name="Shape 2"/>
          <p:cNvSpPr/>
          <p:nvPr/>
        </p:nvSpPr>
        <p:spPr>
          <a:xfrm>
            <a:off x="548640" y="1371600"/>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6" name="Image 0" descr="Biểu tượng minh họa">    </p:cNvPr>
          <p:cNvPicPr>
            <a:picLocks noChangeAspect="1"/>
          </p:cNvPicPr>
          <p:nvPr/>
        </p:nvPicPr>
        <p:blipFill>
          <a:blip r:embed="rId1"/>
          <a:stretch>
            <a:fillRect/>
          </a:stretch>
        </p:blipFill>
        <p:spPr>
          <a:xfrm>
            <a:off x="658368" y="1481328"/>
            <a:ext cx="457200" cy="457200"/>
          </a:xfrm>
          <a:prstGeom prst="rect">
            <a:avLst/>
          </a:prstGeom>
        </p:spPr>
      </p:pic>
      <p:sp>
        <p:nvSpPr>
          <p:cNvPr id="7" name="Text 3"/>
          <p:cNvSpPr txBox="1"/>
          <p:nvPr/>
        </p:nvSpPr>
        <p:spPr>
          <a:xfrm>
            <a:off x="1234440" y="1371600"/>
            <a:ext cx="4663440" cy="676656"/>
          </a:xfrm>
          <a:prstGeom prst="rect">
            <a:avLst/>
          </a:prstGeom>
          <a:noFill/>
          <a:ln/>
        </p:spPr>
        <p:txBody>
          <a:bodyPr wrap="square" lIns="0" tIns="0" rIns="0" bIns="0" rtlCol="0" anchor="ctr"/>
          <a:lstStyle/>
          <a:p>
            <a:pPr indent="0" marL="0">
              <a:buNone/>
            </a:pPr>
            <a:r>
              <a:rPr lang="en-US" sz="1500" dirty="0">
                <a:solidFill>
                  <a:srgbClr val="2E1065"/>
                </a:solidFill>
              </a:rPr>
              <a:t>Dùng robot, linh kiện, pin, bộ điều khiển, phần mềm không do BTC cung cấp</a:t>
            </a:r>
            <a:endParaRPr lang="en-US" sz="1500" dirty="0"/>
          </a:p>
        </p:txBody>
      </p:sp>
      <p:sp>
        <p:nvSpPr>
          <p:cNvPr id="8" name="Shape 4"/>
          <p:cNvSpPr/>
          <p:nvPr/>
        </p:nvSpPr>
        <p:spPr>
          <a:xfrm>
            <a:off x="6190488" y="1371600"/>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9" name="Image 1" descr="Biểu tượng minh họa">    </p:cNvPr>
          <p:cNvPicPr>
            <a:picLocks noChangeAspect="1"/>
          </p:cNvPicPr>
          <p:nvPr/>
        </p:nvPicPr>
        <p:blipFill>
          <a:blip r:embed="rId2"/>
          <a:stretch>
            <a:fillRect/>
          </a:stretch>
        </p:blipFill>
        <p:spPr>
          <a:xfrm>
            <a:off x="6300216" y="1481328"/>
            <a:ext cx="457200" cy="457200"/>
          </a:xfrm>
          <a:prstGeom prst="rect">
            <a:avLst/>
          </a:prstGeom>
        </p:spPr>
      </p:pic>
      <p:sp>
        <p:nvSpPr>
          <p:cNvPr id="10" name="Text 5"/>
          <p:cNvSpPr txBox="1"/>
          <p:nvPr/>
        </p:nvSpPr>
        <p:spPr>
          <a:xfrm>
            <a:off x="6876288" y="1371600"/>
            <a:ext cx="4663440" cy="676656"/>
          </a:xfrm>
          <a:prstGeom prst="rect">
            <a:avLst/>
          </a:prstGeom>
          <a:noFill/>
          <a:ln/>
        </p:spPr>
        <p:txBody>
          <a:bodyPr wrap="square" lIns="0" tIns="0" rIns="0" bIns="0" rtlCol="0" anchor="ctr"/>
          <a:lstStyle/>
          <a:p>
            <a:pPr indent="0" marL="0">
              <a:buNone/>
            </a:pPr>
            <a:r>
              <a:rPr lang="en-US" sz="1500" dirty="0">
                <a:solidFill>
                  <a:srgbClr val="2E1065"/>
                </a:solidFill>
              </a:rPr>
              <a:t>Tháo lắp, thay đổi kết cấu hoặc can thiệp phần mềm robot</a:t>
            </a:r>
            <a:endParaRPr lang="en-US" sz="1500" dirty="0"/>
          </a:p>
        </p:txBody>
      </p:sp>
      <p:sp>
        <p:nvSpPr>
          <p:cNvPr id="11" name="Shape 6"/>
          <p:cNvSpPr/>
          <p:nvPr/>
        </p:nvSpPr>
        <p:spPr>
          <a:xfrm>
            <a:off x="548640" y="2157984"/>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12" name="Image 2" descr="Biểu tượng minh họa">    </p:cNvPr>
          <p:cNvPicPr>
            <a:picLocks noChangeAspect="1"/>
          </p:cNvPicPr>
          <p:nvPr/>
        </p:nvPicPr>
        <p:blipFill>
          <a:blip r:embed="rId3"/>
          <a:stretch>
            <a:fillRect/>
          </a:stretch>
        </p:blipFill>
        <p:spPr>
          <a:xfrm>
            <a:off x="658368" y="2267712"/>
            <a:ext cx="457200" cy="457200"/>
          </a:xfrm>
          <a:prstGeom prst="rect">
            <a:avLst/>
          </a:prstGeom>
        </p:spPr>
      </p:pic>
      <p:sp>
        <p:nvSpPr>
          <p:cNvPr id="13" name="Text 7"/>
          <p:cNvSpPr txBox="1"/>
          <p:nvPr/>
        </p:nvSpPr>
        <p:spPr>
          <a:xfrm>
            <a:off x="1234440" y="2157984"/>
            <a:ext cx="4663440" cy="676656"/>
          </a:xfrm>
          <a:prstGeom prst="rect">
            <a:avLst/>
          </a:prstGeom>
          <a:noFill/>
          <a:ln/>
        </p:spPr>
        <p:txBody>
          <a:bodyPr wrap="square" lIns="0" tIns="0" rIns="0" bIns="0" rtlCol="0" anchor="ctr"/>
          <a:lstStyle/>
          <a:p>
            <a:pPr indent="0" marL="0">
              <a:buNone/>
            </a:pPr>
            <a:r>
              <a:rPr lang="en-US" sz="1500" dirty="0">
                <a:solidFill>
                  <a:srgbClr val="2E1065"/>
                </a:solidFill>
              </a:rPr>
              <a:t>Bố trí người không có tên trong danh sách thi đấu</a:t>
            </a:r>
            <a:endParaRPr lang="en-US" sz="1500" dirty="0"/>
          </a:p>
        </p:txBody>
      </p:sp>
      <p:sp>
        <p:nvSpPr>
          <p:cNvPr id="14" name="Shape 8"/>
          <p:cNvSpPr/>
          <p:nvPr/>
        </p:nvSpPr>
        <p:spPr>
          <a:xfrm>
            <a:off x="6190488" y="2157984"/>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15" name="Image 3" descr="Biểu tượng minh họa">    </p:cNvPr>
          <p:cNvPicPr>
            <a:picLocks noChangeAspect="1"/>
          </p:cNvPicPr>
          <p:nvPr/>
        </p:nvPicPr>
        <p:blipFill>
          <a:blip r:embed="rId4"/>
          <a:stretch>
            <a:fillRect/>
          </a:stretch>
        </p:blipFill>
        <p:spPr>
          <a:xfrm>
            <a:off x="6300216" y="2267712"/>
            <a:ext cx="457200" cy="457200"/>
          </a:xfrm>
          <a:prstGeom prst="rect">
            <a:avLst/>
          </a:prstGeom>
        </p:spPr>
      </p:pic>
      <p:sp>
        <p:nvSpPr>
          <p:cNvPr id="16" name="Text 9"/>
          <p:cNvSpPr txBox="1"/>
          <p:nvPr/>
        </p:nvSpPr>
        <p:spPr>
          <a:xfrm>
            <a:off x="6876288" y="2157984"/>
            <a:ext cx="4663440" cy="676656"/>
          </a:xfrm>
          <a:prstGeom prst="rect">
            <a:avLst/>
          </a:prstGeom>
          <a:noFill/>
          <a:ln/>
        </p:spPr>
        <p:txBody>
          <a:bodyPr wrap="square" lIns="0" tIns="0" rIns="0" bIns="0" rtlCol="0" anchor="ctr"/>
          <a:lstStyle/>
          <a:p>
            <a:pPr indent="0" marL="0">
              <a:buNone/>
            </a:pPr>
            <a:r>
              <a:rPr lang="en-US" sz="1500" dirty="0">
                <a:solidFill>
                  <a:srgbClr val="2E1065"/>
                </a:solidFill>
              </a:rPr>
              <a:t>Tác động từ bên ngoài; tự ý dùng tay đưa khối rơi trở lại sân</a:t>
            </a:r>
            <a:endParaRPr lang="en-US" sz="1500" dirty="0"/>
          </a:p>
        </p:txBody>
      </p:sp>
      <p:sp>
        <p:nvSpPr>
          <p:cNvPr id="17" name="Shape 10"/>
          <p:cNvSpPr/>
          <p:nvPr/>
        </p:nvSpPr>
        <p:spPr>
          <a:xfrm>
            <a:off x="548640" y="2944368"/>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18" name="Image 4" descr="Biểu tượng minh họa">    </p:cNvPr>
          <p:cNvPicPr>
            <a:picLocks noChangeAspect="1"/>
          </p:cNvPicPr>
          <p:nvPr/>
        </p:nvPicPr>
        <p:blipFill>
          <a:blip r:embed="rId5"/>
          <a:stretch>
            <a:fillRect/>
          </a:stretch>
        </p:blipFill>
        <p:spPr>
          <a:xfrm>
            <a:off x="658368" y="3054096"/>
            <a:ext cx="457200" cy="457200"/>
          </a:xfrm>
          <a:prstGeom prst="rect">
            <a:avLst/>
          </a:prstGeom>
        </p:spPr>
      </p:pic>
      <p:sp>
        <p:nvSpPr>
          <p:cNvPr id="19" name="Text 11"/>
          <p:cNvSpPr txBox="1"/>
          <p:nvPr/>
        </p:nvSpPr>
        <p:spPr>
          <a:xfrm>
            <a:off x="1234440" y="2944368"/>
            <a:ext cx="4663440" cy="676656"/>
          </a:xfrm>
          <a:prstGeom prst="rect">
            <a:avLst/>
          </a:prstGeom>
          <a:noFill/>
          <a:ln/>
        </p:spPr>
        <p:txBody>
          <a:bodyPr wrap="square" lIns="0" tIns="0" rIns="0" bIns="0" rtlCol="0" anchor="ctr"/>
          <a:lstStyle/>
          <a:p>
            <a:pPr indent="0" marL="0">
              <a:buNone/>
            </a:pPr>
            <a:r>
              <a:rPr lang="en-US" sz="1500" dirty="0">
                <a:solidFill>
                  <a:srgbClr val="2E1065"/>
                </a:solidFill>
              </a:rPr>
              <a:t>Cố ý làm hư hại sa bàn, đạo cụ, thiết bị, robot đội bạn</a:t>
            </a:r>
            <a:endParaRPr lang="en-US" sz="1500" dirty="0"/>
          </a:p>
        </p:txBody>
      </p:sp>
      <p:sp>
        <p:nvSpPr>
          <p:cNvPr id="20" name="Shape 12"/>
          <p:cNvSpPr/>
          <p:nvPr/>
        </p:nvSpPr>
        <p:spPr>
          <a:xfrm>
            <a:off x="6190488" y="2944368"/>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21" name="Image 5" descr="Biểu tượng minh họa">    </p:cNvPr>
          <p:cNvPicPr>
            <a:picLocks noChangeAspect="1"/>
          </p:cNvPicPr>
          <p:nvPr/>
        </p:nvPicPr>
        <p:blipFill>
          <a:blip r:embed="rId6"/>
          <a:stretch>
            <a:fillRect/>
          </a:stretch>
        </p:blipFill>
        <p:spPr>
          <a:xfrm>
            <a:off x="6300216" y="3054096"/>
            <a:ext cx="457200" cy="457200"/>
          </a:xfrm>
          <a:prstGeom prst="rect">
            <a:avLst/>
          </a:prstGeom>
        </p:spPr>
      </p:pic>
      <p:sp>
        <p:nvSpPr>
          <p:cNvPr id="22" name="Text 13"/>
          <p:cNvSpPr txBox="1"/>
          <p:nvPr/>
        </p:nvSpPr>
        <p:spPr>
          <a:xfrm>
            <a:off x="6876288" y="2944368"/>
            <a:ext cx="4663440" cy="676656"/>
          </a:xfrm>
          <a:prstGeom prst="rect">
            <a:avLst/>
          </a:prstGeom>
          <a:noFill/>
          <a:ln/>
        </p:spPr>
        <p:txBody>
          <a:bodyPr wrap="square" lIns="0" tIns="0" rIns="0" bIns="0" rtlCol="0" anchor="ctr"/>
          <a:lstStyle/>
          <a:p>
            <a:pPr indent="0" marL="0">
              <a:buNone/>
            </a:pPr>
            <a:r>
              <a:rPr lang="en-US" sz="1500" dirty="0">
                <a:solidFill>
                  <a:srgbClr val="2E1065"/>
                </a:solidFill>
              </a:rPr>
              <a:t>Cố tình phá hoại trận đấu</a:t>
            </a:r>
            <a:endParaRPr lang="en-US" sz="1500" dirty="0"/>
          </a:p>
        </p:txBody>
      </p:sp>
      <p:sp>
        <p:nvSpPr>
          <p:cNvPr id="23" name="Shape 14"/>
          <p:cNvSpPr/>
          <p:nvPr/>
        </p:nvSpPr>
        <p:spPr>
          <a:xfrm>
            <a:off x="548640" y="3730752"/>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24" name="Image 6" descr="Biểu tượng minh họa">    </p:cNvPr>
          <p:cNvPicPr>
            <a:picLocks noChangeAspect="1"/>
          </p:cNvPicPr>
          <p:nvPr/>
        </p:nvPicPr>
        <p:blipFill>
          <a:blip r:embed="rId7"/>
          <a:stretch>
            <a:fillRect/>
          </a:stretch>
        </p:blipFill>
        <p:spPr>
          <a:xfrm>
            <a:off x="658368" y="3840480"/>
            <a:ext cx="457200" cy="457200"/>
          </a:xfrm>
          <a:prstGeom prst="rect">
            <a:avLst/>
          </a:prstGeom>
        </p:spPr>
      </p:pic>
      <p:sp>
        <p:nvSpPr>
          <p:cNvPr id="25" name="Text 15"/>
          <p:cNvSpPr txBox="1"/>
          <p:nvPr/>
        </p:nvSpPr>
        <p:spPr>
          <a:xfrm>
            <a:off x="1234440" y="3730752"/>
            <a:ext cx="4663440" cy="676656"/>
          </a:xfrm>
          <a:prstGeom prst="rect">
            <a:avLst/>
          </a:prstGeom>
          <a:noFill/>
          <a:ln/>
        </p:spPr>
        <p:txBody>
          <a:bodyPr wrap="square" lIns="0" tIns="0" rIns="0" bIns="0" rtlCol="0" anchor="ctr"/>
          <a:lstStyle/>
          <a:p>
            <a:pPr indent="0" marL="0">
              <a:buNone/>
            </a:pPr>
            <a:r>
              <a:rPr lang="en-US" sz="1500" dirty="0">
                <a:solidFill>
                  <a:srgbClr val="2E1065"/>
                </a:solidFill>
              </a:rPr>
              <a:t>Báo sự cố không có thật nhằm trì hoãn trận đấu</a:t>
            </a:r>
            <a:endParaRPr lang="en-US" sz="1500" dirty="0"/>
          </a:p>
        </p:txBody>
      </p:sp>
      <p:sp>
        <p:nvSpPr>
          <p:cNvPr id="26" name="Shape 16"/>
          <p:cNvSpPr/>
          <p:nvPr/>
        </p:nvSpPr>
        <p:spPr>
          <a:xfrm>
            <a:off x="6190488" y="3730752"/>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27" name="Image 7" descr="Biểu tượng minh họa">    </p:cNvPr>
          <p:cNvPicPr>
            <a:picLocks noChangeAspect="1"/>
          </p:cNvPicPr>
          <p:nvPr/>
        </p:nvPicPr>
        <p:blipFill>
          <a:blip r:embed="rId8"/>
          <a:stretch>
            <a:fillRect/>
          </a:stretch>
        </p:blipFill>
        <p:spPr>
          <a:xfrm>
            <a:off x="6300216" y="3840480"/>
            <a:ext cx="457200" cy="457200"/>
          </a:xfrm>
          <a:prstGeom prst="rect">
            <a:avLst/>
          </a:prstGeom>
        </p:spPr>
      </p:pic>
      <p:sp>
        <p:nvSpPr>
          <p:cNvPr id="28" name="Text 17"/>
          <p:cNvSpPr txBox="1"/>
          <p:nvPr/>
        </p:nvSpPr>
        <p:spPr>
          <a:xfrm>
            <a:off x="6876288" y="3730752"/>
            <a:ext cx="4663440" cy="676656"/>
          </a:xfrm>
          <a:prstGeom prst="rect">
            <a:avLst/>
          </a:prstGeom>
          <a:noFill/>
          <a:ln/>
        </p:spPr>
        <p:txBody>
          <a:bodyPr wrap="square" lIns="0" tIns="0" rIns="0" bIns="0" rtlCol="0" anchor="ctr"/>
          <a:lstStyle/>
          <a:p>
            <a:pPr indent="0" marL="0">
              <a:buNone/>
            </a:pPr>
            <a:r>
              <a:rPr lang="en-US" sz="1500" dirty="0">
                <a:solidFill>
                  <a:srgbClr val="2E1065"/>
                </a:solidFill>
              </a:rPr>
              <a:t>Chỉ đạo từ ngoài Khu Điều khiển: hô, ra tín hiệu tay, bộ đàm</a:t>
            </a:r>
            <a:endParaRPr lang="en-US" sz="1500" dirty="0"/>
          </a:p>
        </p:txBody>
      </p:sp>
      <p:sp>
        <p:nvSpPr>
          <p:cNvPr id="29" name="Shape 18"/>
          <p:cNvSpPr/>
          <p:nvPr/>
        </p:nvSpPr>
        <p:spPr>
          <a:xfrm>
            <a:off x="548640" y="4517136"/>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30" name="Image 8" descr="Biểu tượng minh họa">    </p:cNvPr>
          <p:cNvPicPr>
            <a:picLocks noChangeAspect="1"/>
          </p:cNvPicPr>
          <p:nvPr/>
        </p:nvPicPr>
        <p:blipFill>
          <a:blip r:embed="rId9"/>
          <a:stretch>
            <a:fillRect/>
          </a:stretch>
        </p:blipFill>
        <p:spPr>
          <a:xfrm>
            <a:off x="658368" y="4626864"/>
            <a:ext cx="457200" cy="457200"/>
          </a:xfrm>
          <a:prstGeom prst="rect">
            <a:avLst/>
          </a:prstGeom>
        </p:spPr>
      </p:pic>
      <p:sp>
        <p:nvSpPr>
          <p:cNvPr id="31" name="Text 19"/>
          <p:cNvSpPr txBox="1"/>
          <p:nvPr/>
        </p:nvSpPr>
        <p:spPr>
          <a:xfrm>
            <a:off x="1234440" y="4517136"/>
            <a:ext cx="4663440" cy="676656"/>
          </a:xfrm>
          <a:prstGeom prst="rect">
            <a:avLst/>
          </a:prstGeom>
          <a:noFill/>
          <a:ln/>
        </p:spPr>
        <p:txBody>
          <a:bodyPr wrap="square" lIns="0" tIns="0" rIns="0" bIns="0" rtlCol="0" anchor="ctr"/>
          <a:lstStyle/>
          <a:p>
            <a:pPr indent="0" marL="0">
              <a:buNone/>
            </a:pPr>
            <a:r>
              <a:rPr lang="en-US" sz="1500" dirty="0">
                <a:solidFill>
                  <a:srgbClr val="2E1065"/>
                </a:solidFill>
              </a:rPr>
              <a:t>Gây rối; lời nói, hành vi xúc phạm đối thủ, trọng tài, BTC</a:t>
            </a:r>
            <a:endParaRPr lang="en-US" sz="1500" dirty="0"/>
          </a:p>
        </p:txBody>
      </p:sp>
      <p:sp>
        <p:nvSpPr>
          <p:cNvPr id="32" name="Shape 20"/>
          <p:cNvSpPr/>
          <p:nvPr/>
        </p:nvSpPr>
        <p:spPr>
          <a:xfrm>
            <a:off x="6190488" y="4517136"/>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33" name="Image 9" descr="Biểu tượng minh họa">    </p:cNvPr>
          <p:cNvPicPr>
            <a:picLocks noChangeAspect="1"/>
          </p:cNvPicPr>
          <p:nvPr/>
        </p:nvPicPr>
        <p:blipFill>
          <a:blip r:embed="rId10"/>
          <a:stretch>
            <a:fillRect/>
          </a:stretch>
        </p:blipFill>
        <p:spPr>
          <a:xfrm>
            <a:off x="6300216" y="4626864"/>
            <a:ext cx="457200" cy="457200"/>
          </a:xfrm>
          <a:prstGeom prst="rect">
            <a:avLst/>
          </a:prstGeom>
        </p:spPr>
      </p:pic>
      <p:sp>
        <p:nvSpPr>
          <p:cNvPr id="34" name="Text 21"/>
          <p:cNvSpPr txBox="1"/>
          <p:nvPr/>
        </p:nvSpPr>
        <p:spPr>
          <a:xfrm>
            <a:off x="6876288" y="4517136"/>
            <a:ext cx="4663440" cy="676656"/>
          </a:xfrm>
          <a:prstGeom prst="rect">
            <a:avLst/>
          </a:prstGeom>
          <a:noFill/>
          <a:ln/>
        </p:spPr>
        <p:txBody>
          <a:bodyPr wrap="square" lIns="0" tIns="0" rIns="0" bIns="0" rtlCol="0" anchor="ctr"/>
          <a:lstStyle/>
          <a:p>
            <a:pPr indent="0" marL="0">
              <a:buNone/>
            </a:pPr>
            <a:r>
              <a:rPr lang="en-US" sz="1500" dirty="0">
                <a:solidFill>
                  <a:srgbClr val="2E1065"/>
                </a:solidFill>
              </a:rPr>
              <a:t>Không chấp hành hiệu lệnh của trọng tài</a:t>
            </a:r>
            <a:endParaRPr lang="en-US" sz="1500" dirty="0"/>
          </a:p>
        </p:txBody>
      </p:sp>
      <p:sp>
        <p:nvSpPr>
          <p:cNvPr id="35" name="Text 22"/>
          <p:cNvSpPr txBox="1"/>
          <p:nvPr/>
        </p:nvSpPr>
        <p:spPr>
          <a:xfrm>
            <a:off x="548640" y="5440680"/>
            <a:ext cx="2103120" cy="640080"/>
          </a:xfrm>
          <a:prstGeom prst="rect">
            <a:avLst/>
          </a:prstGeom>
          <a:noFill/>
          <a:ln/>
        </p:spPr>
        <p:txBody>
          <a:bodyPr wrap="square" lIns="0" tIns="0" rIns="0" bIns="0" rtlCol="0" anchor="ctr"/>
          <a:lstStyle/>
          <a:p>
            <a:pPr indent="0" marL="0">
              <a:buNone/>
            </a:pPr>
            <a:r>
              <a:rPr lang="en-US" sz="1500" b="1" dirty="0">
                <a:solidFill>
                  <a:srgbClr val="7C3AED"/>
                </a:solidFill>
              </a:rPr>
              <a:t>Tùy mức độ, BTC áp dụng:</a:t>
            </a:r>
            <a:endParaRPr lang="en-US" sz="1500" dirty="0"/>
          </a:p>
        </p:txBody>
      </p:sp>
      <p:sp>
        <p:nvSpPr>
          <p:cNvPr id="36" name="Shape 23"/>
          <p:cNvSpPr/>
          <p:nvPr/>
        </p:nvSpPr>
        <p:spPr>
          <a:xfrm>
            <a:off x="2880360" y="5550408"/>
            <a:ext cx="1508760" cy="457200"/>
          </a:xfrm>
          <a:prstGeom prst="roundRect">
            <a:avLst>
              <a:gd name="adj" fmla="val 50000"/>
            </a:avLst>
          </a:prstGeom>
          <a:solidFill>
            <a:srgbClr val="FDE68A"/>
          </a:solidFill>
          <a:ln/>
        </p:spPr>
      </p:sp>
      <p:sp>
        <p:nvSpPr>
          <p:cNvPr id="37" name="Text 24"/>
          <p:cNvSpPr txBox="1"/>
          <p:nvPr/>
        </p:nvSpPr>
        <p:spPr>
          <a:xfrm>
            <a:off x="2880360" y="5550408"/>
            <a:ext cx="1508760" cy="457200"/>
          </a:xfrm>
          <a:prstGeom prst="rect">
            <a:avLst/>
          </a:prstGeom>
          <a:noFill/>
          <a:ln/>
        </p:spPr>
        <p:txBody>
          <a:bodyPr wrap="square" lIns="0" tIns="0" rIns="0" bIns="0" rtlCol="0" anchor="ctr"/>
          <a:lstStyle/>
          <a:p>
            <a:pPr algn="ctr" indent="0" marL="0">
              <a:buNone/>
            </a:pPr>
            <a:r>
              <a:rPr lang="en-US" sz="1400" b="1" dirty="0">
                <a:solidFill>
                  <a:srgbClr val="2E1065"/>
                </a:solidFill>
              </a:rPr>
              <a:t>Nhắc nhở</a:t>
            </a:r>
            <a:endParaRPr lang="en-US" sz="1400" dirty="0"/>
          </a:p>
        </p:txBody>
      </p:sp>
      <p:sp>
        <p:nvSpPr>
          <p:cNvPr id="38" name="Shape 25"/>
          <p:cNvSpPr/>
          <p:nvPr/>
        </p:nvSpPr>
        <p:spPr>
          <a:xfrm>
            <a:off x="4636008" y="5550408"/>
            <a:ext cx="1508760" cy="457200"/>
          </a:xfrm>
          <a:prstGeom prst="roundRect">
            <a:avLst>
              <a:gd name="adj" fmla="val 50000"/>
            </a:avLst>
          </a:prstGeom>
          <a:solidFill>
            <a:srgbClr val="FDBA74"/>
          </a:solidFill>
          <a:ln/>
        </p:spPr>
      </p:sp>
      <p:sp>
        <p:nvSpPr>
          <p:cNvPr id="39" name="Text 26"/>
          <p:cNvSpPr txBox="1"/>
          <p:nvPr/>
        </p:nvSpPr>
        <p:spPr>
          <a:xfrm>
            <a:off x="4636008" y="5550408"/>
            <a:ext cx="1508760" cy="457200"/>
          </a:xfrm>
          <a:prstGeom prst="rect">
            <a:avLst/>
          </a:prstGeom>
          <a:noFill/>
          <a:ln/>
        </p:spPr>
        <p:txBody>
          <a:bodyPr wrap="square" lIns="0" tIns="0" rIns="0" bIns="0" rtlCol="0" anchor="ctr"/>
          <a:lstStyle/>
          <a:p>
            <a:pPr algn="ctr" indent="0" marL="0">
              <a:buNone/>
            </a:pPr>
            <a:r>
              <a:rPr lang="en-US" sz="1400" b="1" dirty="0">
                <a:solidFill>
                  <a:srgbClr val="2E1065"/>
                </a:solidFill>
              </a:rPr>
              <a:t>Trừ điểm</a:t>
            </a:r>
            <a:endParaRPr lang="en-US" sz="1400" dirty="0"/>
          </a:p>
        </p:txBody>
      </p:sp>
      <p:sp>
        <p:nvSpPr>
          <p:cNvPr id="40" name="Shape 27"/>
          <p:cNvSpPr/>
          <p:nvPr/>
        </p:nvSpPr>
        <p:spPr>
          <a:xfrm>
            <a:off x="6391656" y="5550408"/>
            <a:ext cx="1508760" cy="457200"/>
          </a:xfrm>
          <a:prstGeom prst="roundRect">
            <a:avLst>
              <a:gd name="adj" fmla="val 50000"/>
            </a:avLst>
          </a:prstGeom>
          <a:solidFill>
            <a:srgbClr val="FB923C"/>
          </a:solidFill>
          <a:ln/>
        </p:spPr>
      </p:sp>
      <p:sp>
        <p:nvSpPr>
          <p:cNvPr id="41" name="Text 28"/>
          <p:cNvSpPr txBox="1"/>
          <p:nvPr/>
        </p:nvSpPr>
        <p:spPr>
          <a:xfrm>
            <a:off x="6391656" y="5550408"/>
            <a:ext cx="1508760" cy="457200"/>
          </a:xfrm>
          <a:prstGeom prst="rect">
            <a:avLst/>
          </a:prstGeom>
          <a:noFill/>
          <a:ln/>
        </p:spPr>
        <p:txBody>
          <a:bodyPr wrap="square" lIns="0" tIns="0" rIns="0" bIns="0" rtlCol="0" anchor="ctr"/>
          <a:lstStyle/>
          <a:p>
            <a:pPr algn="ctr" indent="0" marL="0">
              <a:buNone/>
            </a:pPr>
            <a:r>
              <a:rPr lang="en-US" sz="1400" b="1" dirty="0">
                <a:solidFill>
                  <a:srgbClr val="2E1065"/>
                </a:solidFill>
              </a:rPr>
              <a:t>Xử thua lượt</a:t>
            </a:r>
            <a:endParaRPr lang="en-US" sz="1400" dirty="0"/>
          </a:p>
        </p:txBody>
      </p:sp>
      <p:sp>
        <p:nvSpPr>
          <p:cNvPr id="42" name="Shape 29"/>
          <p:cNvSpPr/>
          <p:nvPr/>
        </p:nvSpPr>
        <p:spPr>
          <a:xfrm>
            <a:off x="8147304" y="5550408"/>
            <a:ext cx="1508760" cy="457200"/>
          </a:xfrm>
          <a:prstGeom prst="roundRect">
            <a:avLst>
              <a:gd name="adj" fmla="val 50000"/>
            </a:avLst>
          </a:prstGeom>
          <a:solidFill>
            <a:srgbClr val="F87171"/>
          </a:solidFill>
          <a:ln/>
        </p:spPr>
      </p:sp>
      <p:sp>
        <p:nvSpPr>
          <p:cNvPr id="43" name="Text 30"/>
          <p:cNvSpPr txBox="1"/>
          <p:nvPr/>
        </p:nvSpPr>
        <p:spPr>
          <a:xfrm>
            <a:off x="8147304" y="5550408"/>
            <a:ext cx="1508760" cy="457200"/>
          </a:xfrm>
          <a:prstGeom prst="rect">
            <a:avLst/>
          </a:prstGeom>
          <a:noFill/>
          <a:ln/>
        </p:spPr>
        <p:txBody>
          <a:bodyPr wrap="square" lIns="0" tIns="0" rIns="0" bIns="0" rtlCol="0" anchor="ctr"/>
          <a:lstStyle/>
          <a:p>
            <a:pPr algn="ctr" indent="0" marL="0">
              <a:buNone/>
            </a:pPr>
            <a:r>
              <a:rPr lang="en-US" sz="1400" b="1" dirty="0">
                <a:solidFill>
                  <a:srgbClr val="FFFFFF"/>
                </a:solidFill>
              </a:rPr>
              <a:t>Xử thua cặp</a:t>
            </a:r>
            <a:endParaRPr lang="en-US" sz="1400" dirty="0"/>
          </a:p>
        </p:txBody>
      </p:sp>
      <p:sp>
        <p:nvSpPr>
          <p:cNvPr id="44" name="Shape 31"/>
          <p:cNvSpPr/>
          <p:nvPr/>
        </p:nvSpPr>
        <p:spPr>
          <a:xfrm>
            <a:off x="9902952" y="5550408"/>
            <a:ext cx="1508760" cy="457200"/>
          </a:xfrm>
          <a:prstGeom prst="roundRect">
            <a:avLst>
              <a:gd name="adj" fmla="val 50000"/>
            </a:avLst>
          </a:prstGeom>
          <a:solidFill>
            <a:srgbClr val="DC2626"/>
          </a:solidFill>
          <a:ln/>
        </p:spPr>
      </p:sp>
      <p:sp>
        <p:nvSpPr>
          <p:cNvPr id="45" name="Text 32"/>
          <p:cNvSpPr txBox="1"/>
          <p:nvPr/>
        </p:nvSpPr>
        <p:spPr>
          <a:xfrm>
            <a:off x="9902952" y="5550408"/>
            <a:ext cx="1508760" cy="457200"/>
          </a:xfrm>
          <a:prstGeom prst="rect">
            <a:avLst/>
          </a:prstGeom>
          <a:noFill/>
          <a:ln/>
        </p:spPr>
        <p:txBody>
          <a:bodyPr wrap="square" lIns="0" tIns="0" rIns="0" bIns="0" rtlCol="0" anchor="ctr"/>
          <a:lstStyle/>
          <a:p>
            <a:pPr algn="ctr" indent="0" marL="0">
              <a:buNone/>
            </a:pPr>
            <a:r>
              <a:rPr lang="en-US" sz="1400" b="1" dirty="0">
                <a:solidFill>
                  <a:srgbClr val="FFFFFF"/>
                </a:solidFill>
              </a:rPr>
              <a:t>Loại khỏi giải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AN TOÀN &amp; ỨNG XỬ</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An toàn là trên hết – thi đấu fair-play</a:t>
            </a:r>
            <a:endParaRPr lang="en-US" sz="3000" dirty="0"/>
          </a:p>
        </p:txBody>
      </p:sp>
      <p:sp>
        <p:nvSpPr>
          <p:cNvPr id="5" name="Shape 2"/>
          <p:cNvSpPr/>
          <p:nvPr/>
        </p:nvSpPr>
        <p:spPr>
          <a:xfrm>
            <a:off x="548640" y="1371600"/>
            <a:ext cx="6035040" cy="804672"/>
          </a:xfrm>
          <a:prstGeom prst="roundRect">
            <a:avLst>
              <a:gd name="adj" fmla="val 13636"/>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658368" y="1463040"/>
            <a:ext cx="621792" cy="621792"/>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770291" y="1574963"/>
            <a:ext cx="397947" cy="397947"/>
          </a:xfrm>
          <a:prstGeom prst="rect">
            <a:avLst/>
          </a:prstGeom>
        </p:spPr>
      </p:pic>
      <p:sp>
        <p:nvSpPr>
          <p:cNvPr id="8" name="Text 4"/>
          <p:cNvSpPr txBox="1"/>
          <p:nvPr/>
        </p:nvSpPr>
        <p:spPr>
          <a:xfrm>
            <a:off x="1417320" y="1371600"/>
            <a:ext cx="5074920" cy="804672"/>
          </a:xfrm>
          <a:prstGeom prst="rect">
            <a:avLst/>
          </a:prstGeom>
          <a:noFill/>
          <a:ln/>
        </p:spPr>
        <p:txBody>
          <a:bodyPr wrap="square" lIns="0" tIns="0" rIns="0" bIns="0" rtlCol="0" anchor="ctr"/>
          <a:lstStyle/>
          <a:p>
            <a:pPr indent="0" marL="0">
              <a:buNone/>
            </a:pPr>
            <a:r>
              <a:rPr lang="en-US" sz="1400" dirty="0">
                <a:solidFill>
                  <a:srgbClr val="2E1065"/>
                </a:solidFill>
              </a:rPr>
              <a:t>Nhà trường &amp; giáo viên quản lý học sinh suốt quá trình; phổ biến nội quy, an toàn điện, thiết bị, lối thoát hiểm</a:t>
            </a:r>
            <a:endParaRPr lang="en-US" sz="1400" dirty="0"/>
          </a:p>
        </p:txBody>
      </p:sp>
      <p:sp>
        <p:nvSpPr>
          <p:cNvPr id="9" name="Shape 5"/>
          <p:cNvSpPr/>
          <p:nvPr/>
        </p:nvSpPr>
        <p:spPr>
          <a:xfrm>
            <a:off x="548640" y="2304288"/>
            <a:ext cx="6035040" cy="804672"/>
          </a:xfrm>
          <a:prstGeom prst="roundRect">
            <a:avLst>
              <a:gd name="adj" fmla="val 13636"/>
            </a:avLst>
          </a:prstGeom>
          <a:solidFill>
            <a:srgbClr val="FFFFFF"/>
          </a:solidFill>
          <a:ln/>
          <a:effectLst>
            <a:outerShdw sx="100000" sy="100000" kx="0" ky="0" algn="bl" rotWithShape="0" blurRad="127000" dist="38100" dir="5400000">
              <a:srgbClr val="4C1D95">
                <a:alpha val="16000"/>
              </a:srgbClr>
            </a:outerShdw>
          </a:effectLst>
        </p:spPr>
      </p:sp>
      <p:sp>
        <p:nvSpPr>
          <p:cNvPr id="10" name="Shape 6"/>
          <p:cNvSpPr/>
          <p:nvPr/>
        </p:nvSpPr>
        <p:spPr>
          <a:xfrm>
            <a:off x="658368" y="2395728"/>
            <a:ext cx="621792" cy="621792"/>
          </a:xfrm>
          <a:prstGeom prst="ellipse">
            <a:avLst/>
          </a:prstGeom>
          <a:solidFill>
            <a:srgbClr val="EDE4FF"/>
          </a:solidFill>
          <a:ln/>
        </p:spPr>
      </p:sp>
      <p:pic>
        <p:nvPicPr>
          <p:cNvPr id="11" name="Image 1" descr="Biểu tượng minh họa">    </p:cNvPr>
          <p:cNvPicPr>
            <a:picLocks noChangeAspect="1"/>
          </p:cNvPicPr>
          <p:nvPr/>
        </p:nvPicPr>
        <p:blipFill>
          <a:blip r:embed="rId2"/>
          <a:stretch>
            <a:fillRect/>
          </a:stretch>
        </p:blipFill>
        <p:spPr>
          <a:xfrm>
            <a:off x="770291" y="2507651"/>
            <a:ext cx="397947" cy="397947"/>
          </a:xfrm>
          <a:prstGeom prst="rect">
            <a:avLst/>
          </a:prstGeom>
        </p:spPr>
      </p:pic>
      <p:sp>
        <p:nvSpPr>
          <p:cNvPr id="12" name="Text 7"/>
          <p:cNvSpPr txBox="1"/>
          <p:nvPr/>
        </p:nvSpPr>
        <p:spPr>
          <a:xfrm>
            <a:off x="1417320" y="2304288"/>
            <a:ext cx="5074920" cy="804672"/>
          </a:xfrm>
          <a:prstGeom prst="rect">
            <a:avLst/>
          </a:prstGeom>
          <a:noFill/>
          <a:ln/>
        </p:spPr>
        <p:txBody>
          <a:bodyPr wrap="square" lIns="0" tIns="0" rIns="0" bIns="0" rtlCol="0" anchor="ctr"/>
          <a:lstStyle/>
          <a:p>
            <a:pPr indent="0" marL="0">
              <a:buNone/>
            </a:pPr>
            <a:r>
              <a:rPr lang="en-US" sz="1400" dirty="0">
                <a:solidFill>
                  <a:srgbClr val="2E1065"/>
                </a:solidFill>
              </a:rPr>
              <a:t>Không tự ý sử dụng ổ điện, thiết bị của BTC khi chưa có hướng dẫn</a:t>
            </a:r>
            <a:endParaRPr lang="en-US" sz="1400" dirty="0"/>
          </a:p>
        </p:txBody>
      </p:sp>
      <p:sp>
        <p:nvSpPr>
          <p:cNvPr id="13" name="Shape 8"/>
          <p:cNvSpPr/>
          <p:nvPr/>
        </p:nvSpPr>
        <p:spPr>
          <a:xfrm>
            <a:off x="548640" y="3236976"/>
            <a:ext cx="6035040" cy="804672"/>
          </a:xfrm>
          <a:prstGeom prst="roundRect">
            <a:avLst>
              <a:gd name="adj" fmla="val 13636"/>
            </a:avLst>
          </a:prstGeom>
          <a:solidFill>
            <a:srgbClr val="FFFFFF"/>
          </a:solidFill>
          <a:ln/>
          <a:effectLst>
            <a:outerShdw sx="100000" sy="100000" kx="0" ky="0" algn="bl" rotWithShape="0" blurRad="127000" dist="38100" dir="5400000">
              <a:srgbClr val="4C1D95">
                <a:alpha val="16000"/>
              </a:srgbClr>
            </a:outerShdw>
          </a:effectLst>
        </p:spPr>
      </p:sp>
      <p:sp>
        <p:nvSpPr>
          <p:cNvPr id="14" name="Shape 9"/>
          <p:cNvSpPr/>
          <p:nvPr/>
        </p:nvSpPr>
        <p:spPr>
          <a:xfrm>
            <a:off x="658368" y="3328416"/>
            <a:ext cx="621792" cy="621792"/>
          </a:xfrm>
          <a:prstGeom prst="ellipse">
            <a:avLst/>
          </a:prstGeom>
          <a:solidFill>
            <a:srgbClr val="EDE4FF"/>
          </a:solidFill>
          <a:ln/>
        </p:spPr>
      </p:sp>
      <p:pic>
        <p:nvPicPr>
          <p:cNvPr id="15" name="Image 2" descr="Biểu tượng minh họa">    </p:cNvPr>
          <p:cNvPicPr>
            <a:picLocks noChangeAspect="1"/>
          </p:cNvPicPr>
          <p:nvPr/>
        </p:nvPicPr>
        <p:blipFill>
          <a:blip r:embed="rId3"/>
          <a:stretch>
            <a:fillRect/>
          </a:stretch>
        </p:blipFill>
        <p:spPr>
          <a:xfrm>
            <a:off x="770291" y="3440339"/>
            <a:ext cx="397947" cy="397947"/>
          </a:xfrm>
          <a:prstGeom prst="rect">
            <a:avLst/>
          </a:prstGeom>
        </p:spPr>
      </p:pic>
      <p:sp>
        <p:nvSpPr>
          <p:cNvPr id="16" name="Text 10"/>
          <p:cNvSpPr txBox="1"/>
          <p:nvPr/>
        </p:nvSpPr>
        <p:spPr>
          <a:xfrm>
            <a:off x="1417320" y="3236976"/>
            <a:ext cx="5074920" cy="804672"/>
          </a:xfrm>
          <a:prstGeom prst="rect">
            <a:avLst/>
          </a:prstGeom>
          <a:noFill/>
          <a:ln/>
        </p:spPr>
        <p:txBody>
          <a:bodyPr wrap="square" lIns="0" tIns="0" rIns="0" bIns="0" rtlCol="0" anchor="ctr"/>
          <a:lstStyle/>
          <a:p>
            <a:pPr indent="0" marL="0">
              <a:buNone/>
            </a:pPr>
            <a:r>
              <a:rPr lang="en-US" sz="1400" dirty="0">
                <a:solidFill>
                  <a:srgbClr val="2E1065"/>
                </a:solidFill>
              </a:rPr>
              <a:t>Không mang đồ ăn, nước uống vào khu vực sa bàn và khu thiết bị</a:t>
            </a:r>
            <a:endParaRPr lang="en-US" sz="1400" dirty="0"/>
          </a:p>
        </p:txBody>
      </p:sp>
      <p:sp>
        <p:nvSpPr>
          <p:cNvPr id="17" name="Shape 11"/>
          <p:cNvSpPr/>
          <p:nvPr/>
        </p:nvSpPr>
        <p:spPr>
          <a:xfrm>
            <a:off x="548640" y="4169664"/>
            <a:ext cx="6035040" cy="804672"/>
          </a:xfrm>
          <a:prstGeom prst="roundRect">
            <a:avLst>
              <a:gd name="adj" fmla="val 13636"/>
            </a:avLst>
          </a:prstGeom>
          <a:solidFill>
            <a:srgbClr val="FFFFFF"/>
          </a:solidFill>
          <a:ln/>
          <a:effectLst>
            <a:outerShdw sx="100000" sy="100000" kx="0" ky="0" algn="bl" rotWithShape="0" blurRad="127000" dist="38100" dir="5400000">
              <a:srgbClr val="4C1D95">
                <a:alpha val="16000"/>
              </a:srgbClr>
            </a:outerShdw>
          </a:effectLst>
        </p:spPr>
      </p:sp>
      <p:sp>
        <p:nvSpPr>
          <p:cNvPr id="18" name="Shape 12"/>
          <p:cNvSpPr/>
          <p:nvPr/>
        </p:nvSpPr>
        <p:spPr>
          <a:xfrm>
            <a:off x="658368" y="4261104"/>
            <a:ext cx="621792" cy="621792"/>
          </a:xfrm>
          <a:prstGeom prst="ellipse">
            <a:avLst/>
          </a:prstGeom>
          <a:solidFill>
            <a:srgbClr val="EDE4FF"/>
          </a:solidFill>
          <a:ln/>
        </p:spPr>
      </p:sp>
      <p:pic>
        <p:nvPicPr>
          <p:cNvPr id="19" name="Image 3" descr="Biểu tượng minh họa">    </p:cNvPr>
          <p:cNvPicPr>
            <a:picLocks noChangeAspect="1"/>
          </p:cNvPicPr>
          <p:nvPr/>
        </p:nvPicPr>
        <p:blipFill>
          <a:blip r:embed="rId4"/>
          <a:stretch>
            <a:fillRect/>
          </a:stretch>
        </p:blipFill>
        <p:spPr>
          <a:xfrm>
            <a:off x="770291" y="4373027"/>
            <a:ext cx="397947" cy="397947"/>
          </a:xfrm>
          <a:prstGeom prst="rect">
            <a:avLst/>
          </a:prstGeom>
        </p:spPr>
      </p:pic>
      <p:sp>
        <p:nvSpPr>
          <p:cNvPr id="20" name="Text 13"/>
          <p:cNvSpPr txBox="1"/>
          <p:nvPr/>
        </p:nvSpPr>
        <p:spPr>
          <a:xfrm>
            <a:off x="1417320" y="4169664"/>
            <a:ext cx="5074920" cy="804672"/>
          </a:xfrm>
          <a:prstGeom prst="rect">
            <a:avLst/>
          </a:prstGeom>
          <a:noFill/>
          <a:ln/>
        </p:spPr>
        <p:txBody>
          <a:bodyPr wrap="square" lIns="0" tIns="0" rIns="0" bIns="0" rtlCol="0" anchor="ctr"/>
          <a:lstStyle/>
          <a:p>
            <a:pPr indent="0" marL="0">
              <a:buNone/>
            </a:pPr>
            <a:r>
              <a:rPr lang="en-US" sz="1400" dirty="0">
                <a:solidFill>
                  <a:srgbClr val="2E1065"/>
                </a:solidFill>
              </a:rPr>
              <a:t>Y tế thường trực – có vấn đề sức khỏe báo ngay nhân sự BTC gần nhất</a:t>
            </a:r>
            <a:endParaRPr lang="en-US" sz="1400" dirty="0"/>
          </a:p>
        </p:txBody>
      </p:sp>
      <p:sp>
        <p:nvSpPr>
          <p:cNvPr id="21" name="Shape 14"/>
          <p:cNvSpPr/>
          <p:nvPr/>
        </p:nvSpPr>
        <p:spPr>
          <a:xfrm>
            <a:off x="548640" y="5212080"/>
            <a:ext cx="6035040" cy="1051560"/>
          </a:xfrm>
          <a:prstGeom prst="roundRect">
            <a:avLst>
              <a:gd name="adj" fmla="val 10435"/>
            </a:avLst>
          </a:prstGeom>
          <a:solidFill>
            <a:srgbClr val="7C3AED"/>
          </a:solidFill>
          <a:ln/>
        </p:spPr>
      </p:sp>
      <p:pic>
        <p:nvPicPr>
          <p:cNvPr id="22" name="Image 4" descr="Biểu tượng minh họa">    </p:cNvPr>
          <p:cNvPicPr>
            <a:picLocks noChangeAspect="1"/>
          </p:cNvPicPr>
          <p:nvPr/>
        </p:nvPicPr>
        <p:blipFill>
          <a:blip r:embed="rId5"/>
          <a:stretch>
            <a:fillRect/>
          </a:stretch>
        </p:blipFill>
        <p:spPr>
          <a:xfrm>
            <a:off x="731520" y="5349240"/>
            <a:ext cx="777240" cy="777240"/>
          </a:xfrm>
          <a:prstGeom prst="rect">
            <a:avLst/>
          </a:prstGeom>
        </p:spPr>
      </p:pic>
      <p:sp>
        <p:nvSpPr>
          <p:cNvPr id="23" name="Text 15"/>
          <p:cNvSpPr txBox="1"/>
          <p:nvPr/>
        </p:nvSpPr>
        <p:spPr>
          <a:xfrm>
            <a:off x="1645920" y="5230368"/>
            <a:ext cx="4846320" cy="1005840"/>
          </a:xfrm>
          <a:prstGeom prst="rect">
            <a:avLst/>
          </a:prstGeom>
          <a:noFill/>
          <a:ln/>
        </p:spPr>
        <p:txBody>
          <a:bodyPr wrap="square" lIns="0" tIns="0" rIns="0" bIns="0" rtlCol="0" anchor="ctr"/>
          <a:lstStyle/>
          <a:p>
            <a:pPr indent="0" marL="0">
              <a:buNone/>
            </a:pPr>
            <a:r>
              <a:rPr lang="en-US" sz="1800" b="1" dirty="0">
                <a:solidFill>
                  <a:srgbClr val="FDE68A"/>
                </a:solidFill>
              </a:rPr>
              <a:t>“Tình bạn là trên hết, Thi đấu là thứ hai”</a:t>
            </a:r>
            <a:endParaRPr lang="en-US" sz="1600" dirty="0"/>
          </a:p>
          <a:p>
            <a:pPr indent="0" marL="0">
              <a:buNone/>
            </a:pPr>
            <a:r>
              <a:rPr lang="en-US" sz="1400" dirty="0">
                <a:solidFill>
                  <a:srgbClr val="FFFFFF"/>
                </a:solidFill>
              </a:rPr>
              <a:t>Trung thực · Tôn trọng đối thủ · Chấp hành trọng tài</a:t>
            </a:r>
            <a:endParaRPr lang="en-US" sz="1600" dirty="0"/>
          </a:p>
        </p:txBody>
      </p:sp>
      <p:pic>
        <p:nvPicPr>
          <p:cNvPr id="24" name="RR_ph_trainghiem_jpg" descr="Học sinh trải nghiệm tại gian hàng STEM – Robotics – AI">    </p:cNvPr>
          <p:cNvPicPr>
            <a:picLocks noChangeAspect="1"/>
          </p:cNvPicPr>
          <p:nvPr/>
        </p:nvPicPr>
        <p:blipFill>
          <a:blip r:embed="rId6"/>
          <a:stretch>
            <a:fillRect/>
          </a:stretch>
        </p:blipFill>
        <p:spPr>
          <a:xfrm>
            <a:off x="6858000" y="1371600"/>
            <a:ext cx="4782312" cy="3191256"/>
          </a:xfrm>
          <a:prstGeom prst="roundRect">
            <a:avLst>
              <a:gd name="adj" fmla="val 6500"/>
            </a:avLst>
          </a:prstGeom>
          <a:effectLst>
            <a:outerShdw sx="100000" sy="100000" kx="0" ky="0" algn="bl" rotWithShape="0" blurRad="177800" dist="50800" dir="5400000">
              <a:srgbClr val="2E1065">
                <a:alpha val="25000"/>
              </a:srgbClr>
            </a:outerShdw>
          </a:effectLst>
        </p:spPr>
      </p:pic>
      <p:pic>
        <p:nvPicPr>
          <p:cNvPr id="25" name="RR_ugot_kid_jpg" descr="Học sinh và giáo viên với robot UGOT">    </p:cNvPr>
          <p:cNvPicPr>
            <a:picLocks noChangeAspect="1"/>
          </p:cNvPicPr>
          <p:nvPr/>
        </p:nvPicPr>
        <p:blipFill>
          <a:blip r:embed="rId7"/>
          <a:stretch>
            <a:fillRect/>
          </a:stretch>
        </p:blipFill>
        <p:spPr>
          <a:xfrm>
            <a:off x="6858000" y="4754880"/>
            <a:ext cx="2286000" cy="1517904"/>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6" name="Shape 16"/>
          <p:cNvSpPr/>
          <p:nvPr/>
        </p:nvSpPr>
        <p:spPr>
          <a:xfrm>
            <a:off x="9326880" y="4754880"/>
            <a:ext cx="2313432" cy="1517904"/>
          </a:xfrm>
          <a:prstGeom prst="roundRect">
            <a:avLst>
              <a:gd name="adj" fmla="val 7229"/>
            </a:avLst>
          </a:prstGeom>
          <a:solidFill>
            <a:srgbClr val="FFFFFF"/>
          </a:solidFill>
          <a:ln/>
          <a:effectLst>
            <a:outerShdw sx="100000" sy="100000" kx="0" ky="0" algn="bl" rotWithShape="0" blurRad="127000" dist="38100" dir="5400000">
              <a:srgbClr val="4C1D95">
                <a:alpha val="16000"/>
              </a:srgbClr>
            </a:outerShdw>
          </a:effectLst>
        </p:spPr>
      </p:sp>
      <p:sp>
        <p:nvSpPr>
          <p:cNvPr id="27" name="Shape 17"/>
          <p:cNvSpPr/>
          <p:nvPr/>
        </p:nvSpPr>
        <p:spPr>
          <a:xfrm>
            <a:off x="10012680" y="4846320"/>
            <a:ext cx="868680" cy="868680"/>
          </a:xfrm>
          <a:prstGeom prst="ellipse">
            <a:avLst/>
          </a:prstGeom>
          <a:solidFill>
            <a:srgbClr val="FCE7F3"/>
          </a:solidFill>
          <a:ln/>
        </p:spPr>
      </p:sp>
      <p:pic>
        <p:nvPicPr>
          <p:cNvPr id="28" name="Image 7" descr="Biểu tượng minh họa">    </p:cNvPr>
          <p:cNvPicPr>
            <a:picLocks noChangeAspect="1"/>
          </p:cNvPicPr>
          <p:nvPr/>
        </p:nvPicPr>
        <p:blipFill>
          <a:blip r:embed="rId8"/>
          <a:stretch>
            <a:fillRect/>
          </a:stretch>
        </p:blipFill>
        <p:spPr>
          <a:xfrm>
            <a:off x="10169042" y="5002682"/>
            <a:ext cx="555955" cy="555955"/>
          </a:xfrm>
          <a:prstGeom prst="rect">
            <a:avLst/>
          </a:prstGeom>
        </p:spPr>
      </p:pic>
      <p:sp>
        <p:nvSpPr>
          <p:cNvPr id="29" name="Text 18"/>
          <p:cNvSpPr txBox="1"/>
          <p:nvPr/>
        </p:nvSpPr>
        <p:spPr>
          <a:xfrm>
            <a:off x="9372600" y="5742432"/>
            <a:ext cx="2221992" cy="411480"/>
          </a:xfrm>
          <a:prstGeom prst="rect">
            <a:avLst/>
          </a:prstGeom>
          <a:noFill/>
          <a:ln/>
        </p:spPr>
        <p:txBody>
          <a:bodyPr wrap="square" lIns="0" tIns="0" rIns="0" bIns="0" rtlCol="0" anchor="t"/>
          <a:lstStyle/>
          <a:p>
            <a:pPr algn="ctr" indent="0" marL="0">
              <a:buNone/>
            </a:pPr>
            <a:r>
              <a:rPr lang="en-US" sz="1400" b="1" dirty="0">
                <a:solidFill>
                  <a:srgbClr val="DB2777"/>
                </a:solidFill>
              </a:rPr>
              <a:t>Cổ vũ văn minh</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TỔ CHỨC ĐIỀU HÀNH</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Ban Trọng tài và quy trình chấm điểm</a:t>
            </a:r>
            <a:endParaRPr lang="en-US" sz="3000" dirty="0"/>
          </a:p>
        </p:txBody>
      </p:sp>
      <p:sp>
        <p:nvSpPr>
          <p:cNvPr id="5" name="Shape 2"/>
          <p:cNvSpPr/>
          <p:nvPr/>
        </p:nvSpPr>
        <p:spPr>
          <a:xfrm>
            <a:off x="548640" y="1371600"/>
            <a:ext cx="2569464" cy="2606040"/>
          </a:xfrm>
          <a:prstGeom prst="roundRect">
            <a:avLst>
              <a:gd name="adj" fmla="val 4270"/>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1399032" y="1481328"/>
            <a:ext cx="868680" cy="868680"/>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1555394" y="1637690"/>
            <a:ext cx="555955" cy="555955"/>
          </a:xfrm>
          <a:prstGeom prst="rect">
            <a:avLst/>
          </a:prstGeom>
        </p:spPr>
      </p:pic>
      <p:sp>
        <p:nvSpPr>
          <p:cNvPr id="8" name="Text 4"/>
          <p:cNvSpPr txBox="1"/>
          <p:nvPr/>
        </p:nvSpPr>
        <p:spPr>
          <a:xfrm>
            <a:off x="640080" y="2423160"/>
            <a:ext cx="2386584" cy="384048"/>
          </a:xfrm>
          <a:prstGeom prst="rect">
            <a:avLst/>
          </a:prstGeom>
          <a:noFill/>
          <a:ln/>
        </p:spPr>
        <p:txBody>
          <a:bodyPr wrap="square" lIns="0" tIns="0" rIns="0" bIns="0" rtlCol="0" anchor="t"/>
          <a:lstStyle/>
          <a:p>
            <a:pPr algn="ctr" indent="0" marL="0">
              <a:buNone/>
            </a:pPr>
            <a:r>
              <a:rPr lang="en-US" sz="1700" b="1" dirty="0">
                <a:solidFill>
                  <a:srgbClr val="7C3AED"/>
                </a:solidFill>
              </a:rPr>
              <a:t>Tổng trọng tài</a:t>
            </a:r>
            <a:endParaRPr lang="en-US" sz="1700" dirty="0"/>
          </a:p>
        </p:txBody>
      </p:sp>
      <p:sp>
        <p:nvSpPr>
          <p:cNvPr id="9" name="Text 5"/>
          <p:cNvSpPr txBox="1"/>
          <p:nvPr/>
        </p:nvSpPr>
        <p:spPr>
          <a:xfrm>
            <a:off x="713232" y="2816352"/>
            <a:ext cx="2240280" cy="1097280"/>
          </a:xfrm>
          <a:prstGeom prst="rect">
            <a:avLst/>
          </a:prstGeom>
          <a:noFill/>
          <a:ln/>
        </p:spPr>
        <p:txBody>
          <a:bodyPr wrap="square" lIns="0" tIns="0" rIns="0" bIns="0" rtlCol="0" anchor="t"/>
          <a:lstStyle/>
          <a:p>
            <a:pPr algn="ctr" indent="0" marL="0">
              <a:buNone/>
            </a:pPr>
            <a:r>
              <a:rPr lang="en-US" sz="1300" dirty="0">
                <a:solidFill>
                  <a:srgbClr val="2E1065"/>
                </a:solidFill>
              </a:rPr>
              <a:t>Xử lý tình huống chưa quy định; quyết định tạm dừng, đổi robot, thi lại, xử thua; phân xử khiếu nại</a:t>
            </a:r>
            <a:endParaRPr lang="en-US" sz="1300" dirty="0"/>
          </a:p>
        </p:txBody>
      </p:sp>
      <p:sp>
        <p:nvSpPr>
          <p:cNvPr id="10" name="Shape 6"/>
          <p:cNvSpPr/>
          <p:nvPr/>
        </p:nvSpPr>
        <p:spPr>
          <a:xfrm>
            <a:off x="3389681" y="1371600"/>
            <a:ext cx="2569464" cy="2606040"/>
          </a:xfrm>
          <a:prstGeom prst="roundRect">
            <a:avLst>
              <a:gd name="adj" fmla="val 4270"/>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4240073" y="1481328"/>
            <a:ext cx="868680" cy="868680"/>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4396435" y="1637690"/>
            <a:ext cx="555955" cy="555955"/>
          </a:xfrm>
          <a:prstGeom prst="rect">
            <a:avLst/>
          </a:prstGeom>
        </p:spPr>
      </p:pic>
      <p:sp>
        <p:nvSpPr>
          <p:cNvPr id="13" name="Text 8"/>
          <p:cNvSpPr txBox="1"/>
          <p:nvPr/>
        </p:nvSpPr>
        <p:spPr>
          <a:xfrm>
            <a:off x="3481121" y="2423160"/>
            <a:ext cx="2386584" cy="384048"/>
          </a:xfrm>
          <a:prstGeom prst="rect">
            <a:avLst/>
          </a:prstGeom>
          <a:noFill/>
          <a:ln/>
        </p:spPr>
        <p:txBody>
          <a:bodyPr wrap="square" lIns="0" tIns="0" rIns="0" bIns="0" rtlCol="0" anchor="t"/>
          <a:lstStyle/>
          <a:p>
            <a:pPr algn="ctr" indent="0" marL="0">
              <a:buNone/>
            </a:pPr>
            <a:r>
              <a:rPr lang="en-US" sz="1700" b="1" dirty="0">
                <a:solidFill>
                  <a:srgbClr val="7C3AED"/>
                </a:solidFill>
              </a:rPr>
              <a:t>Trọng tài chính</a:t>
            </a:r>
            <a:endParaRPr lang="en-US" sz="1700" dirty="0"/>
          </a:p>
        </p:txBody>
      </p:sp>
      <p:sp>
        <p:nvSpPr>
          <p:cNvPr id="14" name="Text 9"/>
          <p:cNvSpPr txBox="1"/>
          <p:nvPr/>
        </p:nvSpPr>
        <p:spPr>
          <a:xfrm>
            <a:off x="3554273" y="2816352"/>
            <a:ext cx="2240280" cy="1097280"/>
          </a:xfrm>
          <a:prstGeom prst="rect">
            <a:avLst/>
          </a:prstGeom>
          <a:noFill/>
          <a:ln/>
        </p:spPr>
        <p:txBody>
          <a:bodyPr wrap="square" lIns="0" tIns="0" rIns="0" bIns="0" rtlCol="0" anchor="t"/>
          <a:lstStyle/>
          <a:p>
            <a:pPr algn="ctr" indent="0" marL="0">
              <a:buNone/>
            </a:pPr>
            <a:r>
              <a:rPr lang="en-US" sz="1300" dirty="0">
                <a:solidFill>
                  <a:srgbClr val="2E1065"/>
                </a:solidFill>
              </a:rPr>
              <a:t>Phát hiệu lệnh; ghi lỗi; xác nhận mở khóa, Hồi căn cứ, khối hợp lệ, kết quả lượt đấu</a:t>
            </a:r>
            <a:endParaRPr lang="en-US" sz="1300" dirty="0"/>
          </a:p>
        </p:txBody>
      </p:sp>
      <p:sp>
        <p:nvSpPr>
          <p:cNvPr id="15" name="Shape 10"/>
          <p:cNvSpPr/>
          <p:nvPr/>
        </p:nvSpPr>
        <p:spPr>
          <a:xfrm>
            <a:off x="6230722" y="1371600"/>
            <a:ext cx="2569464" cy="2606040"/>
          </a:xfrm>
          <a:prstGeom prst="roundRect">
            <a:avLst>
              <a:gd name="adj" fmla="val 4270"/>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7081114" y="1481328"/>
            <a:ext cx="868680" cy="868680"/>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7237476" y="1637690"/>
            <a:ext cx="555955" cy="555955"/>
          </a:xfrm>
          <a:prstGeom prst="rect">
            <a:avLst/>
          </a:prstGeom>
        </p:spPr>
      </p:pic>
      <p:sp>
        <p:nvSpPr>
          <p:cNvPr id="18" name="Text 12"/>
          <p:cNvSpPr txBox="1"/>
          <p:nvPr/>
        </p:nvSpPr>
        <p:spPr>
          <a:xfrm>
            <a:off x="6322162" y="2423160"/>
            <a:ext cx="2386584" cy="384048"/>
          </a:xfrm>
          <a:prstGeom prst="rect">
            <a:avLst/>
          </a:prstGeom>
          <a:noFill/>
          <a:ln/>
        </p:spPr>
        <p:txBody>
          <a:bodyPr wrap="square" lIns="0" tIns="0" rIns="0" bIns="0" rtlCol="0" anchor="t"/>
          <a:lstStyle/>
          <a:p>
            <a:pPr algn="ctr" indent="0" marL="0">
              <a:buNone/>
            </a:pPr>
            <a:r>
              <a:rPr lang="en-US" sz="1700" b="1" dirty="0">
                <a:solidFill>
                  <a:srgbClr val="7C3AED"/>
                </a:solidFill>
              </a:rPr>
              <a:t>Trợ lý trọng tài</a:t>
            </a:r>
            <a:endParaRPr lang="en-US" sz="1700" dirty="0"/>
          </a:p>
        </p:txBody>
      </p:sp>
      <p:sp>
        <p:nvSpPr>
          <p:cNvPr id="19" name="Text 13"/>
          <p:cNvSpPr txBox="1"/>
          <p:nvPr/>
        </p:nvSpPr>
        <p:spPr>
          <a:xfrm>
            <a:off x="6395314" y="2816352"/>
            <a:ext cx="2240280" cy="1097280"/>
          </a:xfrm>
          <a:prstGeom prst="rect">
            <a:avLst/>
          </a:prstGeom>
          <a:noFill/>
          <a:ln/>
        </p:spPr>
        <p:txBody>
          <a:bodyPr wrap="square" lIns="0" tIns="0" rIns="0" bIns="0" rtlCol="0" anchor="t"/>
          <a:lstStyle/>
          <a:p>
            <a:pPr algn="ctr" indent="0" marL="0">
              <a:buNone/>
            </a:pPr>
            <a:r>
              <a:rPr lang="en-US" sz="1300" dirty="0">
                <a:solidFill>
                  <a:srgbClr val="2E1065"/>
                </a:solidFill>
              </a:rPr>
              <a:t>Theo dõi mở khóa; đặt lại khối rơi, đạo cụ; kiểm đếm, chốt khối tại hai Căn cứ</a:t>
            </a:r>
            <a:endParaRPr lang="en-US" sz="1300" dirty="0"/>
          </a:p>
        </p:txBody>
      </p:sp>
      <p:sp>
        <p:nvSpPr>
          <p:cNvPr id="20" name="Shape 14"/>
          <p:cNvSpPr/>
          <p:nvPr/>
        </p:nvSpPr>
        <p:spPr>
          <a:xfrm>
            <a:off x="9071762" y="1371600"/>
            <a:ext cx="2569464" cy="2606040"/>
          </a:xfrm>
          <a:prstGeom prst="roundRect">
            <a:avLst>
              <a:gd name="adj" fmla="val 4270"/>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9922154" y="1481328"/>
            <a:ext cx="868680" cy="868680"/>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10078517" y="1637690"/>
            <a:ext cx="555955" cy="555955"/>
          </a:xfrm>
          <a:prstGeom prst="rect">
            <a:avLst/>
          </a:prstGeom>
        </p:spPr>
      </p:pic>
      <p:sp>
        <p:nvSpPr>
          <p:cNvPr id="23" name="Text 16"/>
          <p:cNvSpPr txBox="1"/>
          <p:nvPr/>
        </p:nvSpPr>
        <p:spPr>
          <a:xfrm>
            <a:off x="9163202" y="2423160"/>
            <a:ext cx="2386584" cy="384048"/>
          </a:xfrm>
          <a:prstGeom prst="rect">
            <a:avLst/>
          </a:prstGeom>
          <a:noFill/>
          <a:ln/>
        </p:spPr>
        <p:txBody>
          <a:bodyPr wrap="square" lIns="0" tIns="0" rIns="0" bIns="0" rtlCol="0" anchor="t"/>
          <a:lstStyle/>
          <a:p>
            <a:pPr algn="ctr" indent="0" marL="0">
              <a:buNone/>
            </a:pPr>
            <a:r>
              <a:rPr lang="en-US" sz="1700" b="1" dirty="0">
                <a:solidFill>
                  <a:srgbClr val="7C3AED"/>
                </a:solidFill>
              </a:rPr>
              <a:t>Thư ký – bấm giờ</a:t>
            </a:r>
            <a:endParaRPr lang="en-US" sz="1700" dirty="0"/>
          </a:p>
        </p:txBody>
      </p:sp>
      <p:sp>
        <p:nvSpPr>
          <p:cNvPr id="24" name="Text 17"/>
          <p:cNvSpPr txBox="1"/>
          <p:nvPr/>
        </p:nvSpPr>
        <p:spPr>
          <a:xfrm>
            <a:off x="9236354" y="2816352"/>
            <a:ext cx="2240280" cy="1097280"/>
          </a:xfrm>
          <a:prstGeom prst="rect">
            <a:avLst/>
          </a:prstGeom>
          <a:noFill/>
          <a:ln/>
        </p:spPr>
        <p:txBody>
          <a:bodyPr wrap="square" lIns="0" tIns="0" rIns="0" bIns="0" rtlCol="0" anchor="t"/>
          <a:lstStyle/>
          <a:p>
            <a:pPr algn="ctr" indent="0" marL="0">
              <a:buNone/>
            </a:pPr>
            <a:r>
              <a:rPr lang="en-US" sz="1300" dirty="0">
                <a:solidFill>
                  <a:srgbClr val="2E1065"/>
                </a:solidFill>
              </a:rPr>
              <a:t>Vận hành đồng hồ; tạm dừng/chạy tiếp; ghi Thời gian hoàn thành vào phiếu</a:t>
            </a:r>
            <a:endParaRPr lang="en-US" sz="1300" dirty="0"/>
          </a:p>
        </p:txBody>
      </p:sp>
      <p:sp>
        <p:nvSpPr>
          <p:cNvPr id="25" name="Text 18"/>
          <p:cNvSpPr txBox="1"/>
          <p:nvPr/>
        </p:nvSpPr>
        <p:spPr>
          <a:xfrm>
            <a:off x="548640" y="4160520"/>
            <a:ext cx="7315200" cy="365760"/>
          </a:xfrm>
          <a:prstGeom prst="rect">
            <a:avLst/>
          </a:prstGeom>
          <a:noFill/>
          <a:ln/>
        </p:spPr>
        <p:txBody>
          <a:bodyPr wrap="square" lIns="0" tIns="0" rIns="0" bIns="0" rtlCol="0" anchor="t"/>
          <a:lstStyle/>
          <a:p>
            <a:pPr indent="0" marL="0">
              <a:buNone/>
            </a:pPr>
            <a:r>
              <a:rPr lang="en-US" sz="1600" b="1" dirty="0">
                <a:solidFill>
                  <a:srgbClr val="7C3AED"/>
                </a:solidFill>
              </a:rPr>
              <a:t>Quy trình tính điểm sau mỗi lượt</a:t>
            </a:r>
            <a:endParaRPr lang="en-US" sz="1600" dirty="0"/>
          </a:p>
        </p:txBody>
      </p:sp>
      <p:sp>
        <p:nvSpPr>
          <p:cNvPr id="26" name="Shape 19"/>
          <p:cNvSpPr/>
          <p:nvPr/>
        </p:nvSpPr>
        <p:spPr>
          <a:xfrm>
            <a:off x="548640" y="4617720"/>
            <a:ext cx="1627632" cy="566928"/>
          </a:xfrm>
          <a:prstGeom prst="roundRect">
            <a:avLst>
              <a:gd name="adj" fmla="val 50000"/>
            </a:avLst>
          </a:prstGeom>
          <a:solidFill>
            <a:srgbClr val="7C3AED"/>
          </a:solidFill>
          <a:ln/>
        </p:spPr>
      </p:sp>
      <p:sp>
        <p:nvSpPr>
          <p:cNvPr id="27" name="Text 20"/>
          <p:cNvSpPr txBox="1"/>
          <p:nvPr/>
        </p:nvSpPr>
        <p:spPr>
          <a:xfrm>
            <a:off x="548640"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Điểm cộng</a:t>
            </a:r>
            <a:endParaRPr lang="en-US" sz="1300" dirty="0"/>
          </a:p>
        </p:txBody>
      </p:sp>
      <p:sp>
        <p:nvSpPr>
          <p:cNvPr id="28" name="Shape 21"/>
          <p:cNvSpPr/>
          <p:nvPr/>
        </p:nvSpPr>
        <p:spPr>
          <a:xfrm>
            <a:off x="2212848" y="4782312"/>
            <a:ext cx="201168" cy="237744"/>
          </a:xfrm>
          <a:prstGeom prst="rightArrow">
            <a:avLst/>
          </a:prstGeom>
          <a:solidFill>
            <a:srgbClr val="8B5CF6"/>
          </a:solidFill>
          <a:ln/>
        </p:spPr>
      </p:sp>
      <p:sp>
        <p:nvSpPr>
          <p:cNvPr id="29" name="Shape 22"/>
          <p:cNvSpPr/>
          <p:nvPr/>
        </p:nvSpPr>
        <p:spPr>
          <a:xfrm>
            <a:off x="2441448" y="4617720"/>
            <a:ext cx="1627632" cy="566928"/>
          </a:xfrm>
          <a:prstGeom prst="roundRect">
            <a:avLst>
              <a:gd name="adj" fmla="val 50000"/>
            </a:avLst>
          </a:prstGeom>
          <a:solidFill>
            <a:srgbClr val="7C3AED"/>
          </a:solidFill>
          <a:ln/>
        </p:spPr>
      </p:sp>
      <p:sp>
        <p:nvSpPr>
          <p:cNvPr id="30" name="Text 23"/>
          <p:cNvSpPr txBox="1"/>
          <p:nvPr/>
        </p:nvSpPr>
        <p:spPr>
          <a:xfrm>
            <a:off x="2441448"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Điểm trừ</a:t>
            </a:r>
            <a:endParaRPr lang="en-US" sz="1300" dirty="0"/>
          </a:p>
        </p:txBody>
      </p:sp>
      <p:sp>
        <p:nvSpPr>
          <p:cNvPr id="31" name="Shape 24"/>
          <p:cNvSpPr/>
          <p:nvPr/>
        </p:nvSpPr>
        <p:spPr>
          <a:xfrm>
            <a:off x="4105656" y="4782312"/>
            <a:ext cx="201168" cy="237744"/>
          </a:xfrm>
          <a:prstGeom prst="rightArrow">
            <a:avLst/>
          </a:prstGeom>
          <a:solidFill>
            <a:srgbClr val="8B5CF6"/>
          </a:solidFill>
          <a:ln/>
        </p:spPr>
      </p:sp>
      <p:sp>
        <p:nvSpPr>
          <p:cNvPr id="32" name="Shape 25"/>
          <p:cNvSpPr/>
          <p:nvPr/>
        </p:nvSpPr>
        <p:spPr>
          <a:xfrm>
            <a:off x="4334256" y="4617720"/>
            <a:ext cx="1627632" cy="566928"/>
          </a:xfrm>
          <a:prstGeom prst="roundRect">
            <a:avLst>
              <a:gd name="adj" fmla="val 50000"/>
            </a:avLst>
          </a:prstGeom>
          <a:solidFill>
            <a:srgbClr val="7C3AED"/>
          </a:solidFill>
          <a:ln/>
        </p:spPr>
      </p:sp>
      <p:sp>
        <p:nvSpPr>
          <p:cNvPr id="33" name="Text 26"/>
          <p:cNvSpPr txBox="1"/>
          <p:nvPr/>
        </p:nvSpPr>
        <p:spPr>
          <a:xfrm>
            <a:off x="4334256"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Tổng điểm nhiệm vụ</a:t>
            </a:r>
            <a:endParaRPr lang="en-US" sz="1300" dirty="0"/>
          </a:p>
        </p:txBody>
      </p:sp>
      <p:sp>
        <p:nvSpPr>
          <p:cNvPr id="34" name="Shape 27"/>
          <p:cNvSpPr/>
          <p:nvPr/>
        </p:nvSpPr>
        <p:spPr>
          <a:xfrm>
            <a:off x="5998464" y="4782312"/>
            <a:ext cx="201168" cy="237744"/>
          </a:xfrm>
          <a:prstGeom prst="rightArrow">
            <a:avLst/>
          </a:prstGeom>
          <a:solidFill>
            <a:srgbClr val="8B5CF6"/>
          </a:solidFill>
          <a:ln/>
        </p:spPr>
      </p:sp>
      <p:sp>
        <p:nvSpPr>
          <p:cNvPr id="35" name="Shape 28"/>
          <p:cNvSpPr/>
          <p:nvPr/>
        </p:nvSpPr>
        <p:spPr>
          <a:xfrm>
            <a:off x="6227064" y="4617720"/>
            <a:ext cx="1627632" cy="566928"/>
          </a:xfrm>
          <a:prstGeom prst="roundRect">
            <a:avLst>
              <a:gd name="adj" fmla="val 50000"/>
            </a:avLst>
          </a:prstGeom>
          <a:solidFill>
            <a:srgbClr val="7C3AED"/>
          </a:solidFill>
          <a:ln/>
        </p:spPr>
      </p:sp>
      <p:sp>
        <p:nvSpPr>
          <p:cNvPr id="36" name="Text 29"/>
          <p:cNvSpPr txBox="1"/>
          <p:nvPr/>
        </p:nvSpPr>
        <p:spPr>
          <a:xfrm>
            <a:off x="6227064"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Bằng: so thời gian</a:t>
            </a:r>
            <a:endParaRPr lang="en-US" sz="1300" dirty="0"/>
          </a:p>
        </p:txBody>
      </p:sp>
      <p:sp>
        <p:nvSpPr>
          <p:cNvPr id="37" name="Shape 30"/>
          <p:cNvSpPr/>
          <p:nvPr/>
        </p:nvSpPr>
        <p:spPr>
          <a:xfrm>
            <a:off x="7891272" y="4782312"/>
            <a:ext cx="201168" cy="237744"/>
          </a:xfrm>
          <a:prstGeom prst="rightArrow">
            <a:avLst/>
          </a:prstGeom>
          <a:solidFill>
            <a:srgbClr val="8B5CF6"/>
          </a:solidFill>
          <a:ln/>
        </p:spPr>
      </p:sp>
      <p:sp>
        <p:nvSpPr>
          <p:cNvPr id="38" name="Shape 31"/>
          <p:cNvSpPr/>
          <p:nvPr/>
        </p:nvSpPr>
        <p:spPr>
          <a:xfrm>
            <a:off x="8119872" y="4617720"/>
            <a:ext cx="1627632" cy="566928"/>
          </a:xfrm>
          <a:prstGeom prst="roundRect">
            <a:avLst>
              <a:gd name="adj" fmla="val 50000"/>
            </a:avLst>
          </a:prstGeom>
          <a:solidFill>
            <a:srgbClr val="7C3AED"/>
          </a:solidFill>
          <a:ln/>
        </p:spPr>
      </p:sp>
      <p:sp>
        <p:nvSpPr>
          <p:cNvPr id="39" name="Text 32"/>
          <p:cNvSpPr txBox="1"/>
          <p:nvPr/>
        </p:nvSpPr>
        <p:spPr>
          <a:xfrm>
            <a:off x="8119872"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Thắng / Hòa / Thua</a:t>
            </a:r>
            <a:endParaRPr lang="en-US" sz="1300" dirty="0"/>
          </a:p>
        </p:txBody>
      </p:sp>
      <p:sp>
        <p:nvSpPr>
          <p:cNvPr id="40" name="Shape 33"/>
          <p:cNvSpPr/>
          <p:nvPr/>
        </p:nvSpPr>
        <p:spPr>
          <a:xfrm>
            <a:off x="9784080" y="4782312"/>
            <a:ext cx="201168" cy="237744"/>
          </a:xfrm>
          <a:prstGeom prst="rightArrow">
            <a:avLst/>
          </a:prstGeom>
          <a:solidFill>
            <a:srgbClr val="8B5CF6"/>
          </a:solidFill>
          <a:ln/>
        </p:spPr>
      </p:sp>
      <p:sp>
        <p:nvSpPr>
          <p:cNvPr id="41" name="Shape 34"/>
          <p:cNvSpPr/>
          <p:nvPr/>
        </p:nvSpPr>
        <p:spPr>
          <a:xfrm>
            <a:off x="10012680" y="4617720"/>
            <a:ext cx="1627632" cy="566928"/>
          </a:xfrm>
          <a:prstGeom prst="roundRect">
            <a:avLst>
              <a:gd name="adj" fmla="val 50000"/>
            </a:avLst>
          </a:prstGeom>
          <a:solidFill>
            <a:srgbClr val="EA580C"/>
          </a:solidFill>
          <a:ln/>
        </p:spPr>
      </p:sp>
      <p:sp>
        <p:nvSpPr>
          <p:cNvPr id="42" name="Text 35"/>
          <p:cNvSpPr txBox="1"/>
          <p:nvPr/>
        </p:nvSpPr>
        <p:spPr>
          <a:xfrm>
            <a:off x="10012680"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Điểm trận 3 – 1 – 0</a:t>
            </a:r>
            <a:endParaRPr lang="en-US" sz="1300" dirty="0"/>
          </a:p>
        </p:txBody>
      </p:sp>
      <p:sp>
        <p:nvSpPr>
          <p:cNvPr id="43" name="Shape 36"/>
          <p:cNvSpPr/>
          <p:nvPr/>
        </p:nvSpPr>
        <p:spPr>
          <a:xfrm>
            <a:off x="548640" y="5440680"/>
            <a:ext cx="11091672" cy="822960"/>
          </a:xfrm>
          <a:prstGeom prst="roundRect">
            <a:avLst>
              <a:gd name="adj" fmla="val 13333"/>
            </a:avLst>
          </a:prstGeom>
          <a:solidFill>
            <a:srgbClr val="FFFFFF"/>
          </a:solidFill>
          <a:ln/>
          <a:effectLst>
            <a:outerShdw sx="100000" sy="100000" kx="0" ky="0" algn="bl" rotWithShape="0" blurRad="127000" dist="38100" dir="5400000">
              <a:srgbClr val="4C1D95">
                <a:alpha val="16000"/>
              </a:srgbClr>
            </a:outerShdw>
          </a:effectLst>
        </p:spPr>
      </p:sp>
      <p:pic>
        <p:nvPicPr>
          <p:cNvPr id="44" name="Image 4" descr="Biểu tượng minh họa">    </p:cNvPr>
          <p:cNvPicPr>
            <a:picLocks noChangeAspect="1"/>
          </p:cNvPicPr>
          <p:nvPr/>
        </p:nvPicPr>
        <p:blipFill>
          <a:blip r:embed="rId5"/>
          <a:stretch>
            <a:fillRect/>
          </a:stretch>
        </p:blipFill>
        <p:spPr>
          <a:xfrm>
            <a:off x="731520" y="5550408"/>
            <a:ext cx="594360" cy="594360"/>
          </a:xfrm>
          <a:prstGeom prst="rect">
            <a:avLst/>
          </a:prstGeom>
        </p:spPr>
      </p:pic>
      <p:sp>
        <p:nvSpPr>
          <p:cNvPr id="45" name="Text 37"/>
          <p:cNvSpPr txBox="1"/>
          <p:nvPr/>
        </p:nvSpPr>
        <p:spPr>
          <a:xfrm>
            <a:off x="1463040" y="5440680"/>
            <a:ext cx="10058400" cy="822960"/>
          </a:xfrm>
          <a:prstGeom prst="rect">
            <a:avLst/>
          </a:prstGeom>
          <a:noFill/>
          <a:ln/>
        </p:spPr>
        <p:txBody>
          <a:bodyPr wrap="square" lIns="0" tIns="0" rIns="0" bIns="0" rtlCol="0" anchor="ctr"/>
          <a:lstStyle/>
          <a:p>
            <a:pPr indent="0" marL="0">
              <a:buNone/>
            </a:pPr>
            <a:r>
              <a:rPr lang="en-US" sz="1400" dirty="0">
                <a:solidFill>
                  <a:srgbClr val="2E1065"/>
                </a:solidFill>
              </a:rPr>
              <a:t>Ghi vào Phiếu chấm điểm lượt đấu (Phụ lục 03), trọng tài và đại diện hai đội ký. Tổ Thư ký tổng hợp vào Bảng tổng hợp kết quả (Phụ lục 04), niêm yết công khai.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KHIẾU NẠI</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Khiếu nại và phân xử</a:t>
            </a:r>
            <a:endParaRPr lang="en-US" sz="3000" dirty="0"/>
          </a:p>
        </p:txBody>
      </p:sp>
      <p:sp>
        <p:nvSpPr>
          <p:cNvPr id="5" name="Shape 2"/>
          <p:cNvSpPr/>
          <p:nvPr/>
        </p:nvSpPr>
        <p:spPr>
          <a:xfrm>
            <a:off x="548640" y="1371600"/>
            <a:ext cx="7223760" cy="841248"/>
          </a:xfrm>
          <a:prstGeom prst="roundRect">
            <a:avLst>
              <a:gd name="adj" fmla="val 13043"/>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658368" y="1463040"/>
            <a:ext cx="658368" cy="658368"/>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776874" y="1581546"/>
            <a:ext cx="421356" cy="421356"/>
          </a:xfrm>
          <a:prstGeom prst="rect">
            <a:avLst/>
          </a:prstGeom>
        </p:spPr>
      </p:pic>
      <p:sp>
        <p:nvSpPr>
          <p:cNvPr id="8" name="Text 4"/>
          <p:cNvSpPr txBox="1"/>
          <p:nvPr/>
        </p:nvSpPr>
        <p:spPr>
          <a:xfrm>
            <a:off x="1463040" y="1371600"/>
            <a:ext cx="1965960" cy="841248"/>
          </a:xfrm>
          <a:prstGeom prst="rect">
            <a:avLst/>
          </a:prstGeom>
          <a:noFill/>
          <a:ln/>
        </p:spPr>
        <p:txBody>
          <a:bodyPr wrap="square" lIns="0" tIns="0" rIns="0" bIns="0" rtlCol="0" anchor="ctr"/>
          <a:lstStyle/>
          <a:p>
            <a:pPr indent="0" marL="0">
              <a:buNone/>
            </a:pPr>
            <a:r>
              <a:rPr lang="en-US" sz="1600" b="1" dirty="0">
                <a:solidFill>
                  <a:srgbClr val="7C3AED"/>
                </a:solidFill>
              </a:rPr>
              <a:t>AI?</a:t>
            </a:r>
            <a:endParaRPr lang="en-US" sz="1600" dirty="0"/>
          </a:p>
        </p:txBody>
      </p:sp>
      <p:sp>
        <p:nvSpPr>
          <p:cNvPr id="9" name="Text 5"/>
          <p:cNvSpPr txBox="1"/>
          <p:nvPr/>
        </p:nvSpPr>
        <p:spPr>
          <a:xfrm>
            <a:off x="3429000" y="1371600"/>
            <a:ext cx="4251960" cy="841248"/>
          </a:xfrm>
          <a:prstGeom prst="rect">
            <a:avLst/>
          </a:prstGeom>
          <a:noFill/>
          <a:ln/>
        </p:spPr>
        <p:txBody>
          <a:bodyPr wrap="square" lIns="0" tIns="0" rIns="0" bIns="0" rtlCol="0" anchor="ctr"/>
          <a:lstStyle/>
          <a:p>
            <a:pPr indent="0" marL="0">
              <a:buNone/>
            </a:pPr>
            <a:r>
              <a:rPr lang="en-US" sz="1400" dirty="0">
                <a:solidFill>
                  <a:srgbClr val="2E1065"/>
                </a:solidFill>
              </a:rPr>
              <a:t>Chỉ Đội trưởng hoặc giáo viên phụ trách</a:t>
            </a:r>
            <a:endParaRPr lang="en-US" sz="1400" dirty="0"/>
          </a:p>
        </p:txBody>
      </p:sp>
      <p:sp>
        <p:nvSpPr>
          <p:cNvPr id="10" name="Shape 6"/>
          <p:cNvSpPr/>
          <p:nvPr/>
        </p:nvSpPr>
        <p:spPr>
          <a:xfrm>
            <a:off x="548640" y="2350008"/>
            <a:ext cx="7223760" cy="841248"/>
          </a:xfrm>
          <a:prstGeom prst="roundRect">
            <a:avLst>
              <a:gd name="adj" fmla="val 13043"/>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658368" y="2441448"/>
            <a:ext cx="658368" cy="658368"/>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776874" y="2559954"/>
            <a:ext cx="421356" cy="421356"/>
          </a:xfrm>
          <a:prstGeom prst="rect">
            <a:avLst/>
          </a:prstGeom>
        </p:spPr>
      </p:pic>
      <p:sp>
        <p:nvSpPr>
          <p:cNvPr id="13" name="Text 8"/>
          <p:cNvSpPr txBox="1"/>
          <p:nvPr/>
        </p:nvSpPr>
        <p:spPr>
          <a:xfrm>
            <a:off x="1463040" y="2350008"/>
            <a:ext cx="1965960" cy="841248"/>
          </a:xfrm>
          <a:prstGeom prst="rect">
            <a:avLst/>
          </a:prstGeom>
          <a:noFill/>
          <a:ln/>
        </p:spPr>
        <p:txBody>
          <a:bodyPr wrap="square" lIns="0" tIns="0" rIns="0" bIns="0" rtlCol="0" anchor="ctr"/>
          <a:lstStyle/>
          <a:p>
            <a:pPr indent="0" marL="0">
              <a:buNone/>
            </a:pPr>
            <a:r>
              <a:rPr lang="en-US" sz="1600" b="1" dirty="0">
                <a:solidFill>
                  <a:srgbClr val="7C3AED"/>
                </a:solidFill>
              </a:rPr>
              <a:t>KHI NÀO?</a:t>
            </a:r>
            <a:endParaRPr lang="en-US" sz="1600" dirty="0"/>
          </a:p>
        </p:txBody>
      </p:sp>
      <p:sp>
        <p:nvSpPr>
          <p:cNvPr id="14" name="Text 9"/>
          <p:cNvSpPr txBox="1"/>
          <p:nvPr/>
        </p:nvSpPr>
        <p:spPr>
          <a:xfrm>
            <a:off x="3429000" y="2350008"/>
            <a:ext cx="4251960" cy="841248"/>
          </a:xfrm>
          <a:prstGeom prst="rect">
            <a:avLst/>
          </a:prstGeom>
          <a:noFill/>
          <a:ln/>
        </p:spPr>
        <p:txBody>
          <a:bodyPr wrap="square" lIns="0" tIns="0" rIns="0" bIns="0" rtlCol="0" anchor="ctr"/>
          <a:lstStyle/>
          <a:p>
            <a:pPr indent="0" marL="0">
              <a:buNone/>
            </a:pPr>
            <a:r>
              <a:rPr lang="en-US" sz="1400" dirty="0">
                <a:solidFill>
                  <a:srgbClr val="2E1065"/>
                </a:solidFill>
              </a:rPr>
              <a:t>Ngay sau khi kết thúc lượt đấu, TRƯỚC khi ký phiếu chấm điểm</a:t>
            </a:r>
            <a:endParaRPr lang="en-US" sz="1400" dirty="0"/>
          </a:p>
        </p:txBody>
      </p:sp>
      <p:sp>
        <p:nvSpPr>
          <p:cNvPr id="15" name="Shape 10"/>
          <p:cNvSpPr/>
          <p:nvPr/>
        </p:nvSpPr>
        <p:spPr>
          <a:xfrm>
            <a:off x="548640" y="3328416"/>
            <a:ext cx="7223760" cy="841248"/>
          </a:xfrm>
          <a:prstGeom prst="roundRect">
            <a:avLst>
              <a:gd name="adj" fmla="val 13043"/>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658368" y="3419856"/>
            <a:ext cx="658368" cy="658368"/>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776874" y="3538362"/>
            <a:ext cx="421356" cy="421356"/>
          </a:xfrm>
          <a:prstGeom prst="rect">
            <a:avLst/>
          </a:prstGeom>
        </p:spPr>
      </p:pic>
      <p:sp>
        <p:nvSpPr>
          <p:cNvPr id="18" name="Text 12"/>
          <p:cNvSpPr txBox="1"/>
          <p:nvPr/>
        </p:nvSpPr>
        <p:spPr>
          <a:xfrm>
            <a:off x="1463040" y="3328416"/>
            <a:ext cx="1965960" cy="841248"/>
          </a:xfrm>
          <a:prstGeom prst="rect">
            <a:avLst/>
          </a:prstGeom>
          <a:noFill/>
          <a:ln/>
        </p:spPr>
        <p:txBody>
          <a:bodyPr wrap="square" lIns="0" tIns="0" rIns="0" bIns="0" rtlCol="0" anchor="ctr"/>
          <a:lstStyle/>
          <a:p>
            <a:pPr indent="0" marL="0">
              <a:buNone/>
            </a:pPr>
            <a:r>
              <a:rPr lang="en-US" sz="1600" b="1" dirty="0">
                <a:solidFill>
                  <a:srgbClr val="7C3AED"/>
                </a:solidFill>
              </a:rPr>
              <a:t>CĂN CỨ?</a:t>
            </a:r>
            <a:endParaRPr lang="en-US" sz="1600" dirty="0"/>
          </a:p>
        </p:txBody>
      </p:sp>
      <p:sp>
        <p:nvSpPr>
          <p:cNvPr id="19" name="Text 13"/>
          <p:cNvSpPr txBox="1"/>
          <p:nvPr/>
        </p:nvSpPr>
        <p:spPr>
          <a:xfrm>
            <a:off x="3429000" y="3328416"/>
            <a:ext cx="4251960" cy="841248"/>
          </a:xfrm>
          <a:prstGeom prst="rect">
            <a:avLst/>
          </a:prstGeom>
          <a:noFill/>
          <a:ln/>
        </p:spPr>
        <p:txBody>
          <a:bodyPr wrap="square" lIns="0" tIns="0" rIns="0" bIns="0" rtlCol="0" anchor="ctr"/>
          <a:lstStyle/>
          <a:p>
            <a:pPr indent="0" marL="0">
              <a:buNone/>
            </a:pPr>
            <a:r>
              <a:rPr lang="en-US" sz="1400" dirty="0">
                <a:solidFill>
                  <a:srgbClr val="2E1065"/>
                </a:solidFill>
              </a:rPr>
              <a:t>Ghi nhận trực tiếp của trọng tài, trợ lý – ảnh, video tự quay KHÔNG được dùng</a:t>
            </a:r>
            <a:endParaRPr lang="en-US" sz="1400" dirty="0"/>
          </a:p>
        </p:txBody>
      </p:sp>
      <p:sp>
        <p:nvSpPr>
          <p:cNvPr id="20" name="Shape 14"/>
          <p:cNvSpPr/>
          <p:nvPr/>
        </p:nvSpPr>
        <p:spPr>
          <a:xfrm>
            <a:off x="548640" y="4306824"/>
            <a:ext cx="7223760" cy="841248"/>
          </a:xfrm>
          <a:prstGeom prst="roundRect">
            <a:avLst>
              <a:gd name="adj" fmla="val 13043"/>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658368" y="4398264"/>
            <a:ext cx="658368" cy="658368"/>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776874" y="4516770"/>
            <a:ext cx="421356" cy="421356"/>
          </a:xfrm>
          <a:prstGeom prst="rect">
            <a:avLst/>
          </a:prstGeom>
        </p:spPr>
      </p:pic>
      <p:sp>
        <p:nvSpPr>
          <p:cNvPr id="23" name="Text 16"/>
          <p:cNvSpPr txBox="1"/>
          <p:nvPr/>
        </p:nvSpPr>
        <p:spPr>
          <a:xfrm>
            <a:off x="1463040" y="4306824"/>
            <a:ext cx="1965960" cy="841248"/>
          </a:xfrm>
          <a:prstGeom prst="rect">
            <a:avLst/>
          </a:prstGeom>
          <a:noFill/>
          <a:ln/>
        </p:spPr>
        <p:txBody>
          <a:bodyPr wrap="square" lIns="0" tIns="0" rIns="0" bIns="0" rtlCol="0" anchor="ctr"/>
          <a:lstStyle/>
          <a:p>
            <a:pPr indent="0" marL="0">
              <a:buNone/>
            </a:pPr>
            <a:r>
              <a:rPr lang="en-US" sz="1600" b="1" dirty="0">
                <a:solidFill>
                  <a:srgbClr val="7C3AED"/>
                </a:solidFill>
              </a:rPr>
              <a:t>KHÔNG THỤ LÝ</a:t>
            </a:r>
            <a:endParaRPr lang="en-US" sz="1600" dirty="0"/>
          </a:p>
        </p:txBody>
      </p:sp>
      <p:sp>
        <p:nvSpPr>
          <p:cNvPr id="24" name="Text 17"/>
          <p:cNvSpPr txBox="1"/>
          <p:nvPr/>
        </p:nvSpPr>
        <p:spPr>
          <a:xfrm>
            <a:off x="3429000" y="4306824"/>
            <a:ext cx="4251960" cy="841248"/>
          </a:xfrm>
          <a:prstGeom prst="rect">
            <a:avLst/>
          </a:prstGeom>
          <a:noFill/>
          <a:ln/>
        </p:spPr>
        <p:txBody>
          <a:bodyPr wrap="square" lIns="0" tIns="0" rIns="0" bIns="0" rtlCol="0" anchor="ctr"/>
          <a:lstStyle/>
          <a:p>
            <a:pPr indent="0" marL="0">
              <a:buNone/>
            </a:pPr>
            <a:r>
              <a:rPr lang="en-US" sz="1400" dirty="0">
                <a:solidFill>
                  <a:srgbClr val="2E1065"/>
                </a:solidFill>
              </a:rPr>
              <a:t>Mặt sân, ánh sáng, nhiễu sóng…; quyết định trọng tài về tranh chấp, đâm trực tiếp</a:t>
            </a:r>
            <a:endParaRPr lang="en-US" sz="1400" dirty="0"/>
          </a:p>
        </p:txBody>
      </p:sp>
      <p:sp>
        <p:nvSpPr>
          <p:cNvPr id="25" name="Shape 18"/>
          <p:cNvSpPr/>
          <p:nvPr/>
        </p:nvSpPr>
        <p:spPr>
          <a:xfrm>
            <a:off x="548640" y="5285232"/>
            <a:ext cx="7223760" cy="841248"/>
          </a:xfrm>
          <a:prstGeom prst="roundRect">
            <a:avLst>
              <a:gd name="adj" fmla="val 13043"/>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658368" y="5376672"/>
            <a:ext cx="658368" cy="658368"/>
          </a:xfrm>
          <a:prstGeom prst="ellipse">
            <a:avLst/>
          </a:prstGeom>
          <a:solidFill>
            <a:srgbClr val="EDE4FF"/>
          </a:solidFill>
          <a:ln/>
        </p:spPr>
      </p:sp>
      <p:pic>
        <p:nvPicPr>
          <p:cNvPr id="27" name="Image 4" descr="Biểu tượng minh họa">    </p:cNvPr>
          <p:cNvPicPr>
            <a:picLocks noChangeAspect="1"/>
          </p:cNvPicPr>
          <p:nvPr/>
        </p:nvPicPr>
        <p:blipFill>
          <a:blip r:embed="rId5"/>
          <a:stretch>
            <a:fillRect/>
          </a:stretch>
        </p:blipFill>
        <p:spPr>
          <a:xfrm>
            <a:off x="776874" y="5495178"/>
            <a:ext cx="421356" cy="421356"/>
          </a:xfrm>
          <a:prstGeom prst="rect">
            <a:avLst/>
          </a:prstGeom>
        </p:spPr>
      </p:pic>
      <p:sp>
        <p:nvSpPr>
          <p:cNvPr id="28" name="Text 20"/>
          <p:cNvSpPr txBox="1"/>
          <p:nvPr/>
        </p:nvSpPr>
        <p:spPr>
          <a:xfrm>
            <a:off x="1463040" y="5285232"/>
            <a:ext cx="1965960" cy="841248"/>
          </a:xfrm>
          <a:prstGeom prst="rect">
            <a:avLst/>
          </a:prstGeom>
          <a:noFill/>
          <a:ln/>
        </p:spPr>
        <p:txBody>
          <a:bodyPr wrap="square" lIns="0" tIns="0" rIns="0" bIns="0" rtlCol="0" anchor="ctr"/>
          <a:lstStyle/>
          <a:p>
            <a:pPr indent="0" marL="0">
              <a:buNone/>
            </a:pPr>
            <a:r>
              <a:rPr lang="en-US" sz="1600" b="1" dirty="0">
                <a:solidFill>
                  <a:srgbClr val="7C3AED"/>
                </a:solidFill>
              </a:rPr>
              <a:t>QUYẾT ĐỊNH CUỐI</a:t>
            </a:r>
            <a:endParaRPr lang="en-US" sz="1600" dirty="0"/>
          </a:p>
        </p:txBody>
      </p:sp>
      <p:sp>
        <p:nvSpPr>
          <p:cNvPr id="29" name="Text 21"/>
          <p:cNvSpPr txBox="1"/>
          <p:nvPr/>
        </p:nvSpPr>
        <p:spPr>
          <a:xfrm>
            <a:off x="3429000" y="5285232"/>
            <a:ext cx="4251960" cy="841248"/>
          </a:xfrm>
          <a:prstGeom prst="rect">
            <a:avLst/>
          </a:prstGeom>
          <a:noFill/>
          <a:ln/>
        </p:spPr>
        <p:txBody>
          <a:bodyPr wrap="square" lIns="0" tIns="0" rIns="0" bIns="0" rtlCol="0" anchor="ctr"/>
          <a:lstStyle/>
          <a:p>
            <a:pPr indent="0" marL="0">
              <a:buNone/>
            </a:pPr>
            <a:r>
              <a:rPr lang="en-US" sz="1400" dirty="0">
                <a:solidFill>
                  <a:srgbClr val="2E1065"/>
                </a:solidFill>
              </a:rPr>
              <a:t>Tổng trọng tài và Ban Tổ chức</a:t>
            </a:r>
            <a:endParaRPr lang="en-US" sz="1400" dirty="0"/>
          </a:p>
        </p:txBody>
      </p:sp>
      <p:pic>
        <p:nvPicPr>
          <p:cNvPr id="30" name="RR_ph_robog_sq_jpg" descr="Học sinh thi đấu robot tại giải ROBOG Asia Cup 2026">    </p:cNvPr>
          <p:cNvPicPr>
            <a:picLocks noChangeAspect="1"/>
          </p:cNvPicPr>
          <p:nvPr/>
        </p:nvPicPr>
        <p:blipFill>
          <a:blip r:embed="rId6"/>
          <a:stretch>
            <a:fillRect/>
          </a:stretch>
        </p:blipFill>
        <p:spPr>
          <a:xfrm>
            <a:off x="8046720" y="1371600"/>
            <a:ext cx="3593592" cy="3593592"/>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31" name="Shape 22"/>
          <p:cNvSpPr/>
          <p:nvPr/>
        </p:nvSpPr>
        <p:spPr>
          <a:xfrm>
            <a:off x="8046720" y="5120640"/>
            <a:ext cx="3593592" cy="1143000"/>
          </a:xfrm>
          <a:prstGeom prst="roundRect">
            <a:avLst>
              <a:gd name="adj" fmla="val 9600"/>
            </a:avLst>
          </a:prstGeom>
          <a:solidFill>
            <a:srgbClr val="FFEDD5"/>
          </a:solidFill>
          <a:ln/>
          <a:effectLst>
            <a:outerShdw sx="100000" sy="100000" kx="0" ky="0" algn="bl" rotWithShape="0" blurRad="127000" dist="38100" dir="5400000">
              <a:srgbClr val="4C1D95">
                <a:alpha val="16000"/>
              </a:srgbClr>
            </a:outerShdw>
          </a:effectLst>
        </p:spPr>
      </p:sp>
      <p:sp>
        <p:nvSpPr>
          <p:cNvPr id="32" name="Text 23"/>
          <p:cNvSpPr txBox="1"/>
          <p:nvPr/>
        </p:nvSpPr>
        <p:spPr>
          <a:xfrm>
            <a:off x="8183880" y="5120640"/>
            <a:ext cx="3337560" cy="1143000"/>
          </a:xfrm>
          <a:prstGeom prst="rect">
            <a:avLst/>
          </a:prstGeom>
          <a:noFill/>
          <a:ln/>
        </p:spPr>
        <p:txBody>
          <a:bodyPr wrap="square" lIns="0" tIns="0" rIns="0" bIns="0" rtlCol="0" anchor="ctr"/>
          <a:lstStyle/>
          <a:p>
            <a:pPr indent="0" marL="0">
              <a:buNone/>
            </a:pPr>
            <a:r>
              <a:rPr lang="en-US" sz="1300" b="1" dirty="0">
                <a:solidFill>
                  <a:srgbClr val="EA580C"/>
                </a:solidFill>
              </a:rPr>
              <a:t>Đã ký phiếu và lượt tiếp theo đã bắt đầu → BTC có quyền không tiếp nhận khiếu nại lượt trước.</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07</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7</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Giải thưởng &amp; chuẩn bị</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Cơ cấu giải thưởng, gợi ý chiến thuật, checklist và câu hỏi tình huống</a:t>
            </a:r>
            <a:endParaRPr lang="en-US" sz="1800" dirty="0"/>
          </a:p>
        </p:txBody>
      </p:sp>
      <p:sp>
        <p:nvSpPr>
          <p:cNvPr id="6" name="Shape 4"/>
          <p:cNvSpPr/>
          <p:nvPr/>
        </p:nvSpPr>
        <p:spPr>
          <a:xfrm>
            <a:off x="7543800" y="1143000"/>
            <a:ext cx="4023360" cy="4023360"/>
          </a:xfrm>
          <a:prstGeom prst="ellipse">
            <a:avLst/>
          </a:prstGeom>
          <a:solidFill>
            <a:srgbClr val="FFFFFF">
              <a:alpha val="12000"/>
            </a:srgbClr>
          </a:solidFill>
          <a:ln/>
        </p:spPr>
      </p:sp>
      <p:sp>
        <p:nvSpPr>
          <p:cNvPr id="7" name="Shape 5"/>
          <p:cNvSpPr/>
          <p:nvPr/>
        </p:nvSpPr>
        <p:spPr>
          <a:xfrm>
            <a:off x="8001000" y="1600200"/>
            <a:ext cx="3108960" cy="3108960"/>
          </a:xfrm>
          <a:prstGeom prst="ellipse">
            <a:avLst/>
          </a:prstGeom>
          <a:solidFill>
            <a:srgbClr val="FFFFFF">
              <a:alpha val="20000"/>
            </a:srgbClr>
          </a:solidFill>
          <a:ln/>
        </p:spPr>
      </p:sp>
      <p:pic>
        <p:nvPicPr>
          <p:cNvPr id="8" name="Image 0" descr="Biểu tượng minh họa">    </p:cNvPr>
          <p:cNvPicPr>
            <a:picLocks noChangeAspect="1"/>
          </p:cNvPicPr>
          <p:nvPr/>
        </p:nvPicPr>
        <p:blipFill>
          <a:blip r:embed="rId1"/>
          <a:stretch>
            <a:fillRect/>
          </a:stretch>
        </p:blipFill>
        <p:spPr>
          <a:xfrm>
            <a:off x="8412480" y="2011680"/>
            <a:ext cx="2286000" cy="22860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GIẢI THƯỞNG</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Cơ cấu giải thưởng Bảng A – Tiểu học</a:t>
            </a:r>
            <a:endParaRPr lang="en-US" sz="3000" dirty="0"/>
          </a:p>
        </p:txBody>
      </p:sp>
      <p:pic>
        <p:nvPicPr>
          <p:cNvPr id="5" name="Image 0" descr="Biểu tượng minh họa">    </p:cNvPr>
          <p:cNvPicPr>
            <a:picLocks noChangeAspect="1"/>
          </p:cNvPicPr>
          <p:nvPr/>
        </p:nvPicPr>
        <p:blipFill>
          <a:blip r:embed="rId1"/>
          <a:stretch>
            <a:fillRect/>
          </a:stretch>
        </p:blipFill>
        <p:spPr>
          <a:xfrm>
            <a:off x="1188720" y="2651760"/>
            <a:ext cx="822960" cy="822960"/>
          </a:xfrm>
          <a:prstGeom prst="rect">
            <a:avLst/>
          </a:prstGeom>
        </p:spPr>
      </p:pic>
      <p:sp>
        <p:nvSpPr>
          <p:cNvPr id="6" name="Shape 2"/>
          <p:cNvSpPr/>
          <p:nvPr/>
        </p:nvSpPr>
        <p:spPr>
          <a:xfrm>
            <a:off x="685800" y="3566160"/>
            <a:ext cx="1828800" cy="2011680"/>
          </a:xfrm>
          <a:prstGeom prst="roundRect">
            <a:avLst>
              <a:gd name="adj" fmla="val 4000"/>
            </a:avLst>
          </a:prstGeom>
          <a:solidFill>
            <a:srgbClr val="8B5CF6"/>
          </a:solidFill>
          <a:ln/>
          <a:effectLst>
            <a:outerShdw sx="100000" sy="100000" kx="0" ky="0" algn="bl" rotWithShape="0" blurRad="127000" dist="38100" dir="5400000">
              <a:srgbClr val="4C1D95">
                <a:alpha val="20000"/>
              </a:srgbClr>
            </a:outerShdw>
          </a:effectLst>
        </p:spPr>
      </p:sp>
      <p:sp>
        <p:nvSpPr>
          <p:cNvPr id="7" name="Text 3"/>
          <p:cNvSpPr txBox="1"/>
          <p:nvPr/>
        </p:nvSpPr>
        <p:spPr>
          <a:xfrm>
            <a:off x="685800" y="3675888"/>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rPr>
              <a:t>GIẢI NHÌ</a:t>
            </a:r>
            <a:endParaRPr lang="en-US" sz="1800" dirty="0"/>
          </a:p>
        </p:txBody>
      </p:sp>
      <p:sp>
        <p:nvSpPr>
          <p:cNvPr id="8" name="Text 4"/>
          <p:cNvSpPr txBox="1"/>
          <p:nvPr/>
        </p:nvSpPr>
        <p:spPr>
          <a:xfrm>
            <a:off x="777240" y="4096512"/>
            <a:ext cx="1645920" cy="822960"/>
          </a:xfrm>
          <a:prstGeom prst="rect">
            <a:avLst/>
          </a:prstGeom>
          <a:noFill/>
          <a:ln/>
        </p:spPr>
        <p:txBody>
          <a:bodyPr wrap="square" lIns="0" tIns="0" rIns="0" bIns="0" rtlCol="0" anchor="t"/>
          <a:lstStyle/>
          <a:p>
            <a:pPr algn="ctr" indent="0" marL="0">
              <a:buNone/>
            </a:pPr>
            <a:r>
              <a:rPr lang="en-US" sz="1300" dirty="0">
                <a:solidFill>
                  <a:srgbClr val="FFFFFF"/>
                </a:solidFill>
              </a:rPr>
              <a:t>01 giải · Đội thua Chung kết</a:t>
            </a:r>
            <a:endParaRPr lang="en-US" sz="1300" dirty="0"/>
          </a:p>
        </p:txBody>
      </p:sp>
      <p:pic>
        <p:nvPicPr>
          <p:cNvPr id="9" name="Image 1" descr="Biểu tượng minh họa">    </p:cNvPr>
          <p:cNvPicPr>
            <a:picLocks noChangeAspect="1"/>
          </p:cNvPicPr>
          <p:nvPr/>
        </p:nvPicPr>
        <p:blipFill>
          <a:blip r:embed="rId2"/>
          <a:stretch>
            <a:fillRect/>
          </a:stretch>
        </p:blipFill>
        <p:spPr>
          <a:xfrm>
            <a:off x="3108960" y="1965960"/>
            <a:ext cx="822960" cy="822960"/>
          </a:xfrm>
          <a:prstGeom prst="rect">
            <a:avLst/>
          </a:prstGeom>
        </p:spPr>
      </p:pic>
      <p:sp>
        <p:nvSpPr>
          <p:cNvPr id="10" name="Shape 5"/>
          <p:cNvSpPr/>
          <p:nvPr/>
        </p:nvSpPr>
        <p:spPr>
          <a:xfrm>
            <a:off x="2606040" y="2880360"/>
            <a:ext cx="1828800" cy="2697480"/>
          </a:xfrm>
          <a:prstGeom prst="roundRect">
            <a:avLst>
              <a:gd name="adj" fmla="val 4000"/>
            </a:avLst>
          </a:prstGeom>
          <a:solidFill>
            <a:srgbClr val="EA580C"/>
          </a:solidFill>
          <a:ln/>
          <a:effectLst>
            <a:outerShdw sx="100000" sy="100000" kx="0" ky="0" algn="bl" rotWithShape="0" blurRad="127000" dist="38100" dir="5400000">
              <a:srgbClr val="4C1D95">
                <a:alpha val="20000"/>
              </a:srgbClr>
            </a:outerShdw>
          </a:effectLst>
        </p:spPr>
      </p:sp>
      <p:sp>
        <p:nvSpPr>
          <p:cNvPr id="11" name="Text 6"/>
          <p:cNvSpPr txBox="1"/>
          <p:nvPr/>
        </p:nvSpPr>
        <p:spPr>
          <a:xfrm>
            <a:off x="2606040" y="2990088"/>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rPr>
              <a:t>GIẢI NHẤT</a:t>
            </a:r>
            <a:endParaRPr lang="en-US" sz="1800" dirty="0"/>
          </a:p>
        </p:txBody>
      </p:sp>
      <p:sp>
        <p:nvSpPr>
          <p:cNvPr id="12" name="Text 7"/>
          <p:cNvSpPr txBox="1"/>
          <p:nvPr/>
        </p:nvSpPr>
        <p:spPr>
          <a:xfrm>
            <a:off x="2697480" y="3410712"/>
            <a:ext cx="1645920" cy="822960"/>
          </a:xfrm>
          <a:prstGeom prst="rect">
            <a:avLst/>
          </a:prstGeom>
          <a:noFill/>
          <a:ln/>
        </p:spPr>
        <p:txBody>
          <a:bodyPr wrap="square" lIns="0" tIns="0" rIns="0" bIns="0" rtlCol="0" anchor="t"/>
          <a:lstStyle/>
          <a:p>
            <a:pPr algn="ctr" indent="0" marL="0">
              <a:buNone/>
            </a:pPr>
            <a:r>
              <a:rPr lang="en-US" sz="1300" dirty="0">
                <a:solidFill>
                  <a:srgbClr val="FFFFFF"/>
                </a:solidFill>
              </a:rPr>
              <a:t>01 giải · Đội thắng Chung kết</a:t>
            </a:r>
            <a:endParaRPr lang="en-US" sz="1300" dirty="0"/>
          </a:p>
        </p:txBody>
      </p:sp>
      <p:pic>
        <p:nvPicPr>
          <p:cNvPr id="13" name="Image 2" descr="Biểu tượng minh họa">    </p:cNvPr>
          <p:cNvPicPr>
            <a:picLocks noChangeAspect="1"/>
          </p:cNvPicPr>
          <p:nvPr/>
        </p:nvPicPr>
        <p:blipFill>
          <a:blip r:embed="rId3"/>
          <a:stretch>
            <a:fillRect/>
          </a:stretch>
        </p:blipFill>
        <p:spPr>
          <a:xfrm>
            <a:off x="5029200" y="3108960"/>
            <a:ext cx="822960" cy="822960"/>
          </a:xfrm>
          <a:prstGeom prst="rect">
            <a:avLst/>
          </a:prstGeom>
        </p:spPr>
      </p:pic>
      <p:sp>
        <p:nvSpPr>
          <p:cNvPr id="14" name="Shape 8"/>
          <p:cNvSpPr/>
          <p:nvPr/>
        </p:nvSpPr>
        <p:spPr>
          <a:xfrm>
            <a:off x="4526280" y="4023360"/>
            <a:ext cx="1828800" cy="1554480"/>
          </a:xfrm>
          <a:prstGeom prst="roundRect">
            <a:avLst>
              <a:gd name="adj" fmla="val 4706"/>
            </a:avLst>
          </a:prstGeom>
          <a:solidFill>
            <a:srgbClr val="DB2777"/>
          </a:solidFill>
          <a:ln/>
          <a:effectLst>
            <a:outerShdw sx="100000" sy="100000" kx="0" ky="0" algn="bl" rotWithShape="0" blurRad="127000" dist="38100" dir="5400000">
              <a:srgbClr val="4C1D95">
                <a:alpha val="20000"/>
              </a:srgbClr>
            </a:outerShdw>
          </a:effectLst>
        </p:spPr>
      </p:sp>
      <p:sp>
        <p:nvSpPr>
          <p:cNvPr id="15" name="Text 9"/>
          <p:cNvSpPr txBox="1"/>
          <p:nvPr/>
        </p:nvSpPr>
        <p:spPr>
          <a:xfrm>
            <a:off x="4526280" y="4133088"/>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rPr>
              <a:t>GIẢI BA</a:t>
            </a:r>
            <a:endParaRPr lang="en-US" sz="1800" dirty="0"/>
          </a:p>
        </p:txBody>
      </p:sp>
      <p:sp>
        <p:nvSpPr>
          <p:cNvPr id="16" name="Text 10"/>
          <p:cNvSpPr txBox="1"/>
          <p:nvPr/>
        </p:nvSpPr>
        <p:spPr>
          <a:xfrm>
            <a:off x="4617720" y="4553712"/>
            <a:ext cx="1645920" cy="822960"/>
          </a:xfrm>
          <a:prstGeom prst="rect">
            <a:avLst/>
          </a:prstGeom>
          <a:noFill/>
          <a:ln/>
        </p:spPr>
        <p:txBody>
          <a:bodyPr wrap="square" lIns="0" tIns="0" rIns="0" bIns="0" rtlCol="0" anchor="t"/>
          <a:lstStyle/>
          <a:p>
            <a:pPr algn="ctr" indent="0" marL="0">
              <a:buNone/>
            </a:pPr>
            <a:r>
              <a:rPr lang="en-US" sz="1300" dirty="0">
                <a:solidFill>
                  <a:srgbClr val="FFFFFF"/>
                </a:solidFill>
              </a:rPr>
              <a:t>Các đội thua Bán kết</a:t>
            </a:r>
            <a:endParaRPr lang="en-US" sz="1300" dirty="0"/>
          </a:p>
        </p:txBody>
      </p:sp>
      <p:sp>
        <p:nvSpPr>
          <p:cNvPr id="17" name="Shape 11"/>
          <p:cNvSpPr/>
          <p:nvPr/>
        </p:nvSpPr>
        <p:spPr>
          <a:xfrm>
            <a:off x="548640" y="5715000"/>
            <a:ext cx="5943600" cy="457200"/>
          </a:xfrm>
          <a:prstGeom prst="roundRect">
            <a:avLst>
              <a:gd name="adj" fmla="val 50000"/>
            </a:avLst>
          </a:prstGeom>
          <a:solidFill>
            <a:srgbClr val="FFFFFF"/>
          </a:solidFill>
          <a:ln w="12700">
            <a:solidFill>
              <a:srgbClr val="DDD0FF"/>
            </a:solidFill>
            <a:prstDash val="solid"/>
          </a:ln>
        </p:spPr>
      </p:sp>
      <p:sp>
        <p:nvSpPr>
          <p:cNvPr id="18" name="Text 12"/>
          <p:cNvSpPr txBox="1"/>
          <p:nvPr/>
        </p:nvSpPr>
        <p:spPr>
          <a:xfrm>
            <a:off x="548640" y="5715000"/>
            <a:ext cx="5943600" cy="457200"/>
          </a:xfrm>
          <a:prstGeom prst="rect">
            <a:avLst/>
          </a:prstGeom>
          <a:noFill/>
          <a:ln/>
        </p:spPr>
        <p:txBody>
          <a:bodyPr wrap="square" lIns="0" tIns="0" rIns="0" bIns="0" rtlCol="0" anchor="ctr"/>
          <a:lstStyle/>
          <a:p>
            <a:pPr algn="ctr" indent="0" marL="0">
              <a:buNone/>
            </a:pPr>
            <a:r>
              <a:rPr lang="en-US" sz="1300" b="1" dirty="0">
                <a:solidFill>
                  <a:srgbClr val="4C1D95"/>
                </a:solidFill>
              </a:rPr>
              <a:t>Giải Khuyến khích (nếu có): các đội thua ở vòng loại trước Bán kết</a:t>
            </a:r>
            <a:endParaRPr lang="en-US" sz="1300" dirty="0"/>
          </a:p>
        </p:txBody>
      </p:sp>
      <p:pic>
        <p:nvPicPr>
          <p:cNvPr id="19" name="RR_ph_giaithuong_jpg" descr="Đội học sinh nhận giấy chứng nhận giải thưởng cuộc thi robot">    </p:cNvPr>
          <p:cNvPicPr>
            <a:picLocks noChangeAspect="1"/>
          </p:cNvPicPr>
          <p:nvPr/>
        </p:nvPicPr>
        <p:blipFill>
          <a:blip r:embed="rId4"/>
          <a:stretch>
            <a:fillRect/>
          </a:stretch>
        </p:blipFill>
        <p:spPr>
          <a:xfrm>
            <a:off x="6766560" y="1371600"/>
            <a:ext cx="4873752" cy="324612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0" name="Text 13"/>
          <p:cNvSpPr txBox="1"/>
          <p:nvPr/>
        </p:nvSpPr>
        <p:spPr>
          <a:xfrm>
            <a:off x="6766560" y="4663440"/>
            <a:ext cx="4873752" cy="274320"/>
          </a:xfrm>
          <a:prstGeom prst="rect">
            <a:avLst/>
          </a:prstGeom>
          <a:noFill/>
          <a:ln/>
        </p:spPr>
        <p:txBody>
          <a:bodyPr wrap="square" lIns="0" tIns="0" rIns="0" bIns="0" rtlCol="0" anchor="t"/>
          <a:lstStyle/>
          <a:p>
            <a:pPr indent="0" marL="0">
              <a:buNone/>
            </a:pPr>
            <a:r>
              <a:rPr lang="en-US" sz="1100" i="1" dirty="0">
                <a:solidFill>
                  <a:srgbClr val="5B4B8A"/>
                </a:solidFill>
              </a:rPr>
              <a:t>Đội đạt giải nhận Giấy chứng nhận tại một ngày hội robot</a:t>
            </a:r>
            <a:endParaRPr lang="en-US" sz="1100" dirty="0"/>
          </a:p>
        </p:txBody>
      </p:sp>
      <p:sp>
        <p:nvSpPr>
          <p:cNvPr id="21" name="Text 14"/>
          <p:cNvSpPr txBox="1"/>
          <p:nvPr/>
        </p:nvSpPr>
        <p:spPr>
          <a:xfrm>
            <a:off x="6766560" y="5029200"/>
            <a:ext cx="4873752" cy="12344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2E1065"/>
                </a:solidFill>
              </a:rPr>
              <a:t>Mỗi giải: Giấy chứng nhận của BTC + phần thưởng</a:t>
            </a:r>
            <a:endParaRPr lang="en-US" sz="1400" dirty="0"/>
          </a:p>
          <a:p>
            <a:pPr marL="203200" indent="-203200">
              <a:spcAft>
                <a:spcPts val="400"/>
              </a:spcAft>
              <a:buSzPct val="100000"/>
              <a:buChar char="•"/>
            </a:pPr>
            <a:r>
              <a:rPr lang="en-US" sz="1400" dirty="0">
                <a:solidFill>
                  <a:srgbClr val="2E1065"/>
                </a:solidFill>
              </a:rPr>
              <a:t>Trao tại Sân khấu chính, từ 10:15 Chủ nhật 25/10</a:t>
            </a:r>
            <a:endParaRPr lang="en-US" sz="1400" dirty="0"/>
          </a:p>
          <a:p>
            <a:pPr marL="203200" indent="-203200">
              <a:spcAft>
                <a:spcPts val="400"/>
              </a:spcAft>
              <a:buSzPct val="100000"/>
              <a:buChar char="•"/>
            </a:pPr>
            <a:r>
              <a:rPr lang="en-US" sz="1400" dirty="0">
                <a:solidFill>
                  <a:srgbClr val="2E1065"/>
                </a:solidFill>
              </a:rPr>
              <a:t>Đội bị loại khỏi giải (bỏ cuộc, vi phạm) không được xét giải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GỢI Ý THAM KHẢO – KHÔNG PHẢI QUY ĐỊNH CỦA THỂ LỆ</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Gợi ý chiến thuật cho các đội</a:t>
            </a:r>
            <a:endParaRPr lang="en-US" sz="3000" dirty="0"/>
          </a:p>
        </p:txBody>
      </p:sp>
      <p:sp>
        <p:nvSpPr>
          <p:cNvPr id="5" name="Shape 2"/>
          <p:cNvSpPr/>
          <p:nvPr/>
        </p:nvSpPr>
        <p:spPr>
          <a:xfrm>
            <a:off x="548640"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554480"/>
            <a:ext cx="658368" cy="658368"/>
          </a:xfrm>
          <a:prstGeom prst="ellipse">
            <a:avLst/>
          </a:prstGeom>
          <a:solidFill>
            <a:srgbClr val="FFEDD5"/>
          </a:solidFill>
          <a:ln/>
        </p:spPr>
      </p:sp>
      <p:pic>
        <p:nvPicPr>
          <p:cNvPr id="7" name="Image 0" descr="Biểu tượng minh họa">    </p:cNvPr>
          <p:cNvPicPr>
            <a:picLocks noChangeAspect="1"/>
          </p:cNvPicPr>
          <p:nvPr/>
        </p:nvPicPr>
        <p:blipFill>
          <a:blip r:embed="rId1"/>
          <a:stretch>
            <a:fillRect/>
          </a:stretch>
        </p:blipFill>
        <p:spPr>
          <a:xfrm>
            <a:off x="850026" y="1672986"/>
            <a:ext cx="421356" cy="421356"/>
          </a:xfrm>
          <a:prstGeom prst="rect">
            <a:avLst/>
          </a:prstGeom>
        </p:spPr>
      </p:pic>
      <p:sp>
        <p:nvSpPr>
          <p:cNvPr id="8" name="Text 4"/>
          <p:cNvSpPr txBox="1"/>
          <p:nvPr/>
        </p:nvSpPr>
        <p:spPr>
          <a:xfrm>
            <a:off x="1463040"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Mở khóa sớm</a:t>
            </a:r>
            <a:endParaRPr lang="en-US" sz="1600" dirty="0"/>
          </a:p>
        </p:txBody>
      </p:sp>
      <p:sp>
        <p:nvSpPr>
          <p:cNvPr id="9" name="Text 5"/>
          <p:cNvSpPr txBox="1"/>
          <p:nvPr/>
        </p:nvSpPr>
        <p:spPr>
          <a:xfrm>
            <a:off x="731520"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Đưa ngay 01 khối Dầu gần nhất về Căn cứ để mở Trạm Trung tâm.</a:t>
            </a:r>
            <a:endParaRPr lang="en-US" sz="1400" dirty="0"/>
          </a:p>
        </p:txBody>
      </p:sp>
      <p:sp>
        <p:nvSpPr>
          <p:cNvPr id="10" name="Shape 6"/>
          <p:cNvSpPr/>
          <p:nvPr/>
        </p:nvSpPr>
        <p:spPr>
          <a:xfrm>
            <a:off x="3389681"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3572561" y="1554480"/>
            <a:ext cx="658368" cy="658368"/>
          </a:xfrm>
          <a:prstGeom prst="ellipse">
            <a:avLst/>
          </a:prstGeom>
          <a:solidFill>
            <a:srgbClr val="FFEDD5"/>
          </a:solidFill>
          <a:ln/>
        </p:spPr>
      </p:sp>
      <p:pic>
        <p:nvPicPr>
          <p:cNvPr id="12" name="Image 1" descr="Biểu tượng minh họa">    </p:cNvPr>
          <p:cNvPicPr>
            <a:picLocks noChangeAspect="1"/>
          </p:cNvPicPr>
          <p:nvPr/>
        </p:nvPicPr>
        <p:blipFill>
          <a:blip r:embed="rId2"/>
          <a:stretch>
            <a:fillRect/>
          </a:stretch>
        </p:blipFill>
        <p:spPr>
          <a:xfrm>
            <a:off x="3691067" y="1672986"/>
            <a:ext cx="421356" cy="421356"/>
          </a:xfrm>
          <a:prstGeom prst="rect">
            <a:avLst/>
          </a:prstGeom>
        </p:spPr>
      </p:pic>
      <p:sp>
        <p:nvSpPr>
          <p:cNvPr id="13" name="Text 8"/>
          <p:cNvSpPr txBox="1"/>
          <p:nvPr/>
        </p:nvSpPr>
        <p:spPr>
          <a:xfrm>
            <a:off x="4304081"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Ưu tiên khối giá trị cao</a:t>
            </a:r>
            <a:endParaRPr lang="en-US" sz="1600" dirty="0"/>
          </a:p>
        </p:txBody>
      </p:sp>
      <p:sp>
        <p:nvSpPr>
          <p:cNvPr id="14" name="Text 9"/>
          <p:cNvSpPr txBox="1"/>
          <p:nvPr/>
        </p:nvSpPr>
        <p:spPr>
          <a:xfrm>
            <a:off x="3572561"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Lá 20 điểm; Nước, Đất 10 điểm/khối.</a:t>
            </a:r>
            <a:endParaRPr lang="en-US" sz="1400" dirty="0"/>
          </a:p>
        </p:txBody>
      </p:sp>
      <p:sp>
        <p:nvSpPr>
          <p:cNvPr id="15" name="Shape 10"/>
          <p:cNvSpPr/>
          <p:nvPr/>
        </p:nvSpPr>
        <p:spPr>
          <a:xfrm>
            <a:off x="623072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6413602" y="1554480"/>
            <a:ext cx="658368" cy="658368"/>
          </a:xfrm>
          <a:prstGeom prst="ellipse">
            <a:avLst/>
          </a:prstGeom>
          <a:solidFill>
            <a:srgbClr val="FFEDD5"/>
          </a:solidFill>
          <a:ln/>
        </p:spPr>
      </p:sp>
      <p:pic>
        <p:nvPicPr>
          <p:cNvPr id="17" name="Image 2" descr="Biểu tượng minh họa">    </p:cNvPr>
          <p:cNvPicPr>
            <a:picLocks noChangeAspect="1"/>
          </p:cNvPicPr>
          <p:nvPr/>
        </p:nvPicPr>
        <p:blipFill>
          <a:blip r:embed="rId3"/>
          <a:stretch>
            <a:fillRect/>
          </a:stretch>
        </p:blipFill>
        <p:spPr>
          <a:xfrm>
            <a:off x="6532108" y="1672986"/>
            <a:ext cx="421356" cy="421356"/>
          </a:xfrm>
          <a:prstGeom prst="rect">
            <a:avLst/>
          </a:prstGeom>
        </p:spPr>
      </p:pic>
      <p:sp>
        <p:nvSpPr>
          <p:cNvPr id="18" name="Text 12"/>
          <p:cNvSpPr txBox="1"/>
          <p:nvPr/>
        </p:nvSpPr>
        <p:spPr>
          <a:xfrm>
            <a:off x="714512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Dồn nhiều khối</a:t>
            </a:r>
            <a:endParaRPr lang="en-US" sz="1600" dirty="0"/>
          </a:p>
        </p:txBody>
      </p:sp>
      <p:sp>
        <p:nvSpPr>
          <p:cNvPr id="19" name="Text 13"/>
          <p:cNvSpPr txBox="1"/>
          <p:nvPr/>
        </p:nvSpPr>
        <p:spPr>
          <a:xfrm>
            <a:off x="641360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Ủi, đẩy nhiều khối cùng lúc để tiết kiệm thời gian.</a:t>
            </a:r>
            <a:endParaRPr lang="en-US" sz="1400" dirty="0"/>
          </a:p>
        </p:txBody>
      </p:sp>
      <p:sp>
        <p:nvSpPr>
          <p:cNvPr id="20" name="Shape 14"/>
          <p:cNvSpPr/>
          <p:nvPr/>
        </p:nvSpPr>
        <p:spPr>
          <a:xfrm>
            <a:off x="907176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9254642" y="1554480"/>
            <a:ext cx="658368" cy="658368"/>
          </a:xfrm>
          <a:prstGeom prst="ellipse">
            <a:avLst/>
          </a:prstGeom>
          <a:solidFill>
            <a:srgbClr val="FFEDD5"/>
          </a:solidFill>
          <a:ln/>
        </p:spPr>
      </p:sp>
      <p:pic>
        <p:nvPicPr>
          <p:cNvPr id="22" name="Image 3" descr="Biểu tượng minh họa">    </p:cNvPr>
          <p:cNvPicPr>
            <a:picLocks noChangeAspect="1"/>
          </p:cNvPicPr>
          <p:nvPr/>
        </p:nvPicPr>
        <p:blipFill>
          <a:blip r:embed="rId4"/>
          <a:stretch>
            <a:fillRect/>
          </a:stretch>
        </p:blipFill>
        <p:spPr>
          <a:xfrm>
            <a:off x="9373149" y="1672986"/>
            <a:ext cx="421356" cy="421356"/>
          </a:xfrm>
          <a:prstGeom prst="rect">
            <a:avLst/>
          </a:prstGeom>
        </p:spPr>
      </p:pic>
      <p:sp>
        <p:nvSpPr>
          <p:cNvPr id="23" name="Text 16"/>
          <p:cNvSpPr txBox="1"/>
          <p:nvPr/>
        </p:nvSpPr>
        <p:spPr>
          <a:xfrm>
            <a:off x="998616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Chiến thuật viên</a:t>
            </a:r>
            <a:endParaRPr lang="en-US" sz="1600" dirty="0"/>
          </a:p>
        </p:txBody>
      </p:sp>
      <p:sp>
        <p:nvSpPr>
          <p:cNvPr id="24" name="Text 17"/>
          <p:cNvSpPr txBox="1"/>
          <p:nvPr/>
        </p:nvSpPr>
        <p:spPr>
          <a:xfrm>
            <a:off x="925464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Đếm khối, theo dõi đồng hồ, nhắc thời điểm Hồi căn cứ.</a:t>
            </a:r>
            <a:endParaRPr lang="en-US" sz="1400" dirty="0"/>
          </a:p>
        </p:txBody>
      </p:sp>
      <p:sp>
        <p:nvSpPr>
          <p:cNvPr id="25" name="Shape 18"/>
          <p:cNvSpPr/>
          <p:nvPr/>
        </p:nvSpPr>
        <p:spPr>
          <a:xfrm>
            <a:off x="548640"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731520" y="3995928"/>
            <a:ext cx="658368" cy="658368"/>
          </a:xfrm>
          <a:prstGeom prst="ellipse">
            <a:avLst/>
          </a:prstGeom>
          <a:solidFill>
            <a:srgbClr val="FFEDD5"/>
          </a:solidFill>
          <a:ln/>
        </p:spPr>
      </p:sp>
      <p:pic>
        <p:nvPicPr>
          <p:cNvPr id="27" name="Image 4" descr="Biểu tượng minh họa">    </p:cNvPr>
          <p:cNvPicPr>
            <a:picLocks noChangeAspect="1"/>
          </p:cNvPicPr>
          <p:nvPr/>
        </p:nvPicPr>
        <p:blipFill>
          <a:blip r:embed="rId5"/>
          <a:stretch>
            <a:fillRect/>
          </a:stretch>
        </p:blipFill>
        <p:spPr>
          <a:xfrm>
            <a:off x="850026" y="4114434"/>
            <a:ext cx="421356" cy="421356"/>
          </a:xfrm>
          <a:prstGeom prst="rect">
            <a:avLst/>
          </a:prstGeom>
        </p:spPr>
      </p:pic>
      <p:sp>
        <p:nvSpPr>
          <p:cNvPr id="28" name="Text 20"/>
          <p:cNvSpPr txBox="1"/>
          <p:nvPr/>
        </p:nvSpPr>
        <p:spPr>
          <a:xfrm>
            <a:off x="1463040"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Luôn Hồi căn cứ</a:t>
            </a:r>
            <a:endParaRPr lang="en-US" sz="1600" dirty="0"/>
          </a:p>
        </p:txBody>
      </p:sp>
      <p:sp>
        <p:nvSpPr>
          <p:cNvPr id="29" name="Text 21"/>
          <p:cNvSpPr txBox="1"/>
          <p:nvPr/>
        </p:nvSpPr>
        <p:spPr>
          <a:xfrm>
            <a:off x="731520"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+5 điểm và thắng khi bằng điểm nếu Hồi căn cứ sớm hơn.</a:t>
            </a:r>
            <a:endParaRPr lang="en-US" sz="1400" dirty="0"/>
          </a:p>
        </p:txBody>
      </p:sp>
      <p:sp>
        <p:nvSpPr>
          <p:cNvPr id="30" name="Shape 22"/>
          <p:cNvSpPr/>
          <p:nvPr/>
        </p:nvSpPr>
        <p:spPr>
          <a:xfrm>
            <a:off x="3389681"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3572561" y="3995928"/>
            <a:ext cx="658368" cy="658368"/>
          </a:xfrm>
          <a:prstGeom prst="ellipse">
            <a:avLst/>
          </a:prstGeom>
          <a:solidFill>
            <a:srgbClr val="FFEDD5"/>
          </a:solidFill>
          <a:ln/>
        </p:spPr>
      </p:sp>
      <p:pic>
        <p:nvPicPr>
          <p:cNvPr id="32" name="Image 5" descr="Biểu tượng minh họa">    </p:cNvPr>
          <p:cNvPicPr>
            <a:picLocks noChangeAspect="1"/>
          </p:cNvPicPr>
          <p:nvPr/>
        </p:nvPicPr>
        <p:blipFill>
          <a:blip r:embed="rId6"/>
          <a:stretch>
            <a:fillRect/>
          </a:stretch>
        </p:blipFill>
        <p:spPr>
          <a:xfrm>
            <a:off x="3691067" y="4114434"/>
            <a:ext cx="421356" cy="421356"/>
          </a:xfrm>
          <a:prstGeom prst="rect">
            <a:avLst/>
          </a:prstGeom>
        </p:spPr>
      </p:pic>
      <p:sp>
        <p:nvSpPr>
          <p:cNvPr id="33" name="Text 24"/>
          <p:cNvSpPr txBox="1"/>
          <p:nvPr/>
        </p:nvSpPr>
        <p:spPr>
          <a:xfrm>
            <a:off x="4304081"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Giữ kỷ luật</a:t>
            </a:r>
            <a:endParaRPr lang="en-US" sz="1600" dirty="0"/>
          </a:p>
        </p:txBody>
      </p:sp>
      <p:sp>
        <p:nvSpPr>
          <p:cNvPr id="34" name="Text 25"/>
          <p:cNvSpPr txBox="1"/>
          <p:nvPr/>
        </p:nvSpPr>
        <p:spPr>
          <a:xfrm>
            <a:off x="3572561"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Tránh ra ngoài sa bàn, đâm trực tiếp, chạm tay vào khối.</a:t>
            </a:r>
            <a:endParaRPr lang="en-US" sz="1400" dirty="0"/>
          </a:p>
        </p:txBody>
      </p:sp>
      <p:sp>
        <p:nvSpPr>
          <p:cNvPr id="35" name="Shape 26"/>
          <p:cNvSpPr/>
          <p:nvPr/>
        </p:nvSpPr>
        <p:spPr>
          <a:xfrm>
            <a:off x="623072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6" name="Shape 27"/>
          <p:cNvSpPr/>
          <p:nvPr/>
        </p:nvSpPr>
        <p:spPr>
          <a:xfrm>
            <a:off x="6413602" y="3995928"/>
            <a:ext cx="658368" cy="658368"/>
          </a:xfrm>
          <a:prstGeom prst="ellipse">
            <a:avLst/>
          </a:prstGeom>
          <a:solidFill>
            <a:srgbClr val="FFEDD5"/>
          </a:solidFill>
          <a:ln/>
        </p:spPr>
      </p:sp>
      <p:pic>
        <p:nvPicPr>
          <p:cNvPr id="37" name="Image 6" descr="Biểu tượng minh họa">    </p:cNvPr>
          <p:cNvPicPr>
            <a:picLocks noChangeAspect="1"/>
          </p:cNvPicPr>
          <p:nvPr/>
        </p:nvPicPr>
        <p:blipFill>
          <a:blip r:embed="rId7"/>
          <a:stretch>
            <a:fillRect/>
          </a:stretch>
        </p:blipFill>
        <p:spPr>
          <a:xfrm>
            <a:off x="6532108" y="4114434"/>
            <a:ext cx="421356" cy="421356"/>
          </a:xfrm>
          <a:prstGeom prst="rect">
            <a:avLst/>
          </a:prstGeom>
        </p:spPr>
      </p:pic>
      <p:sp>
        <p:nvSpPr>
          <p:cNvPr id="38" name="Text 28"/>
          <p:cNvSpPr txBox="1"/>
          <p:nvPr/>
        </p:nvSpPr>
        <p:spPr>
          <a:xfrm>
            <a:off x="714512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Tận dụng 90 giây</a:t>
            </a:r>
            <a:endParaRPr lang="en-US" sz="1600" dirty="0"/>
          </a:p>
        </p:txBody>
      </p:sp>
      <p:sp>
        <p:nvSpPr>
          <p:cNvPr id="39" name="Text 29"/>
          <p:cNvSpPr txBox="1"/>
          <p:nvPr/>
        </p:nvSpPr>
        <p:spPr>
          <a:xfrm>
            <a:off x="641360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Thử tốc độ, thử gắp, cảm nhận mặt sân, quan sát đạo cụ.</a:t>
            </a:r>
            <a:endParaRPr lang="en-US" sz="1400" dirty="0"/>
          </a:p>
        </p:txBody>
      </p:sp>
      <p:sp>
        <p:nvSpPr>
          <p:cNvPr id="40" name="Shape 30"/>
          <p:cNvSpPr/>
          <p:nvPr/>
        </p:nvSpPr>
        <p:spPr>
          <a:xfrm>
            <a:off x="907176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41" name="Shape 31"/>
          <p:cNvSpPr/>
          <p:nvPr/>
        </p:nvSpPr>
        <p:spPr>
          <a:xfrm>
            <a:off x="9254642" y="3995928"/>
            <a:ext cx="658368" cy="658368"/>
          </a:xfrm>
          <a:prstGeom prst="ellipse">
            <a:avLst/>
          </a:prstGeom>
          <a:solidFill>
            <a:srgbClr val="FFEDD5"/>
          </a:solidFill>
          <a:ln/>
        </p:spPr>
      </p:sp>
      <p:pic>
        <p:nvPicPr>
          <p:cNvPr id="42" name="Image 7" descr="Biểu tượng minh họa">    </p:cNvPr>
          <p:cNvPicPr>
            <a:picLocks noChangeAspect="1"/>
          </p:cNvPicPr>
          <p:nvPr/>
        </p:nvPicPr>
        <p:blipFill>
          <a:blip r:embed="rId8"/>
          <a:stretch>
            <a:fillRect/>
          </a:stretch>
        </p:blipFill>
        <p:spPr>
          <a:xfrm>
            <a:off x="9373149" y="4114434"/>
            <a:ext cx="421356" cy="421356"/>
          </a:xfrm>
          <a:prstGeom prst="rect">
            <a:avLst/>
          </a:prstGeom>
        </p:spPr>
      </p:pic>
      <p:sp>
        <p:nvSpPr>
          <p:cNvPr id="43" name="Text 32"/>
          <p:cNvSpPr txBox="1"/>
          <p:nvPr/>
        </p:nvSpPr>
        <p:spPr>
          <a:xfrm>
            <a:off x="998616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Phối hợp 2 Vận hành</a:t>
            </a:r>
            <a:endParaRPr lang="en-US" sz="1600" dirty="0"/>
          </a:p>
        </p:txBody>
      </p:sp>
      <p:sp>
        <p:nvSpPr>
          <p:cNvPr id="44" name="Text 33"/>
          <p:cNvSpPr txBox="1"/>
          <p:nvPr/>
        </p:nvSpPr>
        <p:spPr>
          <a:xfrm>
            <a:off x="925464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Thống nhất trước ai cầm bộ điều khiển, ai quan sát và nhắc hướng.</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CHUẨN BỊ</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Checklist cho đội thi</a:t>
            </a:r>
            <a:endParaRPr lang="en-US" sz="3000" dirty="0"/>
          </a:p>
        </p:txBody>
      </p:sp>
      <p:sp>
        <p:nvSpPr>
          <p:cNvPr id="5" name="Shape 2"/>
          <p:cNvSpPr/>
          <p:nvPr/>
        </p:nvSpPr>
        <p:spPr>
          <a:xfrm>
            <a:off x="548640" y="1371600"/>
            <a:ext cx="5440680" cy="4892040"/>
          </a:xfrm>
          <a:prstGeom prst="roundRect">
            <a:avLst>
              <a:gd name="adj" fmla="val 2243"/>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77240" y="1508760"/>
            <a:ext cx="777240" cy="777240"/>
          </a:xfrm>
          <a:prstGeom prst="ellipse">
            <a:avLst/>
          </a:prstGeom>
          <a:solidFill>
            <a:srgbClr val="FFFFFF"/>
          </a:solidFill>
          <a:ln/>
        </p:spPr>
      </p:sp>
      <p:pic>
        <p:nvPicPr>
          <p:cNvPr id="7" name="Image 0" descr="Biểu tượng minh họa">    </p:cNvPr>
          <p:cNvPicPr>
            <a:picLocks noChangeAspect="1"/>
          </p:cNvPicPr>
          <p:nvPr/>
        </p:nvPicPr>
        <p:blipFill>
          <a:blip r:embed="rId1"/>
          <a:stretch>
            <a:fillRect/>
          </a:stretch>
        </p:blipFill>
        <p:spPr>
          <a:xfrm>
            <a:off x="917143" y="1648663"/>
            <a:ext cx="497434" cy="497434"/>
          </a:xfrm>
          <a:prstGeom prst="rect">
            <a:avLst/>
          </a:prstGeom>
        </p:spPr>
      </p:pic>
      <p:sp>
        <p:nvSpPr>
          <p:cNvPr id="8" name="Text 4"/>
          <p:cNvSpPr txBox="1"/>
          <p:nvPr/>
        </p:nvSpPr>
        <p:spPr>
          <a:xfrm>
            <a:off x="1691640" y="1508760"/>
            <a:ext cx="4114800" cy="777240"/>
          </a:xfrm>
          <a:prstGeom prst="rect">
            <a:avLst/>
          </a:prstGeom>
          <a:noFill/>
          <a:ln/>
        </p:spPr>
        <p:txBody>
          <a:bodyPr wrap="square" lIns="0" tIns="0" rIns="0" bIns="0" rtlCol="0" anchor="ctr"/>
          <a:lstStyle/>
          <a:p>
            <a:pPr indent="0" marL="0">
              <a:buNone/>
            </a:pPr>
            <a:r>
              <a:rPr lang="en-US" sz="2000" b="1" dirty="0">
                <a:solidFill>
                  <a:srgbClr val="7C3AED"/>
                </a:solidFill>
              </a:rPr>
              <a:t>Trước ngày thi</a:t>
            </a:r>
            <a:endParaRPr lang="en-US" sz="2000" dirty="0"/>
          </a:p>
        </p:txBody>
      </p:sp>
      <p:sp>
        <p:nvSpPr>
          <p:cNvPr id="9" name="Shape 5"/>
          <p:cNvSpPr/>
          <p:nvPr/>
        </p:nvSpPr>
        <p:spPr>
          <a:xfrm>
            <a:off x="822960" y="2624328"/>
            <a:ext cx="384048" cy="384048"/>
          </a:xfrm>
          <a:prstGeom prst="roundRect">
            <a:avLst>
              <a:gd name="adj" fmla="val 14286"/>
            </a:avLst>
          </a:prstGeom>
          <a:solidFill>
            <a:srgbClr val="FFFFFF"/>
          </a:solidFill>
          <a:ln w="25400">
            <a:solidFill>
              <a:srgbClr val="7C3AED"/>
            </a:solidFill>
            <a:prstDash val="solid"/>
          </a:ln>
        </p:spPr>
      </p:sp>
      <p:sp>
        <p:nvSpPr>
          <p:cNvPr id="10" name="Text 6"/>
          <p:cNvSpPr txBox="1"/>
          <p:nvPr/>
        </p:nvSpPr>
        <p:spPr>
          <a:xfrm>
            <a:off x="1371600" y="2514600"/>
            <a:ext cx="4480560" cy="621792"/>
          </a:xfrm>
          <a:prstGeom prst="rect">
            <a:avLst/>
          </a:prstGeom>
          <a:noFill/>
          <a:ln/>
        </p:spPr>
        <p:txBody>
          <a:bodyPr wrap="square" lIns="0" tIns="0" rIns="0" bIns="0" rtlCol="0" anchor="ctr"/>
          <a:lstStyle/>
          <a:p>
            <a:pPr indent="0" marL="0">
              <a:buNone/>
            </a:pPr>
            <a:r>
              <a:rPr lang="en-US" sz="1500" dirty="0">
                <a:solidFill>
                  <a:srgbClr val="2E1065"/>
                </a:solidFill>
              </a:rPr>
              <a:t>Danh sách đội đã nộp và được BTC phê duyệt</a:t>
            </a:r>
            <a:endParaRPr lang="en-US" sz="1500" dirty="0"/>
          </a:p>
        </p:txBody>
      </p:sp>
      <p:sp>
        <p:nvSpPr>
          <p:cNvPr id="11" name="Shape 7"/>
          <p:cNvSpPr/>
          <p:nvPr/>
        </p:nvSpPr>
        <p:spPr>
          <a:xfrm>
            <a:off x="822960" y="3355848"/>
            <a:ext cx="384048" cy="384048"/>
          </a:xfrm>
          <a:prstGeom prst="roundRect">
            <a:avLst>
              <a:gd name="adj" fmla="val 14286"/>
            </a:avLst>
          </a:prstGeom>
          <a:solidFill>
            <a:srgbClr val="FFFFFF"/>
          </a:solidFill>
          <a:ln w="25400">
            <a:solidFill>
              <a:srgbClr val="7C3AED"/>
            </a:solidFill>
            <a:prstDash val="solid"/>
          </a:ln>
        </p:spPr>
      </p:sp>
      <p:sp>
        <p:nvSpPr>
          <p:cNvPr id="12" name="Text 8"/>
          <p:cNvSpPr txBox="1"/>
          <p:nvPr/>
        </p:nvSpPr>
        <p:spPr>
          <a:xfrm>
            <a:off x="1371600" y="3246120"/>
            <a:ext cx="4480560" cy="621792"/>
          </a:xfrm>
          <a:prstGeom prst="rect">
            <a:avLst/>
          </a:prstGeom>
          <a:noFill/>
          <a:ln/>
        </p:spPr>
        <p:txBody>
          <a:bodyPr wrap="square" lIns="0" tIns="0" rIns="0" bIns="0" rtlCol="0" anchor="ctr"/>
          <a:lstStyle/>
          <a:p>
            <a:pPr indent="0" marL="0">
              <a:buNone/>
            </a:pPr>
            <a:r>
              <a:rPr lang="en-US" sz="1500" dirty="0">
                <a:solidFill>
                  <a:srgbClr val="2E1065"/>
                </a:solidFill>
              </a:rPr>
              <a:t>Phân vai rõ ràng cho 05 học sinh</a:t>
            </a:r>
            <a:endParaRPr lang="en-US" sz="1500" dirty="0"/>
          </a:p>
        </p:txBody>
      </p:sp>
      <p:sp>
        <p:nvSpPr>
          <p:cNvPr id="13" name="Shape 9"/>
          <p:cNvSpPr/>
          <p:nvPr/>
        </p:nvSpPr>
        <p:spPr>
          <a:xfrm>
            <a:off x="822960" y="4087368"/>
            <a:ext cx="384048" cy="384048"/>
          </a:xfrm>
          <a:prstGeom prst="roundRect">
            <a:avLst>
              <a:gd name="adj" fmla="val 14286"/>
            </a:avLst>
          </a:prstGeom>
          <a:solidFill>
            <a:srgbClr val="FFFFFF"/>
          </a:solidFill>
          <a:ln w="25400">
            <a:solidFill>
              <a:srgbClr val="7C3AED"/>
            </a:solidFill>
            <a:prstDash val="solid"/>
          </a:ln>
        </p:spPr>
      </p:sp>
      <p:sp>
        <p:nvSpPr>
          <p:cNvPr id="14" name="Text 10"/>
          <p:cNvSpPr txBox="1"/>
          <p:nvPr/>
        </p:nvSpPr>
        <p:spPr>
          <a:xfrm>
            <a:off x="1371600" y="3977640"/>
            <a:ext cx="4480560" cy="621792"/>
          </a:xfrm>
          <a:prstGeom prst="rect">
            <a:avLst/>
          </a:prstGeom>
          <a:noFill/>
          <a:ln/>
        </p:spPr>
        <p:txBody>
          <a:bodyPr wrap="square" lIns="0" tIns="0" rIns="0" bIns="0" rtlCol="0" anchor="ctr"/>
          <a:lstStyle/>
          <a:p>
            <a:pPr indent="0" marL="0">
              <a:buNone/>
            </a:pPr>
            <a:r>
              <a:rPr lang="en-US" sz="1500" dirty="0">
                <a:solidFill>
                  <a:srgbClr val="2E1065"/>
                </a:solidFill>
              </a:rPr>
              <a:t>Nắm vững nhiệm vụ, bảng điểm cộng và điểm trừ</a:t>
            </a:r>
            <a:endParaRPr lang="en-US" sz="1500" dirty="0"/>
          </a:p>
        </p:txBody>
      </p:sp>
      <p:sp>
        <p:nvSpPr>
          <p:cNvPr id="15" name="Shape 11"/>
          <p:cNvSpPr/>
          <p:nvPr/>
        </p:nvSpPr>
        <p:spPr>
          <a:xfrm>
            <a:off x="822960" y="4818888"/>
            <a:ext cx="384048" cy="384048"/>
          </a:xfrm>
          <a:prstGeom prst="roundRect">
            <a:avLst>
              <a:gd name="adj" fmla="val 14286"/>
            </a:avLst>
          </a:prstGeom>
          <a:solidFill>
            <a:srgbClr val="FFFFFF"/>
          </a:solidFill>
          <a:ln w="25400">
            <a:solidFill>
              <a:srgbClr val="7C3AED"/>
            </a:solidFill>
            <a:prstDash val="solid"/>
          </a:ln>
        </p:spPr>
      </p:sp>
      <p:sp>
        <p:nvSpPr>
          <p:cNvPr id="16" name="Text 12"/>
          <p:cNvSpPr txBox="1"/>
          <p:nvPr/>
        </p:nvSpPr>
        <p:spPr>
          <a:xfrm>
            <a:off x="1371600" y="4709160"/>
            <a:ext cx="4480560" cy="621792"/>
          </a:xfrm>
          <a:prstGeom prst="rect">
            <a:avLst/>
          </a:prstGeom>
          <a:noFill/>
          <a:ln/>
        </p:spPr>
        <p:txBody>
          <a:bodyPr wrap="square" lIns="0" tIns="0" rIns="0" bIns="0" rtlCol="0" anchor="ctr"/>
          <a:lstStyle/>
          <a:p>
            <a:pPr indent="0" marL="0">
              <a:buNone/>
            </a:pPr>
            <a:r>
              <a:rPr lang="en-US" sz="1500" dirty="0">
                <a:solidFill>
                  <a:srgbClr val="2E1065"/>
                </a:solidFill>
              </a:rPr>
              <a:t>Luyện hiệu lệnh “HỒI CĂN CỨ – KẾT THÚC!” và “SỰ CỐ!”</a:t>
            </a:r>
            <a:endParaRPr lang="en-US" sz="1500" dirty="0"/>
          </a:p>
        </p:txBody>
      </p:sp>
      <p:sp>
        <p:nvSpPr>
          <p:cNvPr id="17" name="Shape 13"/>
          <p:cNvSpPr/>
          <p:nvPr/>
        </p:nvSpPr>
        <p:spPr>
          <a:xfrm>
            <a:off x="822960" y="5550408"/>
            <a:ext cx="384048" cy="384048"/>
          </a:xfrm>
          <a:prstGeom prst="roundRect">
            <a:avLst>
              <a:gd name="adj" fmla="val 14286"/>
            </a:avLst>
          </a:prstGeom>
          <a:solidFill>
            <a:srgbClr val="FFFFFF"/>
          </a:solidFill>
          <a:ln w="25400">
            <a:solidFill>
              <a:srgbClr val="7C3AED"/>
            </a:solidFill>
            <a:prstDash val="solid"/>
          </a:ln>
        </p:spPr>
      </p:sp>
      <p:sp>
        <p:nvSpPr>
          <p:cNvPr id="18" name="Text 14"/>
          <p:cNvSpPr txBox="1"/>
          <p:nvPr/>
        </p:nvSpPr>
        <p:spPr>
          <a:xfrm>
            <a:off x="1371600" y="5440680"/>
            <a:ext cx="4480560" cy="621792"/>
          </a:xfrm>
          <a:prstGeom prst="rect">
            <a:avLst/>
          </a:prstGeom>
          <a:noFill/>
          <a:ln/>
        </p:spPr>
        <p:txBody>
          <a:bodyPr wrap="square" lIns="0" tIns="0" rIns="0" bIns="0" rtlCol="0" anchor="ctr"/>
          <a:lstStyle/>
          <a:p>
            <a:pPr indent="0" marL="0">
              <a:buNone/>
            </a:pPr>
            <a:r>
              <a:rPr lang="en-US" sz="1500" dirty="0">
                <a:solidFill>
                  <a:srgbClr val="2E1065"/>
                </a:solidFill>
              </a:rPr>
              <a:t>Dự tổng duyệt, thi thử, bốc thăm: 16:00 thứ Bảy 24/10</a:t>
            </a:r>
            <a:endParaRPr lang="en-US" sz="1500" dirty="0"/>
          </a:p>
        </p:txBody>
      </p:sp>
      <p:sp>
        <p:nvSpPr>
          <p:cNvPr id="19" name="Shape 15"/>
          <p:cNvSpPr/>
          <p:nvPr/>
        </p:nvSpPr>
        <p:spPr>
          <a:xfrm>
            <a:off x="6199632" y="1371600"/>
            <a:ext cx="5440680" cy="4892040"/>
          </a:xfrm>
          <a:prstGeom prst="roundRect">
            <a:avLst>
              <a:gd name="adj" fmla="val 2243"/>
            </a:avLst>
          </a:prstGeom>
          <a:solidFill>
            <a:srgbClr val="FFFFFF"/>
          </a:solidFill>
          <a:ln/>
          <a:effectLst>
            <a:outerShdw sx="100000" sy="100000" kx="0" ky="0" algn="bl" rotWithShape="0" blurRad="127000" dist="38100" dir="5400000">
              <a:srgbClr val="4C1D95">
                <a:alpha val="16000"/>
              </a:srgbClr>
            </a:outerShdw>
          </a:effectLst>
        </p:spPr>
      </p:sp>
      <p:sp>
        <p:nvSpPr>
          <p:cNvPr id="20" name="Shape 16"/>
          <p:cNvSpPr/>
          <p:nvPr/>
        </p:nvSpPr>
        <p:spPr>
          <a:xfrm>
            <a:off x="6428232" y="1508760"/>
            <a:ext cx="777240" cy="777240"/>
          </a:xfrm>
          <a:prstGeom prst="ellipse">
            <a:avLst/>
          </a:prstGeom>
          <a:solidFill>
            <a:srgbClr val="FFFFFF"/>
          </a:solidFill>
          <a:ln/>
        </p:spPr>
      </p:sp>
      <p:pic>
        <p:nvPicPr>
          <p:cNvPr id="21" name="Image 1" descr="Biểu tượng minh họa">    </p:cNvPr>
          <p:cNvPicPr>
            <a:picLocks noChangeAspect="1"/>
          </p:cNvPicPr>
          <p:nvPr/>
        </p:nvPicPr>
        <p:blipFill>
          <a:blip r:embed="rId2"/>
          <a:stretch>
            <a:fillRect/>
          </a:stretch>
        </p:blipFill>
        <p:spPr>
          <a:xfrm>
            <a:off x="6568135" y="1648663"/>
            <a:ext cx="497434" cy="497434"/>
          </a:xfrm>
          <a:prstGeom prst="rect">
            <a:avLst/>
          </a:prstGeom>
        </p:spPr>
      </p:pic>
      <p:sp>
        <p:nvSpPr>
          <p:cNvPr id="22" name="Text 17"/>
          <p:cNvSpPr txBox="1"/>
          <p:nvPr/>
        </p:nvSpPr>
        <p:spPr>
          <a:xfrm>
            <a:off x="7342632" y="1508760"/>
            <a:ext cx="4114800" cy="777240"/>
          </a:xfrm>
          <a:prstGeom prst="rect">
            <a:avLst/>
          </a:prstGeom>
          <a:noFill/>
          <a:ln/>
        </p:spPr>
        <p:txBody>
          <a:bodyPr wrap="square" lIns="0" tIns="0" rIns="0" bIns="0" rtlCol="0" anchor="ctr"/>
          <a:lstStyle/>
          <a:p>
            <a:pPr indent="0" marL="0">
              <a:buNone/>
            </a:pPr>
            <a:r>
              <a:rPr lang="en-US" sz="2000" b="1" dirty="0">
                <a:solidFill>
                  <a:srgbClr val="7C3AED"/>
                </a:solidFill>
              </a:rPr>
              <a:t>Ngày thi 25/10</a:t>
            </a:r>
            <a:endParaRPr lang="en-US" sz="2000" dirty="0"/>
          </a:p>
        </p:txBody>
      </p:sp>
      <p:sp>
        <p:nvSpPr>
          <p:cNvPr id="23" name="Shape 18"/>
          <p:cNvSpPr/>
          <p:nvPr/>
        </p:nvSpPr>
        <p:spPr>
          <a:xfrm>
            <a:off x="6473952" y="2624328"/>
            <a:ext cx="384048" cy="384048"/>
          </a:xfrm>
          <a:prstGeom prst="roundRect">
            <a:avLst>
              <a:gd name="adj" fmla="val 14286"/>
            </a:avLst>
          </a:prstGeom>
          <a:solidFill>
            <a:srgbClr val="FFFFFF"/>
          </a:solidFill>
          <a:ln w="25400">
            <a:solidFill>
              <a:srgbClr val="7C3AED"/>
            </a:solidFill>
            <a:prstDash val="solid"/>
          </a:ln>
        </p:spPr>
      </p:sp>
      <p:sp>
        <p:nvSpPr>
          <p:cNvPr id="24" name="Text 19"/>
          <p:cNvSpPr txBox="1"/>
          <p:nvPr/>
        </p:nvSpPr>
        <p:spPr>
          <a:xfrm>
            <a:off x="7022592" y="2514600"/>
            <a:ext cx="4480560" cy="621792"/>
          </a:xfrm>
          <a:prstGeom prst="rect">
            <a:avLst/>
          </a:prstGeom>
          <a:noFill/>
          <a:ln/>
        </p:spPr>
        <p:txBody>
          <a:bodyPr wrap="square" lIns="0" tIns="0" rIns="0" bIns="0" rtlCol="0" anchor="ctr"/>
          <a:lstStyle/>
          <a:p>
            <a:pPr indent="0" marL="0">
              <a:buNone/>
            </a:pPr>
            <a:r>
              <a:rPr lang="en-US" sz="1500" dirty="0">
                <a:solidFill>
                  <a:srgbClr val="2E1065"/>
                </a:solidFill>
              </a:rPr>
              <a:t>Có mặt sớm, trước giờ thi 08:15</a:t>
            </a:r>
            <a:endParaRPr lang="en-US" sz="1500" dirty="0"/>
          </a:p>
        </p:txBody>
      </p:sp>
      <p:sp>
        <p:nvSpPr>
          <p:cNvPr id="25" name="Shape 20"/>
          <p:cNvSpPr/>
          <p:nvPr/>
        </p:nvSpPr>
        <p:spPr>
          <a:xfrm>
            <a:off x="6473952" y="3355848"/>
            <a:ext cx="384048" cy="384048"/>
          </a:xfrm>
          <a:prstGeom prst="roundRect">
            <a:avLst>
              <a:gd name="adj" fmla="val 14286"/>
            </a:avLst>
          </a:prstGeom>
          <a:solidFill>
            <a:srgbClr val="FFFFFF"/>
          </a:solidFill>
          <a:ln w="25400">
            <a:solidFill>
              <a:srgbClr val="7C3AED"/>
            </a:solidFill>
            <a:prstDash val="solid"/>
          </a:ln>
        </p:spPr>
      </p:sp>
      <p:sp>
        <p:nvSpPr>
          <p:cNvPr id="26" name="Text 21"/>
          <p:cNvSpPr txBox="1"/>
          <p:nvPr/>
        </p:nvSpPr>
        <p:spPr>
          <a:xfrm>
            <a:off x="7022592" y="3246120"/>
            <a:ext cx="4480560" cy="621792"/>
          </a:xfrm>
          <a:prstGeom prst="rect">
            <a:avLst/>
          </a:prstGeom>
          <a:noFill/>
          <a:ln/>
        </p:spPr>
        <p:txBody>
          <a:bodyPr wrap="square" lIns="0" tIns="0" rIns="0" bIns="0" rtlCol="0" anchor="ctr"/>
          <a:lstStyle/>
          <a:p>
            <a:pPr indent="0" marL="0">
              <a:buNone/>
            </a:pPr>
            <a:r>
              <a:rPr lang="en-US" sz="1500" dirty="0">
                <a:solidFill>
                  <a:srgbClr val="2E1065"/>
                </a:solidFill>
              </a:rPr>
              <a:t>Trang phục theo quy định của nhà trường</a:t>
            </a:r>
            <a:endParaRPr lang="en-US" sz="1500" dirty="0"/>
          </a:p>
        </p:txBody>
      </p:sp>
      <p:sp>
        <p:nvSpPr>
          <p:cNvPr id="27" name="Shape 22"/>
          <p:cNvSpPr/>
          <p:nvPr/>
        </p:nvSpPr>
        <p:spPr>
          <a:xfrm>
            <a:off x="6473952" y="4087368"/>
            <a:ext cx="384048" cy="384048"/>
          </a:xfrm>
          <a:prstGeom prst="roundRect">
            <a:avLst>
              <a:gd name="adj" fmla="val 14286"/>
            </a:avLst>
          </a:prstGeom>
          <a:solidFill>
            <a:srgbClr val="FFFFFF"/>
          </a:solidFill>
          <a:ln w="25400">
            <a:solidFill>
              <a:srgbClr val="7C3AED"/>
            </a:solidFill>
            <a:prstDash val="solid"/>
          </a:ln>
        </p:spPr>
      </p:sp>
      <p:sp>
        <p:nvSpPr>
          <p:cNvPr id="28" name="Text 23"/>
          <p:cNvSpPr txBox="1"/>
          <p:nvPr/>
        </p:nvSpPr>
        <p:spPr>
          <a:xfrm>
            <a:off x="7022592" y="3977640"/>
            <a:ext cx="4480560" cy="621792"/>
          </a:xfrm>
          <a:prstGeom prst="rect">
            <a:avLst/>
          </a:prstGeom>
          <a:noFill/>
          <a:ln/>
        </p:spPr>
        <p:txBody>
          <a:bodyPr wrap="square" lIns="0" tIns="0" rIns="0" bIns="0" rtlCol="0" anchor="ctr"/>
          <a:lstStyle/>
          <a:p>
            <a:pPr indent="0" marL="0">
              <a:buNone/>
            </a:pPr>
            <a:r>
              <a:rPr lang="en-US" sz="1500" dirty="0">
                <a:solidFill>
                  <a:srgbClr val="2E1065"/>
                </a:solidFill>
              </a:rPr>
              <a:t>Theo dõi lịch thi, chú ý gọi trận (vắng 03 phút = thua)</a:t>
            </a:r>
            <a:endParaRPr lang="en-US" sz="1500" dirty="0"/>
          </a:p>
        </p:txBody>
      </p:sp>
      <p:sp>
        <p:nvSpPr>
          <p:cNvPr id="29" name="Shape 24"/>
          <p:cNvSpPr/>
          <p:nvPr/>
        </p:nvSpPr>
        <p:spPr>
          <a:xfrm>
            <a:off x="6473952" y="4818888"/>
            <a:ext cx="384048" cy="384048"/>
          </a:xfrm>
          <a:prstGeom prst="roundRect">
            <a:avLst>
              <a:gd name="adj" fmla="val 14286"/>
            </a:avLst>
          </a:prstGeom>
          <a:solidFill>
            <a:srgbClr val="FFFFFF"/>
          </a:solidFill>
          <a:ln w="25400">
            <a:solidFill>
              <a:srgbClr val="7C3AED"/>
            </a:solidFill>
            <a:prstDash val="solid"/>
          </a:ln>
        </p:spPr>
      </p:sp>
      <p:sp>
        <p:nvSpPr>
          <p:cNvPr id="30" name="Text 25"/>
          <p:cNvSpPr txBox="1"/>
          <p:nvPr/>
        </p:nvSpPr>
        <p:spPr>
          <a:xfrm>
            <a:off x="7022592" y="4709160"/>
            <a:ext cx="4480560" cy="621792"/>
          </a:xfrm>
          <a:prstGeom prst="rect">
            <a:avLst/>
          </a:prstGeom>
          <a:noFill/>
          <a:ln/>
        </p:spPr>
        <p:txBody>
          <a:bodyPr wrap="square" lIns="0" tIns="0" rIns="0" bIns="0" rtlCol="0" anchor="ctr"/>
          <a:lstStyle/>
          <a:p>
            <a:pPr indent="0" marL="0">
              <a:buNone/>
            </a:pPr>
            <a:r>
              <a:rPr lang="en-US" sz="1500" dirty="0">
                <a:solidFill>
                  <a:srgbClr val="2E1065"/>
                </a:solidFill>
              </a:rPr>
              <a:t>Không mang đồ ăn, nước uống vào khu sa bàn</a:t>
            </a:r>
            <a:endParaRPr lang="en-US" sz="1500" dirty="0"/>
          </a:p>
        </p:txBody>
      </p:sp>
      <p:sp>
        <p:nvSpPr>
          <p:cNvPr id="31" name="Shape 26"/>
          <p:cNvSpPr/>
          <p:nvPr/>
        </p:nvSpPr>
        <p:spPr>
          <a:xfrm>
            <a:off x="6473952" y="5550408"/>
            <a:ext cx="384048" cy="384048"/>
          </a:xfrm>
          <a:prstGeom prst="roundRect">
            <a:avLst>
              <a:gd name="adj" fmla="val 14286"/>
            </a:avLst>
          </a:prstGeom>
          <a:solidFill>
            <a:srgbClr val="FFFFFF"/>
          </a:solidFill>
          <a:ln w="25400">
            <a:solidFill>
              <a:srgbClr val="7C3AED"/>
            </a:solidFill>
            <a:prstDash val="solid"/>
          </a:ln>
        </p:spPr>
      </p:sp>
      <p:sp>
        <p:nvSpPr>
          <p:cNvPr id="32" name="Text 27"/>
          <p:cNvSpPr txBox="1"/>
          <p:nvPr/>
        </p:nvSpPr>
        <p:spPr>
          <a:xfrm>
            <a:off x="7022592" y="5440680"/>
            <a:ext cx="4480560" cy="621792"/>
          </a:xfrm>
          <a:prstGeom prst="rect">
            <a:avLst/>
          </a:prstGeom>
          <a:noFill/>
          <a:ln/>
        </p:spPr>
        <p:txBody>
          <a:bodyPr wrap="square" lIns="0" tIns="0" rIns="0" bIns="0" rtlCol="0" anchor="ctr"/>
          <a:lstStyle/>
          <a:p>
            <a:pPr indent="0" marL="0">
              <a:buNone/>
            </a:pPr>
            <a:r>
              <a:rPr lang="en-US" sz="1500" dirty="0">
                <a:solidFill>
                  <a:srgbClr val="2E1065"/>
                </a:solidFill>
              </a:rPr>
              <a:t>Giáo viên giữ liên lạc, quản lý học sinh</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KIỂM TRA NHANH</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Câu hỏi tình huống – các đội trả lời nhé!</a:t>
            </a:r>
            <a:endParaRPr lang="en-US" sz="3000" dirty="0"/>
          </a:p>
        </p:txBody>
      </p:sp>
      <p:sp>
        <p:nvSpPr>
          <p:cNvPr id="5" name="Shape 2"/>
          <p:cNvSpPr/>
          <p:nvPr/>
        </p:nvSpPr>
        <p:spPr>
          <a:xfrm>
            <a:off x="548640"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554480"/>
            <a:ext cx="502920" cy="502920"/>
          </a:xfrm>
          <a:prstGeom prst="ellipse">
            <a:avLst/>
          </a:prstGeom>
          <a:solidFill>
            <a:srgbClr val="7C3AED"/>
          </a:solidFill>
          <a:ln/>
        </p:spPr>
      </p:sp>
      <p:sp>
        <p:nvSpPr>
          <p:cNvPr id="7" name="Text 4"/>
          <p:cNvSpPr txBox="1"/>
          <p:nvPr/>
        </p:nvSpPr>
        <p:spPr>
          <a:xfrm>
            <a:off x="73152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pic>
        <p:nvPicPr>
          <p:cNvPr id="8" name="Image 0" descr="Biểu tượng minh họa">    </p:cNvPr>
          <p:cNvPicPr>
            <a:picLocks noChangeAspect="1"/>
          </p:cNvPicPr>
          <p:nvPr/>
        </p:nvPicPr>
        <p:blipFill>
          <a:blip r:embed="rId1"/>
          <a:stretch>
            <a:fillRect/>
          </a:stretch>
        </p:blipFill>
        <p:spPr>
          <a:xfrm>
            <a:off x="3346704" y="1536192"/>
            <a:ext cx="502920" cy="502920"/>
          </a:xfrm>
          <a:prstGeom prst="rect">
            <a:avLst/>
          </a:prstGeom>
        </p:spPr>
      </p:pic>
      <p:sp>
        <p:nvSpPr>
          <p:cNvPr id="9" name="Text 5"/>
          <p:cNvSpPr txBox="1"/>
          <p:nvPr/>
        </p:nvSpPr>
        <p:spPr>
          <a:xfrm>
            <a:off x="731520" y="219456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Khối Dầu nằm đè lên vạch biên Khu Căn cứ có được tính điểm không?</a:t>
            </a:r>
            <a:endParaRPr lang="en-US" sz="1800" dirty="0"/>
          </a:p>
        </p:txBody>
      </p:sp>
      <p:sp>
        <p:nvSpPr>
          <p:cNvPr id="10" name="Shape 6"/>
          <p:cNvSpPr/>
          <p:nvPr/>
        </p:nvSpPr>
        <p:spPr>
          <a:xfrm>
            <a:off x="4352544"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4535424" y="1554480"/>
            <a:ext cx="502920" cy="502920"/>
          </a:xfrm>
          <a:prstGeom prst="ellipse">
            <a:avLst/>
          </a:prstGeom>
          <a:solidFill>
            <a:srgbClr val="7C3AED"/>
          </a:solidFill>
          <a:ln/>
        </p:spPr>
      </p:sp>
      <p:sp>
        <p:nvSpPr>
          <p:cNvPr id="12" name="Text 8"/>
          <p:cNvSpPr txBox="1"/>
          <p:nvPr/>
        </p:nvSpPr>
        <p:spPr>
          <a:xfrm>
            <a:off x="4535424"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pic>
        <p:nvPicPr>
          <p:cNvPr id="13" name="Image 1" descr="Biểu tượng minh họa">    </p:cNvPr>
          <p:cNvPicPr>
            <a:picLocks noChangeAspect="1"/>
          </p:cNvPicPr>
          <p:nvPr/>
        </p:nvPicPr>
        <p:blipFill>
          <a:blip r:embed="rId2"/>
          <a:stretch>
            <a:fillRect/>
          </a:stretch>
        </p:blipFill>
        <p:spPr>
          <a:xfrm>
            <a:off x="7150608" y="1536192"/>
            <a:ext cx="502920" cy="502920"/>
          </a:xfrm>
          <a:prstGeom prst="rect">
            <a:avLst/>
          </a:prstGeom>
        </p:spPr>
      </p:pic>
      <p:sp>
        <p:nvSpPr>
          <p:cNvPr id="14" name="Text 9"/>
          <p:cNvSpPr txBox="1"/>
          <p:nvPr/>
        </p:nvSpPr>
        <p:spPr>
          <a:xfrm>
            <a:off x="4535424" y="219456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Đội chưa đưa được khối Dầu nào về, robot kéo khối Lá ra khỏi Trạm thì sao?</a:t>
            </a:r>
            <a:endParaRPr lang="en-US" sz="1800" dirty="0"/>
          </a:p>
        </p:txBody>
      </p:sp>
      <p:sp>
        <p:nvSpPr>
          <p:cNvPr id="15" name="Shape 10"/>
          <p:cNvSpPr/>
          <p:nvPr/>
        </p:nvSpPr>
        <p:spPr>
          <a:xfrm>
            <a:off x="8156448"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8339328" y="1554480"/>
            <a:ext cx="502920" cy="502920"/>
          </a:xfrm>
          <a:prstGeom prst="ellipse">
            <a:avLst/>
          </a:prstGeom>
          <a:solidFill>
            <a:srgbClr val="7C3AED"/>
          </a:solidFill>
          <a:ln/>
        </p:spPr>
      </p:sp>
      <p:sp>
        <p:nvSpPr>
          <p:cNvPr id="17" name="Text 12"/>
          <p:cNvSpPr txBox="1"/>
          <p:nvPr/>
        </p:nvSpPr>
        <p:spPr>
          <a:xfrm>
            <a:off x="8339328"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pic>
        <p:nvPicPr>
          <p:cNvPr id="18" name="Image 2" descr="Biểu tượng minh họa">    </p:cNvPr>
          <p:cNvPicPr>
            <a:picLocks noChangeAspect="1"/>
          </p:cNvPicPr>
          <p:nvPr/>
        </p:nvPicPr>
        <p:blipFill>
          <a:blip r:embed="rId3"/>
          <a:stretch>
            <a:fillRect/>
          </a:stretch>
        </p:blipFill>
        <p:spPr>
          <a:xfrm>
            <a:off x="10954512" y="1536192"/>
            <a:ext cx="502920" cy="502920"/>
          </a:xfrm>
          <a:prstGeom prst="rect">
            <a:avLst/>
          </a:prstGeom>
        </p:spPr>
      </p:pic>
      <p:sp>
        <p:nvSpPr>
          <p:cNvPr id="19" name="Text 13"/>
          <p:cNvSpPr txBox="1"/>
          <p:nvPr/>
        </p:nvSpPr>
        <p:spPr>
          <a:xfrm>
            <a:off x="8339328" y="219456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Hai đội cùng 60 điểm; đội A Hồi căn cứ lúc 02:50, đội B không Hồi căn cứ. Ai thắng?</a:t>
            </a:r>
            <a:endParaRPr lang="en-US" sz="1800" dirty="0"/>
          </a:p>
        </p:txBody>
      </p:sp>
      <p:sp>
        <p:nvSpPr>
          <p:cNvPr id="20" name="Shape 14"/>
          <p:cNvSpPr/>
          <p:nvPr/>
        </p:nvSpPr>
        <p:spPr>
          <a:xfrm>
            <a:off x="548640"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731520" y="4114800"/>
            <a:ext cx="502920" cy="502920"/>
          </a:xfrm>
          <a:prstGeom prst="ellipse">
            <a:avLst/>
          </a:prstGeom>
          <a:solidFill>
            <a:srgbClr val="7C3AED"/>
          </a:solidFill>
          <a:ln/>
        </p:spPr>
      </p:sp>
      <p:sp>
        <p:nvSpPr>
          <p:cNvPr id="22" name="Text 16"/>
          <p:cNvSpPr txBox="1"/>
          <p:nvPr/>
        </p:nvSpPr>
        <p:spPr>
          <a:xfrm>
            <a:off x="731520"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pic>
        <p:nvPicPr>
          <p:cNvPr id="23" name="Image 3" descr="Biểu tượng minh họa">    </p:cNvPr>
          <p:cNvPicPr>
            <a:picLocks noChangeAspect="1"/>
          </p:cNvPicPr>
          <p:nvPr/>
        </p:nvPicPr>
        <p:blipFill>
          <a:blip r:embed="rId4"/>
          <a:stretch>
            <a:fillRect/>
          </a:stretch>
        </p:blipFill>
        <p:spPr>
          <a:xfrm>
            <a:off x="3346704" y="4096512"/>
            <a:ext cx="502920" cy="502920"/>
          </a:xfrm>
          <a:prstGeom prst="rect">
            <a:avLst/>
          </a:prstGeom>
        </p:spPr>
      </p:pic>
      <p:sp>
        <p:nvSpPr>
          <p:cNvPr id="24" name="Text 17"/>
          <p:cNvSpPr txBox="1"/>
          <p:nvPr/>
        </p:nvSpPr>
        <p:spPr>
          <a:xfrm>
            <a:off x="731520" y="475488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Khối rơi ra ngoài sa bàn, thí sinh có được nhặt lên đặt lại không?</a:t>
            </a:r>
            <a:endParaRPr lang="en-US" sz="1800" dirty="0"/>
          </a:p>
        </p:txBody>
      </p:sp>
      <p:sp>
        <p:nvSpPr>
          <p:cNvPr id="25" name="Shape 18"/>
          <p:cNvSpPr/>
          <p:nvPr/>
        </p:nvSpPr>
        <p:spPr>
          <a:xfrm>
            <a:off x="4352544"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4535424" y="4114800"/>
            <a:ext cx="502920" cy="502920"/>
          </a:xfrm>
          <a:prstGeom prst="ellipse">
            <a:avLst/>
          </a:prstGeom>
          <a:solidFill>
            <a:srgbClr val="7C3AED"/>
          </a:solidFill>
          <a:ln/>
        </p:spPr>
      </p:sp>
      <p:sp>
        <p:nvSpPr>
          <p:cNvPr id="27" name="Text 20"/>
          <p:cNvSpPr txBox="1"/>
          <p:nvPr/>
        </p:nvSpPr>
        <p:spPr>
          <a:xfrm>
            <a:off x="4535424"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pic>
        <p:nvPicPr>
          <p:cNvPr id="28" name="Image 4" descr="Biểu tượng minh họa">    </p:cNvPr>
          <p:cNvPicPr>
            <a:picLocks noChangeAspect="1"/>
          </p:cNvPicPr>
          <p:nvPr/>
        </p:nvPicPr>
        <p:blipFill>
          <a:blip r:embed="rId5"/>
          <a:stretch>
            <a:fillRect/>
          </a:stretch>
        </p:blipFill>
        <p:spPr>
          <a:xfrm>
            <a:off x="7150608" y="4096512"/>
            <a:ext cx="502920" cy="502920"/>
          </a:xfrm>
          <a:prstGeom prst="rect">
            <a:avLst/>
          </a:prstGeom>
        </p:spPr>
      </p:pic>
      <p:sp>
        <p:nvSpPr>
          <p:cNvPr id="29" name="Text 21"/>
          <p:cNvSpPr txBox="1"/>
          <p:nvPr/>
        </p:nvSpPr>
        <p:spPr>
          <a:xfrm>
            <a:off x="4535424" y="475488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Hai robot cùng tranh một khối và va chạm nhau. Có bị trừ điểm không?</a:t>
            </a:r>
            <a:endParaRPr lang="en-US" sz="1800" dirty="0"/>
          </a:p>
        </p:txBody>
      </p:sp>
      <p:sp>
        <p:nvSpPr>
          <p:cNvPr id="30" name="Shape 22"/>
          <p:cNvSpPr/>
          <p:nvPr/>
        </p:nvSpPr>
        <p:spPr>
          <a:xfrm>
            <a:off x="8156448"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8339328" y="4114800"/>
            <a:ext cx="502920" cy="502920"/>
          </a:xfrm>
          <a:prstGeom prst="ellipse">
            <a:avLst/>
          </a:prstGeom>
          <a:solidFill>
            <a:srgbClr val="7C3AED"/>
          </a:solidFill>
          <a:ln/>
        </p:spPr>
      </p:sp>
      <p:sp>
        <p:nvSpPr>
          <p:cNvPr id="32" name="Text 24"/>
          <p:cNvSpPr txBox="1"/>
          <p:nvPr/>
        </p:nvSpPr>
        <p:spPr>
          <a:xfrm>
            <a:off x="8339328"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pic>
        <p:nvPicPr>
          <p:cNvPr id="33" name="Image 5" descr="Biểu tượng minh họa">    </p:cNvPr>
          <p:cNvPicPr>
            <a:picLocks noChangeAspect="1"/>
          </p:cNvPicPr>
          <p:nvPr/>
        </p:nvPicPr>
        <p:blipFill>
          <a:blip r:embed="rId6"/>
          <a:stretch>
            <a:fillRect/>
          </a:stretch>
        </p:blipFill>
        <p:spPr>
          <a:xfrm>
            <a:off x="10954512" y="4096512"/>
            <a:ext cx="502920" cy="502920"/>
          </a:xfrm>
          <a:prstGeom prst="rect">
            <a:avLst/>
          </a:prstGeom>
        </p:spPr>
      </p:pic>
      <p:sp>
        <p:nvSpPr>
          <p:cNvPr id="34" name="Text 25"/>
          <p:cNvSpPr txBox="1"/>
          <p:nvPr/>
        </p:nvSpPr>
        <p:spPr>
          <a:xfrm>
            <a:off x="8339328" y="475488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Robot bị mất kết nối giữa lượt đấu. Đội phải làm gì?</a:t>
            </a:r>
            <a:endParaRPr lang="en-US" sz="18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ĐÁP ÁN</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Đáp án câu hỏi tình huống</a:t>
            </a:r>
            <a:endParaRPr lang="en-US" sz="3000" dirty="0"/>
          </a:p>
        </p:txBody>
      </p:sp>
      <p:sp>
        <p:nvSpPr>
          <p:cNvPr id="5" name="Shape 2"/>
          <p:cNvSpPr/>
          <p:nvPr/>
        </p:nvSpPr>
        <p:spPr>
          <a:xfrm>
            <a:off x="548640"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554480"/>
            <a:ext cx="502920" cy="502920"/>
          </a:xfrm>
          <a:prstGeom prst="ellipse">
            <a:avLst/>
          </a:prstGeom>
          <a:solidFill>
            <a:srgbClr val="15803D"/>
          </a:solidFill>
          <a:ln/>
        </p:spPr>
      </p:sp>
      <p:sp>
        <p:nvSpPr>
          <p:cNvPr id="7" name="Text 4"/>
          <p:cNvSpPr txBox="1"/>
          <p:nvPr/>
        </p:nvSpPr>
        <p:spPr>
          <a:xfrm>
            <a:off x="73152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pic>
        <p:nvPicPr>
          <p:cNvPr id="8" name="Image 0" descr="Biểu tượng minh họa">    </p:cNvPr>
          <p:cNvPicPr>
            <a:picLocks noChangeAspect="1"/>
          </p:cNvPicPr>
          <p:nvPr/>
        </p:nvPicPr>
        <p:blipFill>
          <a:blip r:embed="rId1"/>
          <a:stretch>
            <a:fillRect/>
          </a:stretch>
        </p:blipFill>
        <p:spPr>
          <a:xfrm>
            <a:off x="3346704" y="1536192"/>
            <a:ext cx="502920" cy="502920"/>
          </a:xfrm>
          <a:prstGeom prst="rect">
            <a:avLst/>
          </a:prstGeom>
        </p:spPr>
      </p:pic>
      <p:sp>
        <p:nvSpPr>
          <p:cNvPr id="9" name="Text 5"/>
          <p:cNvSpPr txBox="1"/>
          <p:nvPr/>
        </p:nvSpPr>
        <p:spPr>
          <a:xfrm>
            <a:off x="1371600" y="150876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Khối Dầu nằm đè lên vạch biên Khu Căn cứ có được tính điểm không?</a:t>
            </a:r>
            <a:endParaRPr lang="en-US" sz="1100" dirty="0"/>
          </a:p>
        </p:txBody>
      </p:sp>
      <p:sp>
        <p:nvSpPr>
          <p:cNvPr id="10" name="Text 6"/>
          <p:cNvSpPr txBox="1"/>
          <p:nvPr/>
        </p:nvSpPr>
        <p:spPr>
          <a:xfrm>
            <a:off x="731520" y="228600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CÓ. Khu vực tham chiếu tính cả vạch biên – khối chạm/đè vạch được tính.</a:t>
            </a:r>
            <a:endParaRPr lang="en-US" sz="1700" dirty="0"/>
          </a:p>
        </p:txBody>
      </p:sp>
      <p:sp>
        <p:nvSpPr>
          <p:cNvPr id="11" name="Shape 7"/>
          <p:cNvSpPr/>
          <p:nvPr/>
        </p:nvSpPr>
        <p:spPr>
          <a:xfrm>
            <a:off x="4352544"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12" name="Shape 8"/>
          <p:cNvSpPr/>
          <p:nvPr/>
        </p:nvSpPr>
        <p:spPr>
          <a:xfrm>
            <a:off x="4535424" y="1554480"/>
            <a:ext cx="502920" cy="502920"/>
          </a:xfrm>
          <a:prstGeom prst="ellipse">
            <a:avLst/>
          </a:prstGeom>
          <a:solidFill>
            <a:srgbClr val="15803D"/>
          </a:solidFill>
          <a:ln/>
        </p:spPr>
      </p:sp>
      <p:sp>
        <p:nvSpPr>
          <p:cNvPr id="13" name="Text 9"/>
          <p:cNvSpPr txBox="1"/>
          <p:nvPr/>
        </p:nvSpPr>
        <p:spPr>
          <a:xfrm>
            <a:off x="4535424"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pic>
        <p:nvPicPr>
          <p:cNvPr id="14" name="Image 1" descr="Biểu tượng minh họa">    </p:cNvPr>
          <p:cNvPicPr>
            <a:picLocks noChangeAspect="1"/>
          </p:cNvPicPr>
          <p:nvPr/>
        </p:nvPicPr>
        <p:blipFill>
          <a:blip r:embed="rId2"/>
          <a:stretch>
            <a:fillRect/>
          </a:stretch>
        </p:blipFill>
        <p:spPr>
          <a:xfrm>
            <a:off x="7150608" y="1536192"/>
            <a:ext cx="502920" cy="502920"/>
          </a:xfrm>
          <a:prstGeom prst="rect">
            <a:avLst/>
          </a:prstGeom>
        </p:spPr>
      </p:pic>
      <p:sp>
        <p:nvSpPr>
          <p:cNvPr id="15" name="Text 10"/>
          <p:cNvSpPr txBox="1"/>
          <p:nvPr/>
        </p:nvSpPr>
        <p:spPr>
          <a:xfrm>
            <a:off x="5175504" y="150876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Đội chưa đưa được khối Dầu nào về, robot kéo khối Lá ra khỏi Trạm thì sao?</a:t>
            </a:r>
            <a:endParaRPr lang="en-US" sz="1100" dirty="0"/>
          </a:p>
        </p:txBody>
      </p:sp>
      <p:sp>
        <p:nvSpPr>
          <p:cNvPr id="16" name="Text 11"/>
          <p:cNvSpPr txBox="1"/>
          <p:nvPr/>
        </p:nvSpPr>
        <p:spPr>
          <a:xfrm>
            <a:off x="4535424" y="228600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Bị trừ 05 điểm, trọng tài đặt lại khối Lá về Trạm Trung tâm.</a:t>
            </a:r>
            <a:endParaRPr lang="en-US" sz="1700" dirty="0"/>
          </a:p>
        </p:txBody>
      </p:sp>
      <p:sp>
        <p:nvSpPr>
          <p:cNvPr id="17" name="Shape 12"/>
          <p:cNvSpPr/>
          <p:nvPr/>
        </p:nvSpPr>
        <p:spPr>
          <a:xfrm>
            <a:off x="8156448"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18" name="Shape 13"/>
          <p:cNvSpPr/>
          <p:nvPr/>
        </p:nvSpPr>
        <p:spPr>
          <a:xfrm>
            <a:off x="8339328" y="1554480"/>
            <a:ext cx="502920" cy="502920"/>
          </a:xfrm>
          <a:prstGeom prst="ellipse">
            <a:avLst/>
          </a:prstGeom>
          <a:solidFill>
            <a:srgbClr val="15803D"/>
          </a:solidFill>
          <a:ln/>
        </p:spPr>
      </p:sp>
      <p:sp>
        <p:nvSpPr>
          <p:cNvPr id="19" name="Text 14"/>
          <p:cNvSpPr txBox="1"/>
          <p:nvPr/>
        </p:nvSpPr>
        <p:spPr>
          <a:xfrm>
            <a:off x="8339328"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pic>
        <p:nvPicPr>
          <p:cNvPr id="20" name="Image 2" descr="Biểu tượng minh họa">    </p:cNvPr>
          <p:cNvPicPr>
            <a:picLocks noChangeAspect="1"/>
          </p:cNvPicPr>
          <p:nvPr/>
        </p:nvPicPr>
        <p:blipFill>
          <a:blip r:embed="rId3"/>
          <a:stretch>
            <a:fillRect/>
          </a:stretch>
        </p:blipFill>
        <p:spPr>
          <a:xfrm>
            <a:off x="10954512" y="1536192"/>
            <a:ext cx="502920" cy="502920"/>
          </a:xfrm>
          <a:prstGeom prst="rect">
            <a:avLst/>
          </a:prstGeom>
        </p:spPr>
      </p:pic>
      <p:sp>
        <p:nvSpPr>
          <p:cNvPr id="21" name="Text 15"/>
          <p:cNvSpPr txBox="1"/>
          <p:nvPr/>
        </p:nvSpPr>
        <p:spPr>
          <a:xfrm>
            <a:off x="8979408" y="150876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Hai đội cùng 60 điểm; đội A Hồi căn cứ lúc 02:50, đội B không Hồi căn cứ. Ai thắng?</a:t>
            </a:r>
            <a:endParaRPr lang="en-US" sz="1100" dirty="0"/>
          </a:p>
        </p:txBody>
      </p:sp>
      <p:sp>
        <p:nvSpPr>
          <p:cNvPr id="22" name="Text 16"/>
          <p:cNvSpPr txBox="1"/>
          <p:nvPr/>
        </p:nvSpPr>
        <p:spPr>
          <a:xfrm>
            <a:off x="8339328" y="228600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Đội A thắng – Thời gian hoàn thành sớm hơn (đội B ghi 03:00).</a:t>
            </a:r>
            <a:endParaRPr lang="en-US" sz="1700" dirty="0"/>
          </a:p>
        </p:txBody>
      </p:sp>
      <p:sp>
        <p:nvSpPr>
          <p:cNvPr id="23" name="Shape 17"/>
          <p:cNvSpPr/>
          <p:nvPr/>
        </p:nvSpPr>
        <p:spPr>
          <a:xfrm>
            <a:off x="548640"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24" name="Shape 18"/>
          <p:cNvSpPr/>
          <p:nvPr/>
        </p:nvSpPr>
        <p:spPr>
          <a:xfrm>
            <a:off x="731520" y="4114800"/>
            <a:ext cx="502920" cy="502920"/>
          </a:xfrm>
          <a:prstGeom prst="ellipse">
            <a:avLst/>
          </a:prstGeom>
          <a:solidFill>
            <a:srgbClr val="15803D"/>
          </a:solidFill>
          <a:ln/>
        </p:spPr>
      </p:sp>
      <p:sp>
        <p:nvSpPr>
          <p:cNvPr id="25" name="Text 19"/>
          <p:cNvSpPr txBox="1"/>
          <p:nvPr/>
        </p:nvSpPr>
        <p:spPr>
          <a:xfrm>
            <a:off x="731520"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pic>
        <p:nvPicPr>
          <p:cNvPr id="26" name="Image 3" descr="Biểu tượng minh họa">    </p:cNvPr>
          <p:cNvPicPr>
            <a:picLocks noChangeAspect="1"/>
          </p:cNvPicPr>
          <p:nvPr/>
        </p:nvPicPr>
        <p:blipFill>
          <a:blip r:embed="rId4"/>
          <a:stretch>
            <a:fillRect/>
          </a:stretch>
        </p:blipFill>
        <p:spPr>
          <a:xfrm>
            <a:off x="3346704" y="4096512"/>
            <a:ext cx="502920" cy="502920"/>
          </a:xfrm>
          <a:prstGeom prst="rect">
            <a:avLst/>
          </a:prstGeom>
        </p:spPr>
      </p:pic>
      <p:sp>
        <p:nvSpPr>
          <p:cNvPr id="27" name="Text 20"/>
          <p:cNvSpPr txBox="1"/>
          <p:nvPr/>
        </p:nvSpPr>
        <p:spPr>
          <a:xfrm>
            <a:off x="1371600" y="406908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Khối rơi ra ngoài sa bàn, thí sinh có được nhặt lên đặt lại không?</a:t>
            </a:r>
            <a:endParaRPr lang="en-US" sz="1100" dirty="0"/>
          </a:p>
        </p:txBody>
      </p:sp>
      <p:sp>
        <p:nvSpPr>
          <p:cNvPr id="28" name="Text 21"/>
          <p:cNvSpPr txBox="1"/>
          <p:nvPr/>
        </p:nvSpPr>
        <p:spPr>
          <a:xfrm>
            <a:off x="731520" y="484632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KHÔNG. Chỉ trọng tài đặt lại tại điểm R1/R2; đồng hồ không dừng.</a:t>
            </a:r>
            <a:endParaRPr lang="en-US" sz="1700" dirty="0"/>
          </a:p>
        </p:txBody>
      </p:sp>
      <p:sp>
        <p:nvSpPr>
          <p:cNvPr id="29" name="Shape 22"/>
          <p:cNvSpPr/>
          <p:nvPr/>
        </p:nvSpPr>
        <p:spPr>
          <a:xfrm>
            <a:off x="4352544"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30" name="Shape 23"/>
          <p:cNvSpPr/>
          <p:nvPr/>
        </p:nvSpPr>
        <p:spPr>
          <a:xfrm>
            <a:off x="4535424" y="4114800"/>
            <a:ext cx="502920" cy="502920"/>
          </a:xfrm>
          <a:prstGeom prst="ellipse">
            <a:avLst/>
          </a:prstGeom>
          <a:solidFill>
            <a:srgbClr val="15803D"/>
          </a:solidFill>
          <a:ln/>
        </p:spPr>
      </p:sp>
      <p:sp>
        <p:nvSpPr>
          <p:cNvPr id="31" name="Text 24"/>
          <p:cNvSpPr txBox="1"/>
          <p:nvPr/>
        </p:nvSpPr>
        <p:spPr>
          <a:xfrm>
            <a:off x="4535424"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pic>
        <p:nvPicPr>
          <p:cNvPr id="32" name="Image 4" descr="Biểu tượng minh họa">    </p:cNvPr>
          <p:cNvPicPr>
            <a:picLocks noChangeAspect="1"/>
          </p:cNvPicPr>
          <p:nvPr/>
        </p:nvPicPr>
        <p:blipFill>
          <a:blip r:embed="rId5"/>
          <a:stretch>
            <a:fillRect/>
          </a:stretch>
        </p:blipFill>
        <p:spPr>
          <a:xfrm>
            <a:off x="7150608" y="4096512"/>
            <a:ext cx="502920" cy="502920"/>
          </a:xfrm>
          <a:prstGeom prst="rect">
            <a:avLst/>
          </a:prstGeom>
        </p:spPr>
      </p:pic>
      <p:sp>
        <p:nvSpPr>
          <p:cNvPr id="33" name="Text 25"/>
          <p:cNvSpPr txBox="1"/>
          <p:nvPr/>
        </p:nvSpPr>
        <p:spPr>
          <a:xfrm>
            <a:off x="5175504" y="406908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Hai robot cùng tranh một khối và va chạm nhau. Có bị trừ điểm không?</a:t>
            </a:r>
            <a:endParaRPr lang="en-US" sz="1100" dirty="0"/>
          </a:p>
        </p:txBody>
      </p:sp>
      <p:sp>
        <p:nvSpPr>
          <p:cNvPr id="34" name="Text 26"/>
          <p:cNvSpPr txBox="1"/>
          <p:nvPr/>
        </p:nvSpPr>
        <p:spPr>
          <a:xfrm>
            <a:off x="4535424" y="484632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KHÔNG. Đó là tranh chấp hợp lệ; chỉ đâm trực tiếp mới bị xem xét.</a:t>
            </a:r>
            <a:endParaRPr lang="en-US" sz="1700" dirty="0"/>
          </a:p>
        </p:txBody>
      </p:sp>
      <p:sp>
        <p:nvSpPr>
          <p:cNvPr id="35" name="Shape 27"/>
          <p:cNvSpPr/>
          <p:nvPr/>
        </p:nvSpPr>
        <p:spPr>
          <a:xfrm>
            <a:off x="8156448"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36" name="Shape 28"/>
          <p:cNvSpPr/>
          <p:nvPr/>
        </p:nvSpPr>
        <p:spPr>
          <a:xfrm>
            <a:off x="8339328" y="4114800"/>
            <a:ext cx="502920" cy="502920"/>
          </a:xfrm>
          <a:prstGeom prst="ellipse">
            <a:avLst/>
          </a:prstGeom>
          <a:solidFill>
            <a:srgbClr val="15803D"/>
          </a:solidFill>
          <a:ln/>
        </p:spPr>
      </p:sp>
      <p:sp>
        <p:nvSpPr>
          <p:cNvPr id="37" name="Text 29"/>
          <p:cNvSpPr txBox="1"/>
          <p:nvPr/>
        </p:nvSpPr>
        <p:spPr>
          <a:xfrm>
            <a:off x="8339328"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pic>
        <p:nvPicPr>
          <p:cNvPr id="38" name="Image 5" descr="Biểu tượng minh họa">    </p:cNvPr>
          <p:cNvPicPr>
            <a:picLocks noChangeAspect="1"/>
          </p:cNvPicPr>
          <p:nvPr/>
        </p:nvPicPr>
        <p:blipFill>
          <a:blip r:embed="rId6"/>
          <a:stretch>
            <a:fillRect/>
          </a:stretch>
        </p:blipFill>
        <p:spPr>
          <a:xfrm>
            <a:off x="10954512" y="4096512"/>
            <a:ext cx="502920" cy="502920"/>
          </a:xfrm>
          <a:prstGeom prst="rect">
            <a:avLst/>
          </a:prstGeom>
        </p:spPr>
      </p:pic>
      <p:sp>
        <p:nvSpPr>
          <p:cNvPr id="39" name="Text 30"/>
          <p:cNvSpPr txBox="1"/>
          <p:nvPr/>
        </p:nvSpPr>
        <p:spPr>
          <a:xfrm>
            <a:off x="8979408" y="406908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Robot bị mất kết nối giữa lượt đấu. Đội phải làm gì?</a:t>
            </a:r>
            <a:endParaRPr lang="en-US" sz="1100" dirty="0"/>
          </a:p>
        </p:txBody>
      </p:sp>
      <p:sp>
        <p:nvSpPr>
          <p:cNvPr id="40" name="Text 31"/>
          <p:cNvSpPr txBox="1"/>
          <p:nvPr/>
        </p:nvSpPr>
        <p:spPr>
          <a:xfrm>
            <a:off x="8339328" y="484632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Hô “SỰ CỐ!” hoặc bấm chuông; chờ kỹ thuật BTC. Tối đa 02 lần/lượt, ≤ 02 phút/lần.</a:t>
            </a:r>
            <a:endParaRPr lang="en-US" sz="17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640080" y="1051560"/>
            <a:ext cx="6035040" cy="548640"/>
          </a:xfrm>
          <a:prstGeom prst="rect">
            <a:avLst/>
          </a:prstGeom>
          <a:noFill/>
          <a:ln/>
        </p:spPr>
        <p:txBody>
          <a:bodyPr wrap="square" lIns="0" tIns="0" rIns="0" bIns="0" rtlCol="0" anchor="t"/>
          <a:lstStyle/>
          <a:p>
            <a:pPr indent="0" marL="0">
              <a:buNone/>
            </a:pPr>
            <a:r>
              <a:rPr lang="en-US" sz="2800" b="1" spc="400" kern="0" dirty="0">
                <a:solidFill>
                  <a:srgbClr val="DDD6FE"/>
                </a:solidFill>
              </a:rPr>
              <a:t>CHÚC CÁC ĐỘI</a:t>
            </a:r>
            <a:endParaRPr lang="en-US" sz="2800" dirty="0"/>
          </a:p>
        </p:txBody>
      </p:sp>
      <p:sp>
        <p:nvSpPr>
          <p:cNvPr id="3" name="Text 1"/>
          <p:cNvSpPr txBox="1"/>
          <p:nvPr/>
        </p:nvSpPr>
        <p:spPr>
          <a:xfrm>
            <a:off x="640080" y="1600200"/>
            <a:ext cx="6217920" cy="914400"/>
          </a:xfrm>
          <a:prstGeom prst="rect">
            <a:avLst/>
          </a:prstGeom>
          <a:noFill/>
          <a:ln/>
        </p:spPr>
        <p:txBody>
          <a:bodyPr wrap="square" lIns="0" tIns="0" rIns="0" bIns="0" rtlCol="0" anchor="t"/>
          <a:lstStyle/>
          <a:p>
            <a:pPr indent="0" marL="0">
              <a:buNone/>
            </a:pPr>
            <a:r>
              <a:rPr lang="en-US" sz="4600" b="1" dirty="0">
                <a:solidFill>
                  <a:srgbClr val="FCD34D"/>
                </a:solidFill>
              </a:rPr>
              <a:t>THI ĐẤU THÀNH CÔNG!</a:t>
            </a:r>
            <a:endParaRPr lang="en-US" sz="4600" dirty="0"/>
          </a:p>
        </p:txBody>
      </p:sp>
      <p:sp>
        <p:nvSpPr>
          <p:cNvPr id="4" name="Text 2"/>
          <p:cNvSpPr txBox="1"/>
          <p:nvPr/>
        </p:nvSpPr>
        <p:spPr>
          <a:xfrm>
            <a:off x="640080" y="2651760"/>
            <a:ext cx="6035040" cy="548640"/>
          </a:xfrm>
          <a:prstGeom prst="rect">
            <a:avLst/>
          </a:prstGeom>
          <a:noFill/>
          <a:ln/>
        </p:spPr>
        <p:txBody>
          <a:bodyPr wrap="square" lIns="0" tIns="0" rIns="0" bIns="0" rtlCol="0" anchor="t"/>
          <a:lstStyle/>
          <a:p>
            <a:pPr indent="0" marL="0">
              <a:buNone/>
            </a:pPr>
            <a:r>
              <a:rPr lang="en-US" sz="2000" i="1" dirty="0">
                <a:solidFill>
                  <a:srgbClr val="FFFFFF"/>
                </a:solidFill>
              </a:rPr>
              <a:t>“Tình bạn là trên hết, Thi đấu là thứ hai”</a:t>
            </a:r>
            <a:endParaRPr lang="en-US" sz="2000" dirty="0"/>
          </a:p>
        </p:txBody>
      </p:sp>
      <p:sp>
        <p:nvSpPr>
          <p:cNvPr id="5" name="Shape 3"/>
          <p:cNvSpPr/>
          <p:nvPr/>
        </p:nvSpPr>
        <p:spPr>
          <a:xfrm>
            <a:off x="640080" y="3520440"/>
            <a:ext cx="5943600" cy="2148840"/>
          </a:xfrm>
          <a:prstGeom prst="roundRect">
            <a:avLst>
              <a:gd name="adj" fmla="val 5106"/>
            </a:avLst>
          </a:prstGeom>
          <a:solidFill>
            <a:srgbClr val="FFFFFF">
              <a:alpha val="12000"/>
            </a:srgbClr>
          </a:solidFill>
          <a:ln/>
        </p:spPr>
      </p:sp>
      <p:sp>
        <p:nvSpPr>
          <p:cNvPr id="6" name="Text 4"/>
          <p:cNvSpPr txBox="1"/>
          <p:nvPr/>
        </p:nvSpPr>
        <p:spPr>
          <a:xfrm>
            <a:off x="868680" y="3611880"/>
            <a:ext cx="5486400" cy="411480"/>
          </a:xfrm>
          <a:prstGeom prst="rect">
            <a:avLst/>
          </a:prstGeom>
          <a:noFill/>
          <a:ln/>
        </p:spPr>
        <p:txBody>
          <a:bodyPr wrap="square" lIns="0" tIns="0" rIns="0" bIns="0" rtlCol="0" anchor="t"/>
          <a:lstStyle/>
          <a:p>
            <a:pPr indent="0" marL="0">
              <a:buNone/>
            </a:pPr>
            <a:r>
              <a:rPr lang="en-US" sz="1600" b="1" dirty="0">
                <a:solidFill>
                  <a:srgbClr val="FDE68A"/>
                </a:solidFill>
              </a:rPr>
              <a:t>Mọi vướng mắc xin liên hệ</a:t>
            </a:r>
            <a:endParaRPr lang="en-US" sz="1600" dirty="0"/>
          </a:p>
        </p:txBody>
      </p:sp>
      <p:pic>
        <p:nvPicPr>
          <p:cNvPr id="7" name="Image 0" descr="Biểu tượng minh họa">    </p:cNvPr>
          <p:cNvPicPr>
            <a:picLocks noChangeAspect="1"/>
          </p:cNvPicPr>
          <p:nvPr/>
        </p:nvPicPr>
        <p:blipFill>
          <a:blip r:embed="rId1"/>
          <a:stretch>
            <a:fillRect/>
          </a:stretch>
        </p:blipFill>
        <p:spPr>
          <a:xfrm>
            <a:off x="868680" y="4114800"/>
            <a:ext cx="457200" cy="457200"/>
          </a:xfrm>
          <a:prstGeom prst="rect">
            <a:avLst/>
          </a:prstGeom>
        </p:spPr>
      </p:pic>
      <p:sp>
        <p:nvSpPr>
          <p:cNvPr id="8" name="Text 5"/>
          <p:cNvSpPr txBox="1"/>
          <p:nvPr/>
        </p:nvSpPr>
        <p:spPr>
          <a:xfrm>
            <a:off x="1463040" y="4069080"/>
            <a:ext cx="4983480" cy="594360"/>
          </a:xfrm>
          <a:prstGeom prst="rect">
            <a:avLst/>
          </a:prstGeom>
          <a:noFill/>
          <a:ln/>
        </p:spPr>
        <p:txBody>
          <a:bodyPr wrap="square" lIns="0" tIns="0" rIns="0" bIns="0" rtlCol="0" anchor="ctr"/>
          <a:lstStyle/>
          <a:p>
            <a:pPr indent="0" marL="0">
              <a:buNone/>
            </a:pPr>
            <a:r>
              <a:rPr lang="en-US" sz="1500" dirty="0">
                <a:solidFill>
                  <a:srgbClr val="FFFFFF"/>
                </a:solidFill>
              </a:rPr>
              <a:t>Phòng Văn hóa – Xã hội xã Lâm Thao (cơ quan thường trực Ban Tổ chức)</a:t>
            </a:r>
            <a:endParaRPr lang="en-US" sz="1500" dirty="0"/>
          </a:p>
        </p:txBody>
      </p:sp>
      <p:pic>
        <p:nvPicPr>
          <p:cNvPr id="9" name="Image 1" descr="Biểu tượng minh họa">    </p:cNvPr>
          <p:cNvPicPr>
            <a:picLocks noChangeAspect="1"/>
          </p:cNvPicPr>
          <p:nvPr/>
        </p:nvPicPr>
        <p:blipFill>
          <a:blip r:embed="rId2"/>
          <a:stretch>
            <a:fillRect/>
          </a:stretch>
        </p:blipFill>
        <p:spPr>
          <a:xfrm>
            <a:off x="868680" y="4892040"/>
            <a:ext cx="457200" cy="457200"/>
          </a:xfrm>
          <a:prstGeom prst="rect">
            <a:avLst/>
          </a:prstGeom>
        </p:spPr>
      </p:pic>
      <p:sp>
        <p:nvSpPr>
          <p:cNvPr id="10" name="Text 6"/>
          <p:cNvSpPr txBox="1"/>
          <p:nvPr/>
        </p:nvSpPr>
        <p:spPr>
          <a:xfrm>
            <a:off x="1463040" y="4846320"/>
            <a:ext cx="4983480" cy="594360"/>
          </a:xfrm>
          <a:prstGeom prst="rect">
            <a:avLst/>
          </a:prstGeom>
          <a:noFill/>
          <a:ln/>
        </p:spPr>
        <p:txBody>
          <a:bodyPr wrap="square" lIns="0" tIns="0" rIns="0" bIns="0" rtlCol="0" anchor="ctr"/>
          <a:lstStyle/>
          <a:p>
            <a:pPr indent="0" marL="0">
              <a:buNone/>
            </a:pPr>
            <a:r>
              <a:rPr lang="en-US" sz="1500" dirty="0">
                <a:solidFill>
                  <a:srgbClr val="FFFFFF"/>
                </a:solidFill>
              </a:rPr>
              <a:t>Công ty CP Phát triển Trí tuệ ADC Việt Nam (đơn vị phụ trách chuyên môn)</a:t>
            </a:r>
            <a:endParaRPr lang="en-US" sz="1500" dirty="0"/>
          </a:p>
        </p:txBody>
      </p:sp>
      <p:sp>
        <p:nvSpPr>
          <p:cNvPr id="11" name="Text 7"/>
          <p:cNvSpPr txBox="1"/>
          <p:nvPr/>
        </p:nvSpPr>
        <p:spPr>
          <a:xfrm>
            <a:off x="640080" y="5897880"/>
            <a:ext cx="6217920" cy="548640"/>
          </a:xfrm>
          <a:prstGeom prst="rect">
            <a:avLst/>
          </a:prstGeom>
          <a:noFill/>
          <a:ln/>
        </p:spPr>
        <p:txBody>
          <a:bodyPr wrap="square" lIns="0" tIns="0" rIns="0" bIns="0" rtlCol="0" anchor="t"/>
          <a:lstStyle/>
          <a:p>
            <a:pPr indent="0" marL="0">
              <a:buNone/>
            </a:pPr>
            <a:r>
              <a:rPr lang="en-US" sz="1300" dirty="0">
                <a:solidFill>
                  <a:srgbClr val="C4B5FD"/>
                </a:solidFill>
              </a:rPr>
              <a:t>Hẹn gặp các đội: 16:00 Thứ Bảy 24/10 (tổng duyệt &amp; bốc thăm) · 08:15 Chủ nhật 25/10 (thi chính thức)</a:t>
            </a:r>
            <a:endParaRPr lang="en-US" sz="1300" dirty="0"/>
          </a:p>
        </p:txBody>
      </p:sp>
      <p:pic>
        <p:nvPicPr>
          <p:cNvPr id="12" name="RR_ph_giaithuong_jpg" descr="Đội học sinh nhận giấy chứng nhận giải thưởng cuộc thi robot">    </p:cNvPr>
          <p:cNvPicPr>
            <a:picLocks noChangeAspect="1"/>
          </p:cNvPicPr>
          <p:nvPr/>
        </p:nvPicPr>
        <p:blipFill>
          <a:blip r:embed="rId3"/>
          <a:stretch>
            <a:fillRect/>
          </a:stretch>
        </p:blipFill>
        <p:spPr>
          <a:xfrm>
            <a:off x="7040880" y="731520"/>
            <a:ext cx="4572000" cy="3044952"/>
          </a:xfrm>
          <a:prstGeom prst="roundRect">
            <a:avLst>
              <a:gd name="adj" fmla="val 6500"/>
            </a:avLst>
          </a:prstGeom>
          <a:effectLst>
            <a:outerShdw sx="100000" sy="100000" kx="0" ky="0" algn="bl" rotWithShape="0" blurRad="177800" dist="50800" dir="5400000">
              <a:srgbClr val="2E1065">
                <a:alpha val="25000"/>
              </a:srgbClr>
            </a:outerShdw>
          </a:effectLst>
        </p:spPr>
      </p:pic>
      <p:pic>
        <p:nvPicPr>
          <p:cNvPr id="13" name="RR_ph_thidau2_jpg" descr="Học sinh điều khiển robot UGOT trên sa bàn thi đấu">    </p:cNvPr>
          <p:cNvPicPr>
            <a:picLocks noChangeAspect="1"/>
          </p:cNvPicPr>
          <p:nvPr/>
        </p:nvPicPr>
        <p:blipFill>
          <a:blip r:embed="rId4"/>
          <a:stretch>
            <a:fillRect/>
          </a:stretch>
        </p:blipFill>
        <p:spPr>
          <a:xfrm>
            <a:off x="7040880" y="4023360"/>
            <a:ext cx="2194560" cy="1463040"/>
          </a:xfrm>
          <a:prstGeom prst="roundRect">
            <a:avLst>
              <a:gd name="adj" fmla="val 6500"/>
            </a:avLst>
          </a:prstGeom>
          <a:effectLst>
            <a:outerShdw sx="100000" sy="100000" kx="0" ky="0" algn="bl" rotWithShape="0" blurRad="177800" dist="50800" dir="5400000">
              <a:srgbClr val="2E1065">
                <a:alpha val="25000"/>
              </a:srgbClr>
            </a:outerShdw>
          </a:effectLst>
        </p:spPr>
      </p:pic>
      <p:pic>
        <p:nvPicPr>
          <p:cNvPr id="14" name="RR_ph_robog_jpg" descr="Học sinh thi đấu robot tại giải ROBOG Asia Cup 2026">    </p:cNvPr>
          <p:cNvPicPr>
            <a:picLocks noChangeAspect="1"/>
          </p:cNvPicPr>
          <p:nvPr/>
        </p:nvPicPr>
        <p:blipFill>
          <a:blip r:embed="rId5"/>
          <a:stretch>
            <a:fillRect/>
          </a:stretch>
        </p:blipFill>
        <p:spPr>
          <a:xfrm>
            <a:off x="9418320" y="4023360"/>
            <a:ext cx="2194560" cy="14630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15" name="Text 8"/>
          <p:cNvSpPr txBox="1"/>
          <p:nvPr/>
        </p:nvSpPr>
        <p:spPr>
          <a:xfrm>
            <a:off x="7040880" y="5623560"/>
            <a:ext cx="4572000" cy="274320"/>
          </a:xfrm>
          <a:prstGeom prst="rect">
            <a:avLst/>
          </a:prstGeom>
          <a:noFill/>
          <a:ln/>
        </p:spPr>
        <p:txBody>
          <a:bodyPr wrap="square" lIns="0" tIns="0" rIns="0" bIns="0" rtlCol="0" anchor="t"/>
          <a:lstStyle/>
          <a:p>
            <a:pPr indent="0" marL="0">
              <a:buNone/>
            </a:pPr>
            <a:r>
              <a:rPr lang="en-US" sz="1100" i="1" dirty="0">
                <a:solidFill>
                  <a:srgbClr val="C4B5FD"/>
                </a:solidFill>
              </a:rPr>
              <a:t>Ảnh: các đội học sinh tại những ngày hội, giải đấu robot</a:t>
            </a:r>
            <a:endParaRPr lang="en-US" sz="1100" dirty="0"/>
          </a:p>
        </p:txBody>
      </p:sp>
    </p:spTree>
  </p:cSld>
  <p:clrMapOvr>
    <a:masterClrMapping/>
  </p:clrMapOvr>
</p:sld>
</file>

<file path=ppt/theme/theme1.xml><?xml version="1.0" encoding="utf-8"?>
<a:theme xmlns:a="http://schemas.openxmlformats.org/drawingml/2006/main" name="UGOT Lavender">
  <a:themeElements>
    <a:clrScheme name="UGOT Lavender">
      <a:dk1>
        <a:srgbClr val="2E1065"/>
      </a:dk1>
      <a:lt1>
        <a:srgbClr val="FFFFFF"/>
      </a:lt1>
      <a:dk2>
        <a:srgbClr val="4C1D95"/>
      </a:dk2>
      <a:lt2>
        <a:srgbClr val="F3ECFF"/>
      </a:lt2>
      <a:accent1>
        <a:srgbClr val="7C3AED"/>
      </a:accent1>
      <a:accent2>
        <a:srgbClr val="EA580C"/>
      </a:accent2>
      <a:accent3>
        <a:srgbClr val="DB2777"/>
      </a:accent3>
      <a:accent4>
        <a:srgbClr val="2563EB"/>
      </a:accent4>
      <a:accent5>
        <a:srgbClr val="15803D"/>
      </a:accent5>
      <a:accent6>
        <a:srgbClr val="DC2626"/>
      </a:accent6>
      <a:hlink>
        <a:srgbClr val="7C3AED"/>
      </a:hlink>
      <a:folHlink>
        <a:srgbClr val="6D28D9"/>
      </a:folHlink>
    </a:clrScheme>
    <a:fontScheme name="UGOT Lave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Tập huấn thể lệ thi đấu Robot UGOT – Bảng Tiểu học</dc:title>
  <dc:subject>Tập huấn thể lệ thi đấu đối kháng Robot UGOT</dc:subject>
  <dc:creator>Ban Tổ chức Ngày hội Chuyển đổi số xã Lâm Thao 2026</dc:creator>
  <cp:lastModifiedBy>Ban Tổ chức Ngày hội Chuyển đổi số xã Lâm Thao 2026</cp:lastModifiedBy>
  <cp:revision>1</cp:revision>
  <dcterms:created xsi:type="dcterms:W3CDTF">2026-10-22T12:12:56Z</dcterms:created>
  <dcterms:modified xsi:type="dcterms:W3CDTF">2026-10-22T12:12:56Z</dcterms:modified>
</cp:coreProperties>
</file>